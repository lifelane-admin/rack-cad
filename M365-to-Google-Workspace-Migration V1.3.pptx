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6"/>
  </p:notesMasterIdLst>
  <p:sldIdLst>
    <p:sldId id="284" r:id="rId2"/>
    <p:sldId id="285" r:id="rId3"/>
    <p:sldId id="707" r:id="rId4"/>
    <p:sldId id="708" r:id="rId5"/>
    <p:sldId id="709" r:id="rId6"/>
    <p:sldId id="257" r:id="rId7"/>
    <p:sldId id="258" r:id="rId8"/>
    <p:sldId id="259" r:id="rId9"/>
    <p:sldId id="260" r:id="rId10"/>
    <p:sldId id="261" r:id="rId11"/>
    <p:sldId id="262" r:id="rId12"/>
    <p:sldId id="714" r:id="rId13"/>
    <p:sldId id="715" r:id="rId14"/>
    <p:sldId id="345" r:id="rId15"/>
    <p:sldId id="265" r:id="rId16"/>
    <p:sldId id="266" r:id="rId17"/>
    <p:sldId id="267" r:id="rId18"/>
    <p:sldId id="711" r:id="rId19"/>
    <p:sldId id="269" r:id="rId20"/>
    <p:sldId id="270" r:id="rId21"/>
    <p:sldId id="271" r:id="rId22"/>
    <p:sldId id="272" r:id="rId23"/>
    <p:sldId id="273" r:id="rId24"/>
    <p:sldId id="274" r:id="rId25"/>
    <p:sldId id="712" r:id="rId26"/>
    <p:sldId id="276" r:id="rId27"/>
    <p:sldId id="277" r:id="rId28"/>
    <p:sldId id="278" r:id="rId29"/>
    <p:sldId id="716" r:id="rId30"/>
    <p:sldId id="279" r:id="rId31"/>
    <p:sldId id="717" r:id="rId32"/>
    <p:sldId id="283" r:id="rId33"/>
    <p:sldId id="718" r:id="rId34"/>
    <p:sldId id="719" r:id="rId35"/>
    <p:sldId id="286" r:id="rId36"/>
    <p:sldId id="256" r:id="rId37"/>
    <p:sldId id="713" r:id="rId38"/>
    <p:sldId id="720" r:id="rId39"/>
    <p:sldId id="710" r:id="rId40"/>
    <p:sldId id="673" r:id="rId41"/>
    <p:sldId id="724" r:id="rId42"/>
    <p:sldId id="721" r:id="rId43"/>
    <p:sldId id="722" r:id="rId44"/>
    <p:sldId id="723"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26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100" b="0" i="0" u="none" strike="noStrike">
                <a:solidFill>
                  <a:srgbClr val="001D5F"/>
                </a:solidFill>
                <a:latin typeface="Calibri"/>
              </a:defRPr>
            </a:pPr>
            <a:r>
              <a:rPr lang="en-IN" sz="1100" b="0" i="0" u="none" strike="noStrike">
                <a:solidFill>
                  <a:srgbClr val="001D5F"/>
                </a:solidFill>
                <a:latin typeface="Calibri"/>
              </a:rPr>
              <a:t>Illustrative wave profile (700 users)</a:t>
            </a:r>
          </a:p>
        </c:rich>
      </c:tx>
      <c:overlay val="0"/>
    </c:title>
    <c:autoTitleDeleted val="0"/>
    <c:plotArea>
      <c:layout/>
      <c:barChart>
        <c:barDir val="col"/>
        <c:grouping val="clustered"/>
        <c:varyColors val="0"/>
        <c:ser>
          <c:idx val="0"/>
          <c:order val="0"/>
          <c:tx>
            <c:strRef>
              <c:f>Sheet1!$B$1</c:f>
              <c:strCache>
                <c:ptCount val="1"/>
                <c:pt idx="0">
                  <c:v>Users migrated</c:v>
                </c:pt>
              </c:strCache>
            </c:strRef>
          </c:tx>
          <c:spPr>
            <a:solidFill>
              <a:srgbClr val="0053EB"/>
            </a:solidFill>
            <a:effectLst/>
          </c:spPr>
          <c:invertIfNegative val="0"/>
          <c:dLbls>
            <c:numFmt formatCode="#,##0" sourceLinked="0"/>
            <c:spPr>
              <a:noFill/>
              <a:ln>
                <a:noFill/>
              </a:ln>
              <a:effectLst/>
            </c:spPr>
            <c:txPr>
              <a:bodyPr/>
              <a:lstStyle/>
              <a:p>
                <a:pPr>
                  <a:defRPr sz="900" b="0" i="0" u="none" strike="noStrike">
                    <a:solidFill>
                      <a:srgbClr val="001D5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Core IT</c:v>
                </c:pt>
                <c:pt idx="1">
                  <c:v>Early adopters</c:v>
                </c:pt>
                <c:pt idx="2">
                  <c:v>Wave A</c:v>
                </c:pt>
                <c:pt idx="3">
                  <c:v>Wave B</c:v>
                </c:pt>
                <c:pt idx="4">
                  <c:v>Wave C</c:v>
                </c:pt>
                <c:pt idx="5">
                  <c:v>Wave D</c:v>
                </c:pt>
              </c:strCache>
            </c:strRef>
          </c:cat>
          <c:val>
            <c:numRef>
              <c:f>Sheet1!$B$2:$B$7</c:f>
              <c:numCache>
                <c:formatCode>General</c:formatCode>
                <c:ptCount val="6"/>
                <c:pt idx="0">
                  <c:v>15</c:v>
                </c:pt>
                <c:pt idx="1">
                  <c:v>35</c:v>
                </c:pt>
                <c:pt idx="2">
                  <c:v>180</c:v>
                </c:pt>
                <c:pt idx="3">
                  <c:v>180</c:v>
                </c:pt>
                <c:pt idx="4">
                  <c:v>180</c:v>
                </c:pt>
                <c:pt idx="5">
                  <c:v>110</c:v>
                </c:pt>
              </c:numCache>
            </c:numRef>
          </c:val>
          <c:extLst>
            <c:ext xmlns:c16="http://schemas.microsoft.com/office/drawing/2014/chart" uri="{C3380CC4-5D6E-409C-BE32-E72D297353CC}">
              <c16:uniqueId val="{00000000-1F31-4390-9CE7-FEBB9944BA82}"/>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5D6B8C"/>
                </a:solidFill>
                <a:latin typeface="Calibri"/>
              </a:defRPr>
            </a:pPr>
            <a:endParaRPr lang="en-US"/>
          </a:p>
        </c:txPr>
        <c:crossAx val="2094734552"/>
        <c:crosses val="autoZero"/>
        <c:auto val="1"/>
        <c:lblAlgn val="ctr"/>
        <c:lblOffset val="100"/>
        <c:noMultiLvlLbl val="1"/>
      </c:catAx>
      <c:valAx>
        <c:axId val="2094734552"/>
        <c:scaling>
          <c:orientation val="minMax"/>
          <c:max val="200"/>
          <c:min val="0"/>
        </c:scaling>
        <c:delete val="0"/>
        <c:axPos val="l"/>
        <c:majorGridlines>
          <c:spPr>
            <a:ln w="6350" cap="flat">
              <a:solidFill>
                <a:srgbClr val="E6EDF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5D6B8C"/>
                </a:solidFill>
                <a:latin typeface="Calibri"/>
              </a:defRPr>
            </a:pPr>
            <a:endParaRPr lang="en-US"/>
          </a:p>
        </c:txPr>
        <c:crossAx val="2094734554"/>
        <c:crosses val="autoZero"/>
        <c:crossBetween val="between"/>
        <c:majorUnit val="50"/>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1358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push to do everything at once to save cost. The honest answer is that it doubles the concurrent blast radius. Offer it, price it, recommend sequencing.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71F7F-A31D-9859-0780-797B8932B4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8706B-D5EA-BB05-115D-0E388BC65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6D345-5B2C-D7F3-D230-0B0FD5333F23}"/>
              </a:ext>
            </a:extLst>
          </p:cNvPr>
          <p:cNvSpPr>
            <a:spLocks noGrp="1"/>
          </p:cNvSpPr>
          <p:nvPr>
            <p:ph type="body" idx="1"/>
          </p:nvPr>
        </p:nvSpPr>
        <p:spPr/>
        <p:txBody>
          <a:bodyPr/>
          <a:lstStyle/>
          <a:p>
            <a:r>
              <a:rPr lang="en-US" dirty="0"/>
              <a:t>Expect a push to do everything at once to save cost. The honest answer is that it doubles the concurrent blast radius. Offer it, price it, recommend sequencing.</a:t>
            </a:r>
          </a:p>
        </p:txBody>
      </p:sp>
      <p:sp>
        <p:nvSpPr>
          <p:cNvPr id="4" name="Slide Number Placeholder 3">
            <a:extLst>
              <a:ext uri="{FF2B5EF4-FFF2-40B4-BE49-F238E27FC236}">
                <a16:creationId xmlns:a16="http://schemas.microsoft.com/office/drawing/2014/main" id="{C62A9415-8B3B-3C98-31D3-442C0A0B2E3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403173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9E002-738F-CF3E-F3BF-9B704F5178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0D573-7256-7E1C-9504-69F6428E64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AD3D80-10F2-D74B-6097-CAD0F9AE3A49}"/>
              </a:ext>
            </a:extLst>
          </p:cNvPr>
          <p:cNvSpPr>
            <a:spLocks noGrp="1"/>
          </p:cNvSpPr>
          <p:nvPr>
            <p:ph type="body" idx="1"/>
          </p:nvPr>
        </p:nvSpPr>
        <p:spPr/>
        <p:txBody>
          <a:bodyPr/>
          <a:lstStyle/>
          <a:p>
            <a:r>
              <a:rPr lang="en-US" dirty="0"/>
              <a:t>Expect a push to do everything at once to save cost. The honest answer is that it doubles the concurrent blast radius. Offer it, price it, recommend sequencing.</a:t>
            </a:r>
          </a:p>
        </p:txBody>
      </p:sp>
      <p:sp>
        <p:nvSpPr>
          <p:cNvPr id="4" name="Slide Number Placeholder 3">
            <a:extLst>
              <a:ext uri="{FF2B5EF4-FFF2-40B4-BE49-F238E27FC236}">
                <a16:creationId xmlns:a16="http://schemas.microsoft.com/office/drawing/2014/main" id="{4843B72A-E550-7DC7-113D-2A63451D0B09}"/>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596535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69F6B-0452-BD83-60A2-BE433C494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7FD8F-16BE-04CB-CADB-BEA41C6D9B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FC402-A844-25D3-01B9-DCA7909041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52935-532C-A1F8-E2AD-D6D11F8EB6BF}"/>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867624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a cost conversation into an investment conversation. The CFO question behind it is "why does this cost what it costs" - the answer is that the second and third tenant integrations reuse most of it. Do not quote a percentage saving; the reusable-versus-new split in column three is the credible version and it survives scrutiny. The TSA point usually lands hardest with finance: TSA fees are real monthly cash paid to the seller, so integration speed carries a visible cost line. If they raise divestiture, note that the evidence pack built for this migration is exactly what IT diligence asks for - which shortens the process whether they are buying or being bought.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11ED9-7240-AFD7-6268-25847EAFB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D709B-312C-22E6-9A58-0BCABAFEEAF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012D340-6A85-B020-1226-DC22CCBF84E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5481FBF-35BD-ED58-92A3-B0554FB9F008}"/>
              </a:ext>
            </a:extLst>
          </p:cNvPr>
          <p:cNvSpPr>
            <a:spLocks noGrp="1"/>
          </p:cNvSpPr>
          <p:nvPr>
            <p:ph type="sldNum" sz="quarter" idx="5"/>
          </p:nvPr>
        </p:nvSpPr>
        <p:spPr/>
        <p:txBody>
          <a:bodyPr/>
          <a:lstStyle/>
          <a:p>
            <a:fld id="{0E03BB16-0089-4B1F-A03C-B08E7A853A6C}" type="slidenum">
              <a:rPr lang="en-IN" smtClean="0"/>
              <a:t>39</a:t>
            </a:fld>
            <a:endParaRPr lang="en-IN"/>
          </a:p>
        </p:txBody>
      </p:sp>
    </p:spTree>
    <p:extLst>
      <p:ext uri="{BB962C8B-B14F-4D97-AF65-F5344CB8AC3E}">
        <p14:creationId xmlns:p14="http://schemas.microsoft.com/office/powerpoint/2010/main" val="2208203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DC7C8-3FC6-E5BF-447E-137422B0D0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16526-9D69-A5F5-C97F-2081F9FEFF43}"/>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6750D603-5837-B78B-1F7D-7FC4D5B0F3F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FBDFAB-8F2F-04ED-4667-9A14076F985A}"/>
              </a:ext>
            </a:extLst>
          </p:cNvPr>
          <p:cNvSpPr>
            <a:spLocks noGrp="1"/>
          </p:cNvSpPr>
          <p:nvPr>
            <p:ph type="sldNum" sz="quarter" idx="5"/>
          </p:nvPr>
        </p:nvSpPr>
        <p:spPr/>
        <p:txBody>
          <a:bodyPr/>
          <a:lstStyle/>
          <a:p>
            <a:fld id="{0E03BB16-0089-4B1F-A03C-B08E7A853A6C}" type="slidenum">
              <a:rPr lang="en-IN" smtClean="0"/>
              <a:t>42</a:t>
            </a:fld>
            <a:endParaRPr lang="en-IN"/>
          </a:p>
        </p:txBody>
      </p:sp>
    </p:spTree>
    <p:extLst>
      <p:ext uri="{BB962C8B-B14F-4D97-AF65-F5344CB8AC3E}">
        <p14:creationId xmlns:p14="http://schemas.microsoft.com/office/powerpoint/2010/main" val="17959939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A3ED4-E94C-AD99-77BA-DE23CFAA1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2CD9D-D583-41A4-ED44-70A5D777B3C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F75F719-191D-A058-EE04-09C99F88412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95FD862-C7D6-58EE-E431-25162AAA30D5}"/>
              </a:ext>
            </a:extLst>
          </p:cNvPr>
          <p:cNvSpPr>
            <a:spLocks noGrp="1"/>
          </p:cNvSpPr>
          <p:nvPr>
            <p:ph type="sldNum" sz="quarter" idx="5"/>
          </p:nvPr>
        </p:nvSpPr>
        <p:spPr/>
        <p:txBody>
          <a:bodyPr/>
          <a:lstStyle/>
          <a:p>
            <a:fld id="{0E03BB16-0089-4B1F-A03C-B08E7A853A6C}" type="slidenum">
              <a:rPr lang="en-IN" smtClean="0"/>
              <a:t>43</a:t>
            </a:fld>
            <a:endParaRPr lang="en-IN"/>
          </a:p>
        </p:txBody>
      </p:sp>
    </p:spTree>
    <p:extLst>
      <p:ext uri="{BB962C8B-B14F-4D97-AF65-F5344CB8AC3E}">
        <p14:creationId xmlns:p14="http://schemas.microsoft.com/office/powerpoint/2010/main" val="27011763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A5E37-8583-D345-89E6-B98F799125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32981-1048-07E5-D7E4-6930810CC06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A7298B62-570E-CB18-2338-8E011AC5FE5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D64CBB-5062-1947-2B0B-100732679887}"/>
              </a:ext>
            </a:extLst>
          </p:cNvPr>
          <p:cNvSpPr>
            <a:spLocks noGrp="1"/>
          </p:cNvSpPr>
          <p:nvPr>
            <p:ph type="sldNum" sz="quarter" idx="5"/>
          </p:nvPr>
        </p:nvSpPr>
        <p:spPr/>
        <p:txBody>
          <a:bodyPr/>
          <a:lstStyle/>
          <a:p>
            <a:fld id="{0E03BB16-0089-4B1F-A03C-B08E7A853A6C}" type="slidenum">
              <a:rPr lang="en-IN" smtClean="0"/>
              <a:t>44</a:t>
            </a:fld>
            <a:endParaRPr lang="en-IN"/>
          </a:p>
        </p:txBody>
      </p:sp>
    </p:spTree>
    <p:extLst>
      <p:ext uri="{BB962C8B-B14F-4D97-AF65-F5344CB8AC3E}">
        <p14:creationId xmlns:p14="http://schemas.microsoft.com/office/powerpoint/2010/main" val="83172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B14D2E-3DBB-4BFF-92BA-93F3F58A3377}" type="datetime1">
              <a:rPr lang="en-US" smtClean="0"/>
              <a:t>8/31/2026</a:t>
            </a:fld>
            <a:endParaRPr lang="en-US"/>
          </a:p>
        </p:txBody>
      </p:sp>
      <p:sp>
        <p:nvSpPr>
          <p:cNvPr id="3" name="Footer Placeholder 2"/>
          <p:cNvSpPr>
            <a:spLocks noGrp="1"/>
          </p:cNvSpPr>
          <p:nvPr>
            <p:ph type="ftr" sz="quarter" idx="11"/>
          </p:nvPr>
        </p:nvSpPr>
        <p:spPr/>
        <p:txBody>
          <a:bodyPr/>
          <a:lstStyle/>
          <a:p>
            <a:r>
              <a:rPr lang="en-US"/>
              <a:t>1</a:t>
            </a:r>
          </a:p>
        </p:txBody>
      </p:sp>
      <p:sp>
        <p:nvSpPr>
          <p:cNvPr id="4" name="Slide Number Placeholder 3"/>
          <p:cNvSpPr>
            <a:spLocks noGrp="1"/>
          </p:cNvSpPr>
          <p:nvPr>
            <p:ph type="sldNum" sz="quarter" idx="12"/>
          </p:nvPr>
        </p:nvSpPr>
        <p:spPr>
          <a:xfrm>
            <a:off x="2082800" y="4243376"/>
            <a:ext cx="1422400" cy="243417"/>
          </a:xfrm>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211993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Half Picture Right">
    <p:spTree>
      <p:nvGrpSpPr>
        <p:cNvPr id="1" name=""/>
        <p:cNvGrpSpPr/>
        <p:nvPr/>
      </p:nvGrpSpPr>
      <p:grpSpPr>
        <a:xfrm>
          <a:off x="0" y="0"/>
          <a:ext cx="0" cy="0"/>
          <a:chOff x="0" y="0"/>
          <a:chExt cx="0" cy="0"/>
        </a:xfrm>
      </p:grpSpPr>
      <p:sp>
        <p:nvSpPr>
          <p:cNvPr id="9" name="Placeholder"/>
          <p:cNvSpPr>
            <a:spLocks noGrp="1"/>
          </p:cNvSpPr>
          <p:nvPr>
            <p:ph type="pic" sz="quarter" idx="10"/>
          </p:nvPr>
        </p:nvSpPr>
        <p:spPr>
          <a:xfrm>
            <a:off x="3176" y="0"/>
            <a:ext cx="12188825" cy="4114800"/>
          </a:xfrm>
          <a:custGeom>
            <a:avLst/>
            <a:gdLst>
              <a:gd name="connsiteX0" fmla="*/ 0 w 8591550"/>
              <a:gd name="connsiteY0" fmla="*/ 0 h 5519738"/>
              <a:gd name="connsiteX1" fmla="*/ 8591550 w 8591550"/>
              <a:gd name="connsiteY1" fmla="*/ 0 h 5519738"/>
              <a:gd name="connsiteX2" fmla="*/ 8591550 w 8591550"/>
              <a:gd name="connsiteY2" fmla="*/ 5519738 h 5519738"/>
              <a:gd name="connsiteX3" fmla="*/ 0 w 8591550"/>
              <a:gd name="connsiteY3" fmla="*/ 5519738 h 5519738"/>
            </a:gdLst>
            <a:ahLst/>
            <a:cxnLst>
              <a:cxn ang="0">
                <a:pos x="connsiteX0" y="connsiteY0"/>
              </a:cxn>
              <a:cxn ang="0">
                <a:pos x="connsiteX1" y="connsiteY1"/>
              </a:cxn>
              <a:cxn ang="0">
                <a:pos x="connsiteX2" y="connsiteY2"/>
              </a:cxn>
              <a:cxn ang="0">
                <a:pos x="connsiteX3" y="connsiteY3"/>
              </a:cxn>
            </a:cxnLst>
            <a:rect l="l" t="t" r="r" b="b"/>
            <a:pathLst>
              <a:path w="8591550" h="5519738">
                <a:moveTo>
                  <a:pt x="0" y="0"/>
                </a:moveTo>
                <a:lnTo>
                  <a:pt x="8591550" y="0"/>
                </a:lnTo>
                <a:lnTo>
                  <a:pt x="8591550" y="5519738"/>
                </a:lnTo>
                <a:lnTo>
                  <a:pt x="0" y="5519738"/>
                </a:lnTo>
                <a:close/>
              </a:path>
            </a:pathLst>
          </a:custGeom>
        </p:spPr>
        <p:txBody>
          <a:bodyPr wrap="square">
            <a:noAutofit/>
          </a:bodyPr>
          <a:lstStyle/>
          <a:p>
            <a:endParaRPr lang="ru-RU" dirty="0"/>
          </a:p>
        </p:txBody>
      </p:sp>
    </p:spTree>
    <p:extLst>
      <p:ext uri="{BB962C8B-B14F-4D97-AF65-F5344CB8AC3E}">
        <p14:creationId xmlns:p14="http://schemas.microsoft.com/office/powerpoint/2010/main" val="3159903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decel="100000" fill="hold" grpId="0" nodeType="with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1110789" y="1406739"/>
            <a:ext cx="3766011" cy="3175707"/>
          </a:xfrm>
          <a:custGeom>
            <a:avLst/>
            <a:gdLst/>
            <a:ahLst/>
            <a:cxnLst/>
            <a:rect l="l" t="t" r="r" b="b"/>
            <a:pathLst>
              <a:path w="5649017" h="4763560">
                <a:moveTo>
                  <a:pt x="0" y="0"/>
                </a:moveTo>
                <a:lnTo>
                  <a:pt x="5649017" y="0"/>
                </a:lnTo>
                <a:lnTo>
                  <a:pt x="5649017" y="4763560"/>
                </a:lnTo>
                <a:lnTo>
                  <a:pt x="0" y="4763560"/>
                </a:lnTo>
                <a:lnTo>
                  <a:pt x="0" y="0"/>
                </a:lnTo>
                <a:close/>
              </a:path>
            </a:pathLst>
          </a:custGeom>
          <a:blipFill>
            <a:blip r:embed="rId2"/>
            <a:stretch>
              <a:fillRect t="-47826" b="-108579"/>
            </a:stretch>
          </a:blipFill>
        </p:spPr>
        <p:txBody>
          <a:bodyPr/>
          <a:lstStyle/>
          <a:p>
            <a:endParaRPr lang="en-US" sz="1200"/>
          </a:p>
        </p:txBody>
      </p:sp>
      <p:sp>
        <p:nvSpPr>
          <p:cNvPr id="6" name="TextBox 6"/>
          <p:cNvSpPr txBox="1"/>
          <p:nvPr/>
        </p:nvSpPr>
        <p:spPr>
          <a:xfrm>
            <a:off x="1676400" y="4345614"/>
            <a:ext cx="3766011" cy="654025"/>
          </a:xfrm>
          <a:prstGeom prst="rect">
            <a:avLst/>
          </a:prstGeom>
        </p:spPr>
        <p:txBody>
          <a:bodyPr wrap="square" lIns="0" tIns="0" rIns="0" bIns="0" rtlCol="0" anchor="t">
            <a:spAutoFit/>
          </a:bodyPr>
          <a:lstStyle/>
          <a:p>
            <a:pPr>
              <a:lnSpc>
                <a:spcPts val="5085"/>
              </a:lnSpc>
            </a:pPr>
            <a:r>
              <a:rPr lang="en-US" sz="4800" spc="-331" dirty="0">
                <a:solidFill>
                  <a:srgbClr val="002060"/>
                </a:solidFill>
                <a:latin typeface="Codec Pro"/>
                <a:ea typeface="Codec Pro"/>
                <a:cs typeface="Codec Pro"/>
                <a:sym typeface="Codec Pro"/>
              </a:rPr>
              <a:t>virtuous</a:t>
            </a:r>
            <a:r>
              <a:rPr lang="en-US" sz="4800" spc="-331" dirty="0">
                <a:solidFill>
                  <a:srgbClr val="0053EB"/>
                </a:solidFill>
                <a:latin typeface="Codec Pro"/>
                <a:ea typeface="Codec Pro"/>
                <a:cs typeface="Codec Pro"/>
                <a:sym typeface="Codec Pro"/>
              </a:rPr>
              <a:t>info</a:t>
            </a:r>
          </a:p>
        </p:txBody>
      </p:sp>
      <p:sp>
        <p:nvSpPr>
          <p:cNvPr id="12" name="TextBox 11">
            <a:extLst>
              <a:ext uri="{FF2B5EF4-FFF2-40B4-BE49-F238E27FC236}">
                <a16:creationId xmlns:a16="http://schemas.microsoft.com/office/drawing/2014/main" id="{FC6742D3-8ED0-C8FD-5460-CAA831971816}"/>
              </a:ext>
            </a:extLst>
          </p:cNvPr>
          <p:cNvSpPr txBox="1"/>
          <p:nvPr/>
        </p:nvSpPr>
        <p:spPr>
          <a:xfrm>
            <a:off x="1930400" y="4949497"/>
            <a:ext cx="6531453" cy="297454"/>
          </a:xfrm>
          <a:prstGeom prst="rect">
            <a:avLst/>
          </a:prstGeom>
          <a:noFill/>
        </p:spPr>
        <p:txBody>
          <a:bodyPr wrap="square">
            <a:spAutoFit/>
          </a:bodyPr>
          <a:lstStyle/>
          <a:p>
            <a:r>
              <a:rPr lang="en-US" sz="1333" b="1" dirty="0">
                <a:solidFill>
                  <a:srgbClr val="002060"/>
                </a:solidFill>
                <a:latin typeface="Codec Pro Bold"/>
              </a:rPr>
              <a:t>Where </a:t>
            </a:r>
            <a:r>
              <a:rPr lang="en-US" sz="1333" b="1" dirty="0">
                <a:solidFill>
                  <a:srgbClr val="0066FF"/>
                </a:solidFill>
                <a:latin typeface="Codec Pro Bold"/>
              </a:rPr>
              <a:t>Innovation </a:t>
            </a:r>
            <a:r>
              <a:rPr lang="en-US" sz="1333" b="1" dirty="0">
                <a:solidFill>
                  <a:srgbClr val="002060"/>
                </a:solidFill>
                <a:latin typeface="Codec Pro Bold"/>
              </a:rPr>
              <a:t>Amplifies   </a:t>
            </a:r>
            <a:endParaRPr lang="en-IN" sz="1333" b="1" dirty="0">
              <a:solidFill>
                <a:srgbClr val="002060"/>
              </a:solidFill>
              <a:latin typeface="Codec Pro Bold"/>
            </a:endParaRPr>
          </a:p>
        </p:txBody>
      </p:sp>
      <p:grpSp>
        <p:nvGrpSpPr>
          <p:cNvPr id="33" name="Group 2">
            <a:extLst>
              <a:ext uri="{FF2B5EF4-FFF2-40B4-BE49-F238E27FC236}">
                <a16:creationId xmlns:a16="http://schemas.microsoft.com/office/drawing/2014/main" id="{760FDE9C-AE63-5127-E747-C586681F3F31}"/>
              </a:ext>
            </a:extLst>
          </p:cNvPr>
          <p:cNvGrpSpPr/>
          <p:nvPr/>
        </p:nvGrpSpPr>
        <p:grpSpPr>
          <a:xfrm rot="4999431">
            <a:off x="10419459" y="5716031"/>
            <a:ext cx="251669" cy="229316"/>
            <a:chOff x="76200" y="0"/>
            <a:chExt cx="892027" cy="812800"/>
          </a:xfrm>
        </p:grpSpPr>
        <p:sp>
          <p:nvSpPr>
            <p:cNvPr id="34" name="Freeform 3">
              <a:extLst>
                <a:ext uri="{FF2B5EF4-FFF2-40B4-BE49-F238E27FC236}">
                  <a16:creationId xmlns:a16="http://schemas.microsoft.com/office/drawing/2014/main" id="{D3E8190C-AB3D-AD79-E677-F6185080273E}"/>
                </a:ext>
              </a:extLst>
            </p:cNvPr>
            <p:cNvSpPr/>
            <p:nvPr/>
          </p:nvSpPr>
          <p:spPr>
            <a:xfrm>
              <a:off x="155427"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35" name="TextBox 4">
              <a:extLst>
                <a:ext uri="{FF2B5EF4-FFF2-40B4-BE49-F238E27FC236}">
                  <a16:creationId xmlns:a16="http://schemas.microsoft.com/office/drawing/2014/main" id="{3C0D191A-6795-8961-60CA-E604011C1B45}"/>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36" name="Group 5">
            <a:extLst>
              <a:ext uri="{FF2B5EF4-FFF2-40B4-BE49-F238E27FC236}">
                <a16:creationId xmlns:a16="http://schemas.microsoft.com/office/drawing/2014/main" id="{DCF0CE5D-B0FE-C0B6-4959-BC9A0B7E18E5}"/>
              </a:ext>
            </a:extLst>
          </p:cNvPr>
          <p:cNvGrpSpPr/>
          <p:nvPr/>
        </p:nvGrpSpPr>
        <p:grpSpPr>
          <a:xfrm rot="4999431">
            <a:off x="10743457" y="5722055"/>
            <a:ext cx="229316" cy="229316"/>
            <a:chOff x="0" y="0"/>
            <a:chExt cx="812800" cy="812800"/>
          </a:xfrm>
        </p:grpSpPr>
        <p:sp>
          <p:nvSpPr>
            <p:cNvPr id="37" name="Freeform 6">
              <a:extLst>
                <a:ext uri="{FF2B5EF4-FFF2-40B4-BE49-F238E27FC236}">
                  <a16:creationId xmlns:a16="http://schemas.microsoft.com/office/drawing/2014/main" id="{5325F619-3D32-DBB7-BA88-F8995EEB16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38" name="TextBox 7">
              <a:extLst>
                <a:ext uri="{FF2B5EF4-FFF2-40B4-BE49-F238E27FC236}">
                  <a16:creationId xmlns:a16="http://schemas.microsoft.com/office/drawing/2014/main" id="{B3D02E30-F8DD-72F1-E102-1A261A37C8BE}"/>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39" name="Group 8">
            <a:extLst>
              <a:ext uri="{FF2B5EF4-FFF2-40B4-BE49-F238E27FC236}">
                <a16:creationId xmlns:a16="http://schemas.microsoft.com/office/drawing/2014/main" id="{514C2260-D749-2D90-EA85-2937695473D6}"/>
              </a:ext>
            </a:extLst>
          </p:cNvPr>
          <p:cNvGrpSpPr/>
          <p:nvPr/>
        </p:nvGrpSpPr>
        <p:grpSpPr>
          <a:xfrm rot="4999431">
            <a:off x="11035731" y="5722615"/>
            <a:ext cx="229316" cy="229316"/>
            <a:chOff x="0" y="0"/>
            <a:chExt cx="812800" cy="812800"/>
          </a:xfrm>
        </p:grpSpPr>
        <p:sp>
          <p:nvSpPr>
            <p:cNvPr id="40" name="Freeform 9">
              <a:extLst>
                <a:ext uri="{FF2B5EF4-FFF2-40B4-BE49-F238E27FC236}">
                  <a16:creationId xmlns:a16="http://schemas.microsoft.com/office/drawing/2014/main" id="{B1FB4C2D-9F9E-37D0-C82E-4215724CC2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1" name="TextBox 10">
              <a:extLst>
                <a:ext uri="{FF2B5EF4-FFF2-40B4-BE49-F238E27FC236}">
                  <a16:creationId xmlns:a16="http://schemas.microsoft.com/office/drawing/2014/main" id="{43786968-7D86-78E8-3AB2-3240D274FE3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sp>
        <p:nvSpPr>
          <p:cNvPr id="3" name="AutoShape 2">
            <a:extLst>
              <a:ext uri="{FF2B5EF4-FFF2-40B4-BE49-F238E27FC236}">
                <a16:creationId xmlns:a16="http://schemas.microsoft.com/office/drawing/2014/main" id="{63720F31-3B0B-C6FA-AA33-6EFE12E40FD5}"/>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4" name="TextBox 7">
            <a:extLst>
              <a:ext uri="{FF2B5EF4-FFF2-40B4-BE49-F238E27FC236}">
                <a16:creationId xmlns:a16="http://schemas.microsoft.com/office/drawing/2014/main" id="{11755562-CE0F-69B5-C0EB-A52A6538248E}"/>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8" name="TextBox 9">
            <a:extLst>
              <a:ext uri="{FF2B5EF4-FFF2-40B4-BE49-F238E27FC236}">
                <a16:creationId xmlns:a16="http://schemas.microsoft.com/office/drawing/2014/main" id="{4170B73F-2B9D-AF8E-EC79-229B69DEC586}"/>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8" name="TextBox 6">
            <a:extLst>
              <a:ext uri="{FF2B5EF4-FFF2-40B4-BE49-F238E27FC236}">
                <a16:creationId xmlns:a16="http://schemas.microsoft.com/office/drawing/2014/main" id="{FC89569D-CCB4-45E5-9385-72F44449AA23}"/>
              </a:ext>
            </a:extLst>
          </p:cNvPr>
          <p:cNvSpPr txBox="1"/>
          <p:nvPr/>
        </p:nvSpPr>
        <p:spPr>
          <a:xfrm>
            <a:off x="4779817" y="2498260"/>
            <a:ext cx="5496791" cy="974626"/>
          </a:xfrm>
          <a:prstGeom prst="rect">
            <a:avLst/>
          </a:prstGeom>
        </p:spPr>
        <p:txBody>
          <a:bodyPr wrap="square" lIns="0" tIns="0" rIns="0" bIns="0" rtlCol="0" anchor="t">
            <a:spAutoFit/>
          </a:bodyPr>
          <a:lstStyle>
            <a:defPPr>
              <a:defRPr lang="en-US"/>
            </a:defPPr>
            <a:lvl1pPr>
              <a:lnSpc>
                <a:spcPts val="7627"/>
              </a:lnSpc>
              <a:defRPr sz="7200" spc="-497">
                <a:solidFill>
                  <a:srgbClr val="002060"/>
                </a:solidFill>
                <a:latin typeface="Codec Pro"/>
                <a:ea typeface="Codec Pro"/>
                <a:cs typeface="Codec Pro"/>
              </a:defRPr>
            </a:lvl1pPr>
          </a:lstStyle>
          <a:p>
            <a:r>
              <a:rPr lang="en-US" sz="6400" b="1" dirty="0">
                <a:solidFill>
                  <a:srgbClr val="0066FF"/>
                </a:solidFill>
                <a:sym typeface="Codec Pro"/>
              </a:rPr>
              <a:t>          Global CFO</a:t>
            </a:r>
          </a:p>
        </p:txBody>
      </p:sp>
      <p:sp>
        <p:nvSpPr>
          <p:cNvPr id="20" name="Text 2">
            <a:extLst>
              <a:ext uri="{FF2B5EF4-FFF2-40B4-BE49-F238E27FC236}">
                <a16:creationId xmlns:a16="http://schemas.microsoft.com/office/drawing/2014/main" id="{D92C06EB-EB16-480B-8372-201B1609308E}"/>
              </a:ext>
            </a:extLst>
          </p:cNvPr>
          <p:cNvSpPr txBox="1"/>
          <p:nvPr/>
        </p:nvSpPr>
        <p:spPr>
          <a:xfrm>
            <a:off x="6574985" y="3872427"/>
            <a:ext cx="5363015" cy="1357323"/>
          </a:xfrm>
          <a:prstGeom prst="rect">
            <a:avLst/>
          </a:prstGeom>
          <a:noFill/>
          <a:ln/>
        </p:spPr>
        <p:txBody>
          <a:bodyPr wrap="square" lIns="0" tIns="0" rIns="0" bIns="0" rtlCol="0" anchor="ctr"/>
          <a:lstStyle/>
          <a:p>
            <a:pPr marL="0" indent="0">
              <a:buNone/>
            </a:pPr>
            <a:r>
              <a:rPr lang="en-US" sz="2000" b="1" kern="0" spc="200" dirty="0">
                <a:solidFill>
                  <a:srgbClr val="0066FF"/>
                </a:solidFill>
                <a:latin typeface="Codec Pro" panose="020B0604020202020204" charset="0"/>
                <a:ea typeface="Calibri" panose="020F0502020204030204" pitchFamily="34" charset="0"/>
                <a:cs typeface="Calibri" panose="020F0502020204030204" pitchFamily="34" charset="0"/>
              </a:rPr>
              <a:t>MICROSOFT 365 </a:t>
            </a:r>
            <a:r>
              <a:rPr lang="en-US" sz="2000" b="1" kern="0" spc="200" dirty="0">
                <a:solidFill>
                  <a:srgbClr val="002060"/>
                </a:solidFill>
                <a:latin typeface="Codec Pro" panose="020B0604020202020204" charset="0"/>
                <a:ea typeface="Calibri" panose="020F0502020204030204" pitchFamily="34" charset="0"/>
                <a:cs typeface="Calibri" panose="020F0502020204030204" pitchFamily="34" charset="0"/>
              </a:rPr>
              <a:t>TO</a:t>
            </a:r>
          </a:p>
          <a:p>
            <a:pPr marL="0" indent="0">
              <a:buNone/>
            </a:pPr>
            <a:r>
              <a:rPr lang="en-US" sz="2000" b="1" kern="0" spc="200" dirty="0">
                <a:solidFill>
                  <a:srgbClr val="002060"/>
                </a:solidFill>
                <a:latin typeface="Codec Pro" panose="020B0604020202020204" charset="0"/>
                <a:ea typeface="Calibri" panose="020F0502020204030204" pitchFamily="34" charset="0"/>
                <a:cs typeface="Calibri" panose="020F0502020204030204" pitchFamily="34" charset="0"/>
              </a:rPr>
              <a:t>                     GOOGLE WORKSPACE</a:t>
            </a:r>
          </a:p>
          <a:p>
            <a:pPr marL="0" indent="0">
              <a:buNone/>
            </a:pPr>
            <a:endParaRPr lang="en-US" sz="2000" dirty="0">
              <a:solidFill>
                <a:srgbClr val="002060"/>
              </a:solidFill>
              <a:latin typeface="Codec Pro" panose="020B0604020202020204" charset="0"/>
              <a:ea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88013" y="1549400"/>
            <a:ext cx="229316" cy="2293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 name="TextBox 4"/>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5" name="Group 5"/>
          <p:cNvGrpSpPr/>
          <p:nvPr/>
        </p:nvGrpSpPr>
        <p:grpSpPr>
          <a:xfrm>
            <a:off x="5123018" y="1549400"/>
            <a:ext cx="229316" cy="22931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7" name="TextBox 7"/>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8" name="Group 8"/>
          <p:cNvGrpSpPr/>
          <p:nvPr/>
        </p:nvGrpSpPr>
        <p:grpSpPr>
          <a:xfrm>
            <a:off x="5460284" y="1549400"/>
            <a:ext cx="229316" cy="22931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10" name="TextBox 10"/>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sp>
        <p:nvSpPr>
          <p:cNvPr id="12" name="TextBox 12"/>
          <p:cNvSpPr txBox="1"/>
          <p:nvPr/>
        </p:nvSpPr>
        <p:spPr>
          <a:xfrm>
            <a:off x="666932" y="916663"/>
            <a:ext cx="4412689" cy="1002134"/>
          </a:xfrm>
          <a:prstGeom prst="rect">
            <a:avLst/>
          </a:prstGeom>
        </p:spPr>
        <p:txBody>
          <a:bodyPr lIns="0" tIns="0" rIns="0" bIns="0" rtlCol="0" anchor="t">
            <a:spAutoFit/>
          </a:bodyPr>
          <a:lstStyle/>
          <a:p>
            <a:pPr>
              <a:lnSpc>
                <a:spcPts val="8750"/>
              </a:lnSpc>
              <a:spcBef>
                <a:spcPct val="0"/>
              </a:spcBef>
            </a:pPr>
            <a:r>
              <a:rPr lang="en-US" sz="5334" b="1" dirty="0">
                <a:solidFill>
                  <a:srgbClr val="2979FF"/>
                </a:solidFill>
                <a:latin typeface="Codec Pro Bold"/>
                <a:ea typeface="Codec Pro Bold"/>
                <a:cs typeface="Codec Pro Bold"/>
                <a:sym typeface="Codec Pro Bold"/>
              </a:rPr>
              <a:t>Who </a:t>
            </a:r>
            <a:r>
              <a:rPr lang="en-US" sz="5334" b="1" dirty="0">
                <a:solidFill>
                  <a:schemeClr val="tx2">
                    <a:lumMod val="75000"/>
                  </a:schemeClr>
                </a:solidFill>
                <a:latin typeface="Codec Pro Bold"/>
                <a:ea typeface="Codec Pro Bold"/>
                <a:cs typeface="Codec Pro Bold"/>
                <a:sym typeface="Codec Pro Bold"/>
              </a:rPr>
              <a:t>We</a:t>
            </a:r>
            <a:r>
              <a:rPr lang="en-US" sz="5334" b="1" dirty="0">
                <a:solidFill>
                  <a:srgbClr val="2979FF"/>
                </a:solidFill>
                <a:latin typeface="Codec Pro Bold"/>
                <a:ea typeface="Codec Pro Bold"/>
                <a:cs typeface="Codec Pro Bold"/>
                <a:sym typeface="Codec Pro Bold"/>
              </a:rPr>
              <a:t> Are</a:t>
            </a:r>
          </a:p>
        </p:txBody>
      </p:sp>
      <p:sp>
        <p:nvSpPr>
          <p:cNvPr id="13" name="TextBox 13"/>
          <p:cNvSpPr txBox="1"/>
          <p:nvPr/>
        </p:nvSpPr>
        <p:spPr>
          <a:xfrm>
            <a:off x="707272" y="3175000"/>
            <a:ext cx="10546276" cy="2199320"/>
          </a:xfrm>
          <a:prstGeom prst="rect">
            <a:avLst/>
          </a:prstGeom>
        </p:spPr>
        <p:txBody>
          <a:bodyPr lIns="0" tIns="0" rIns="0" bIns="0" rtlCol="0" anchor="t">
            <a:spAutoFit/>
          </a:bodyPr>
          <a:lstStyle/>
          <a:p>
            <a:pPr algn="just">
              <a:lnSpc>
                <a:spcPts val="2923"/>
              </a:lnSpc>
              <a:spcBef>
                <a:spcPct val="0"/>
              </a:spcBef>
            </a:pPr>
            <a:r>
              <a:rPr lang="en-US" sz="2087" dirty="0">
                <a:solidFill>
                  <a:schemeClr val="tx2">
                    <a:lumMod val="75000"/>
                  </a:schemeClr>
                </a:solidFill>
                <a:latin typeface="Codec Pro" panose="020B0604020202020204" charset="0"/>
                <a:ea typeface="Codec Pro Light"/>
                <a:cs typeface="Codec Pro Light"/>
                <a:sym typeface="Codec Pro Light"/>
              </a:rPr>
              <a:t>Virtuousinfo is a technology and innovation driven company,  specializing in AI transformation, custom software development, infrastructure engineering and precision talent solutions.</a:t>
            </a:r>
          </a:p>
          <a:p>
            <a:pPr algn="just">
              <a:lnSpc>
                <a:spcPts val="2923"/>
              </a:lnSpc>
              <a:spcBef>
                <a:spcPct val="0"/>
              </a:spcBef>
            </a:pPr>
            <a:endParaRPr lang="en-US" sz="2087" dirty="0">
              <a:solidFill>
                <a:schemeClr val="tx2">
                  <a:lumMod val="75000"/>
                </a:schemeClr>
              </a:solidFill>
              <a:latin typeface="Codec Pro" panose="020B0604020202020204" charset="0"/>
              <a:ea typeface="Codec Pro Light"/>
              <a:cs typeface="Codec Pro Light"/>
              <a:sym typeface="Codec Pro Light"/>
            </a:endParaRPr>
          </a:p>
          <a:p>
            <a:pPr algn="just">
              <a:lnSpc>
                <a:spcPts val="2923"/>
              </a:lnSpc>
              <a:spcBef>
                <a:spcPct val="0"/>
              </a:spcBef>
            </a:pPr>
            <a:r>
              <a:rPr lang="en-US" sz="2087" dirty="0">
                <a:solidFill>
                  <a:schemeClr val="tx2">
                    <a:lumMod val="75000"/>
                  </a:schemeClr>
                </a:solidFill>
                <a:latin typeface="Codec Pro" panose="020B0604020202020204" charset="0"/>
                <a:ea typeface="Codec Pro Light"/>
                <a:cs typeface="Codec Pro Light"/>
                <a:sym typeface="Codec Pro Light"/>
              </a:rPr>
              <a:t>We partner with startups and enterprises across India and beyond by delivering</a:t>
            </a:r>
          </a:p>
          <a:p>
            <a:pPr algn="just">
              <a:lnSpc>
                <a:spcPts val="2923"/>
              </a:lnSpc>
              <a:spcBef>
                <a:spcPct val="0"/>
              </a:spcBef>
            </a:pPr>
            <a:r>
              <a:rPr lang="en-US" sz="2087" dirty="0">
                <a:solidFill>
                  <a:schemeClr val="tx2">
                    <a:lumMod val="75000"/>
                  </a:schemeClr>
                </a:solidFill>
                <a:latin typeface="Codec Pro" panose="020B0604020202020204" charset="0"/>
                <a:ea typeface="Codec Pro Light"/>
                <a:cs typeface="Codec Pro Light"/>
                <a:sym typeface="Codec Pro Light"/>
              </a:rPr>
              <a:t>solutions that create real, intelligent, and measurable business impact.</a:t>
            </a:r>
          </a:p>
        </p:txBody>
      </p:sp>
      <p:grpSp>
        <p:nvGrpSpPr>
          <p:cNvPr id="17" name="Group 17"/>
          <p:cNvGrpSpPr/>
          <p:nvPr/>
        </p:nvGrpSpPr>
        <p:grpSpPr>
          <a:xfrm>
            <a:off x="8178800" y="584200"/>
            <a:ext cx="2032000" cy="2074709"/>
            <a:chOff x="0" y="0"/>
            <a:chExt cx="3848347" cy="3950187"/>
          </a:xfrm>
        </p:grpSpPr>
        <p:sp>
          <p:nvSpPr>
            <p:cNvPr id="18" name="Freeform 18"/>
            <p:cNvSpPr/>
            <p:nvPr/>
          </p:nvSpPr>
          <p:spPr>
            <a:xfrm>
              <a:off x="0" y="0"/>
              <a:ext cx="3848347" cy="3245137"/>
            </a:xfrm>
            <a:custGeom>
              <a:avLst/>
              <a:gdLst/>
              <a:ahLst/>
              <a:cxnLst/>
              <a:rect l="l" t="t" r="r" b="b"/>
              <a:pathLst>
                <a:path w="3848347" h="3245137">
                  <a:moveTo>
                    <a:pt x="0" y="0"/>
                  </a:moveTo>
                  <a:lnTo>
                    <a:pt x="3848347" y="0"/>
                  </a:lnTo>
                  <a:lnTo>
                    <a:pt x="3848347" y="3245137"/>
                  </a:lnTo>
                  <a:lnTo>
                    <a:pt x="0" y="3245137"/>
                  </a:lnTo>
                  <a:lnTo>
                    <a:pt x="0" y="0"/>
                  </a:lnTo>
                  <a:close/>
                </a:path>
              </a:pathLst>
            </a:custGeom>
            <a:blipFill>
              <a:blip r:embed="rId2"/>
              <a:stretch>
                <a:fillRect t="-47826" b="-108579"/>
              </a:stretch>
            </a:blipFill>
          </p:spPr>
          <p:txBody>
            <a:bodyPr/>
            <a:lstStyle/>
            <a:p>
              <a:endParaRPr lang="en-US" sz="1200"/>
            </a:p>
          </p:txBody>
        </p:sp>
        <p:sp>
          <p:nvSpPr>
            <p:cNvPr id="19" name="TextBox 19"/>
            <p:cNvSpPr txBox="1"/>
            <p:nvPr/>
          </p:nvSpPr>
          <p:spPr>
            <a:xfrm>
              <a:off x="150790" y="3311814"/>
              <a:ext cx="3697557" cy="638373"/>
            </a:xfrm>
            <a:prstGeom prst="rect">
              <a:avLst/>
            </a:prstGeom>
          </p:spPr>
          <p:txBody>
            <a:bodyPr lIns="0" tIns="0" rIns="0" bIns="0" rtlCol="0" anchor="t">
              <a:spAutoFit/>
            </a:bodyPr>
            <a:lstStyle/>
            <a:p>
              <a:pPr>
                <a:lnSpc>
                  <a:spcPts val="2598"/>
                </a:lnSpc>
              </a:pPr>
              <a:r>
                <a:rPr lang="en-US" sz="2919" spc="-169" dirty="0">
                  <a:solidFill>
                    <a:srgbClr val="090A3C"/>
                  </a:solidFill>
                  <a:latin typeface="Codec Pro"/>
                  <a:ea typeface="Codec Pro"/>
                  <a:cs typeface="Codec Pro"/>
                  <a:sym typeface="Codec Pro"/>
                </a:rPr>
                <a:t>virtuous</a:t>
              </a:r>
              <a:r>
                <a:rPr lang="en-US" sz="2919" spc="-169" dirty="0">
                  <a:solidFill>
                    <a:srgbClr val="0053EB"/>
                  </a:solidFill>
                  <a:latin typeface="Codec Pro"/>
                  <a:ea typeface="Codec Pro"/>
                  <a:cs typeface="Codec Pro"/>
                  <a:sym typeface="Codec Pro"/>
                </a:rPr>
                <a:t>info</a:t>
              </a:r>
            </a:p>
          </p:txBody>
        </p:sp>
      </p:grpSp>
      <p:sp>
        <p:nvSpPr>
          <p:cNvPr id="11" name="AutoShape 2">
            <a:extLst>
              <a:ext uri="{FF2B5EF4-FFF2-40B4-BE49-F238E27FC236}">
                <a16:creationId xmlns:a16="http://schemas.microsoft.com/office/drawing/2014/main" id="{8EF899FC-09DF-1BBC-1437-6542CD87C58A}"/>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4F967372-53A8-F33D-C0CB-2277EB1F4DFF}"/>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DA488B99-5639-C5C0-6A66-58413FC358C2}"/>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2" name="Footer Placeholder 24">
            <a:extLst>
              <a:ext uri="{FF2B5EF4-FFF2-40B4-BE49-F238E27FC236}">
                <a16:creationId xmlns:a16="http://schemas.microsoft.com/office/drawing/2014/main" id="{07B175EE-BCD9-06DF-810B-5DC0942A7C94}"/>
              </a:ext>
            </a:extLst>
          </p:cNvPr>
          <p:cNvSpPr>
            <a:spLocks noGrp="1"/>
          </p:cNvSpPr>
          <p:nvPr>
            <p:ph type="ftr" sz="quarter" idx="11"/>
          </p:nvPr>
        </p:nvSpPr>
        <p:spPr>
          <a:xfrm>
            <a:off x="5130800" y="6487584"/>
            <a:ext cx="1930400" cy="243417"/>
          </a:xfrm>
        </p:spPr>
        <p:txBody>
          <a:bodyPr/>
          <a:lstStyle/>
          <a:p>
            <a:r>
              <a:rPr lang="en-US" sz="867" dirty="0">
                <a:solidFill>
                  <a:schemeClr val="tx2">
                    <a:lumMod val="75000"/>
                  </a:schemeClr>
                </a:solidFill>
                <a:latin typeface="Codec Pro" panose="020B0604020202020204" charset="0"/>
              </a:rPr>
              <a:t>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333DB-6995-D195-7E9E-37EFB2040BC5}"/>
            </a:ext>
          </a:extLst>
        </p:cNvPr>
        <p:cNvGrpSpPr/>
        <p:nvPr/>
      </p:nvGrpSpPr>
      <p:grpSpPr>
        <a:xfrm>
          <a:off x="0" y="0"/>
          <a:ext cx="0" cy="0"/>
          <a:chOff x="0" y="0"/>
          <a:chExt cx="0" cy="0"/>
        </a:xfrm>
      </p:grpSpPr>
      <p:sp>
        <p:nvSpPr>
          <p:cNvPr id="10" name="TextBox 10">
            <a:extLst>
              <a:ext uri="{FF2B5EF4-FFF2-40B4-BE49-F238E27FC236}">
                <a16:creationId xmlns:a16="http://schemas.microsoft.com/office/drawing/2014/main" id="{54A6BA7D-0BF7-48CA-132D-7E266442986C}"/>
              </a:ext>
            </a:extLst>
          </p:cNvPr>
          <p:cNvSpPr txBox="1"/>
          <p:nvPr/>
        </p:nvSpPr>
        <p:spPr>
          <a:xfrm>
            <a:off x="608757" y="336908"/>
            <a:ext cx="6936606" cy="666849"/>
          </a:xfrm>
          <a:prstGeom prst="rect">
            <a:avLst/>
          </a:prstGeom>
        </p:spPr>
        <p:txBody>
          <a:bodyPr wrap="square" lIns="0" tIns="0" rIns="0" bIns="0" rtlCol="0" anchor="t">
            <a:spAutoFit/>
          </a:bodyPr>
          <a:lstStyle/>
          <a:p>
            <a:pPr>
              <a:lnSpc>
                <a:spcPts val="5227"/>
              </a:lnSpc>
              <a:spcBef>
                <a:spcPct val="0"/>
              </a:spcBef>
            </a:pPr>
            <a:r>
              <a:rPr lang="en-IN" sz="4400" dirty="0">
                <a:solidFill>
                  <a:schemeClr val="tx2">
                    <a:lumMod val="75000"/>
                  </a:schemeClr>
                </a:solidFill>
                <a:latin typeface="Codec Pro Bold" panose="020B0604020202020204" charset="0"/>
              </a:rPr>
              <a:t>Values That </a:t>
            </a:r>
            <a:r>
              <a:rPr lang="en-IN" sz="4400" dirty="0">
                <a:solidFill>
                  <a:srgbClr val="0066FF"/>
                </a:solidFill>
                <a:latin typeface="Codec Pro Bold" panose="020B0604020202020204" charset="0"/>
              </a:rPr>
              <a:t>Define US</a:t>
            </a:r>
            <a:r>
              <a:rPr lang="en-US" sz="4400" b="1" dirty="0">
                <a:solidFill>
                  <a:srgbClr val="0066FF"/>
                </a:solidFill>
                <a:latin typeface="Codec Pro Bold" panose="020B0604020202020204" charset="0"/>
                <a:ea typeface="Codec Pro Bold"/>
                <a:cs typeface="Codec Pro Bold"/>
                <a:sym typeface="Codec Pro Bold"/>
              </a:rPr>
              <a:t> </a:t>
            </a:r>
          </a:p>
        </p:txBody>
      </p:sp>
      <p:sp>
        <p:nvSpPr>
          <p:cNvPr id="11" name="TextBox 11">
            <a:extLst>
              <a:ext uri="{FF2B5EF4-FFF2-40B4-BE49-F238E27FC236}">
                <a16:creationId xmlns:a16="http://schemas.microsoft.com/office/drawing/2014/main" id="{0C536590-1467-0234-7755-6A7C0BDB00C5}"/>
              </a:ext>
            </a:extLst>
          </p:cNvPr>
          <p:cNvSpPr txBox="1"/>
          <p:nvPr/>
        </p:nvSpPr>
        <p:spPr>
          <a:xfrm>
            <a:off x="604465" y="5867400"/>
            <a:ext cx="6558335" cy="285784"/>
          </a:xfrm>
          <a:prstGeom prst="rect">
            <a:avLst/>
          </a:prstGeom>
        </p:spPr>
        <p:txBody>
          <a:bodyPr wrap="square" lIns="0" tIns="0" rIns="0" bIns="0" rtlCol="0" anchor="t">
            <a:spAutoFit/>
          </a:bodyPr>
          <a:lstStyle/>
          <a:p>
            <a:pPr algn="just">
              <a:lnSpc>
                <a:spcPts val="1960"/>
              </a:lnSpc>
              <a:spcBef>
                <a:spcPct val="0"/>
              </a:spcBef>
            </a:pPr>
            <a:r>
              <a:rPr lang="en-US" sz="3200" b="1" dirty="0">
                <a:solidFill>
                  <a:schemeClr val="tx2">
                    <a:lumMod val="75000"/>
                  </a:schemeClr>
                </a:solidFill>
                <a:latin typeface="Codec Pro" panose="020B0604020202020204" charset="0"/>
                <a:ea typeface="Codec Pro Bold"/>
                <a:cs typeface="Codec Pro Bold"/>
                <a:sym typeface="Codec Pro Bold"/>
              </a:rPr>
              <a:t>Extraordinary Together</a:t>
            </a:r>
            <a:endParaRPr lang="en-US" sz="2933" dirty="0">
              <a:solidFill>
                <a:schemeClr val="tx2">
                  <a:lumMod val="75000"/>
                </a:schemeClr>
              </a:solidFill>
              <a:latin typeface="Codec Pro" panose="020B0604020202020204" charset="0"/>
              <a:ea typeface="Codec Pro"/>
              <a:cs typeface="Codec Pro"/>
              <a:sym typeface="Codec Pro"/>
            </a:endParaRPr>
          </a:p>
        </p:txBody>
      </p:sp>
      <p:sp>
        <p:nvSpPr>
          <p:cNvPr id="12" name="TextBox 12">
            <a:extLst>
              <a:ext uri="{FF2B5EF4-FFF2-40B4-BE49-F238E27FC236}">
                <a16:creationId xmlns:a16="http://schemas.microsoft.com/office/drawing/2014/main" id="{032A7106-C213-7623-F3E2-D1C4463459E1}"/>
              </a:ext>
            </a:extLst>
          </p:cNvPr>
          <p:cNvSpPr txBox="1"/>
          <p:nvPr/>
        </p:nvSpPr>
        <p:spPr>
          <a:xfrm>
            <a:off x="4114800" y="1955800"/>
            <a:ext cx="7490189" cy="204351"/>
          </a:xfrm>
          <a:prstGeom prst="rect">
            <a:avLst/>
          </a:prstGeom>
        </p:spPr>
        <p:txBody>
          <a:bodyPr wrap="square" lIns="0" tIns="0" rIns="0" bIns="0" rtlCol="0" anchor="t">
            <a:spAutoFit/>
          </a:bodyPr>
          <a:lstStyle/>
          <a:p>
            <a:pPr algn="just">
              <a:lnSpc>
                <a:spcPts val="1680"/>
              </a:lnSpc>
              <a:spcBef>
                <a:spcPct val="0"/>
              </a:spcBef>
            </a:pPr>
            <a:r>
              <a:rPr lang="en-IN" sz="1400" dirty="0">
                <a:solidFill>
                  <a:schemeClr val="tx2">
                    <a:lumMod val="75000"/>
                  </a:schemeClr>
                </a:solidFill>
                <a:latin typeface="Codec Pro" panose="020B0604020202020204" charset="0"/>
              </a:rPr>
              <a:t>Building confidence through integrity, reliability, and unwavering commitment</a:t>
            </a:r>
            <a:endParaRPr lang="en-US" sz="1400" dirty="0">
              <a:solidFill>
                <a:schemeClr val="tx2">
                  <a:lumMod val="75000"/>
                </a:schemeClr>
              </a:solidFill>
              <a:latin typeface="Codec Pro" panose="020B0604020202020204" charset="0"/>
              <a:sym typeface="Codec Pro"/>
            </a:endParaRPr>
          </a:p>
        </p:txBody>
      </p:sp>
      <p:sp>
        <p:nvSpPr>
          <p:cNvPr id="14" name="TextBox 14">
            <a:extLst>
              <a:ext uri="{FF2B5EF4-FFF2-40B4-BE49-F238E27FC236}">
                <a16:creationId xmlns:a16="http://schemas.microsoft.com/office/drawing/2014/main" id="{D0B92985-9EEF-58E2-F656-2E00BB491F15}"/>
              </a:ext>
            </a:extLst>
          </p:cNvPr>
          <p:cNvSpPr txBox="1"/>
          <p:nvPr/>
        </p:nvSpPr>
        <p:spPr>
          <a:xfrm>
            <a:off x="8776058" y="2490724"/>
            <a:ext cx="2926164" cy="198581"/>
          </a:xfrm>
          <a:prstGeom prst="rect">
            <a:avLst/>
          </a:prstGeom>
        </p:spPr>
        <p:txBody>
          <a:bodyPr lIns="0" tIns="0" rIns="0" bIns="0" rtlCol="0" anchor="t">
            <a:spAutoFit/>
          </a:bodyPr>
          <a:lstStyle/>
          <a:p>
            <a:pPr algn="just">
              <a:lnSpc>
                <a:spcPts val="1680"/>
              </a:lnSpc>
              <a:spcBef>
                <a:spcPct val="0"/>
              </a:spcBef>
            </a:pPr>
            <a:endParaRPr lang="en-US" sz="1200" dirty="0">
              <a:solidFill>
                <a:srgbClr val="1C1C1C"/>
              </a:solidFill>
              <a:latin typeface="Codec Pro"/>
              <a:ea typeface="Codec Pro"/>
              <a:cs typeface="Codec Pro"/>
              <a:sym typeface="Codec Pro"/>
            </a:endParaRPr>
          </a:p>
        </p:txBody>
      </p:sp>
      <p:grpSp>
        <p:nvGrpSpPr>
          <p:cNvPr id="21" name="Group 21">
            <a:extLst>
              <a:ext uri="{FF2B5EF4-FFF2-40B4-BE49-F238E27FC236}">
                <a16:creationId xmlns:a16="http://schemas.microsoft.com/office/drawing/2014/main" id="{9432AC29-10B3-719F-DAC9-89796E9F9ADA}"/>
              </a:ext>
            </a:extLst>
          </p:cNvPr>
          <p:cNvGrpSpPr/>
          <p:nvPr/>
        </p:nvGrpSpPr>
        <p:grpSpPr>
          <a:xfrm>
            <a:off x="11074400" y="210121"/>
            <a:ext cx="868640" cy="895898"/>
            <a:chOff x="0" y="0"/>
            <a:chExt cx="1737281" cy="1791796"/>
          </a:xfrm>
        </p:grpSpPr>
        <p:sp>
          <p:nvSpPr>
            <p:cNvPr id="22" name="Freeform 22">
              <a:extLst>
                <a:ext uri="{FF2B5EF4-FFF2-40B4-BE49-F238E27FC236}">
                  <a16:creationId xmlns:a16="http://schemas.microsoft.com/office/drawing/2014/main" id="{552BAB58-E54E-1104-FF14-0C291CA5B2A5}"/>
                </a:ext>
              </a:extLst>
            </p:cNvPr>
            <p:cNvSpPr/>
            <p:nvPr/>
          </p:nvSpPr>
          <p:spPr>
            <a:xfrm>
              <a:off x="0" y="0"/>
              <a:ext cx="1737281" cy="1464970"/>
            </a:xfrm>
            <a:custGeom>
              <a:avLst/>
              <a:gdLst/>
              <a:ahLst/>
              <a:cxnLst/>
              <a:rect l="l" t="t" r="r" b="b"/>
              <a:pathLst>
                <a:path w="1737281" h="1464970">
                  <a:moveTo>
                    <a:pt x="0" y="0"/>
                  </a:moveTo>
                  <a:lnTo>
                    <a:pt x="1737281" y="0"/>
                  </a:lnTo>
                  <a:lnTo>
                    <a:pt x="1737281" y="1464970"/>
                  </a:lnTo>
                  <a:lnTo>
                    <a:pt x="0" y="1464970"/>
                  </a:lnTo>
                  <a:lnTo>
                    <a:pt x="0" y="0"/>
                  </a:lnTo>
                  <a:close/>
                </a:path>
              </a:pathLst>
            </a:custGeom>
            <a:blipFill>
              <a:blip r:embed="rId2"/>
              <a:stretch>
                <a:fillRect t="-47826" b="-108579"/>
              </a:stretch>
            </a:blipFill>
          </p:spPr>
          <p:txBody>
            <a:bodyPr/>
            <a:lstStyle/>
            <a:p>
              <a:endParaRPr lang="en-US" sz="1200"/>
            </a:p>
          </p:txBody>
        </p:sp>
        <p:sp>
          <p:nvSpPr>
            <p:cNvPr id="23" name="TextBox 23">
              <a:extLst>
                <a:ext uri="{FF2B5EF4-FFF2-40B4-BE49-F238E27FC236}">
                  <a16:creationId xmlns:a16="http://schemas.microsoft.com/office/drawing/2014/main" id="{4A947748-4F61-8EE5-B9AC-64EA567ABED0}"/>
                </a:ext>
              </a:extLst>
            </p:cNvPr>
            <p:cNvSpPr txBox="1"/>
            <p:nvPr/>
          </p:nvSpPr>
          <p:spPr>
            <a:xfrm>
              <a:off x="68072" y="1484020"/>
              <a:ext cx="1669209" cy="307776"/>
            </a:xfrm>
            <a:prstGeom prst="rect">
              <a:avLst/>
            </a:prstGeom>
          </p:spPr>
          <p:txBody>
            <a:bodyPr lIns="0" tIns="0" rIns="0" bIns="0" rtlCol="0" anchor="t">
              <a:spAutoFit/>
            </a:bodyPr>
            <a:lstStyle/>
            <a:p>
              <a:pPr>
                <a:lnSpc>
                  <a:spcPts val="1173"/>
                </a:lnSpc>
              </a:pPr>
              <a:r>
                <a:rPr lang="en-US" sz="1317" spc="-76" dirty="0">
                  <a:solidFill>
                    <a:srgbClr val="090A3C"/>
                  </a:solidFill>
                  <a:latin typeface="Codec Pro"/>
                  <a:ea typeface="Codec Pro"/>
                  <a:cs typeface="Codec Pro"/>
                  <a:sym typeface="Codec Pro"/>
                </a:rPr>
                <a:t>virtuous</a:t>
              </a:r>
              <a:r>
                <a:rPr lang="en-US" sz="1317" spc="-76" dirty="0">
                  <a:solidFill>
                    <a:srgbClr val="0053EB"/>
                  </a:solidFill>
                  <a:latin typeface="Codec Pro"/>
                  <a:ea typeface="Codec Pro"/>
                  <a:cs typeface="Codec Pro"/>
                  <a:sym typeface="Codec Pro"/>
                </a:rPr>
                <a:t>info</a:t>
              </a:r>
            </a:p>
          </p:txBody>
        </p:sp>
      </p:grpSp>
      <p:sp>
        <p:nvSpPr>
          <p:cNvPr id="25" name="TextBox 13">
            <a:extLst>
              <a:ext uri="{FF2B5EF4-FFF2-40B4-BE49-F238E27FC236}">
                <a16:creationId xmlns:a16="http://schemas.microsoft.com/office/drawing/2014/main" id="{197187EA-01A1-AD45-9839-28E84CF7F59F}"/>
              </a:ext>
            </a:extLst>
          </p:cNvPr>
          <p:cNvSpPr txBox="1"/>
          <p:nvPr/>
        </p:nvSpPr>
        <p:spPr>
          <a:xfrm>
            <a:off x="4064000" y="3670757"/>
            <a:ext cx="7220723" cy="215444"/>
          </a:xfrm>
          <a:prstGeom prst="rect">
            <a:avLst/>
          </a:prstGeom>
        </p:spPr>
        <p:txBody>
          <a:bodyPr wrap="square" lIns="0" tIns="0" rIns="0" bIns="0" rtlCol="0" anchor="t">
            <a:spAutoFit/>
          </a:bodyPr>
          <a:lstStyle/>
          <a:p>
            <a:r>
              <a:rPr lang="en-IN" sz="1400" dirty="0">
                <a:solidFill>
                  <a:schemeClr val="tx2">
                    <a:lumMod val="75000"/>
                  </a:schemeClr>
                </a:solidFill>
                <a:latin typeface="Codec Pro" panose="020B0604020202020204" charset="0"/>
              </a:rPr>
              <a:t>Transforming business ideas into real-world impact through technology &amp; innovation</a:t>
            </a:r>
          </a:p>
        </p:txBody>
      </p:sp>
      <p:sp>
        <p:nvSpPr>
          <p:cNvPr id="26" name="TextBox 13">
            <a:extLst>
              <a:ext uri="{FF2B5EF4-FFF2-40B4-BE49-F238E27FC236}">
                <a16:creationId xmlns:a16="http://schemas.microsoft.com/office/drawing/2014/main" id="{04076B00-0957-7140-A141-84CF58A26CAA}"/>
              </a:ext>
            </a:extLst>
          </p:cNvPr>
          <p:cNvSpPr txBox="1"/>
          <p:nvPr/>
        </p:nvSpPr>
        <p:spPr>
          <a:xfrm>
            <a:off x="4114800" y="2808866"/>
            <a:ext cx="7285433" cy="204351"/>
          </a:xfrm>
          <a:prstGeom prst="rect">
            <a:avLst/>
          </a:prstGeom>
        </p:spPr>
        <p:txBody>
          <a:bodyPr wrap="square" lIns="0" tIns="0" rIns="0" bIns="0" rtlCol="0" anchor="t">
            <a:spAutoFit/>
          </a:bodyPr>
          <a:lstStyle/>
          <a:p>
            <a:pPr algn="just">
              <a:lnSpc>
                <a:spcPts val="1680"/>
              </a:lnSpc>
              <a:spcBef>
                <a:spcPct val="0"/>
              </a:spcBef>
            </a:pPr>
            <a:r>
              <a:rPr lang="en-IN" sz="1400" dirty="0">
                <a:solidFill>
                  <a:schemeClr val="tx2">
                    <a:lumMod val="75000"/>
                  </a:schemeClr>
                </a:solidFill>
                <a:latin typeface="Codec Pro" panose="020B0604020202020204" charset="0"/>
              </a:rPr>
              <a:t>Committed to creating experiences that inspire client success &amp; enduring satisfaction</a:t>
            </a:r>
            <a:endParaRPr lang="en-US" sz="1400" dirty="0">
              <a:solidFill>
                <a:schemeClr val="tx2">
                  <a:lumMod val="75000"/>
                </a:schemeClr>
              </a:solidFill>
              <a:latin typeface="Codec Pro" panose="020B0604020202020204" charset="0"/>
              <a:sym typeface="Codec Pro"/>
            </a:endParaRPr>
          </a:p>
        </p:txBody>
      </p:sp>
      <p:sp>
        <p:nvSpPr>
          <p:cNvPr id="13" name="TextBox 13">
            <a:extLst>
              <a:ext uri="{FF2B5EF4-FFF2-40B4-BE49-F238E27FC236}">
                <a16:creationId xmlns:a16="http://schemas.microsoft.com/office/drawing/2014/main" id="{E8B40FA3-FD25-E2BD-8D8D-E310B00D35C2}"/>
              </a:ext>
            </a:extLst>
          </p:cNvPr>
          <p:cNvSpPr txBox="1"/>
          <p:nvPr/>
        </p:nvSpPr>
        <p:spPr>
          <a:xfrm>
            <a:off x="4064001" y="4445000"/>
            <a:ext cx="7870543" cy="215444"/>
          </a:xfrm>
          <a:prstGeom prst="rect">
            <a:avLst/>
          </a:prstGeom>
        </p:spPr>
        <p:txBody>
          <a:bodyPr wrap="square" lIns="0" tIns="0" rIns="0" bIns="0" rtlCol="0" anchor="t">
            <a:spAutoFit/>
          </a:bodyPr>
          <a:lstStyle/>
          <a:p>
            <a:r>
              <a:rPr lang="en-IN" sz="1400" dirty="0">
                <a:solidFill>
                  <a:schemeClr val="tx2">
                    <a:lumMod val="75000"/>
                  </a:schemeClr>
                </a:solidFill>
                <a:latin typeface="Codec Pro" panose="020B0604020202020204" charset="0"/>
              </a:rPr>
              <a:t>Building lasting partnerships with a relentless focus on shared success</a:t>
            </a:r>
            <a:r>
              <a:rPr lang="en-IN" sz="1400" dirty="0">
                <a:solidFill>
                  <a:srgbClr val="E3E3E3"/>
                </a:solidFill>
                <a:latin typeface="Codec Pro" panose="020B0604020202020204" charset="0"/>
              </a:rPr>
              <a:t>.</a:t>
            </a:r>
            <a:endParaRPr lang="en-IN" sz="1400" dirty="0">
              <a:latin typeface="Codec Pro" panose="020B0604020202020204" charset="0"/>
            </a:endParaRPr>
          </a:p>
        </p:txBody>
      </p:sp>
      <p:grpSp>
        <p:nvGrpSpPr>
          <p:cNvPr id="35" name="Group 2">
            <a:extLst>
              <a:ext uri="{FF2B5EF4-FFF2-40B4-BE49-F238E27FC236}">
                <a16:creationId xmlns:a16="http://schemas.microsoft.com/office/drawing/2014/main" id="{99BAE781-7990-3EC6-D731-B16319488BF7}"/>
              </a:ext>
            </a:extLst>
          </p:cNvPr>
          <p:cNvGrpSpPr/>
          <p:nvPr/>
        </p:nvGrpSpPr>
        <p:grpSpPr>
          <a:xfrm>
            <a:off x="5255817" y="5894276"/>
            <a:ext cx="201255" cy="213800"/>
            <a:chOff x="0" y="0"/>
            <a:chExt cx="812800" cy="812800"/>
          </a:xfrm>
        </p:grpSpPr>
        <p:sp>
          <p:nvSpPr>
            <p:cNvPr id="36" name="Freeform 3">
              <a:extLst>
                <a:ext uri="{FF2B5EF4-FFF2-40B4-BE49-F238E27FC236}">
                  <a16:creationId xmlns:a16="http://schemas.microsoft.com/office/drawing/2014/main" id="{77A0E325-A01B-5E6F-8BA5-B0C498845F3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37" name="TextBox 4">
              <a:extLst>
                <a:ext uri="{FF2B5EF4-FFF2-40B4-BE49-F238E27FC236}">
                  <a16:creationId xmlns:a16="http://schemas.microsoft.com/office/drawing/2014/main" id="{4E004805-CC19-732E-1C41-692E4FC69891}"/>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38" name="Group 5">
            <a:extLst>
              <a:ext uri="{FF2B5EF4-FFF2-40B4-BE49-F238E27FC236}">
                <a16:creationId xmlns:a16="http://schemas.microsoft.com/office/drawing/2014/main" id="{E4610AB2-1F87-B01F-5791-635DCEBA3848}"/>
              </a:ext>
            </a:extLst>
          </p:cNvPr>
          <p:cNvGrpSpPr/>
          <p:nvPr/>
        </p:nvGrpSpPr>
        <p:grpSpPr>
          <a:xfrm>
            <a:off x="5487191" y="5888644"/>
            <a:ext cx="222073" cy="232757"/>
            <a:chOff x="3" y="0"/>
            <a:chExt cx="812797" cy="971532"/>
          </a:xfrm>
        </p:grpSpPr>
        <p:sp>
          <p:nvSpPr>
            <p:cNvPr id="39" name="Freeform 6">
              <a:extLst>
                <a:ext uri="{FF2B5EF4-FFF2-40B4-BE49-F238E27FC236}">
                  <a16:creationId xmlns:a16="http://schemas.microsoft.com/office/drawing/2014/main" id="{883A55E8-E32C-C8AC-A189-B275D8853E3A}"/>
                </a:ext>
              </a:extLst>
            </p:cNvPr>
            <p:cNvSpPr/>
            <p:nvPr/>
          </p:nvSpPr>
          <p:spPr>
            <a:xfrm>
              <a:off x="3" y="0"/>
              <a:ext cx="736600" cy="902988"/>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40" name="TextBox 7">
              <a:extLst>
                <a:ext uri="{FF2B5EF4-FFF2-40B4-BE49-F238E27FC236}">
                  <a16:creationId xmlns:a16="http://schemas.microsoft.com/office/drawing/2014/main" id="{D0676CDA-0FEC-6D24-B141-25859AC261B9}"/>
                </a:ext>
              </a:extLst>
            </p:cNvPr>
            <p:cNvSpPr txBox="1"/>
            <p:nvPr/>
          </p:nvSpPr>
          <p:spPr>
            <a:xfrm>
              <a:off x="76200" y="9521"/>
              <a:ext cx="736600" cy="962011"/>
            </a:xfrm>
            <a:prstGeom prst="rect">
              <a:avLst/>
            </a:prstGeom>
          </p:spPr>
          <p:txBody>
            <a:bodyPr lIns="33867" tIns="33867" rIns="33867" bIns="33867" rtlCol="0" anchor="ctr"/>
            <a:lstStyle/>
            <a:p>
              <a:pPr algn="ctr">
                <a:lnSpc>
                  <a:spcPts val="1773"/>
                </a:lnSpc>
              </a:pPr>
              <a:endParaRPr sz="1200" dirty="0"/>
            </a:p>
          </p:txBody>
        </p:sp>
      </p:grpSp>
      <p:grpSp>
        <p:nvGrpSpPr>
          <p:cNvPr id="41" name="Group 8">
            <a:extLst>
              <a:ext uri="{FF2B5EF4-FFF2-40B4-BE49-F238E27FC236}">
                <a16:creationId xmlns:a16="http://schemas.microsoft.com/office/drawing/2014/main" id="{AFB9AC8A-64B4-EC26-343C-40C2C395E37C}"/>
              </a:ext>
            </a:extLst>
          </p:cNvPr>
          <p:cNvGrpSpPr/>
          <p:nvPr/>
        </p:nvGrpSpPr>
        <p:grpSpPr>
          <a:xfrm>
            <a:off x="5731510" y="5891741"/>
            <a:ext cx="212090" cy="216335"/>
            <a:chOff x="0" y="0"/>
            <a:chExt cx="812800" cy="812800"/>
          </a:xfrm>
        </p:grpSpPr>
        <p:sp>
          <p:nvSpPr>
            <p:cNvPr id="42" name="Freeform 9">
              <a:extLst>
                <a:ext uri="{FF2B5EF4-FFF2-40B4-BE49-F238E27FC236}">
                  <a16:creationId xmlns:a16="http://schemas.microsoft.com/office/drawing/2014/main" id="{9D145D09-8744-7542-0394-0546E8D5EEA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3" name="TextBox 10">
              <a:extLst>
                <a:ext uri="{FF2B5EF4-FFF2-40B4-BE49-F238E27FC236}">
                  <a16:creationId xmlns:a16="http://schemas.microsoft.com/office/drawing/2014/main" id="{DCF5521B-9ABD-41A4-4C67-FD52BB374500}"/>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sp>
        <p:nvSpPr>
          <p:cNvPr id="2" name="AutoShape 2">
            <a:extLst>
              <a:ext uri="{FF2B5EF4-FFF2-40B4-BE49-F238E27FC236}">
                <a16:creationId xmlns:a16="http://schemas.microsoft.com/office/drawing/2014/main" id="{F3BD3B78-451D-4145-714B-69B644735B56}"/>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dirty="0"/>
          </a:p>
        </p:txBody>
      </p:sp>
      <p:sp>
        <p:nvSpPr>
          <p:cNvPr id="3" name="TextBox 7">
            <a:extLst>
              <a:ext uri="{FF2B5EF4-FFF2-40B4-BE49-F238E27FC236}">
                <a16:creationId xmlns:a16="http://schemas.microsoft.com/office/drawing/2014/main" id="{CC3439C2-4E2F-9D36-F054-6E84905C76A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4" name="TextBox 9">
            <a:extLst>
              <a:ext uri="{FF2B5EF4-FFF2-40B4-BE49-F238E27FC236}">
                <a16:creationId xmlns:a16="http://schemas.microsoft.com/office/drawing/2014/main" id="{C1ADF203-0431-7A41-D089-D239210D9DCE}"/>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grpSp>
        <p:nvGrpSpPr>
          <p:cNvPr id="5" name="Группа 639">
            <a:extLst>
              <a:ext uri="{FF2B5EF4-FFF2-40B4-BE49-F238E27FC236}">
                <a16:creationId xmlns:a16="http://schemas.microsoft.com/office/drawing/2014/main" id="{986CD864-AD97-B9EA-12D0-EB4EE3CA98BD}"/>
              </a:ext>
            </a:extLst>
          </p:cNvPr>
          <p:cNvGrpSpPr>
            <a:grpSpLocks/>
          </p:cNvGrpSpPr>
          <p:nvPr/>
        </p:nvGrpSpPr>
        <p:grpSpPr bwMode="auto">
          <a:xfrm>
            <a:off x="812800" y="2768062"/>
            <a:ext cx="526536" cy="358521"/>
            <a:chOff x="5519738" y="4248151"/>
            <a:chExt cx="1058863" cy="642937"/>
          </a:xfrm>
        </p:grpSpPr>
        <p:sp>
          <p:nvSpPr>
            <p:cNvPr id="6" name="Freeform 523">
              <a:extLst>
                <a:ext uri="{FF2B5EF4-FFF2-40B4-BE49-F238E27FC236}">
                  <a16:creationId xmlns:a16="http://schemas.microsoft.com/office/drawing/2014/main" id="{4212BAED-48C9-4D0D-40BE-6209D76269D1}"/>
                </a:ext>
              </a:extLst>
            </p:cNvPr>
            <p:cNvSpPr>
              <a:spLocks/>
            </p:cNvSpPr>
            <p:nvPr/>
          </p:nvSpPr>
          <p:spPr bwMode="auto">
            <a:xfrm>
              <a:off x="5756276" y="4627563"/>
              <a:ext cx="107950" cy="112713"/>
            </a:xfrm>
            <a:custGeom>
              <a:avLst/>
              <a:gdLst>
                <a:gd name="T0" fmla="*/ 2147483646 w 29"/>
                <a:gd name="T1" fmla="*/ 2147483646 h 30"/>
                <a:gd name="T2" fmla="*/ 2147483646 w 29"/>
                <a:gd name="T3" fmla="*/ 2147483646 h 30"/>
                <a:gd name="T4" fmla="*/ 2147483646 w 29"/>
                <a:gd name="T5" fmla="*/ 2147483646 h 30"/>
                <a:gd name="T6" fmla="*/ 2147483646 w 29"/>
                <a:gd name="T7" fmla="*/ 2147483646 h 30"/>
                <a:gd name="T8" fmla="*/ 2147483646 w 29"/>
                <a:gd name="T9" fmla="*/ 2147483646 h 30"/>
                <a:gd name="T10" fmla="*/ 2147483646 w 29"/>
                <a:gd name="T11" fmla="*/ 2147483646 h 30"/>
                <a:gd name="T12" fmla="*/ 2147483646 w 29"/>
                <a:gd name="T13" fmla="*/ 2147483646 h 30"/>
                <a:gd name="T14" fmla="*/ 2147483646 w 29"/>
                <a:gd name="T15" fmla="*/ 2147483646 h 30"/>
                <a:gd name="T16" fmla="*/ 2147483646 w 29"/>
                <a:gd name="T17" fmla="*/ 2147483646 h 30"/>
                <a:gd name="T18" fmla="*/ 2147483646 w 29"/>
                <a:gd name="T19" fmla="*/ 2147483646 h 30"/>
                <a:gd name="T20" fmla="*/ 2147483646 w 29"/>
                <a:gd name="T21" fmla="*/ 2147483646 h 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9" h="30">
                  <a:moveTo>
                    <a:pt x="10" y="30"/>
                  </a:moveTo>
                  <a:cubicBezTo>
                    <a:pt x="8" y="30"/>
                    <a:pt x="5" y="29"/>
                    <a:pt x="3" y="27"/>
                  </a:cubicBezTo>
                  <a:cubicBezTo>
                    <a:pt x="2" y="26"/>
                    <a:pt x="1" y="24"/>
                    <a:pt x="1" y="22"/>
                  </a:cubicBezTo>
                  <a:cubicBezTo>
                    <a:pt x="0" y="19"/>
                    <a:pt x="1" y="17"/>
                    <a:pt x="3" y="16"/>
                  </a:cubicBezTo>
                  <a:cubicBezTo>
                    <a:pt x="14" y="3"/>
                    <a:pt x="14" y="3"/>
                    <a:pt x="14" y="3"/>
                  </a:cubicBezTo>
                  <a:cubicBezTo>
                    <a:pt x="15" y="2"/>
                    <a:pt x="17" y="1"/>
                    <a:pt x="19" y="1"/>
                  </a:cubicBezTo>
                  <a:cubicBezTo>
                    <a:pt x="21" y="0"/>
                    <a:pt x="24" y="1"/>
                    <a:pt x="26" y="3"/>
                  </a:cubicBezTo>
                  <a:cubicBezTo>
                    <a:pt x="27" y="4"/>
                    <a:pt x="28" y="6"/>
                    <a:pt x="28" y="9"/>
                  </a:cubicBezTo>
                  <a:cubicBezTo>
                    <a:pt x="29" y="11"/>
                    <a:pt x="28" y="13"/>
                    <a:pt x="26" y="15"/>
                  </a:cubicBezTo>
                  <a:cubicBezTo>
                    <a:pt x="15" y="27"/>
                    <a:pt x="15" y="27"/>
                    <a:pt x="15" y="27"/>
                  </a:cubicBezTo>
                  <a:cubicBezTo>
                    <a:pt x="14" y="28"/>
                    <a:pt x="12" y="29"/>
                    <a:pt x="10" y="30"/>
                  </a:cubicBez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7" name="Freeform 524">
              <a:extLst>
                <a:ext uri="{FF2B5EF4-FFF2-40B4-BE49-F238E27FC236}">
                  <a16:creationId xmlns:a16="http://schemas.microsoft.com/office/drawing/2014/main" id="{E9B60896-693A-3867-AD06-E3137107B585}"/>
                </a:ext>
              </a:extLst>
            </p:cNvPr>
            <p:cNvSpPr>
              <a:spLocks/>
            </p:cNvSpPr>
            <p:nvPr/>
          </p:nvSpPr>
          <p:spPr bwMode="auto">
            <a:xfrm>
              <a:off x="6161088" y="4676776"/>
              <a:ext cx="142875" cy="66675"/>
            </a:xfrm>
            <a:custGeom>
              <a:avLst/>
              <a:gdLst>
                <a:gd name="T0" fmla="*/ 2147483646 w 38"/>
                <a:gd name="T1" fmla="*/ 0 h 18"/>
                <a:gd name="T2" fmla="*/ 2147483646 w 38"/>
                <a:gd name="T3" fmla="*/ 2147483646 h 18"/>
                <a:gd name="T4" fmla="*/ 2147483646 w 38"/>
                <a:gd name="T5" fmla="*/ 2147483646 h 18"/>
                <a:gd name="T6" fmla="*/ 2147483646 w 38"/>
                <a:gd name="T7" fmla="*/ 2147483646 h 18"/>
                <a:gd name="T8" fmla="*/ 0 w 38"/>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 h="18">
                  <a:moveTo>
                    <a:pt x="36" y="0"/>
                  </a:moveTo>
                  <a:cubicBezTo>
                    <a:pt x="37" y="2"/>
                    <a:pt x="38" y="4"/>
                    <a:pt x="38" y="6"/>
                  </a:cubicBezTo>
                  <a:cubicBezTo>
                    <a:pt x="38" y="9"/>
                    <a:pt x="37" y="13"/>
                    <a:pt x="34" y="15"/>
                  </a:cubicBezTo>
                  <a:cubicBezTo>
                    <a:pt x="32" y="17"/>
                    <a:pt x="31" y="18"/>
                    <a:pt x="26" y="18"/>
                  </a:cubicBezTo>
                  <a:cubicBezTo>
                    <a:pt x="21" y="17"/>
                    <a:pt x="0" y="0"/>
                    <a:pt x="0"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18" name="Freeform 525">
              <a:extLst>
                <a:ext uri="{FF2B5EF4-FFF2-40B4-BE49-F238E27FC236}">
                  <a16:creationId xmlns:a16="http://schemas.microsoft.com/office/drawing/2014/main" id="{B759BB4A-D5FA-7E85-7D93-041FB5A7350D}"/>
                </a:ext>
              </a:extLst>
            </p:cNvPr>
            <p:cNvSpPr>
              <a:spLocks/>
            </p:cNvSpPr>
            <p:nvPr/>
          </p:nvSpPr>
          <p:spPr bwMode="auto">
            <a:xfrm>
              <a:off x="6102351" y="4718051"/>
              <a:ext cx="138113" cy="71438"/>
            </a:xfrm>
            <a:custGeom>
              <a:avLst/>
              <a:gdLst>
                <a:gd name="T0" fmla="*/ 2147483646 w 37"/>
                <a:gd name="T1" fmla="*/ 2147483646 h 19"/>
                <a:gd name="T2" fmla="*/ 2147483646 w 37"/>
                <a:gd name="T3" fmla="*/ 2147483646 h 19"/>
                <a:gd name="T4" fmla="*/ 2147483646 w 37"/>
                <a:gd name="T5" fmla="*/ 2147483646 h 19"/>
                <a:gd name="T6" fmla="*/ 2147483646 w 37"/>
                <a:gd name="T7" fmla="*/ 2147483646 h 19"/>
                <a:gd name="T8" fmla="*/ 2147483646 w 37"/>
                <a:gd name="T9" fmla="*/ 2147483646 h 19"/>
                <a:gd name="T10" fmla="*/ 0 w 37"/>
                <a:gd name="T11" fmla="*/ 0 h 1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7" h="19">
                  <a:moveTo>
                    <a:pt x="36" y="4"/>
                  </a:moveTo>
                  <a:cubicBezTo>
                    <a:pt x="36" y="5"/>
                    <a:pt x="37" y="6"/>
                    <a:pt x="37" y="7"/>
                  </a:cubicBezTo>
                  <a:cubicBezTo>
                    <a:pt x="37" y="11"/>
                    <a:pt x="35" y="14"/>
                    <a:pt x="33" y="16"/>
                  </a:cubicBezTo>
                  <a:cubicBezTo>
                    <a:pt x="31" y="18"/>
                    <a:pt x="28" y="19"/>
                    <a:pt x="25" y="19"/>
                  </a:cubicBezTo>
                  <a:cubicBezTo>
                    <a:pt x="22" y="19"/>
                    <a:pt x="19" y="17"/>
                    <a:pt x="17" y="15"/>
                  </a:cubicBezTo>
                  <a:cubicBezTo>
                    <a:pt x="0" y="0"/>
                    <a:pt x="0" y="0"/>
                    <a:pt x="0"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19" name="Freeform 526">
              <a:extLst>
                <a:ext uri="{FF2B5EF4-FFF2-40B4-BE49-F238E27FC236}">
                  <a16:creationId xmlns:a16="http://schemas.microsoft.com/office/drawing/2014/main" id="{09B20318-F970-68DE-A348-AFEBEC8666A2}"/>
                </a:ext>
              </a:extLst>
            </p:cNvPr>
            <p:cNvSpPr>
              <a:spLocks/>
            </p:cNvSpPr>
            <p:nvPr/>
          </p:nvSpPr>
          <p:spPr bwMode="auto">
            <a:xfrm>
              <a:off x="6064251" y="4773613"/>
              <a:ext cx="104775" cy="57150"/>
            </a:xfrm>
            <a:custGeom>
              <a:avLst/>
              <a:gdLst>
                <a:gd name="T0" fmla="*/ 2147483646 w 28"/>
                <a:gd name="T1" fmla="*/ 0 h 15"/>
                <a:gd name="T2" fmla="*/ 2147483646 w 28"/>
                <a:gd name="T3" fmla="*/ 2147483646 h 15"/>
                <a:gd name="T4" fmla="*/ 2147483646 w 28"/>
                <a:gd name="T5" fmla="*/ 2147483646 h 15"/>
                <a:gd name="T6" fmla="*/ 2147483646 w 28"/>
                <a:gd name="T7" fmla="*/ 2147483646 h 15"/>
                <a:gd name="T8" fmla="*/ 2147483646 w 28"/>
                <a:gd name="T9" fmla="*/ 2147483646 h 15"/>
                <a:gd name="T10" fmla="*/ 0 w 28"/>
                <a:gd name="T11" fmla="*/ 2147483646 h 1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 h="15">
                  <a:moveTo>
                    <a:pt x="27" y="0"/>
                  </a:moveTo>
                  <a:cubicBezTo>
                    <a:pt x="28" y="1"/>
                    <a:pt x="28" y="2"/>
                    <a:pt x="28" y="3"/>
                  </a:cubicBezTo>
                  <a:cubicBezTo>
                    <a:pt x="28" y="7"/>
                    <a:pt x="27" y="10"/>
                    <a:pt x="24" y="12"/>
                  </a:cubicBezTo>
                  <a:cubicBezTo>
                    <a:pt x="22" y="14"/>
                    <a:pt x="19" y="15"/>
                    <a:pt x="16" y="15"/>
                  </a:cubicBezTo>
                  <a:cubicBezTo>
                    <a:pt x="13" y="15"/>
                    <a:pt x="10" y="13"/>
                    <a:pt x="8" y="11"/>
                  </a:cubicBezTo>
                  <a:cubicBezTo>
                    <a:pt x="0" y="3"/>
                    <a:pt x="0" y="3"/>
                    <a:pt x="0" y="3"/>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24" name="Freeform 527">
              <a:extLst>
                <a:ext uri="{FF2B5EF4-FFF2-40B4-BE49-F238E27FC236}">
                  <a16:creationId xmlns:a16="http://schemas.microsoft.com/office/drawing/2014/main" id="{78FF6829-C500-D7E5-ED04-B9FC7A8BD8D8}"/>
                </a:ext>
              </a:extLst>
            </p:cNvPr>
            <p:cNvSpPr>
              <a:spLocks/>
            </p:cNvSpPr>
            <p:nvPr/>
          </p:nvSpPr>
          <p:spPr bwMode="auto">
            <a:xfrm>
              <a:off x="5992813" y="4811713"/>
              <a:ext cx="96838" cy="22225"/>
            </a:xfrm>
            <a:custGeom>
              <a:avLst/>
              <a:gdLst>
                <a:gd name="T0" fmla="*/ 2147483646 w 26"/>
                <a:gd name="T1" fmla="*/ 0 h 6"/>
                <a:gd name="T2" fmla="*/ 2147483646 w 26"/>
                <a:gd name="T3" fmla="*/ 2147483646 h 6"/>
                <a:gd name="T4" fmla="*/ 2147483646 w 26"/>
                <a:gd name="T5" fmla="*/ 2147483646 h 6"/>
                <a:gd name="T6" fmla="*/ 2147483646 w 26"/>
                <a:gd name="T7" fmla="*/ 2147483646 h 6"/>
                <a:gd name="T8" fmla="*/ 0 w 26"/>
                <a:gd name="T9" fmla="*/ 2147483646 h 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6">
                  <a:moveTo>
                    <a:pt x="26" y="0"/>
                  </a:moveTo>
                  <a:cubicBezTo>
                    <a:pt x="26" y="1"/>
                    <a:pt x="25" y="2"/>
                    <a:pt x="24" y="3"/>
                  </a:cubicBezTo>
                  <a:cubicBezTo>
                    <a:pt x="22" y="5"/>
                    <a:pt x="19" y="5"/>
                    <a:pt x="16" y="5"/>
                  </a:cubicBezTo>
                  <a:cubicBezTo>
                    <a:pt x="11" y="6"/>
                    <a:pt x="7" y="5"/>
                    <a:pt x="6" y="4"/>
                  </a:cubicBezTo>
                  <a:cubicBezTo>
                    <a:pt x="0" y="1"/>
                    <a:pt x="0" y="1"/>
                    <a:pt x="0" y="1"/>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27" name="Freeform 528">
              <a:extLst>
                <a:ext uri="{FF2B5EF4-FFF2-40B4-BE49-F238E27FC236}">
                  <a16:creationId xmlns:a16="http://schemas.microsoft.com/office/drawing/2014/main" id="{B7634348-D629-4E29-1C5F-6BFC448DDA84}"/>
                </a:ext>
              </a:extLst>
            </p:cNvPr>
            <p:cNvSpPr>
              <a:spLocks/>
            </p:cNvSpPr>
            <p:nvPr/>
          </p:nvSpPr>
          <p:spPr bwMode="auto">
            <a:xfrm>
              <a:off x="5981701" y="4875213"/>
              <a:ext cx="120650" cy="15875"/>
            </a:xfrm>
            <a:custGeom>
              <a:avLst/>
              <a:gdLst>
                <a:gd name="T0" fmla="*/ 2147483646 w 32"/>
                <a:gd name="T1" fmla="*/ 2147483646 h 4"/>
                <a:gd name="T2" fmla="*/ 2147483646 w 32"/>
                <a:gd name="T3" fmla="*/ 2147483646 h 4"/>
                <a:gd name="T4" fmla="*/ 0 w 32"/>
                <a:gd name="T5" fmla="*/ 0 h 4"/>
                <a:gd name="T6" fmla="*/ 0 60000 65536"/>
                <a:gd name="T7" fmla="*/ 0 60000 65536"/>
                <a:gd name="T8" fmla="*/ 0 60000 65536"/>
              </a:gdLst>
              <a:ahLst/>
              <a:cxnLst>
                <a:cxn ang="T6">
                  <a:pos x="T0" y="T1"/>
                </a:cxn>
                <a:cxn ang="T7">
                  <a:pos x="T2" y="T3"/>
                </a:cxn>
                <a:cxn ang="T8">
                  <a:pos x="T4" y="T5"/>
                </a:cxn>
              </a:cxnLst>
              <a:rect l="0" t="0" r="r" b="b"/>
              <a:pathLst>
                <a:path w="32" h="4">
                  <a:moveTo>
                    <a:pt x="32" y="1"/>
                  </a:moveTo>
                  <a:cubicBezTo>
                    <a:pt x="29" y="2"/>
                    <a:pt x="25" y="2"/>
                    <a:pt x="22" y="3"/>
                  </a:cubicBezTo>
                  <a:cubicBezTo>
                    <a:pt x="12" y="4"/>
                    <a:pt x="3" y="2"/>
                    <a:pt x="0"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29" name="Freeform 529">
              <a:extLst>
                <a:ext uri="{FF2B5EF4-FFF2-40B4-BE49-F238E27FC236}">
                  <a16:creationId xmlns:a16="http://schemas.microsoft.com/office/drawing/2014/main" id="{ABADB231-8EAF-A6B0-DD57-6D8EC63BED14}"/>
                </a:ext>
              </a:extLst>
            </p:cNvPr>
            <p:cNvSpPr>
              <a:spLocks/>
            </p:cNvSpPr>
            <p:nvPr/>
          </p:nvSpPr>
          <p:spPr bwMode="auto">
            <a:xfrm>
              <a:off x="5797551" y="4641851"/>
              <a:ext cx="142875" cy="147638"/>
            </a:xfrm>
            <a:custGeom>
              <a:avLst/>
              <a:gdLst>
                <a:gd name="T0" fmla="*/ 2147483646 w 38"/>
                <a:gd name="T1" fmla="*/ 2147483646 h 39"/>
                <a:gd name="T2" fmla="*/ 2147483646 w 38"/>
                <a:gd name="T3" fmla="*/ 2147483646 h 39"/>
                <a:gd name="T4" fmla="*/ 2147483646 w 38"/>
                <a:gd name="T5" fmla="*/ 2147483646 h 39"/>
                <a:gd name="T6" fmla="*/ 2147483646 w 38"/>
                <a:gd name="T7" fmla="*/ 0 h 39"/>
                <a:gd name="T8" fmla="*/ 2147483646 w 38"/>
                <a:gd name="T9" fmla="*/ 2147483646 h 39"/>
                <a:gd name="T10" fmla="*/ 2147483646 w 38"/>
                <a:gd name="T11" fmla="*/ 2147483646 h 39"/>
                <a:gd name="T12" fmla="*/ 2147483646 w 38"/>
                <a:gd name="T13" fmla="*/ 2147483646 h 39"/>
                <a:gd name="T14" fmla="*/ 2147483646 w 38"/>
                <a:gd name="T15" fmla="*/ 2147483646 h 39"/>
                <a:gd name="T16" fmla="*/ 2147483646 w 38"/>
                <a:gd name="T17" fmla="*/ 2147483646 h 3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8" h="39">
                  <a:moveTo>
                    <a:pt x="16" y="35"/>
                  </a:moveTo>
                  <a:cubicBezTo>
                    <a:pt x="35" y="14"/>
                    <a:pt x="35" y="14"/>
                    <a:pt x="35" y="14"/>
                  </a:cubicBezTo>
                  <a:cubicBezTo>
                    <a:pt x="38" y="11"/>
                    <a:pt x="38" y="5"/>
                    <a:pt x="34" y="2"/>
                  </a:cubicBezTo>
                  <a:cubicBezTo>
                    <a:pt x="32" y="0"/>
                    <a:pt x="30" y="0"/>
                    <a:pt x="27" y="0"/>
                  </a:cubicBezTo>
                  <a:cubicBezTo>
                    <a:pt x="25" y="0"/>
                    <a:pt x="24" y="1"/>
                    <a:pt x="22" y="3"/>
                  </a:cubicBezTo>
                  <a:cubicBezTo>
                    <a:pt x="3" y="24"/>
                    <a:pt x="3" y="24"/>
                    <a:pt x="3" y="24"/>
                  </a:cubicBezTo>
                  <a:cubicBezTo>
                    <a:pt x="0" y="28"/>
                    <a:pt x="0" y="33"/>
                    <a:pt x="4" y="36"/>
                  </a:cubicBezTo>
                  <a:cubicBezTo>
                    <a:pt x="6" y="38"/>
                    <a:pt x="8" y="39"/>
                    <a:pt x="11" y="38"/>
                  </a:cubicBezTo>
                  <a:cubicBezTo>
                    <a:pt x="12" y="38"/>
                    <a:pt x="14" y="37"/>
                    <a:pt x="16" y="35"/>
                  </a:cubicBez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32" name="Freeform 530">
              <a:extLst>
                <a:ext uri="{FF2B5EF4-FFF2-40B4-BE49-F238E27FC236}">
                  <a16:creationId xmlns:a16="http://schemas.microsoft.com/office/drawing/2014/main" id="{1842B638-465F-6078-39D5-D99D531F9004}"/>
                </a:ext>
              </a:extLst>
            </p:cNvPr>
            <p:cNvSpPr>
              <a:spLocks/>
            </p:cNvSpPr>
            <p:nvPr/>
          </p:nvSpPr>
          <p:spPr bwMode="auto">
            <a:xfrm>
              <a:off x="5857876" y="4676776"/>
              <a:ext cx="134938" cy="138113"/>
            </a:xfrm>
            <a:custGeom>
              <a:avLst/>
              <a:gdLst>
                <a:gd name="T0" fmla="*/ 2147483646 w 36"/>
                <a:gd name="T1" fmla="*/ 2147483646 h 37"/>
                <a:gd name="T2" fmla="*/ 2147483646 w 36"/>
                <a:gd name="T3" fmla="*/ 2147483646 h 37"/>
                <a:gd name="T4" fmla="*/ 2147483646 w 36"/>
                <a:gd name="T5" fmla="*/ 2147483646 h 37"/>
                <a:gd name="T6" fmla="*/ 2147483646 w 36"/>
                <a:gd name="T7" fmla="*/ 0 h 37"/>
                <a:gd name="T8" fmla="*/ 2147483646 w 36"/>
                <a:gd name="T9" fmla="*/ 2147483646 h 37"/>
                <a:gd name="T10" fmla="*/ 2147483646 w 36"/>
                <a:gd name="T11" fmla="*/ 2147483646 h 37"/>
                <a:gd name="T12" fmla="*/ 2147483646 w 36"/>
                <a:gd name="T13" fmla="*/ 2147483646 h 37"/>
                <a:gd name="T14" fmla="*/ 2147483646 w 36"/>
                <a:gd name="T15" fmla="*/ 2147483646 h 37"/>
                <a:gd name="T16" fmla="*/ 2147483646 w 36"/>
                <a:gd name="T17" fmla="*/ 2147483646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6" h="37">
                  <a:moveTo>
                    <a:pt x="16" y="34"/>
                  </a:moveTo>
                  <a:cubicBezTo>
                    <a:pt x="33" y="14"/>
                    <a:pt x="33" y="14"/>
                    <a:pt x="33" y="14"/>
                  </a:cubicBezTo>
                  <a:cubicBezTo>
                    <a:pt x="36" y="11"/>
                    <a:pt x="36" y="6"/>
                    <a:pt x="33" y="2"/>
                  </a:cubicBezTo>
                  <a:cubicBezTo>
                    <a:pt x="31" y="1"/>
                    <a:pt x="28" y="0"/>
                    <a:pt x="26" y="0"/>
                  </a:cubicBezTo>
                  <a:cubicBezTo>
                    <a:pt x="24" y="1"/>
                    <a:pt x="22" y="2"/>
                    <a:pt x="21" y="3"/>
                  </a:cubicBezTo>
                  <a:cubicBezTo>
                    <a:pt x="3" y="23"/>
                    <a:pt x="3" y="23"/>
                    <a:pt x="3" y="23"/>
                  </a:cubicBezTo>
                  <a:cubicBezTo>
                    <a:pt x="0" y="26"/>
                    <a:pt x="0" y="31"/>
                    <a:pt x="4" y="35"/>
                  </a:cubicBezTo>
                  <a:cubicBezTo>
                    <a:pt x="5" y="36"/>
                    <a:pt x="8" y="37"/>
                    <a:pt x="10" y="37"/>
                  </a:cubicBezTo>
                  <a:cubicBezTo>
                    <a:pt x="12" y="36"/>
                    <a:pt x="14" y="35"/>
                    <a:pt x="16" y="34"/>
                  </a:cubicBez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33" name="Freeform 531">
              <a:extLst>
                <a:ext uri="{FF2B5EF4-FFF2-40B4-BE49-F238E27FC236}">
                  <a16:creationId xmlns:a16="http://schemas.microsoft.com/office/drawing/2014/main" id="{87E3A07D-F96E-6E8C-49C1-B29A57AFA053}"/>
                </a:ext>
              </a:extLst>
            </p:cNvPr>
            <p:cNvSpPr>
              <a:spLocks/>
            </p:cNvSpPr>
            <p:nvPr/>
          </p:nvSpPr>
          <p:spPr bwMode="auto">
            <a:xfrm>
              <a:off x="5921376" y="4732338"/>
              <a:ext cx="109538" cy="109538"/>
            </a:xfrm>
            <a:custGeom>
              <a:avLst/>
              <a:gdLst>
                <a:gd name="T0" fmla="*/ 2147483646 w 29"/>
                <a:gd name="T1" fmla="*/ 2147483646 h 29"/>
                <a:gd name="T2" fmla="*/ 2147483646 w 29"/>
                <a:gd name="T3" fmla="*/ 2147483646 h 29"/>
                <a:gd name="T4" fmla="*/ 2147483646 w 29"/>
                <a:gd name="T5" fmla="*/ 2147483646 h 29"/>
                <a:gd name="T6" fmla="*/ 2147483646 w 29"/>
                <a:gd name="T7" fmla="*/ 0 h 29"/>
                <a:gd name="T8" fmla="*/ 2147483646 w 29"/>
                <a:gd name="T9" fmla="*/ 2147483646 h 29"/>
                <a:gd name="T10" fmla="*/ 2147483646 w 29"/>
                <a:gd name="T11" fmla="*/ 2147483646 h 29"/>
                <a:gd name="T12" fmla="*/ 2147483646 w 29"/>
                <a:gd name="T13" fmla="*/ 2147483646 h 29"/>
                <a:gd name="T14" fmla="*/ 2147483646 w 29"/>
                <a:gd name="T15" fmla="*/ 2147483646 h 29"/>
                <a:gd name="T16" fmla="*/ 2147483646 w 29"/>
                <a:gd name="T17" fmla="*/ 2147483646 h 29"/>
                <a:gd name="T18" fmla="*/ 2147483646 w 29"/>
                <a:gd name="T19" fmla="*/ 2147483646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9" h="29">
                  <a:moveTo>
                    <a:pt x="23" y="17"/>
                  </a:moveTo>
                  <a:cubicBezTo>
                    <a:pt x="25" y="14"/>
                    <a:pt x="25" y="14"/>
                    <a:pt x="25" y="14"/>
                  </a:cubicBezTo>
                  <a:cubicBezTo>
                    <a:pt x="29" y="11"/>
                    <a:pt x="28" y="5"/>
                    <a:pt x="25" y="2"/>
                  </a:cubicBezTo>
                  <a:cubicBezTo>
                    <a:pt x="23" y="1"/>
                    <a:pt x="20" y="0"/>
                    <a:pt x="18" y="0"/>
                  </a:cubicBezTo>
                  <a:cubicBezTo>
                    <a:pt x="16" y="1"/>
                    <a:pt x="14" y="2"/>
                    <a:pt x="13" y="3"/>
                  </a:cubicBezTo>
                  <a:cubicBezTo>
                    <a:pt x="3" y="14"/>
                    <a:pt x="3" y="14"/>
                    <a:pt x="3" y="14"/>
                  </a:cubicBezTo>
                  <a:cubicBezTo>
                    <a:pt x="0" y="18"/>
                    <a:pt x="0" y="23"/>
                    <a:pt x="3" y="26"/>
                  </a:cubicBezTo>
                  <a:cubicBezTo>
                    <a:pt x="5" y="28"/>
                    <a:pt x="8" y="29"/>
                    <a:pt x="10" y="28"/>
                  </a:cubicBezTo>
                  <a:cubicBezTo>
                    <a:pt x="12" y="28"/>
                    <a:pt x="14" y="27"/>
                    <a:pt x="15" y="26"/>
                  </a:cubicBezTo>
                  <a:lnTo>
                    <a:pt x="23" y="17"/>
                  </a:ln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34" name="Freeform 532">
              <a:extLst>
                <a:ext uri="{FF2B5EF4-FFF2-40B4-BE49-F238E27FC236}">
                  <a16:creationId xmlns:a16="http://schemas.microsoft.com/office/drawing/2014/main" id="{759D2118-57B2-E33B-5AAD-28A0234619B6}"/>
                </a:ext>
              </a:extLst>
            </p:cNvPr>
            <p:cNvSpPr>
              <a:spLocks/>
            </p:cNvSpPr>
            <p:nvPr/>
          </p:nvSpPr>
          <p:spPr bwMode="auto">
            <a:xfrm>
              <a:off x="6248401" y="4248151"/>
              <a:ext cx="330200" cy="368300"/>
            </a:xfrm>
            <a:custGeom>
              <a:avLst/>
              <a:gdLst>
                <a:gd name="T0" fmla="*/ 2147483646 w 88"/>
                <a:gd name="T1" fmla="*/ 0 h 98"/>
                <a:gd name="T2" fmla="*/ 0 w 88"/>
                <a:gd name="T3" fmla="*/ 2147483646 h 98"/>
                <a:gd name="T4" fmla="*/ 2147483646 w 88"/>
                <a:gd name="T5" fmla="*/ 2147483646 h 98"/>
                <a:gd name="T6" fmla="*/ 2147483646 w 88"/>
                <a:gd name="T7" fmla="*/ 2147483646 h 98"/>
                <a:gd name="T8" fmla="*/ 2147483646 w 88"/>
                <a:gd name="T9" fmla="*/ 2147483646 h 9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88" h="98">
                  <a:moveTo>
                    <a:pt x="48" y="0"/>
                  </a:moveTo>
                  <a:cubicBezTo>
                    <a:pt x="30" y="10"/>
                    <a:pt x="4" y="23"/>
                    <a:pt x="0" y="26"/>
                  </a:cubicBezTo>
                  <a:cubicBezTo>
                    <a:pt x="3" y="32"/>
                    <a:pt x="20" y="59"/>
                    <a:pt x="40" y="94"/>
                  </a:cubicBezTo>
                  <a:cubicBezTo>
                    <a:pt x="43" y="98"/>
                    <a:pt x="43" y="98"/>
                    <a:pt x="43" y="98"/>
                  </a:cubicBezTo>
                  <a:cubicBezTo>
                    <a:pt x="88" y="75"/>
                    <a:pt x="88" y="75"/>
                    <a:pt x="88" y="75"/>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44" name="Freeform 533">
              <a:extLst>
                <a:ext uri="{FF2B5EF4-FFF2-40B4-BE49-F238E27FC236}">
                  <a16:creationId xmlns:a16="http://schemas.microsoft.com/office/drawing/2014/main" id="{651CF626-6EA7-7001-BF04-461390046B9D}"/>
                </a:ext>
              </a:extLst>
            </p:cNvPr>
            <p:cNvSpPr>
              <a:spLocks/>
            </p:cNvSpPr>
            <p:nvPr/>
          </p:nvSpPr>
          <p:spPr bwMode="auto">
            <a:xfrm>
              <a:off x="5816601" y="4349751"/>
              <a:ext cx="481013" cy="327025"/>
            </a:xfrm>
            <a:custGeom>
              <a:avLst/>
              <a:gdLst>
                <a:gd name="T0" fmla="*/ 2147483646 w 128"/>
                <a:gd name="T1" fmla="*/ 2147483646 h 87"/>
                <a:gd name="T2" fmla="*/ 2147483646 w 128"/>
                <a:gd name="T3" fmla="*/ 2147483646 h 87"/>
                <a:gd name="T4" fmla="*/ 2147483646 w 128"/>
                <a:gd name="T5" fmla="*/ 2147483646 h 87"/>
                <a:gd name="T6" fmla="*/ 2147483646 w 128"/>
                <a:gd name="T7" fmla="*/ 2147483646 h 87"/>
                <a:gd name="T8" fmla="*/ 2147483646 w 128"/>
                <a:gd name="T9" fmla="*/ 2147483646 h 87"/>
                <a:gd name="T10" fmla="*/ 2147483646 w 128"/>
                <a:gd name="T11" fmla="*/ 2147483646 h 87"/>
                <a:gd name="T12" fmla="*/ 2147483646 w 128"/>
                <a:gd name="T13" fmla="*/ 2147483646 h 87"/>
                <a:gd name="T14" fmla="*/ 2147483646 w 128"/>
                <a:gd name="T15" fmla="*/ 2147483646 h 87"/>
                <a:gd name="T16" fmla="*/ 2147483646 w 128"/>
                <a:gd name="T17" fmla="*/ 2147483646 h 87"/>
                <a:gd name="T18" fmla="*/ 2147483646 w 128"/>
                <a:gd name="T19" fmla="*/ 2147483646 h 8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28" h="87">
                  <a:moveTo>
                    <a:pt x="121" y="9"/>
                  </a:moveTo>
                  <a:cubicBezTo>
                    <a:pt x="98" y="0"/>
                    <a:pt x="87" y="13"/>
                    <a:pt x="73" y="13"/>
                  </a:cubicBezTo>
                  <a:cubicBezTo>
                    <a:pt x="67" y="13"/>
                    <a:pt x="63" y="14"/>
                    <a:pt x="60" y="14"/>
                  </a:cubicBezTo>
                  <a:cubicBezTo>
                    <a:pt x="60" y="14"/>
                    <a:pt x="60" y="14"/>
                    <a:pt x="60" y="14"/>
                  </a:cubicBezTo>
                  <a:cubicBezTo>
                    <a:pt x="58" y="14"/>
                    <a:pt x="57" y="14"/>
                    <a:pt x="56" y="15"/>
                  </a:cubicBezTo>
                  <a:cubicBezTo>
                    <a:pt x="18" y="34"/>
                    <a:pt x="18" y="34"/>
                    <a:pt x="18" y="34"/>
                  </a:cubicBezTo>
                  <a:cubicBezTo>
                    <a:pt x="0" y="43"/>
                    <a:pt x="18" y="56"/>
                    <a:pt x="24" y="55"/>
                  </a:cubicBezTo>
                  <a:cubicBezTo>
                    <a:pt x="30" y="54"/>
                    <a:pt x="45" y="48"/>
                    <a:pt x="55" y="43"/>
                  </a:cubicBezTo>
                  <a:cubicBezTo>
                    <a:pt x="61" y="41"/>
                    <a:pt x="68" y="42"/>
                    <a:pt x="73" y="46"/>
                  </a:cubicBezTo>
                  <a:cubicBezTo>
                    <a:pt x="90" y="58"/>
                    <a:pt x="125" y="84"/>
                    <a:pt x="128" y="87"/>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45" name="Freeform 535">
              <a:extLst>
                <a:ext uri="{FF2B5EF4-FFF2-40B4-BE49-F238E27FC236}">
                  <a16:creationId xmlns:a16="http://schemas.microsoft.com/office/drawing/2014/main" id="{CAA2BA3D-4A41-8330-40CB-E60A49023C67}"/>
                </a:ext>
              </a:extLst>
            </p:cNvPr>
            <p:cNvSpPr>
              <a:spLocks/>
            </p:cNvSpPr>
            <p:nvPr/>
          </p:nvSpPr>
          <p:spPr bwMode="auto">
            <a:xfrm>
              <a:off x="6297613" y="4586288"/>
              <a:ext cx="93663" cy="90488"/>
            </a:xfrm>
            <a:custGeom>
              <a:avLst/>
              <a:gdLst>
                <a:gd name="T0" fmla="*/ 0 w 25"/>
                <a:gd name="T1" fmla="*/ 2147483646 h 24"/>
                <a:gd name="T2" fmla="*/ 2147483646 w 25"/>
                <a:gd name="T3" fmla="*/ 2147483646 h 24"/>
                <a:gd name="T4" fmla="*/ 2147483646 w 25"/>
                <a:gd name="T5" fmla="*/ 2147483646 h 24"/>
                <a:gd name="T6" fmla="*/ 2147483646 w 25"/>
                <a:gd name="T7" fmla="*/ 0 h 2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24">
                  <a:moveTo>
                    <a:pt x="0" y="24"/>
                  </a:moveTo>
                  <a:cubicBezTo>
                    <a:pt x="3" y="23"/>
                    <a:pt x="6" y="18"/>
                    <a:pt x="8" y="14"/>
                  </a:cubicBezTo>
                  <a:cubicBezTo>
                    <a:pt x="10" y="11"/>
                    <a:pt x="11" y="9"/>
                    <a:pt x="12" y="9"/>
                  </a:cubicBezTo>
                  <a:cubicBezTo>
                    <a:pt x="14" y="7"/>
                    <a:pt x="22" y="2"/>
                    <a:pt x="25"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46" name="Line 536">
              <a:extLst>
                <a:ext uri="{FF2B5EF4-FFF2-40B4-BE49-F238E27FC236}">
                  <a16:creationId xmlns:a16="http://schemas.microsoft.com/office/drawing/2014/main" id="{61C602F7-B804-972E-4225-809B3959BD81}"/>
                </a:ext>
              </a:extLst>
            </p:cNvPr>
            <p:cNvSpPr>
              <a:spLocks noChangeShapeType="1"/>
            </p:cNvSpPr>
            <p:nvPr/>
          </p:nvSpPr>
          <p:spPr bwMode="auto">
            <a:xfrm>
              <a:off x="5786438" y="4668838"/>
              <a:ext cx="0" cy="0"/>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47" name="Freeform 537">
              <a:extLst>
                <a:ext uri="{FF2B5EF4-FFF2-40B4-BE49-F238E27FC236}">
                  <a16:creationId xmlns:a16="http://schemas.microsoft.com/office/drawing/2014/main" id="{0B586514-3722-0310-B73C-C4A3CC3D0641}"/>
                </a:ext>
              </a:extLst>
            </p:cNvPr>
            <p:cNvSpPr>
              <a:spLocks/>
            </p:cNvSpPr>
            <p:nvPr/>
          </p:nvSpPr>
          <p:spPr bwMode="auto">
            <a:xfrm>
              <a:off x="5519738" y="4248151"/>
              <a:ext cx="368300" cy="390525"/>
            </a:xfrm>
            <a:custGeom>
              <a:avLst/>
              <a:gdLst>
                <a:gd name="T0" fmla="*/ 0 w 232"/>
                <a:gd name="T1" fmla="*/ 2147483646 h 246"/>
                <a:gd name="T2" fmla="*/ 2147483646 w 232"/>
                <a:gd name="T3" fmla="*/ 2147483646 h 246"/>
                <a:gd name="T4" fmla="*/ 2147483646 w 232"/>
                <a:gd name="T5" fmla="*/ 2147483646 h 246"/>
                <a:gd name="T6" fmla="*/ 2147483646 w 232"/>
                <a:gd name="T7" fmla="*/ 0 h 24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32" h="246">
                  <a:moveTo>
                    <a:pt x="0" y="168"/>
                  </a:moveTo>
                  <a:lnTo>
                    <a:pt x="97" y="246"/>
                  </a:lnTo>
                  <a:lnTo>
                    <a:pt x="232" y="76"/>
                  </a:lnTo>
                  <a:lnTo>
                    <a:pt x="137" y="0"/>
                  </a:ln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48" name="Freeform 538">
              <a:extLst>
                <a:ext uri="{FF2B5EF4-FFF2-40B4-BE49-F238E27FC236}">
                  <a16:creationId xmlns:a16="http://schemas.microsoft.com/office/drawing/2014/main" id="{398798C1-BB7A-0014-400B-023EA87F6A76}"/>
                </a:ext>
              </a:extLst>
            </p:cNvPr>
            <p:cNvSpPr>
              <a:spLocks/>
            </p:cNvSpPr>
            <p:nvPr/>
          </p:nvSpPr>
          <p:spPr bwMode="auto">
            <a:xfrm>
              <a:off x="5688013" y="4619626"/>
              <a:ext cx="87313" cy="57150"/>
            </a:xfrm>
            <a:custGeom>
              <a:avLst/>
              <a:gdLst>
                <a:gd name="T0" fmla="*/ 2147483646 w 23"/>
                <a:gd name="T1" fmla="*/ 2147483646 h 15"/>
                <a:gd name="T2" fmla="*/ 0 w 23"/>
                <a:gd name="T3" fmla="*/ 0 h 15"/>
                <a:gd name="T4" fmla="*/ 0 60000 65536"/>
                <a:gd name="T5" fmla="*/ 0 60000 65536"/>
              </a:gdLst>
              <a:ahLst/>
              <a:cxnLst>
                <a:cxn ang="T4">
                  <a:pos x="T0" y="T1"/>
                </a:cxn>
                <a:cxn ang="T5">
                  <a:pos x="T2" y="T3"/>
                </a:cxn>
              </a:cxnLst>
              <a:rect l="0" t="0" r="r" b="b"/>
              <a:pathLst>
                <a:path w="23" h="15">
                  <a:moveTo>
                    <a:pt x="23" y="15"/>
                  </a:moveTo>
                  <a:cubicBezTo>
                    <a:pt x="23" y="15"/>
                    <a:pt x="11" y="9"/>
                    <a:pt x="0"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49" name="Freeform 539">
              <a:extLst>
                <a:ext uri="{FF2B5EF4-FFF2-40B4-BE49-F238E27FC236}">
                  <a16:creationId xmlns:a16="http://schemas.microsoft.com/office/drawing/2014/main" id="{06E2E466-6905-91FF-067E-C02292FA59D7}"/>
                </a:ext>
              </a:extLst>
            </p:cNvPr>
            <p:cNvSpPr>
              <a:spLocks/>
            </p:cNvSpPr>
            <p:nvPr/>
          </p:nvSpPr>
          <p:spPr bwMode="auto">
            <a:xfrm>
              <a:off x="5868988" y="4391026"/>
              <a:ext cx="104775" cy="41275"/>
            </a:xfrm>
            <a:custGeom>
              <a:avLst/>
              <a:gdLst>
                <a:gd name="T0" fmla="*/ 2147483646 w 28"/>
                <a:gd name="T1" fmla="*/ 2147483646 h 11"/>
                <a:gd name="T2" fmla="*/ 0 w 28"/>
                <a:gd name="T3" fmla="*/ 0 h 11"/>
                <a:gd name="T4" fmla="*/ 0 60000 65536"/>
                <a:gd name="T5" fmla="*/ 0 60000 65536"/>
              </a:gdLst>
              <a:ahLst/>
              <a:cxnLst>
                <a:cxn ang="T4">
                  <a:pos x="T0" y="T1"/>
                </a:cxn>
                <a:cxn ang="T5">
                  <a:pos x="T2" y="T3"/>
                </a:cxn>
              </a:cxnLst>
              <a:rect l="0" t="0" r="r" b="b"/>
              <a:pathLst>
                <a:path w="28" h="11">
                  <a:moveTo>
                    <a:pt x="28" y="11"/>
                  </a:moveTo>
                  <a:cubicBezTo>
                    <a:pt x="23" y="8"/>
                    <a:pt x="11" y="3"/>
                    <a:pt x="0"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50" name="Oval 540">
              <a:extLst>
                <a:ext uri="{FF2B5EF4-FFF2-40B4-BE49-F238E27FC236}">
                  <a16:creationId xmlns:a16="http://schemas.microsoft.com/office/drawing/2014/main" id="{C895111E-7523-F205-F0DB-6EF18382FDE1}"/>
                </a:ext>
              </a:extLst>
            </p:cNvPr>
            <p:cNvSpPr>
              <a:spLocks noChangeArrowheads="1"/>
            </p:cNvSpPr>
            <p:nvPr/>
          </p:nvSpPr>
          <p:spPr bwMode="auto">
            <a:xfrm>
              <a:off x="5632450" y="4495801"/>
              <a:ext cx="55563" cy="57150"/>
            </a:xfrm>
            <a:prstGeom prst="ellipse">
              <a:avLst/>
            </a:prstGeom>
            <a:noFill/>
            <a:ln w="28575" cap="rnd">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Open Sans" panose="020B06060305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Open Sans" panose="020B06060305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Open Sans" panose="020B06060305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9pPr>
            </a:lstStyle>
            <a:p>
              <a:pPr eaLnBrk="1" hangingPunct="1">
                <a:lnSpc>
                  <a:spcPct val="100000"/>
                </a:lnSpc>
                <a:spcBef>
                  <a:spcPct val="0"/>
                </a:spcBef>
                <a:buFontTx/>
                <a:buNone/>
              </a:pPr>
              <a:endParaRPr lang="ru-RU" altLang="ru-RU" sz="1200">
                <a:latin typeface="Calibri" panose="020F0502020204030204" pitchFamily="34" charset="0"/>
              </a:endParaRPr>
            </a:p>
          </p:txBody>
        </p:sp>
        <p:sp>
          <p:nvSpPr>
            <p:cNvPr id="51" name="Oval 541">
              <a:extLst>
                <a:ext uri="{FF2B5EF4-FFF2-40B4-BE49-F238E27FC236}">
                  <a16:creationId xmlns:a16="http://schemas.microsoft.com/office/drawing/2014/main" id="{4D55D8AC-EC60-BD8E-5E3E-2E2B4838A9BA}"/>
                </a:ext>
              </a:extLst>
            </p:cNvPr>
            <p:cNvSpPr>
              <a:spLocks noChangeArrowheads="1"/>
            </p:cNvSpPr>
            <p:nvPr/>
          </p:nvSpPr>
          <p:spPr bwMode="auto">
            <a:xfrm>
              <a:off x="6416675" y="4495801"/>
              <a:ext cx="57150" cy="57150"/>
            </a:xfrm>
            <a:prstGeom prst="ellipse">
              <a:avLst/>
            </a:prstGeom>
            <a:noFill/>
            <a:ln w="28575" cap="rnd">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Open Sans" panose="020B06060305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Open Sans" panose="020B06060305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Open Sans" panose="020B06060305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9pPr>
            </a:lstStyle>
            <a:p>
              <a:pPr eaLnBrk="1" hangingPunct="1">
                <a:lnSpc>
                  <a:spcPct val="100000"/>
                </a:lnSpc>
                <a:spcBef>
                  <a:spcPct val="0"/>
                </a:spcBef>
                <a:buFontTx/>
                <a:buNone/>
              </a:pPr>
              <a:endParaRPr lang="ru-RU" altLang="ru-RU" sz="1200">
                <a:latin typeface="Calibri" panose="020F0502020204030204" pitchFamily="34" charset="0"/>
              </a:endParaRPr>
            </a:p>
          </p:txBody>
        </p:sp>
        <p:sp>
          <p:nvSpPr>
            <p:cNvPr id="52" name="Line 542">
              <a:extLst>
                <a:ext uri="{FF2B5EF4-FFF2-40B4-BE49-F238E27FC236}">
                  <a16:creationId xmlns:a16="http://schemas.microsoft.com/office/drawing/2014/main" id="{DCED46BD-6985-21F6-91BC-F0CE5E3634B0}"/>
                </a:ext>
              </a:extLst>
            </p:cNvPr>
            <p:cNvSpPr>
              <a:spLocks noChangeShapeType="1"/>
            </p:cNvSpPr>
            <p:nvPr/>
          </p:nvSpPr>
          <p:spPr bwMode="auto">
            <a:xfrm flipV="1">
              <a:off x="6303963" y="4322763"/>
              <a:ext cx="63500" cy="34925"/>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53" name="Line 543">
              <a:extLst>
                <a:ext uri="{FF2B5EF4-FFF2-40B4-BE49-F238E27FC236}">
                  <a16:creationId xmlns:a16="http://schemas.microsoft.com/office/drawing/2014/main" id="{BBCC53D9-C0E0-B23E-905B-75C83BA1C8E4}"/>
                </a:ext>
              </a:extLst>
            </p:cNvPr>
            <p:cNvSpPr>
              <a:spLocks noChangeShapeType="1"/>
            </p:cNvSpPr>
            <p:nvPr/>
          </p:nvSpPr>
          <p:spPr bwMode="auto">
            <a:xfrm flipV="1">
              <a:off x="6394450" y="4300538"/>
              <a:ext cx="15875" cy="7938"/>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54" name="Line 544">
              <a:extLst>
                <a:ext uri="{FF2B5EF4-FFF2-40B4-BE49-F238E27FC236}">
                  <a16:creationId xmlns:a16="http://schemas.microsoft.com/office/drawing/2014/main" id="{DD464C8B-3CEF-8E36-3803-79035C14178E}"/>
                </a:ext>
              </a:extLst>
            </p:cNvPr>
            <p:cNvSpPr>
              <a:spLocks noChangeShapeType="1"/>
            </p:cNvSpPr>
            <p:nvPr/>
          </p:nvSpPr>
          <p:spPr bwMode="auto">
            <a:xfrm flipH="1">
              <a:off x="5745163" y="4383088"/>
              <a:ext cx="82550" cy="101600"/>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grpSp>
      <p:sp>
        <p:nvSpPr>
          <p:cNvPr id="56" name="Freeform 854">
            <a:extLst>
              <a:ext uri="{FF2B5EF4-FFF2-40B4-BE49-F238E27FC236}">
                <a16:creationId xmlns:a16="http://schemas.microsoft.com/office/drawing/2014/main" id="{4AF9F6EE-0FEE-90D2-5B6B-4EB37B602BD0}"/>
              </a:ext>
            </a:extLst>
          </p:cNvPr>
          <p:cNvSpPr>
            <a:spLocks/>
          </p:cNvSpPr>
          <p:nvPr/>
        </p:nvSpPr>
        <p:spPr bwMode="auto">
          <a:xfrm>
            <a:off x="914400" y="1905000"/>
            <a:ext cx="375109" cy="355600"/>
          </a:xfrm>
          <a:custGeom>
            <a:avLst/>
            <a:gdLst>
              <a:gd name="T0" fmla="*/ 2147483646 w 220"/>
              <a:gd name="T1" fmla="*/ 2147483646 h 211"/>
              <a:gd name="T2" fmla="*/ 2147483646 w 220"/>
              <a:gd name="T3" fmla="*/ 2147483646 h 211"/>
              <a:gd name="T4" fmla="*/ 2147483646 w 220"/>
              <a:gd name="T5" fmla="*/ 0 h 211"/>
              <a:gd name="T6" fmla="*/ 2147483646 w 220"/>
              <a:gd name="T7" fmla="*/ 2147483646 h 211"/>
              <a:gd name="T8" fmla="*/ 0 w 220"/>
              <a:gd name="T9" fmla="*/ 2147483646 h 211"/>
              <a:gd name="T10" fmla="*/ 0 w 220"/>
              <a:gd name="T11" fmla="*/ 2147483646 h 211"/>
              <a:gd name="T12" fmla="*/ 2147483646 w 220"/>
              <a:gd name="T13" fmla="*/ 2147483646 h 211"/>
              <a:gd name="T14" fmla="*/ 2147483646 w 220"/>
              <a:gd name="T15" fmla="*/ 2147483646 h 211"/>
              <a:gd name="T16" fmla="*/ 2147483646 w 220"/>
              <a:gd name="T17" fmla="*/ 2147483646 h 21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0" h="211">
                <a:moveTo>
                  <a:pt x="220" y="15"/>
                </a:moveTo>
                <a:cubicBezTo>
                  <a:pt x="206" y="23"/>
                  <a:pt x="191" y="27"/>
                  <a:pt x="175" y="27"/>
                </a:cubicBezTo>
                <a:cubicBezTo>
                  <a:pt x="149" y="27"/>
                  <a:pt x="127" y="17"/>
                  <a:pt x="110" y="0"/>
                </a:cubicBezTo>
                <a:cubicBezTo>
                  <a:pt x="93" y="17"/>
                  <a:pt x="71" y="27"/>
                  <a:pt x="45" y="27"/>
                </a:cubicBezTo>
                <a:cubicBezTo>
                  <a:pt x="29" y="27"/>
                  <a:pt x="14" y="23"/>
                  <a:pt x="0" y="15"/>
                </a:cubicBezTo>
                <a:cubicBezTo>
                  <a:pt x="0" y="22"/>
                  <a:pt x="0" y="28"/>
                  <a:pt x="0" y="35"/>
                </a:cubicBezTo>
                <a:cubicBezTo>
                  <a:pt x="0" y="155"/>
                  <a:pt x="110" y="211"/>
                  <a:pt x="110" y="211"/>
                </a:cubicBezTo>
                <a:cubicBezTo>
                  <a:pt x="110" y="211"/>
                  <a:pt x="220" y="155"/>
                  <a:pt x="220" y="35"/>
                </a:cubicBezTo>
                <a:cubicBezTo>
                  <a:pt x="220" y="28"/>
                  <a:pt x="220" y="22"/>
                  <a:pt x="220" y="15"/>
                </a:cubicBez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grpSp>
        <p:nvGrpSpPr>
          <p:cNvPr id="91" name="Группа 465">
            <a:extLst>
              <a:ext uri="{FF2B5EF4-FFF2-40B4-BE49-F238E27FC236}">
                <a16:creationId xmlns:a16="http://schemas.microsoft.com/office/drawing/2014/main" id="{DC3DF3A0-CC92-C73D-EBD4-EC3A4D0F0E23}"/>
              </a:ext>
            </a:extLst>
          </p:cNvPr>
          <p:cNvGrpSpPr>
            <a:grpSpLocks/>
          </p:cNvGrpSpPr>
          <p:nvPr/>
        </p:nvGrpSpPr>
        <p:grpSpPr bwMode="auto">
          <a:xfrm>
            <a:off x="786690" y="4313772"/>
            <a:ext cx="506374" cy="395976"/>
            <a:chOff x="5521326" y="4037013"/>
            <a:chExt cx="998538" cy="838200"/>
          </a:xfrm>
        </p:grpSpPr>
        <p:sp>
          <p:nvSpPr>
            <p:cNvPr id="92" name="Oval 273">
              <a:extLst>
                <a:ext uri="{FF2B5EF4-FFF2-40B4-BE49-F238E27FC236}">
                  <a16:creationId xmlns:a16="http://schemas.microsoft.com/office/drawing/2014/main" id="{33E1B4B8-B4E1-DF1D-6EA0-605553D284C3}"/>
                </a:ext>
              </a:extLst>
            </p:cNvPr>
            <p:cNvSpPr>
              <a:spLocks noChangeArrowheads="1"/>
            </p:cNvSpPr>
            <p:nvPr/>
          </p:nvSpPr>
          <p:spPr bwMode="auto">
            <a:xfrm>
              <a:off x="5938839" y="4037013"/>
              <a:ext cx="146050" cy="161925"/>
            </a:xfrm>
            <a:prstGeom prst="ellipse">
              <a:avLst/>
            </a:prstGeom>
            <a:noFill/>
            <a:ln w="28575" cap="rnd">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Open Sans" panose="020B06060305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Open Sans" panose="020B06060305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Open Sans" panose="020B06060305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9pPr>
            </a:lstStyle>
            <a:p>
              <a:pPr eaLnBrk="1" hangingPunct="1">
                <a:lnSpc>
                  <a:spcPct val="100000"/>
                </a:lnSpc>
                <a:spcBef>
                  <a:spcPct val="0"/>
                </a:spcBef>
                <a:buFontTx/>
                <a:buNone/>
              </a:pPr>
              <a:endParaRPr lang="ru-RU" altLang="ru-RU" sz="1200">
                <a:latin typeface="Calibri" panose="020F0502020204030204" pitchFamily="34" charset="0"/>
              </a:endParaRPr>
            </a:p>
          </p:txBody>
        </p:sp>
        <p:sp>
          <p:nvSpPr>
            <p:cNvPr id="93" name="Freeform 274">
              <a:extLst>
                <a:ext uri="{FF2B5EF4-FFF2-40B4-BE49-F238E27FC236}">
                  <a16:creationId xmlns:a16="http://schemas.microsoft.com/office/drawing/2014/main" id="{2034D41B-F8DA-A9B2-B1AF-FE6F95475DCF}"/>
                </a:ext>
              </a:extLst>
            </p:cNvPr>
            <p:cNvSpPr>
              <a:spLocks/>
            </p:cNvSpPr>
            <p:nvPr/>
          </p:nvSpPr>
          <p:spPr bwMode="auto">
            <a:xfrm>
              <a:off x="5859464" y="4232276"/>
              <a:ext cx="304800" cy="147638"/>
            </a:xfrm>
            <a:custGeom>
              <a:avLst/>
              <a:gdLst>
                <a:gd name="T0" fmla="*/ 2147483646 w 81"/>
                <a:gd name="T1" fmla="*/ 2147483646 h 39"/>
                <a:gd name="T2" fmla="*/ 2147483646 w 81"/>
                <a:gd name="T3" fmla="*/ 0 h 39"/>
                <a:gd name="T4" fmla="*/ 2147483646 w 81"/>
                <a:gd name="T5" fmla="*/ 2147483646 h 39"/>
                <a:gd name="T6" fmla="*/ 2147483646 w 81"/>
                <a:gd name="T7" fmla="*/ 0 h 39"/>
                <a:gd name="T8" fmla="*/ 0 w 81"/>
                <a:gd name="T9" fmla="*/ 2147483646 h 39"/>
                <a:gd name="T10" fmla="*/ 2147483646 w 81"/>
                <a:gd name="T11" fmla="*/ 2147483646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39">
                  <a:moveTo>
                    <a:pt x="81" y="39"/>
                  </a:moveTo>
                  <a:cubicBezTo>
                    <a:pt x="81" y="13"/>
                    <a:pt x="75" y="3"/>
                    <a:pt x="52" y="0"/>
                  </a:cubicBezTo>
                  <a:cubicBezTo>
                    <a:pt x="52" y="0"/>
                    <a:pt x="41" y="20"/>
                    <a:pt x="41" y="20"/>
                  </a:cubicBezTo>
                  <a:cubicBezTo>
                    <a:pt x="29" y="0"/>
                    <a:pt x="29" y="0"/>
                    <a:pt x="29" y="0"/>
                  </a:cubicBezTo>
                  <a:cubicBezTo>
                    <a:pt x="7" y="3"/>
                    <a:pt x="0" y="13"/>
                    <a:pt x="0" y="39"/>
                  </a:cubicBezTo>
                  <a:lnTo>
                    <a:pt x="81" y="39"/>
                  </a:ln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94" name="Oval 275">
              <a:extLst>
                <a:ext uri="{FF2B5EF4-FFF2-40B4-BE49-F238E27FC236}">
                  <a16:creationId xmlns:a16="http://schemas.microsoft.com/office/drawing/2014/main" id="{14D573CD-96EC-CE8C-07BC-2440C40E4BF8}"/>
                </a:ext>
              </a:extLst>
            </p:cNvPr>
            <p:cNvSpPr>
              <a:spLocks noChangeArrowheads="1"/>
            </p:cNvSpPr>
            <p:nvPr/>
          </p:nvSpPr>
          <p:spPr bwMode="auto">
            <a:xfrm>
              <a:off x="5600701" y="4454526"/>
              <a:ext cx="146050" cy="161925"/>
            </a:xfrm>
            <a:prstGeom prst="ellipse">
              <a:avLst/>
            </a:prstGeom>
            <a:noFill/>
            <a:ln w="28575" cap="rnd">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Open Sans" panose="020B06060305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Open Sans" panose="020B06060305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Open Sans" panose="020B06060305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9pPr>
            </a:lstStyle>
            <a:p>
              <a:pPr eaLnBrk="1" hangingPunct="1">
                <a:lnSpc>
                  <a:spcPct val="100000"/>
                </a:lnSpc>
                <a:spcBef>
                  <a:spcPct val="0"/>
                </a:spcBef>
                <a:buFontTx/>
                <a:buNone/>
              </a:pPr>
              <a:endParaRPr lang="ru-RU" altLang="ru-RU" sz="1200">
                <a:latin typeface="Calibri" panose="020F0502020204030204" pitchFamily="34" charset="0"/>
              </a:endParaRPr>
            </a:p>
          </p:txBody>
        </p:sp>
        <p:sp>
          <p:nvSpPr>
            <p:cNvPr id="95" name="Freeform 276">
              <a:extLst>
                <a:ext uri="{FF2B5EF4-FFF2-40B4-BE49-F238E27FC236}">
                  <a16:creationId xmlns:a16="http://schemas.microsoft.com/office/drawing/2014/main" id="{2F3951B3-4781-2FC7-B94F-9DF7E3E895F8}"/>
                </a:ext>
              </a:extLst>
            </p:cNvPr>
            <p:cNvSpPr>
              <a:spLocks/>
            </p:cNvSpPr>
            <p:nvPr/>
          </p:nvSpPr>
          <p:spPr bwMode="auto">
            <a:xfrm>
              <a:off x="5521326" y="4649788"/>
              <a:ext cx="304800" cy="146050"/>
            </a:xfrm>
            <a:custGeom>
              <a:avLst/>
              <a:gdLst>
                <a:gd name="T0" fmla="*/ 2147483646 w 81"/>
                <a:gd name="T1" fmla="*/ 2147483646 h 39"/>
                <a:gd name="T2" fmla="*/ 2147483646 w 81"/>
                <a:gd name="T3" fmla="*/ 0 h 39"/>
                <a:gd name="T4" fmla="*/ 2147483646 w 81"/>
                <a:gd name="T5" fmla="*/ 2147483646 h 39"/>
                <a:gd name="T6" fmla="*/ 2147483646 w 81"/>
                <a:gd name="T7" fmla="*/ 0 h 39"/>
                <a:gd name="T8" fmla="*/ 0 w 81"/>
                <a:gd name="T9" fmla="*/ 2147483646 h 39"/>
                <a:gd name="T10" fmla="*/ 2147483646 w 81"/>
                <a:gd name="T11" fmla="*/ 2147483646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39">
                  <a:moveTo>
                    <a:pt x="81" y="39"/>
                  </a:moveTo>
                  <a:cubicBezTo>
                    <a:pt x="81" y="13"/>
                    <a:pt x="75" y="2"/>
                    <a:pt x="52" y="0"/>
                  </a:cubicBezTo>
                  <a:cubicBezTo>
                    <a:pt x="52" y="0"/>
                    <a:pt x="41" y="19"/>
                    <a:pt x="41" y="19"/>
                  </a:cubicBezTo>
                  <a:cubicBezTo>
                    <a:pt x="30" y="0"/>
                    <a:pt x="30" y="0"/>
                    <a:pt x="30" y="0"/>
                  </a:cubicBezTo>
                  <a:cubicBezTo>
                    <a:pt x="7" y="2"/>
                    <a:pt x="0" y="13"/>
                    <a:pt x="0" y="39"/>
                  </a:cubicBezTo>
                  <a:lnTo>
                    <a:pt x="81" y="39"/>
                  </a:ln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96" name="Oval 277">
              <a:extLst>
                <a:ext uri="{FF2B5EF4-FFF2-40B4-BE49-F238E27FC236}">
                  <a16:creationId xmlns:a16="http://schemas.microsoft.com/office/drawing/2014/main" id="{38776411-C748-4CE1-50D8-3B654306A4CB}"/>
                </a:ext>
              </a:extLst>
            </p:cNvPr>
            <p:cNvSpPr>
              <a:spLocks noChangeArrowheads="1"/>
            </p:cNvSpPr>
            <p:nvPr/>
          </p:nvSpPr>
          <p:spPr bwMode="auto">
            <a:xfrm>
              <a:off x="6294439" y="4454526"/>
              <a:ext cx="147638" cy="161925"/>
            </a:xfrm>
            <a:prstGeom prst="ellipse">
              <a:avLst/>
            </a:prstGeom>
            <a:noFill/>
            <a:ln w="28575" cap="rnd">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Open Sans" panose="020B06060305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Open Sans" panose="020B06060305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Open Sans" panose="020B06060305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9pPr>
            </a:lstStyle>
            <a:p>
              <a:pPr eaLnBrk="1" hangingPunct="1">
                <a:lnSpc>
                  <a:spcPct val="100000"/>
                </a:lnSpc>
                <a:spcBef>
                  <a:spcPct val="0"/>
                </a:spcBef>
                <a:buFontTx/>
                <a:buNone/>
              </a:pPr>
              <a:endParaRPr lang="ru-RU" altLang="ru-RU" sz="1200">
                <a:latin typeface="Calibri" panose="020F0502020204030204" pitchFamily="34" charset="0"/>
              </a:endParaRPr>
            </a:p>
          </p:txBody>
        </p:sp>
        <p:sp>
          <p:nvSpPr>
            <p:cNvPr id="97" name="Freeform 278">
              <a:extLst>
                <a:ext uri="{FF2B5EF4-FFF2-40B4-BE49-F238E27FC236}">
                  <a16:creationId xmlns:a16="http://schemas.microsoft.com/office/drawing/2014/main" id="{67ED3410-4119-7F30-8EF9-9323506D2941}"/>
                </a:ext>
              </a:extLst>
            </p:cNvPr>
            <p:cNvSpPr>
              <a:spLocks/>
            </p:cNvSpPr>
            <p:nvPr/>
          </p:nvSpPr>
          <p:spPr bwMode="auto">
            <a:xfrm>
              <a:off x="6216651" y="4649788"/>
              <a:ext cx="303213" cy="146050"/>
            </a:xfrm>
            <a:custGeom>
              <a:avLst/>
              <a:gdLst>
                <a:gd name="T0" fmla="*/ 2147483646 w 81"/>
                <a:gd name="T1" fmla="*/ 2147483646 h 39"/>
                <a:gd name="T2" fmla="*/ 2147483646 w 81"/>
                <a:gd name="T3" fmla="*/ 0 h 39"/>
                <a:gd name="T4" fmla="*/ 2147483646 w 81"/>
                <a:gd name="T5" fmla="*/ 2147483646 h 39"/>
                <a:gd name="T6" fmla="*/ 2147483646 w 81"/>
                <a:gd name="T7" fmla="*/ 0 h 39"/>
                <a:gd name="T8" fmla="*/ 0 w 81"/>
                <a:gd name="T9" fmla="*/ 2147483646 h 39"/>
                <a:gd name="T10" fmla="*/ 2147483646 w 81"/>
                <a:gd name="T11" fmla="*/ 2147483646 h 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1" h="39">
                  <a:moveTo>
                    <a:pt x="81" y="39"/>
                  </a:moveTo>
                  <a:cubicBezTo>
                    <a:pt x="81" y="13"/>
                    <a:pt x="74" y="2"/>
                    <a:pt x="51" y="0"/>
                  </a:cubicBezTo>
                  <a:cubicBezTo>
                    <a:pt x="51" y="0"/>
                    <a:pt x="40" y="19"/>
                    <a:pt x="40" y="19"/>
                  </a:cubicBezTo>
                  <a:cubicBezTo>
                    <a:pt x="29" y="0"/>
                    <a:pt x="29" y="0"/>
                    <a:pt x="29" y="0"/>
                  </a:cubicBezTo>
                  <a:cubicBezTo>
                    <a:pt x="6" y="2"/>
                    <a:pt x="0" y="13"/>
                    <a:pt x="0" y="39"/>
                  </a:cubicBezTo>
                  <a:lnTo>
                    <a:pt x="81" y="39"/>
                  </a:ln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98" name="Freeform 279">
              <a:extLst>
                <a:ext uri="{FF2B5EF4-FFF2-40B4-BE49-F238E27FC236}">
                  <a16:creationId xmlns:a16="http://schemas.microsoft.com/office/drawing/2014/main" id="{DAC430B4-9830-56E0-2D1E-6EE41B27AF85}"/>
                </a:ext>
              </a:extLst>
            </p:cNvPr>
            <p:cNvSpPr>
              <a:spLocks/>
            </p:cNvSpPr>
            <p:nvPr/>
          </p:nvSpPr>
          <p:spPr bwMode="auto">
            <a:xfrm>
              <a:off x="5862639" y="4819651"/>
              <a:ext cx="315913" cy="36513"/>
            </a:xfrm>
            <a:custGeom>
              <a:avLst/>
              <a:gdLst>
                <a:gd name="T0" fmla="*/ 2147483646 w 84"/>
                <a:gd name="T1" fmla="*/ 0 h 10"/>
                <a:gd name="T2" fmla="*/ 2147483646 w 84"/>
                <a:gd name="T3" fmla="*/ 2147483646 h 10"/>
                <a:gd name="T4" fmla="*/ 0 w 84"/>
                <a:gd name="T5" fmla="*/ 0 h 10"/>
                <a:gd name="T6" fmla="*/ 0 60000 65536"/>
                <a:gd name="T7" fmla="*/ 0 60000 65536"/>
                <a:gd name="T8" fmla="*/ 0 60000 65536"/>
              </a:gdLst>
              <a:ahLst/>
              <a:cxnLst>
                <a:cxn ang="T6">
                  <a:pos x="T0" y="T1"/>
                </a:cxn>
                <a:cxn ang="T7">
                  <a:pos x="T2" y="T3"/>
                </a:cxn>
                <a:cxn ang="T8">
                  <a:pos x="T4" y="T5"/>
                </a:cxn>
              </a:cxnLst>
              <a:rect l="0" t="0" r="r" b="b"/>
              <a:pathLst>
                <a:path w="84" h="10">
                  <a:moveTo>
                    <a:pt x="84" y="0"/>
                  </a:moveTo>
                  <a:cubicBezTo>
                    <a:pt x="71" y="6"/>
                    <a:pt x="57" y="10"/>
                    <a:pt x="42" y="10"/>
                  </a:cubicBezTo>
                  <a:cubicBezTo>
                    <a:pt x="27" y="10"/>
                    <a:pt x="13" y="6"/>
                    <a:pt x="0"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99" name="Freeform 280">
              <a:extLst>
                <a:ext uri="{FF2B5EF4-FFF2-40B4-BE49-F238E27FC236}">
                  <a16:creationId xmlns:a16="http://schemas.microsoft.com/office/drawing/2014/main" id="{6A8140F4-1E8A-96A5-5FAA-625722E8F2EF}"/>
                </a:ext>
              </a:extLst>
            </p:cNvPr>
            <p:cNvSpPr>
              <a:spLocks/>
            </p:cNvSpPr>
            <p:nvPr/>
          </p:nvSpPr>
          <p:spPr bwMode="auto">
            <a:xfrm>
              <a:off x="5862639" y="4811713"/>
              <a:ext cx="82550" cy="63500"/>
            </a:xfrm>
            <a:custGeom>
              <a:avLst/>
              <a:gdLst>
                <a:gd name="T0" fmla="*/ 2147483646 w 52"/>
                <a:gd name="T1" fmla="*/ 2147483646 h 40"/>
                <a:gd name="T2" fmla="*/ 0 w 52"/>
                <a:gd name="T3" fmla="*/ 2147483646 h 40"/>
                <a:gd name="T4" fmla="*/ 2147483646 w 52"/>
                <a:gd name="T5" fmla="*/ 0 h 40"/>
                <a:gd name="T6" fmla="*/ 0 60000 65536"/>
                <a:gd name="T7" fmla="*/ 0 60000 65536"/>
                <a:gd name="T8" fmla="*/ 0 60000 65536"/>
              </a:gdLst>
              <a:ahLst/>
              <a:cxnLst>
                <a:cxn ang="T6">
                  <a:pos x="T0" y="T1"/>
                </a:cxn>
                <a:cxn ang="T7">
                  <a:pos x="T2" y="T3"/>
                </a:cxn>
                <a:cxn ang="T8">
                  <a:pos x="T4" y="T5"/>
                </a:cxn>
              </a:cxnLst>
              <a:rect l="0" t="0" r="r" b="b"/>
              <a:pathLst>
                <a:path w="52" h="40">
                  <a:moveTo>
                    <a:pt x="36" y="40"/>
                  </a:moveTo>
                  <a:lnTo>
                    <a:pt x="0" y="5"/>
                  </a:lnTo>
                  <a:lnTo>
                    <a:pt x="52" y="0"/>
                  </a:ln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100" name="Freeform 281">
              <a:extLst>
                <a:ext uri="{FF2B5EF4-FFF2-40B4-BE49-F238E27FC236}">
                  <a16:creationId xmlns:a16="http://schemas.microsoft.com/office/drawing/2014/main" id="{64179BC0-A951-43EA-E218-B9F09D24DCBA}"/>
                </a:ext>
              </a:extLst>
            </p:cNvPr>
            <p:cNvSpPr>
              <a:spLocks/>
            </p:cNvSpPr>
            <p:nvPr/>
          </p:nvSpPr>
          <p:spPr bwMode="auto">
            <a:xfrm>
              <a:off x="6122989" y="4176713"/>
              <a:ext cx="231775" cy="244475"/>
            </a:xfrm>
            <a:custGeom>
              <a:avLst/>
              <a:gdLst>
                <a:gd name="T0" fmla="*/ 0 w 62"/>
                <a:gd name="T1" fmla="*/ 0 h 65"/>
                <a:gd name="T2" fmla="*/ 2147483646 w 62"/>
                <a:gd name="T3" fmla="*/ 2147483646 h 65"/>
                <a:gd name="T4" fmla="*/ 0 60000 65536"/>
                <a:gd name="T5" fmla="*/ 0 60000 65536"/>
              </a:gdLst>
              <a:ahLst/>
              <a:cxnLst>
                <a:cxn ang="T4">
                  <a:pos x="T0" y="T1"/>
                </a:cxn>
                <a:cxn ang="T5">
                  <a:pos x="T2" y="T3"/>
                </a:cxn>
              </a:cxnLst>
              <a:rect l="0" t="0" r="r" b="b"/>
              <a:pathLst>
                <a:path w="62" h="65">
                  <a:moveTo>
                    <a:pt x="0" y="0"/>
                  </a:moveTo>
                  <a:cubicBezTo>
                    <a:pt x="30" y="9"/>
                    <a:pt x="54" y="34"/>
                    <a:pt x="62" y="65"/>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101" name="Freeform 282">
              <a:extLst>
                <a:ext uri="{FF2B5EF4-FFF2-40B4-BE49-F238E27FC236}">
                  <a16:creationId xmlns:a16="http://schemas.microsoft.com/office/drawing/2014/main" id="{0FDDDA18-9A63-FB52-722A-48BE077622C4}"/>
                </a:ext>
              </a:extLst>
            </p:cNvPr>
            <p:cNvSpPr>
              <a:spLocks/>
            </p:cNvSpPr>
            <p:nvPr/>
          </p:nvSpPr>
          <p:spPr bwMode="auto">
            <a:xfrm>
              <a:off x="6299201" y="4341813"/>
              <a:ext cx="63500" cy="79375"/>
            </a:xfrm>
            <a:custGeom>
              <a:avLst/>
              <a:gdLst>
                <a:gd name="T0" fmla="*/ 2147483646 w 40"/>
                <a:gd name="T1" fmla="*/ 0 h 50"/>
                <a:gd name="T2" fmla="*/ 2147483646 w 40"/>
                <a:gd name="T3" fmla="*/ 2147483646 h 50"/>
                <a:gd name="T4" fmla="*/ 0 w 40"/>
                <a:gd name="T5" fmla="*/ 2147483646 h 50"/>
                <a:gd name="T6" fmla="*/ 0 60000 65536"/>
                <a:gd name="T7" fmla="*/ 0 60000 65536"/>
                <a:gd name="T8" fmla="*/ 0 60000 65536"/>
              </a:gdLst>
              <a:ahLst/>
              <a:cxnLst>
                <a:cxn ang="T6">
                  <a:pos x="T0" y="T1"/>
                </a:cxn>
                <a:cxn ang="T7">
                  <a:pos x="T2" y="T3"/>
                </a:cxn>
                <a:cxn ang="T8">
                  <a:pos x="T4" y="T5"/>
                </a:cxn>
              </a:cxnLst>
              <a:rect l="0" t="0" r="r" b="b"/>
              <a:pathLst>
                <a:path w="40" h="50">
                  <a:moveTo>
                    <a:pt x="40" y="0"/>
                  </a:moveTo>
                  <a:lnTo>
                    <a:pt x="35" y="50"/>
                  </a:lnTo>
                  <a:lnTo>
                    <a:pt x="0" y="14"/>
                  </a:ln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102" name="Freeform 283">
              <a:extLst>
                <a:ext uri="{FF2B5EF4-FFF2-40B4-BE49-F238E27FC236}">
                  <a16:creationId xmlns:a16="http://schemas.microsoft.com/office/drawing/2014/main" id="{C91888FE-E20E-450F-B0E1-D94C6181BE44}"/>
                </a:ext>
              </a:extLst>
            </p:cNvPr>
            <p:cNvSpPr>
              <a:spLocks/>
            </p:cNvSpPr>
            <p:nvPr/>
          </p:nvSpPr>
          <p:spPr bwMode="auto">
            <a:xfrm>
              <a:off x="5686426" y="4179888"/>
              <a:ext cx="222250" cy="233363"/>
            </a:xfrm>
            <a:custGeom>
              <a:avLst/>
              <a:gdLst>
                <a:gd name="T0" fmla="*/ 0 w 59"/>
                <a:gd name="T1" fmla="*/ 2147483646 h 62"/>
                <a:gd name="T2" fmla="*/ 2147483646 w 59"/>
                <a:gd name="T3" fmla="*/ 0 h 62"/>
                <a:gd name="T4" fmla="*/ 0 60000 65536"/>
                <a:gd name="T5" fmla="*/ 0 60000 65536"/>
              </a:gdLst>
              <a:ahLst/>
              <a:cxnLst>
                <a:cxn ang="T4">
                  <a:pos x="T0" y="T1"/>
                </a:cxn>
                <a:cxn ang="T5">
                  <a:pos x="T2" y="T3"/>
                </a:cxn>
              </a:cxnLst>
              <a:rect l="0" t="0" r="r" b="b"/>
              <a:pathLst>
                <a:path w="59" h="62">
                  <a:moveTo>
                    <a:pt x="0" y="62"/>
                  </a:moveTo>
                  <a:cubicBezTo>
                    <a:pt x="8" y="33"/>
                    <a:pt x="30" y="10"/>
                    <a:pt x="59"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103" name="Freeform 284">
              <a:extLst>
                <a:ext uri="{FF2B5EF4-FFF2-40B4-BE49-F238E27FC236}">
                  <a16:creationId xmlns:a16="http://schemas.microsoft.com/office/drawing/2014/main" id="{26854AAF-6FE3-1B6E-340C-1002807F6E20}"/>
                </a:ext>
              </a:extLst>
            </p:cNvPr>
            <p:cNvSpPr>
              <a:spLocks/>
            </p:cNvSpPr>
            <p:nvPr/>
          </p:nvSpPr>
          <p:spPr bwMode="auto">
            <a:xfrm>
              <a:off x="5826126" y="4179888"/>
              <a:ext cx="82550" cy="65088"/>
            </a:xfrm>
            <a:custGeom>
              <a:avLst/>
              <a:gdLst>
                <a:gd name="T0" fmla="*/ 0 w 52"/>
                <a:gd name="T1" fmla="*/ 0 h 41"/>
                <a:gd name="T2" fmla="*/ 2147483646 w 52"/>
                <a:gd name="T3" fmla="*/ 0 h 41"/>
                <a:gd name="T4" fmla="*/ 2147483646 w 52"/>
                <a:gd name="T5" fmla="*/ 2147483646 h 41"/>
                <a:gd name="T6" fmla="*/ 0 60000 65536"/>
                <a:gd name="T7" fmla="*/ 0 60000 65536"/>
                <a:gd name="T8" fmla="*/ 0 60000 65536"/>
              </a:gdLst>
              <a:ahLst/>
              <a:cxnLst>
                <a:cxn ang="T6">
                  <a:pos x="T0" y="T1"/>
                </a:cxn>
                <a:cxn ang="T7">
                  <a:pos x="T2" y="T3"/>
                </a:cxn>
                <a:cxn ang="T8">
                  <a:pos x="T4" y="T5"/>
                </a:cxn>
              </a:cxnLst>
              <a:rect l="0" t="0" r="r" b="b"/>
              <a:pathLst>
                <a:path w="52" h="41">
                  <a:moveTo>
                    <a:pt x="0" y="0"/>
                  </a:moveTo>
                  <a:lnTo>
                    <a:pt x="52" y="0"/>
                  </a:lnTo>
                  <a:lnTo>
                    <a:pt x="19" y="41"/>
                  </a:ln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104" name="Line 285">
              <a:extLst>
                <a:ext uri="{FF2B5EF4-FFF2-40B4-BE49-F238E27FC236}">
                  <a16:creationId xmlns:a16="http://schemas.microsoft.com/office/drawing/2014/main" id="{CFF20ACF-917C-5C6C-174B-32D1491DDCFC}"/>
                </a:ext>
              </a:extLst>
            </p:cNvPr>
            <p:cNvSpPr>
              <a:spLocks noChangeShapeType="1"/>
            </p:cNvSpPr>
            <p:nvPr/>
          </p:nvSpPr>
          <p:spPr bwMode="auto">
            <a:xfrm flipV="1">
              <a:off x="6021389" y="4465638"/>
              <a:ext cx="0" cy="131763"/>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105" name="Line 286">
              <a:extLst>
                <a:ext uri="{FF2B5EF4-FFF2-40B4-BE49-F238E27FC236}">
                  <a16:creationId xmlns:a16="http://schemas.microsoft.com/office/drawing/2014/main" id="{59440887-B6EE-BC3C-0C50-E6C2D20919E5}"/>
                </a:ext>
              </a:extLst>
            </p:cNvPr>
            <p:cNvSpPr>
              <a:spLocks noChangeShapeType="1"/>
            </p:cNvSpPr>
            <p:nvPr/>
          </p:nvSpPr>
          <p:spPr bwMode="auto">
            <a:xfrm flipH="1">
              <a:off x="5908676" y="4597401"/>
              <a:ext cx="112713" cy="63500"/>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106" name="Line 287">
              <a:extLst>
                <a:ext uri="{FF2B5EF4-FFF2-40B4-BE49-F238E27FC236}">
                  <a16:creationId xmlns:a16="http://schemas.microsoft.com/office/drawing/2014/main" id="{5FECC24C-7047-3E47-6206-0BFBB05A0156}"/>
                </a:ext>
              </a:extLst>
            </p:cNvPr>
            <p:cNvSpPr>
              <a:spLocks noChangeShapeType="1"/>
            </p:cNvSpPr>
            <p:nvPr/>
          </p:nvSpPr>
          <p:spPr bwMode="auto">
            <a:xfrm>
              <a:off x="6021389" y="4597401"/>
              <a:ext cx="112713" cy="63500"/>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grpSp>
      <p:grpSp>
        <p:nvGrpSpPr>
          <p:cNvPr id="79" name="Группа 10741">
            <a:extLst>
              <a:ext uri="{FF2B5EF4-FFF2-40B4-BE49-F238E27FC236}">
                <a16:creationId xmlns:a16="http://schemas.microsoft.com/office/drawing/2014/main" id="{9359A2BB-9C44-B31D-BDF7-10677DA63559}"/>
              </a:ext>
            </a:extLst>
          </p:cNvPr>
          <p:cNvGrpSpPr>
            <a:grpSpLocks/>
          </p:cNvGrpSpPr>
          <p:nvPr/>
        </p:nvGrpSpPr>
        <p:grpSpPr bwMode="auto">
          <a:xfrm>
            <a:off x="820574" y="3553358"/>
            <a:ext cx="476709" cy="387900"/>
            <a:chOff x="5651501" y="1201738"/>
            <a:chExt cx="795337" cy="879475"/>
          </a:xfrm>
        </p:grpSpPr>
        <p:sp>
          <p:nvSpPr>
            <p:cNvPr id="80" name="Freeform 354">
              <a:extLst>
                <a:ext uri="{FF2B5EF4-FFF2-40B4-BE49-F238E27FC236}">
                  <a16:creationId xmlns:a16="http://schemas.microsoft.com/office/drawing/2014/main" id="{00F6DC79-CF9E-2F43-2558-DA28BC20983A}"/>
                </a:ext>
              </a:extLst>
            </p:cNvPr>
            <p:cNvSpPr>
              <a:spLocks/>
            </p:cNvSpPr>
            <p:nvPr/>
          </p:nvSpPr>
          <p:spPr bwMode="auto">
            <a:xfrm>
              <a:off x="5800726" y="1350963"/>
              <a:ext cx="496888" cy="546100"/>
            </a:xfrm>
            <a:custGeom>
              <a:avLst/>
              <a:gdLst>
                <a:gd name="T0" fmla="*/ 2147483646 w 132"/>
                <a:gd name="T1" fmla="*/ 2147483646 h 145"/>
                <a:gd name="T2" fmla="*/ 2147483646 w 132"/>
                <a:gd name="T3" fmla="*/ 2147483646 h 145"/>
                <a:gd name="T4" fmla="*/ 0 w 132"/>
                <a:gd name="T5" fmla="*/ 2147483646 h 145"/>
                <a:gd name="T6" fmla="*/ 2147483646 w 132"/>
                <a:gd name="T7" fmla="*/ 0 h 145"/>
                <a:gd name="T8" fmla="*/ 2147483646 w 132"/>
                <a:gd name="T9" fmla="*/ 2147483646 h 145"/>
                <a:gd name="T10" fmla="*/ 2147483646 w 132"/>
                <a:gd name="T11" fmla="*/ 2147483646 h 145"/>
                <a:gd name="T12" fmla="*/ 2147483646 w 132"/>
                <a:gd name="T13" fmla="*/ 2147483646 h 14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2" h="145">
                  <a:moveTo>
                    <a:pt x="28" y="145"/>
                  </a:moveTo>
                  <a:cubicBezTo>
                    <a:pt x="29" y="134"/>
                    <a:pt x="25" y="124"/>
                    <a:pt x="11" y="102"/>
                  </a:cubicBezTo>
                  <a:cubicBezTo>
                    <a:pt x="4" y="92"/>
                    <a:pt x="0" y="79"/>
                    <a:pt x="0" y="66"/>
                  </a:cubicBezTo>
                  <a:cubicBezTo>
                    <a:pt x="0" y="30"/>
                    <a:pt x="30" y="0"/>
                    <a:pt x="66" y="0"/>
                  </a:cubicBezTo>
                  <a:cubicBezTo>
                    <a:pt x="102" y="0"/>
                    <a:pt x="132" y="30"/>
                    <a:pt x="132" y="66"/>
                  </a:cubicBezTo>
                  <a:cubicBezTo>
                    <a:pt x="132" y="79"/>
                    <a:pt x="128" y="92"/>
                    <a:pt x="121" y="102"/>
                  </a:cubicBezTo>
                  <a:cubicBezTo>
                    <a:pt x="110" y="119"/>
                    <a:pt x="105" y="129"/>
                    <a:pt x="104" y="138"/>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81" name="Oval 355">
              <a:extLst>
                <a:ext uri="{FF2B5EF4-FFF2-40B4-BE49-F238E27FC236}">
                  <a16:creationId xmlns:a16="http://schemas.microsoft.com/office/drawing/2014/main" id="{929ECAA9-3A68-C72E-2BEF-3A00850BEAA1}"/>
                </a:ext>
              </a:extLst>
            </p:cNvPr>
            <p:cNvSpPr>
              <a:spLocks noChangeArrowheads="1"/>
            </p:cNvSpPr>
            <p:nvPr/>
          </p:nvSpPr>
          <p:spPr bwMode="auto">
            <a:xfrm>
              <a:off x="5876926" y="1422401"/>
              <a:ext cx="344488" cy="349250"/>
            </a:xfrm>
            <a:prstGeom prst="ellipse">
              <a:avLst/>
            </a:prstGeom>
            <a:noFill/>
            <a:ln w="28575" cap="rnd">
              <a:solidFill>
                <a:schemeClr val="tx2">
                  <a:lumMod val="7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Open Sans" panose="020B060603050402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Open Sans" panose="020B060603050402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Open Sans" panose="020B060603050402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Open Sans" panose="020B0606030504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Open Sans" panose="020B0606030504020204" pitchFamily="34" charset="0"/>
                </a:defRPr>
              </a:lvl9pPr>
            </a:lstStyle>
            <a:p>
              <a:pPr eaLnBrk="1" hangingPunct="1">
                <a:lnSpc>
                  <a:spcPct val="100000"/>
                </a:lnSpc>
                <a:spcBef>
                  <a:spcPct val="0"/>
                </a:spcBef>
                <a:buFontTx/>
                <a:buNone/>
              </a:pPr>
              <a:endParaRPr lang="ru-RU" altLang="ru-RU" sz="1200">
                <a:latin typeface="Calibri" panose="020F0502020204030204" pitchFamily="34" charset="0"/>
              </a:endParaRPr>
            </a:p>
          </p:txBody>
        </p:sp>
        <p:sp>
          <p:nvSpPr>
            <p:cNvPr id="82" name="Freeform 356">
              <a:extLst>
                <a:ext uri="{FF2B5EF4-FFF2-40B4-BE49-F238E27FC236}">
                  <a16:creationId xmlns:a16="http://schemas.microsoft.com/office/drawing/2014/main" id="{8185F255-8006-0E28-075E-40CC8D896A30}"/>
                </a:ext>
              </a:extLst>
            </p:cNvPr>
            <p:cNvSpPr>
              <a:spLocks/>
            </p:cNvSpPr>
            <p:nvPr/>
          </p:nvSpPr>
          <p:spPr bwMode="auto">
            <a:xfrm>
              <a:off x="5946776" y="1509713"/>
              <a:ext cx="203200" cy="209550"/>
            </a:xfrm>
            <a:custGeom>
              <a:avLst/>
              <a:gdLst>
                <a:gd name="T0" fmla="*/ 0 w 128"/>
                <a:gd name="T1" fmla="*/ 2147483646 h 132"/>
                <a:gd name="T2" fmla="*/ 2147483646 w 128"/>
                <a:gd name="T3" fmla="*/ 2147483646 h 132"/>
                <a:gd name="T4" fmla="*/ 2147483646 w 128"/>
                <a:gd name="T5" fmla="*/ 0 h 132"/>
                <a:gd name="T6" fmla="*/ 0 60000 65536"/>
                <a:gd name="T7" fmla="*/ 0 60000 65536"/>
                <a:gd name="T8" fmla="*/ 0 60000 65536"/>
              </a:gdLst>
              <a:ahLst/>
              <a:cxnLst>
                <a:cxn ang="T6">
                  <a:pos x="T0" y="T1"/>
                </a:cxn>
                <a:cxn ang="T7">
                  <a:pos x="T2" y="T3"/>
                </a:cxn>
                <a:cxn ang="T8">
                  <a:pos x="T4" y="T5"/>
                </a:cxn>
              </a:cxnLst>
              <a:rect l="0" t="0" r="r" b="b"/>
              <a:pathLst>
                <a:path w="128" h="132">
                  <a:moveTo>
                    <a:pt x="0" y="76"/>
                  </a:moveTo>
                  <a:lnTo>
                    <a:pt x="48" y="132"/>
                  </a:lnTo>
                  <a:lnTo>
                    <a:pt x="128" y="0"/>
                  </a:ln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sp>
          <p:nvSpPr>
            <p:cNvPr id="83" name="Line 357">
              <a:extLst>
                <a:ext uri="{FF2B5EF4-FFF2-40B4-BE49-F238E27FC236}">
                  <a16:creationId xmlns:a16="http://schemas.microsoft.com/office/drawing/2014/main" id="{5DD522A4-E03B-9E89-A666-AEAF181EB13E}"/>
                </a:ext>
              </a:extLst>
            </p:cNvPr>
            <p:cNvSpPr>
              <a:spLocks noChangeShapeType="1"/>
            </p:cNvSpPr>
            <p:nvPr/>
          </p:nvSpPr>
          <p:spPr bwMode="auto">
            <a:xfrm flipV="1">
              <a:off x="6048376" y="1201738"/>
              <a:ext cx="0" cy="74613"/>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84" name="Line 358">
              <a:extLst>
                <a:ext uri="{FF2B5EF4-FFF2-40B4-BE49-F238E27FC236}">
                  <a16:creationId xmlns:a16="http://schemas.microsoft.com/office/drawing/2014/main" id="{4BA1E897-4963-3952-D3D3-246ED2B3D131}"/>
                </a:ext>
              </a:extLst>
            </p:cNvPr>
            <p:cNvSpPr>
              <a:spLocks noChangeShapeType="1"/>
            </p:cNvSpPr>
            <p:nvPr/>
          </p:nvSpPr>
          <p:spPr bwMode="auto">
            <a:xfrm flipH="1" flipV="1">
              <a:off x="5849938" y="1254126"/>
              <a:ext cx="38100" cy="68263"/>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85" name="Line 359">
              <a:extLst>
                <a:ext uri="{FF2B5EF4-FFF2-40B4-BE49-F238E27FC236}">
                  <a16:creationId xmlns:a16="http://schemas.microsoft.com/office/drawing/2014/main" id="{0C6E0380-733F-A9AD-6557-25860E4B5BA8}"/>
                </a:ext>
              </a:extLst>
            </p:cNvPr>
            <p:cNvSpPr>
              <a:spLocks noChangeShapeType="1"/>
            </p:cNvSpPr>
            <p:nvPr/>
          </p:nvSpPr>
          <p:spPr bwMode="auto">
            <a:xfrm flipH="1" flipV="1">
              <a:off x="5707063" y="1397001"/>
              <a:ext cx="63500" cy="41275"/>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86" name="Line 360">
              <a:extLst>
                <a:ext uri="{FF2B5EF4-FFF2-40B4-BE49-F238E27FC236}">
                  <a16:creationId xmlns:a16="http://schemas.microsoft.com/office/drawing/2014/main" id="{8D81B792-7C03-FEB5-8BFD-01314D1F0287}"/>
                </a:ext>
              </a:extLst>
            </p:cNvPr>
            <p:cNvSpPr>
              <a:spLocks noChangeShapeType="1"/>
            </p:cNvSpPr>
            <p:nvPr/>
          </p:nvSpPr>
          <p:spPr bwMode="auto">
            <a:xfrm flipH="1">
              <a:off x="5651501" y="1595438"/>
              <a:ext cx="77788" cy="0"/>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87" name="Line 361">
              <a:extLst>
                <a:ext uri="{FF2B5EF4-FFF2-40B4-BE49-F238E27FC236}">
                  <a16:creationId xmlns:a16="http://schemas.microsoft.com/office/drawing/2014/main" id="{634B84D1-841B-66BC-DD9D-B406EF0C0E27}"/>
                </a:ext>
              </a:extLst>
            </p:cNvPr>
            <p:cNvSpPr>
              <a:spLocks noChangeShapeType="1"/>
            </p:cNvSpPr>
            <p:nvPr/>
          </p:nvSpPr>
          <p:spPr bwMode="auto">
            <a:xfrm flipV="1">
              <a:off x="6210301" y="1254126"/>
              <a:ext cx="38100" cy="68263"/>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88" name="Line 362">
              <a:extLst>
                <a:ext uri="{FF2B5EF4-FFF2-40B4-BE49-F238E27FC236}">
                  <a16:creationId xmlns:a16="http://schemas.microsoft.com/office/drawing/2014/main" id="{F96BBE28-E0CC-ACCD-2248-185EB035AF21}"/>
                </a:ext>
              </a:extLst>
            </p:cNvPr>
            <p:cNvSpPr>
              <a:spLocks noChangeShapeType="1"/>
            </p:cNvSpPr>
            <p:nvPr/>
          </p:nvSpPr>
          <p:spPr bwMode="auto">
            <a:xfrm flipV="1">
              <a:off x="6326188" y="1397001"/>
              <a:ext cx="65088" cy="41275"/>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89" name="Line 363">
              <a:extLst>
                <a:ext uri="{FF2B5EF4-FFF2-40B4-BE49-F238E27FC236}">
                  <a16:creationId xmlns:a16="http://schemas.microsoft.com/office/drawing/2014/main" id="{AB608486-6DA3-9AEB-4BF1-40B790801F43}"/>
                </a:ext>
              </a:extLst>
            </p:cNvPr>
            <p:cNvSpPr>
              <a:spLocks noChangeShapeType="1"/>
            </p:cNvSpPr>
            <p:nvPr/>
          </p:nvSpPr>
          <p:spPr bwMode="auto">
            <a:xfrm>
              <a:off x="6367463" y="1595438"/>
              <a:ext cx="79375" cy="0"/>
            </a:xfrm>
            <a:prstGeom prst="line">
              <a:avLst/>
            </a:prstGeom>
            <a:noFill/>
            <a:ln w="28575" cap="rnd">
              <a:solidFill>
                <a:schemeClr val="tx2">
                  <a:lumMod val="75000"/>
                </a:schemeClr>
              </a:solidFill>
              <a:round/>
              <a:headEnd/>
              <a:tailEnd/>
            </a:ln>
            <a:extLst>
              <a:ext uri="{909E8E84-426E-40DD-AFC4-6F175D3DCCD1}">
                <a14:hiddenFill xmlns:a14="http://schemas.microsoft.com/office/drawing/2010/main">
                  <a:noFill/>
                </a14:hiddenFill>
              </a:ext>
            </a:extLst>
          </p:spPr>
          <p:txBody>
            <a:bodyPr/>
            <a:lstStyle/>
            <a:p>
              <a:endParaRPr lang="ru-RU" sz="1200"/>
            </a:p>
          </p:txBody>
        </p:sp>
        <p:sp>
          <p:nvSpPr>
            <p:cNvPr id="90" name="Freeform 364">
              <a:extLst>
                <a:ext uri="{FF2B5EF4-FFF2-40B4-BE49-F238E27FC236}">
                  <a16:creationId xmlns:a16="http://schemas.microsoft.com/office/drawing/2014/main" id="{79F3A783-3BE6-FD6B-6BDD-589ABB518FEB}"/>
                </a:ext>
              </a:extLst>
            </p:cNvPr>
            <p:cNvSpPr>
              <a:spLocks/>
            </p:cNvSpPr>
            <p:nvPr/>
          </p:nvSpPr>
          <p:spPr bwMode="auto">
            <a:xfrm>
              <a:off x="5905501" y="1897063"/>
              <a:ext cx="260350" cy="184150"/>
            </a:xfrm>
            <a:custGeom>
              <a:avLst/>
              <a:gdLst>
                <a:gd name="T0" fmla="*/ 2147483646 w 69"/>
                <a:gd name="T1" fmla="*/ 2147483646 h 49"/>
                <a:gd name="T2" fmla="*/ 2147483646 w 69"/>
                <a:gd name="T3" fmla="*/ 2147483646 h 49"/>
                <a:gd name="T4" fmla="*/ 2147483646 w 69"/>
                <a:gd name="T5" fmla="*/ 2147483646 h 49"/>
                <a:gd name="T6" fmla="*/ 2147483646 w 69"/>
                <a:gd name="T7" fmla="*/ 2147483646 h 49"/>
                <a:gd name="T8" fmla="*/ 2147483646 w 69"/>
                <a:gd name="T9" fmla="*/ 2147483646 h 49"/>
                <a:gd name="T10" fmla="*/ 2147483646 w 69"/>
                <a:gd name="T11" fmla="*/ 2147483646 h 49"/>
                <a:gd name="T12" fmla="*/ 2147483646 w 69"/>
                <a:gd name="T13" fmla="*/ 2147483646 h 49"/>
                <a:gd name="T14" fmla="*/ 2147483646 w 69"/>
                <a:gd name="T15" fmla="*/ 2147483646 h 49"/>
                <a:gd name="T16" fmla="*/ 2147483646 w 69"/>
                <a:gd name="T17" fmla="*/ 2147483646 h 49"/>
                <a:gd name="T18" fmla="*/ 0 w 69"/>
                <a:gd name="T19" fmla="*/ 2147483646 h 49"/>
                <a:gd name="T20" fmla="*/ 2147483646 w 69"/>
                <a:gd name="T21" fmla="*/ 2147483646 h 49"/>
                <a:gd name="T22" fmla="*/ 2147483646 w 69"/>
                <a:gd name="T23" fmla="*/ 2147483646 h 49"/>
                <a:gd name="T24" fmla="*/ 2147483646 w 69"/>
                <a:gd name="T25" fmla="*/ 0 h 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69" h="49">
                  <a:moveTo>
                    <a:pt x="19" y="49"/>
                  </a:moveTo>
                  <a:cubicBezTo>
                    <a:pt x="63" y="37"/>
                    <a:pt x="63" y="37"/>
                    <a:pt x="63" y="37"/>
                  </a:cubicBezTo>
                  <a:cubicBezTo>
                    <a:pt x="63" y="37"/>
                    <a:pt x="63" y="37"/>
                    <a:pt x="63" y="37"/>
                  </a:cubicBezTo>
                  <a:cubicBezTo>
                    <a:pt x="67" y="36"/>
                    <a:pt x="69" y="32"/>
                    <a:pt x="69" y="29"/>
                  </a:cubicBezTo>
                  <a:cubicBezTo>
                    <a:pt x="69" y="24"/>
                    <a:pt x="65" y="20"/>
                    <a:pt x="60" y="20"/>
                  </a:cubicBezTo>
                  <a:cubicBezTo>
                    <a:pt x="60" y="20"/>
                    <a:pt x="59" y="20"/>
                    <a:pt x="59" y="20"/>
                  </a:cubicBezTo>
                  <a:cubicBezTo>
                    <a:pt x="58" y="20"/>
                    <a:pt x="58" y="20"/>
                    <a:pt x="58" y="20"/>
                  </a:cubicBezTo>
                  <a:cubicBezTo>
                    <a:pt x="13" y="33"/>
                    <a:pt x="13" y="33"/>
                    <a:pt x="13" y="33"/>
                  </a:cubicBezTo>
                  <a:cubicBezTo>
                    <a:pt x="13" y="33"/>
                    <a:pt x="10" y="34"/>
                    <a:pt x="9" y="34"/>
                  </a:cubicBezTo>
                  <a:cubicBezTo>
                    <a:pt x="4" y="34"/>
                    <a:pt x="0" y="30"/>
                    <a:pt x="0" y="25"/>
                  </a:cubicBezTo>
                  <a:cubicBezTo>
                    <a:pt x="0" y="21"/>
                    <a:pt x="3" y="18"/>
                    <a:pt x="6" y="17"/>
                  </a:cubicBezTo>
                  <a:cubicBezTo>
                    <a:pt x="6" y="17"/>
                    <a:pt x="6" y="17"/>
                    <a:pt x="6" y="17"/>
                  </a:cubicBezTo>
                  <a:cubicBezTo>
                    <a:pt x="66" y="0"/>
                    <a:pt x="66" y="0"/>
                    <a:pt x="66" y="0"/>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ru-RU" sz="1200"/>
            </a:p>
          </p:txBody>
        </p:sp>
      </p:grpSp>
      <p:grpSp>
        <p:nvGrpSpPr>
          <p:cNvPr id="107" name="Arrow A">
            <a:extLst>
              <a:ext uri="{FF2B5EF4-FFF2-40B4-BE49-F238E27FC236}">
                <a16:creationId xmlns:a16="http://schemas.microsoft.com/office/drawing/2014/main" id="{67842743-A1BB-5626-C940-E2E4E221D5AE}"/>
              </a:ext>
            </a:extLst>
          </p:cNvPr>
          <p:cNvGrpSpPr/>
          <p:nvPr/>
        </p:nvGrpSpPr>
        <p:grpSpPr>
          <a:xfrm>
            <a:off x="1127984" y="4038600"/>
            <a:ext cx="2534411" cy="1043093"/>
            <a:chOff x="2950855" y="327401"/>
            <a:chExt cx="3289566" cy="1564640"/>
          </a:xfrm>
        </p:grpSpPr>
        <p:pic>
          <p:nvPicPr>
            <p:cNvPr id="108" name="Shadow">
              <a:extLst>
                <a:ext uri="{FF2B5EF4-FFF2-40B4-BE49-F238E27FC236}">
                  <a16:creationId xmlns:a16="http://schemas.microsoft.com/office/drawing/2014/main" id="{F85EE3D9-20E7-F1C5-3E7D-0F8056597D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0855" y="327401"/>
              <a:ext cx="2481072" cy="1564640"/>
            </a:xfrm>
            <a:prstGeom prst="rect">
              <a:avLst/>
            </a:prstGeom>
          </p:spPr>
        </p:pic>
        <p:sp>
          <p:nvSpPr>
            <p:cNvPr id="109" name="Body">
              <a:extLst>
                <a:ext uri="{FF2B5EF4-FFF2-40B4-BE49-F238E27FC236}">
                  <a16:creationId xmlns:a16="http://schemas.microsoft.com/office/drawing/2014/main" id="{86AFFC84-7673-7388-0C6B-9B15A6AAE61A}"/>
                </a:ext>
              </a:extLst>
            </p:cNvPr>
            <p:cNvSpPr>
              <a:spLocks/>
            </p:cNvSpPr>
            <p:nvPr/>
          </p:nvSpPr>
          <p:spPr bwMode="auto">
            <a:xfrm>
              <a:off x="2979057" y="619699"/>
              <a:ext cx="3261363" cy="973245"/>
            </a:xfrm>
            <a:custGeom>
              <a:avLst/>
              <a:gdLst>
                <a:gd name="T0" fmla="*/ 3148 w 4105"/>
                <a:gd name="T1" fmla="*/ 0 h 1225"/>
                <a:gd name="T2" fmla="*/ 0 w 4105"/>
                <a:gd name="T3" fmla="*/ 0 h 1225"/>
                <a:gd name="T4" fmla="*/ 614 w 4105"/>
                <a:gd name="T5" fmla="*/ 614 h 1225"/>
                <a:gd name="T6" fmla="*/ 0 w 4105"/>
                <a:gd name="T7" fmla="*/ 1225 h 1225"/>
                <a:gd name="T8" fmla="*/ 3148 w 4105"/>
                <a:gd name="T9" fmla="*/ 1225 h 1225"/>
                <a:gd name="T10" fmla="*/ 4105 w 4105"/>
                <a:gd name="T11" fmla="*/ 614 h 1225"/>
                <a:gd name="T12" fmla="*/ 3148 w 4105"/>
                <a:gd name="T13" fmla="*/ 0 h 1225"/>
              </a:gdLst>
              <a:ahLst/>
              <a:cxnLst>
                <a:cxn ang="0">
                  <a:pos x="T0" y="T1"/>
                </a:cxn>
                <a:cxn ang="0">
                  <a:pos x="T2" y="T3"/>
                </a:cxn>
                <a:cxn ang="0">
                  <a:pos x="T4" y="T5"/>
                </a:cxn>
                <a:cxn ang="0">
                  <a:pos x="T6" y="T7"/>
                </a:cxn>
                <a:cxn ang="0">
                  <a:pos x="T8" y="T9"/>
                </a:cxn>
                <a:cxn ang="0">
                  <a:pos x="T10" y="T11"/>
                </a:cxn>
                <a:cxn ang="0">
                  <a:pos x="T12" y="T13"/>
                </a:cxn>
              </a:cxnLst>
              <a:rect l="0" t="0" r="r" b="b"/>
              <a:pathLst>
                <a:path w="4105" h="1225">
                  <a:moveTo>
                    <a:pt x="3148" y="0"/>
                  </a:moveTo>
                  <a:lnTo>
                    <a:pt x="0" y="0"/>
                  </a:lnTo>
                  <a:lnTo>
                    <a:pt x="614" y="614"/>
                  </a:lnTo>
                  <a:lnTo>
                    <a:pt x="0" y="1225"/>
                  </a:lnTo>
                  <a:lnTo>
                    <a:pt x="3148" y="1225"/>
                  </a:lnTo>
                  <a:lnTo>
                    <a:pt x="4105" y="614"/>
                  </a:lnTo>
                  <a:lnTo>
                    <a:pt x="3148" y="0"/>
                  </a:lnTo>
                  <a:close/>
                </a:path>
              </a:pathLst>
            </a:custGeom>
            <a:solidFill>
              <a:srgbClr val="0066FF"/>
            </a:soli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10" name="Thickness">
              <a:extLst>
                <a:ext uri="{FF2B5EF4-FFF2-40B4-BE49-F238E27FC236}">
                  <a16:creationId xmlns:a16="http://schemas.microsoft.com/office/drawing/2014/main" id="{77785587-A674-8275-49AC-8E2199F2EFAA}"/>
                </a:ext>
              </a:extLst>
            </p:cNvPr>
            <p:cNvSpPr>
              <a:spLocks/>
            </p:cNvSpPr>
            <p:nvPr/>
          </p:nvSpPr>
          <p:spPr bwMode="auto">
            <a:xfrm>
              <a:off x="2979057" y="619699"/>
              <a:ext cx="2522492" cy="14301"/>
            </a:xfrm>
            <a:custGeom>
              <a:avLst/>
              <a:gdLst>
                <a:gd name="T0" fmla="*/ 17 w 3175"/>
                <a:gd name="T1" fmla="*/ 18 h 18"/>
                <a:gd name="T2" fmla="*/ 0 w 3175"/>
                <a:gd name="T3" fmla="*/ 0 h 18"/>
                <a:gd name="T4" fmla="*/ 3148 w 3175"/>
                <a:gd name="T5" fmla="*/ 0 h 18"/>
                <a:gd name="T6" fmla="*/ 3175 w 3175"/>
                <a:gd name="T7" fmla="*/ 18 h 18"/>
                <a:gd name="T8" fmla="*/ 17 w 3175"/>
                <a:gd name="T9" fmla="*/ 18 h 18"/>
              </a:gdLst>
              <a:ahLst/>
              <a:cxnLst>
                <a:cxn ang="0">
                  <a:pos x="T0" y="T1"/>
                </a:cxn>
                <a:cxn ang="0">
                  <a:pos x="T2" y="T3"/>
                </a:cxn>
                <a:cxn ang="0">
                  <a:pos x="T4" y="T5"/>
                </a:cxn>
                <a:cxn ang="0">
                  <a:pos x="T6" y="T7"/>
                </a:cxn>
                <a:cxn ang="0">
                  <a:pos x="T8" y="T9"/>
                </a:cxn>
              </a:cxnLst>
              <a:rect l="0" t="0" r="r" b="b"/>
              <a:pathLst>
                <a:path w="3175" h="18">
                  <a:moveTo>
                    <a:pt x="17" y="18"/>
                  </a:moveTo>
                  <a:lnTo>
                    <a:pt x="0" y="0"/>
                  </a:lnTo>
                  <a:lnTo>
                    <a:pt x="3148" y="0"/>
                  </a:lnTo>
                  <a:lnTo>
                    <a:pt x="3175" y="18"/>
                  </a:lnTo>
                  <a:lnTo>
                    <a:pt x="17" y="18"/>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11" name="Thickness">
              <a:extLst>
                <a:ext uri="{FF2B5EF4-FFF2-40B4-BE49-F238E27FC236}">
                  <a16:creationId xmlns:a16="http://schemas.microsoft.com/office/drawing/2014/main" id="{64E895CE-421C-2616-D6A3-042F8EDEB494}"/>
                </a:ext>
              </a:extLst>
            </p:cNvPr>
            <p:cNvSpPr>
              <a:spLocks/>
            </p:cNvSpPr>
            <p:nvPr/>
          </p:nvSpPr>
          <p:spPr bwMode="auto">
            <a:xfrm>
              <a:off x="2982323" y="1580232"/>
              <a:ext cx="2522492" cy="12712"/>
            </a:xfrm>
            <a:custGeom>
              <a:avLst/>
              <a:gdLst>
                <a:gd name="T0" fmla="*/ 17 w 3175"/>
                <a:gd name="T1" fmla="*/ 0 h 16"/>
                <a:gd name="T2" fmla="*/ 0 w 3175"/>
                <a:gd name="T3" fmla="*/ 16 h 16"/>
                <a:gd name="T4" fmla="*/ 3148 w 3175"/>
                <a:gd name="T5" fmla="*/ 16 h 16"/>
                <a:gd name="T6" fmla="*/ 3175 w 3175"/>
                <a:gd name="T7" fmla="*/ 0 h 16"/>
                <a:gd name="T8" fmla="*/ 17 w 3175"/>
                <a:gd name="T9" fmla="*/ 0 h 16"/>
              </a:gdLst>
              <a:ahLst/>
              <a:cxnLst>
                <a:cxn ang="0">
                  <a:pos x="T0" y="T1"/>
                </a:cxn>
                <a:cxn ang="0">
                  <a:pos x="T2" y="T3"/>
                </a:cxn>
                <a:cxn ang="0">
                  <a:pos x="T4" y="T5"/>
                </a:cxn>
                <a:cxn ang="0">
                  <a:pos x="T6" y="T7"/>
                </a:cxn>
                <a:cxn ang="0">
                  <a:pos x="T8" y="T9"/>
                </a:cxn>
              </a:cxnLst>
              <a:rect l="0" t="0" r="r" b="b"/>
              <a:pathLst>
                <a:path w="3175" h="16">
                  <a:moveTo>
                    <a:pt x="17" y="0"/>
                  </a:moveTo>
                  <a:lnTo>
                    <a:pt x="0" y="16"/>
                  </a:lnTo>
                  <a:lnTo>
                    <a:pt x="3148" y="16"/>
                  </a:lnTo>
                  <a:lnTo>
                    <a:pt x="3175" y="0"/>
                  </a:lnTo>
                  <a:lnTo>
                    <a:pt x="17" y="0"/>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12" name="Edge">
              <a:extLst>
                <a:ext uri="{FF2B5EF4-FFF2-40B4-BE49-F238E27FC236}">
                  <a16:creationId xmlns:a16="http://schemas.microsoft.com/office/drawing/2014/main" id="{6E4C1D96-D0F7-3689-6976-3019A8FE1EFD}"/>
                </a:ext>
              </a:extLst>
            </p:cNvPr>
            <p:cNvSpPr>
              <a:spLocks/>
            </p:cNvSpPr>
            <p:nvPr/>
          </p:nvSpPr>
          <p:spPr bwMode="auto">
            <a:xfrm>
              <a:off x="5480098" y="619699"/>
              <a:ext cx="760323" cy="973245"/>
            </a:xfrm>
            <a:custGeom>
              <a:avLst/>
              <a:gdLst>
                <a:gd name="T0" fmla="*/ 0 w 957"/>
                <a:gd name="T1" fmla="*/ 0 h 1225"/>
                <a:gd name="T2" fmla="*/ 639 w 957"/>
                <a:gd name="T3" fmla="*/ 614 h 1225"/>
                <a:gd name="T4" fmla="*/ 0 w 957"/>
                <a:gd name="T5" fmla="*/ 1225 h 1225"/>
                <a:gd name="T6" fmla="*/ 957 w 957"/>
                <a:gd name="T7" fmla="*/ 614 h 1225"/>
                <a:gd name="T8" fmla="*/ 0 w 957"/>
                <a:gd name="T9" fmla="*/ 0 h 1225"/>
              </a:gdLst>
              <a:ahLst/>
              <a:cxnLst>
                <a:cxn ang="0">
                  <a:pos x="T0" y="T1"/>
                </a:cxn>
                <a:cxn ang="0">
                  <a:pos x="T2" y="T3"/>
                </a:cxn>
                <a:cxn ang="0">
                  <a:pos x="T4" y="T5"/>
                </a:cxn>
                <a:cxn ang="0">
                  <a:pos x="T6" y="T7"/>
                </a:cxn>
                <a:cxn ang="0">
                  <a:pos x="T8" y="T9"/>
                </a:cxn>
              </a:cxnLst>
              <a:rect l="0" t="0" r="r" b="b"/>
              <a:pathLst>
                <a:path w="957" h="1225">
                  <a:moveTo>
                    <a:pt x="0" y="0"/>
                  </a:moveTo>
                  <a:lnTo>
                    <a:pt x="639" y="614"/>
                  </a:lnTo>
                  <a:lnTo>
                    <a:pt x="0" y="1225"/>
                  </a:lnTo>
                  <a:lnTo>
                    <a:pt x="957" y="614"/>
                  </a:lnTo>
                  <a:lnTo>
                    <a:pt x="0" y="0"/>
                  </a:lnTo>
                  <a:close/>
                </a:path>
              </a:pathLst>
            </a:custGeom>
            <a:solidFill>
              <a:srgbClr val="6699FF"/>
            </a:solidFill>
            <a:ln>
              <a:noFill/>
            </a:ln>
          </p:spPr>
          <p:txBody>
            <a:bodyPr vert="horz" wrap="square" lIns="60960" tIns="30480" rIns="60960" bIns="30480" numCol="1" anchor="t" anchorCtr="0" compatLnSpc="1">
              <a:prstTxWarp prst="textNoShape">
                <a:avLst/>
              </a:prstTxWarp>
            </a:bodyPr>
            <a:lstStyle/>
            <a:p>
              <a:endParaRPr lang="ru-RU" sz="1200" dirty="0"/>
            </a:p>
          </p:txBody>
        </p:sp>
      </p:grpSp>
      <p:grpSp>
        <p:nvGrpSpPr>
          <p:cNvPr id="113" name="Text">
            <a:extLst>
              <a:ext uri="{FF2B5EF4-FFF2-40B4-BE49-F238E27FC236}">
                <a16:creationId xmlns:a16="http://schemas.microsoft.com/office/drawing/2014/main" id="{0A0BAB8E-FEC0-B201-51CF-FF874C54F438}"/>
              </a:ext>
            </a:extLst>
          </p:cNvPr>
          <p:cNvGrpSpPr/>
          <p:nvPr/>
        </p:nvGrpSpPr>
        <p:grpSpPr>
          <a:xfrm>
            <a:off x="1528795" y="4299961"/>
            <a:ext cx="1727200" cy="456382"/>
            <a:chOff x="5838609" y="1819293"/>
            <a:chExt cx="1981215" cy="684574"/>
          </a:xfrm>
        </p:grpSpPr>
        <p:sp>
          <p:nvSpPr>
            <p:cNvPr id="114" name="TextBox 113">
              <a:extLst>
                <a:ext uri="{FF2B5EF4-FFF2-40B4-BE49-F238E27FC236}">
                  <a16:creationId xmlns:a16="http://schemas.microsoft.com/office/drawing/2014/main" id="{60F00FA8-7BA4-44CE-5873-FAF823BB38C0}"/>
                </a:ext>
              </a:extLst>
            </p:cNvPr>
            <p:cNvSpPr txBox="1"/>
            <p:nvPr/>
          </p:nvSpPr>
          <p:spPr>
            <a:xfrm>
              <a:off x="5838609" y="1980647"/>
              <a:ext cx="1981215" cy="523220"/>
            </a:xfrm>
            <a:prstGeom prst="rect">
              <a:avLst/>
            </a:prstGeom>
            <a:noFill/>
          </p:spPr>
          <p:txBody>
            <a:bodyPr wrap="square" rtlCol="0">
              <a:spAutoFit/>
            </a:bodyPr>
            <a:lstStyle/>
            <a:p>
              <a:pPr>
                <a:lnSpc>
                  <a:spcPts val="1960"/>
                </a:lnSpc>
                <a:spcBef>
                  <a:spcPct val="0"/>
                </a:spcBef>
              </a:pPr>
              <a:r>
                <a:rPr lang="en-US" sz="1733" b="1" dirty="0">
                  <a:solidFill>
                    <a:schemeClr val="bg1"/>
                  </a:solidFill>
                  <a:latin typeface="Codec Pro Bold"/>
                  <a:ea typeface="Codec Pro Bold"/>
                  <a:cs typeface="Codec Pro Bold"/>
                  <a:sym typeface="Codec Pro Bold"/>
                </a:rPr>
                <a:t>Collaboration</a:t>
              </a:r>
            </a:p>
          </p:txBody>
        </p:sp>
        <p:sp>
          <p:nvSpPr>
            <p:cNvPr id="115" name="TextBox 114">
              <a:extLst>
                <a:ext uri="{FF2B5EF4-FFF2-40B4-BE49-F238E27FC236}">
                  <a16:creationId xmlns:a16="http://schemas.microsoft.com/office/drawing/2014/main" id="{AB0E5608-9301-7FE4-A2EC-DE46D63E8FFC}"/>
                </a:ext>
              </a:extLst>
            </p:cNvPr>
            <p:cNvSpPr txBox="1"/>
            <p:nvPr/>
          </p:nvSpPr>
          <p:spPr>
            <a:xfrm>
              <a:off x="5939837" y="1819293"/>
              <a:ext cx="1441430" cy="292485"/>
            </a:xfrm>
            <a:prstGeom prst="rect">
              <a:avLst/>
            </a:prstGeom>
            <a:noFill/>
          </p:spPr>
          <p:txBody>
            <a:bodyPr wrap="square" rtlCol="0">
              <a:spAutoFit/>
            </a:bodyPr>
            <a:lstStyle/>
            <a:p>
              <a:pPr algn="ctr"/>
              <a:endParaRPr lang="ru-RU" sz="667" dirty="0">
                <a:solidFill>
                  <a:srgbClr val="FEFFFF"/>
                </a:solidFill>
                <a:latin typeface="Roboto Condensed" panose="02000000000000000000" pitchFamily="2" charset="0"/>
                <a:ea typeface="Roboto Condensed" panose="02000000000000000000" pitchFamily="2" charset="0"/>
              </a:endParaRPr>
            </a:p>
          </p:txBody>
        </p:sp>
      </p:grpSp>
      <p:grpSp>
        <p:nvGrpSpPr>
          <p:cNvPr id="162" name="Arrow A">
            <a:extLst>
              <a:ext uri="{FF2B5EF4-FFF2-40B4-BE49-F238E27FC236}">
                <a16:creationId xmlns:a16="http://schemas.microsoft.com/office/drawing/2014/main" id="{F8689FE3-948F-082A-1343-8F1FA1E3D98F}"/>
              </a:ext>
            </a:extLst>
          </p:cNvPr>
          <p:cNvGrpSpPr/>
          <p:nvPr/>
        </p:nvGrpSpPr>
        <p:grpSpPr>
          <a:xfrm>
            <a:off x="1168400" y="1549400"/>
            <a:ext cx="2590800" cy="1043093"/>
            <a:chOff x="2950855" y="327401"/>
            <a:chExt cx="3289566" cy="1564640"/>
          </a:xfrm>
        </p:grpSpPr>
        <p:pic>
          <p:nvPicPr>
            <p:cNvPr id="163" name="Shadow">
              <a:extLst>
                <a:ext uri="{FF2B5EF4-FFF2-40B4-BE49-F238E27FC236}">
                  <a16:creationId xmlns:a16="http://schemas.microsoft.com/office/drawing/2014/main" id="{EA83BEE1-58EA-CDC2-4F25-9BE30CC88CF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0855" y="327401"/>
              <a:ext cx="2481072" cy="1564640"/>
            </a:xfrm>
            <a:prstGeom prst="rect">
              <a:avLst/>
            </a:prstGeom>
          </p:spPr>
        </p:pic>
        <p:sp>
          <p:nvSpPr>
            <p:cNvPr id="164" name="Body">
              <a:extLst>
                <a:ext uri="{FF2B5EF4-FFF2-40B4-BE49-F238E27FC236}">
                  <a16:creationId xmlns:a16="http://schemas.microsoft.com/office/drawing/2014/main" id="{FF77F5BC-09B6-5688-69F4-7FDBF93CCFF6}"/>
                </a:ext>
              </a:extLst>
            </p:cNvPr>
            <p:cNvSpPr>
              <a:spLocks/>
            </p:cNvSpPr>
            <p:nvPr/>
          </p:nvSpPr>
          <p:spPr bwMode="auto">
            <a:xfrm>
              <a:off x="2979057" y="619699"/>
              <a:ext cx="3261363" cy="973245"/>
            </a:xfrm>
            <a:custGeom>
              <a:avLst/>
              <a:gdLst>
                <a:gd name="T0" fmla="*/ 3148 w 4105"/>
                <a:gd name="T1" fmla="*/ 0 h 1225"/>
                <a:gd name="T2" fmla="*/ 0 w 4105"/>
                <a:gd name="T3" fmla="*/ 0 h 1225"/>
                <a:gd name="T4" fmla="*/ 614 w 4105"/>
                <a:gd name="T5" fmla="*/ 614 h 1225"/>
                <a:gd name="T6" fmla="*/ 0 w 4105"/>
                <a:gd name="T7" fmla="*/ 1225 h 1225"/>
                <a:gd name="T8" fmla="*/ 3148 w 4105"/>
                <a:gd name="T9" fmla="*/ 1225 h 1225"/>
                <a:gd name="T10" fmla="*/ 4105 w 4105"/>
                <a:gd name="T11" fmla="*/ 614 h 1225"/>
                <a:gd name="T12" fmla="*/ 3148 w 4105"/>
                <a:gd name="T13" fmla="*/ 0 h 1225"/>
              </a:gdLst>
              <a:ahLst/>
              <a:cxnLst>
                <a:cxn ang="0">
                  <a:pos x="T0" y="T1"/>
                </a:cxn>
                <a:cxn ang="0">
                  <a:pos x="T2" y="T3"/>
                </a:cxn>
                <a:cxn ang="0">
                  <a:pos x="T4" y="T5"/>
                </a:cxn>
                <a:cxn ang="0">
                  <a:pos x="T6" y="T7"/>
                </a:cxn>
                <a:cxn ang="0">
                  <a:pos x="T8" y="T9"/>
                </a:cxn>
                <a:cxn ang="0">
                  <a:pos x="T10" y="T11"/>
                </a:cxn>
                <a:cxn ang="0">
                  <a:pos x="T12" y="T13"/>
                </a:cxn>
              </a:cxnLst>
              <a:rect l="0" t="0" r="r" b="b"/>
              <a:pathLst>
                <a:path w="4105" h="1225">
                  <a:moveTo>
                    <a:pt x="3148" y="0"/>
                  </a:moveTo>
                  <a:lnTo>
                    <a:pt x="0" y="0"/>
                  </a:lnTo>
                  <a:lnTo>
                    <a:pt x="614" y="614"/>
                  </a:lnTo>
                  <a:lnTo>
                    <a:pt x="0" y="1225"/>
                  </a:lnTo>
                  <a:lnTo>
                    <a:pt x="3148" y="1225"/>
                  </a:lnTo>
                  <a:lnTo>
                    <a:pt x="4105" y="614"/>
                  </a:lnTo>
                  <a:lnTo>
                    <a:pt x="3148" y="0"/>
                  </a:lnTo>
                  <a:close/>
                </a:path>
              </a:pathLst>
            </a:custGeom>
            <a:solidFill>
              <a:srgbClr val="0066FF"/>
            </a:soli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65" name="Thickness">
              <a:extLst>
                <a:ext uri="{FF2B5EF4-FFF2-40B4-BE49-F238E27FC236}">
                  <a16:creationId xmlns:a16="http://schemas.microsoft.com/office/drawing/2014/main" id="{3AFA2EDA-DEED-2F3D-43F9-4F08053E782E}"/>
                </a:ext>
              </a:extLst>
            </p:cNvPr>
            <p:cNvSpPr>
              <a:spLocks/>
            </p:cNvSpPr>
            <p:nvPr/>
          </p:nvSpPr>
          <p:spPr bwMode="auto">
            <a:xfrm>
              <a:off x="2979057" y="619699"/>
              <a:ext cx="2522492" cy="14301"/>
            </a:xfrm>
            <a:custGeom>
              <a:avLst/>
              <a:gdLst>
                <a:gd name="T0" fmla="*/ 17 w 3175"/>
                <a:gd name="T1" fmla="*/ 18 h 18"/>
                <a:gd name="T2" fmla="*/ 0 w 3175"/>
                <a:gd name="T3" fmla="*/ 0 h 18"/>
                <a:gd name="T4" fmla="*/ 3148 w 3175"/>
                <a:gd name="T5" fmla="*/ 0 h 18"/>
                <a:gd name="T6" fmla="*/ 3175 w 3175"/>
                <a:gd name="T7" fmla="*/ 18 h 18"/>
                <a:gd name="T8" fmla="*/ 17 w 3175"/>
                <a:gd name="T9" fmla="*/ 18 h 18"/>
              </a:gdLst>
              <a:ahLst/>
              <a:cxnLst>
                <a:cxn ang="0">
                  <a:pos x="T0" y="T1"/>
                </a:cxn>
                <a:cxn ang="0">
                  <a:pos x="T2" y="T3"/>
                </a:cxn>
                <a:cxn ang="0">
                  <a:pos x="T4" y="T5"/>
                </a:cxn>
                <a:cxn ang="0">
                  <a:pos x="T6" y="T7"/>
                </a:cxn>
                <a:cxn ang="0">
                  <a:pos x="T8" y="T9"/>
                </a:cxn>
              </a:cxnLst>
              <a:rect l="0" t="0" r="r" b="b"/>
              <a:pathLst>
                <a:path w="3175" h="18">
                  <a:moveTo>
                    <a:pt x="17" y="18"/>
                  </a:moveTo>
                  <a:lnTo>
                    <a:pt x="0" y="0"/>
                  </a:lnTo>
                  <a:lnTo>
                    <a:pt x="3148" y="0"/>
                  </a:lnTo>
                  <a:lnTo>
                    <a:pt x="3175" y="18"/>
                  </a:lnTo>
                  <a:lnTo>
                    <a:pt x="17" y="18"/>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66" name="Thickness">
              <a:extLst>
                <a:ext uri="{FF2B5EF4-FFF2-40B4-BE49-F238E27FC236}">
                  <a16:creationId xmlns:a16="http://schemas.microsoft.com/office/drawing/2014/main" id="{5D8419A9-C3F1-F59B-8B97-2F7B72310E2F}"/>
                </a:ext>
              </a:extLst>
            </p:cNvPr>
            <p:cNvSpPr>
              <a:spLocks/>
            </p:cNvSpPr>
            <p:nvPr/>
          </p:nvSpPr>
          <p:spPr bwMode="auto">
            <a:xfrm>
              <a:off x="2982323" y="1580232"/>
              <a:ext cx="2522492" cy="12712"/>
            </a:xfrm>
            <a:custGeom>
              <a:avLst/>
              <a:gdLst>
                <a:gd name="T0" fmla="*/ 17 w 3175"/>
                <a:gd name="T1" fmla="*/ 0 h 16"/>
                <a:gd name="T2" fmla="*/ 0 w 3175"/>
                <a:gd name="T3" fmla="*/ 16 h 16"/>
                <a:gd name="T4" fmla="*/ 3148 w 3175"/>
                <a:gd name="T5" fmla="*/ 16 h 16"/>
                <a:gd name="T6" fmla="*/ 3175 w 3175"/>
                <a:gd name="T7" fmla="*/ 0 h 16"/>
                <a:gd name="T8" fmla="*/ 17 w 3175"/>
                <a:gd name="T9" fmla="*/ 0 h 16"/>
              </a:gdLst>
              <a:ahLst/>
              <a:cxnLst>
                <a:cxn ang="0">
                  <a:pos x="T0" y="T1"/>
                </a:cxn>
                <a:cxn ang="0">
                  <a:pos x="T2" y="T3"/>
                </a:cxn>
                <a:cxn ang="0">
                  <a:pos x="T4" y="T5"/>
                </a:cxn>
                <a:cxn ang="0">
                  <a:pos x="T6" y="T7"/>
                </a:cxn>
                <a:cxn ang="0">
                  <a:pos x="T8" y="T9"/>
                </a:cxn>
              </a:cxnLst>
              <a:rect l="0" t="0" r="r" b="b"/>
              <a:pathLst>
                <a:path w="3175" h="16">
                  <a:moveTo>
                    <a:pt x="17" y="0"/>
                  </a:moveTo>
                  <a:lnTo>
                    <a:pt x="0" y="16"/>
                  </a:lnTo>
                  <a:lnTo>
                    <a:pt x="3148" y="16"/>
                  </a:lnTo>
                  <a:lnTo>
                    <a:pt x="3175" y="0"/>
                  </a:lnTo>
                  <a:lnTo>
                    <a:pt x="17" y="0"/>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67" name="Edge">
              <a:extLst>
                <a:ext uri="{FF2B5EF4-FFF2-40B4-BE49-F238E27FC236}">
                  <a16:creationId xmlns:a16="http://schemas.microsoft.com/office/drawing/2014/main" id="{1714D33E-9394-9F94-7EEB-A47C1C1B740C}"/>
                </a:ext>
              </a:extLst>
            </p:cNvPr>
            <p:cNvSpPr>
              <a:spLocks/>
            </p:cNvSpPr>
            <p:nvPr/>
          </p:nvSpPr>
          <p:spPr bwMode="auto">
            <a:xfrm>
              <a:off x="5480098" y="619699"/>
              <a:ext cx="760323" cy="973245"/>
            </a:xfrm>
            <a:custGeom>
              <a:avLst/>
              <a:gdLst>
                <a:gd name="T0" fmla="*/ 0 w 957"/>
                <a:gd name="T1" fmla="*/ 0 h 1225"/>
                <a:gd name="T2" fmla="*/ 639 w 957"/>
                <a:gd name="T3" fmla="*/ 614 h 1225"/>
                <a:gd name="T4" fmla="*/ 0 w 957"/>
                <a:gd name="T5" fmla="*/ 1225 h 1225"/>
                <a:gd name="T6" fmla="*/ 957 w 957"/>
                <a:gd name="T7" fmla="*/ 614 h 1225"/>
                <a:gd name="T8" fmla="*/ 0 w 957"/>
                <a:gd name="T9" fmla="*/ 0 h 1225"/>
              </a:gdLst>
              <a:ahLst/>
              <a:cxnLst>
                <a:cxn ang="0">
                  <a:pos x="T0" y="T1"/>
                </a:cxn>
                <a:cxn ang="0">
                  <a:pos x="T2" y="T3"/>
                </a:cxn>
                <a:cxn ang="0">
                  <a:pos x="T4" y="T5"/>
                </a:cxn>
                <a:cxn ang="0">
                  <a:pos x="T6" y="T7"/>
                </a:cxn>
                <a:cxn ang="0">
                  <a:pos x="T8" y="T9"/>
                </a:cxn>
              </a:cxnLst>
              <a:rect l="0" t="0" r="r" b="b"/>
              <a:pathLst>
                <a:path w="957" h="1225">
                  <a:moveTo>
                    <a:pt x="0" y="0"/>
                  </a:moveTo>
                  <a:lnTo>
                    <a:pt x="639" y="614"/>
                  </a:lnTo>
                  <a:lnTo>
                    <a:pt x="0" y="1225"/>
                  </a:lnTo>
                  <a:lnTo>
                    <a:pt x="957" y="614"/>
                  </a:lnTo>
                  <a:lnTo>
                    <a:pt x="0" y="0"/>
                  </a:lnTo>
                  <a:close/>
                </a:path>
              </a:pathLst>
            </a:custGeom>
            <a:solidFill>
              <a:srgbClr val="6699FF"/>
            </a:solidFill>
            <a:ln>
              <a:noFill/>
            </a:ln>
          </p:spPr>
          <p:txBody>
            <a:bodyPr vert="horz" wrap="square" lIns="60960" tIns="30480" rIns="60960" bIns="30480" numCol="1" anchor="t" anchorCtr="0" compatLnSpc="1">
              <a:prstTxWarp prst="textNoShape">
                <a:avLst/>
              </a:prstTxWarp>
            </a:bodyPr>
            <a:lstStyle/>
            <a:p>
              <a:endParaRPr lang="ru-RU" sz="1200" dirty="0"/>
            </a:p>
          </p:txBody>
        </p:sp>
      </p:grpSp>
      <p:grpSp>
        <p:nvGrpSpPr>
          <p:cNvPr id="168" name="Text">
            <a:extLst>
              <a:ext uri="{FF2B5EF4-FFF2-40B4-BE49-F238E27FC236}">
                <a16:creationId xmlns:a16="http://schemas.microsoft.com/office/drawing/2014/main" id="{180B624F-5AB5-F969-17DC-E3259DDE0BFF}"/>
              </a:ext>
            </a:extLst>
          </p:cNvPr>
          <p:cNvGrpSpPr/>
          <p:nvPr/>
        </p:nvGrpSpPr>
        <p:grpSpPr>
          <a:xfrm>
            <a:off x="1569211" y="1810761"/>
            <a:ext cx="1486551" cy="456382"/>
            <a:chOff x="5838609" y="1819293"/>
            <a:chExt cx="1705175" cy="684574"/>
          </a:xfrm>
        </p:grpSpPr>
        <p:sp>
          <p:nvSpPr>
            <p:cNvPr id="169" name="TextBox 168">
              <a:extLst>
                <a:ext uri="{FF2B5EF4-FFF2-40B4-BE49-F238E27FC236}">
                  <a16:creationId xmlns:a16="http://schemas.microsoft.com/office/drawing/2014/main" id="{447DB322-3536-CD63-AD85-964CD3DF10EC}"/>
                </a:ext>
              </a:extLst>
            </p:cNvPr>
            <p:cNvSpPr txBox="1"/>
            <p:nvPr/>
          </p:nvSpPr>
          <p:spPr>
            <a:xfrm>
              <a:off x="5838609" y="1980647"/>
              <a:ext cx="1705175" cy="523220"/>
            </a:xfrm>
            <a:prstGeom prst="rect">
              <a:avLst/>
            </a:prstGeom>
            <a:noFill/>
          </p:spPr>
          <p:txBody>
            <a:bodyPr wrap="square" rtlCol="0">
              <a:spAutoFit/>
            </a:bodyPr>
            <a:lstStyle/>
            <a:p>
              <a:pPr>
                <a:lnSpc>
                  <a:spcPts val="1960"/>
                </a:lnSpc>
                <a:spcBef>
                  <a:spcPct val="0"/>
                </a:spcBef>
              </a:pPr>
              <a:r>
                <a:rPr lang="en-US" sz="1600" b="1" dirty="0">
                  <a:solidFill>
                    <a:schemeClr val="tx2">
                      <a:lumMod val="75000"/>
                    </a:schemeClr>
                  </a:solidFill>
                  <a:latin typeface="Codec Pro Bold"/>
                  <a:ea typeface="Codec Pro Bold"/>
                  <a:cs typeface="Codec Pro Bold"/>
                  <a:sym typeface="Codec Pro Bold"/>
                </a:rPr>
                <a:t> </a:t>
              </a:r>
              <a:r>
                <a:rPr lang="en-US" sz="1733" b="1" dirty="0">
                  <a:solidFill>
                    <a:schemeClr val="bg1"/>
                  </a:solidFill>
                  <a:latin typeface="Codec Pro Bold"/>
                  <a:ea typeface="Codec Pro Bold"/>
                  <a:cs typeface="Codec Pro Bold"/>
                  <a:sym typeface="Codec Pro Bold"/>
                </a:rPr>
                <a:t>Trust</a:t>
              </a:r>
            </a:p>
          </p:txBody>
        </p:sp>
        <p:sp>
          <p:nvSpPr>
            <p:cNvPr id="170" name="TextBox 169">
              <a:extLst>
                <a:ext uri="{FF2B5EF4-FFF2-40B4-BE49-F238E27FC236}">
                  <a16:creationId xmlns:a16="http://schemas.microsoft.com/office/drawing/2014/main" id="{519BEC4F-E5B6-5715-2B72-5C1D6C904798}"/>
                </a:ext>
              </a:extLst>
            </p:cNvPr>
            <p:cNvSpPr txBox="1"/>
            <p:nvPr/>
          </p:nvSpPr>
          <p:spPr>
            <a:xfrm>
              <a:off x="5939837" y="1819293"/>
              <a:ext cx="1441430" cy="292485"/>
            </a:xfrm>
            <a:prstGeom prst="rect">
              <a:avLst/>
            </a:prstGeom>
            <a:noFill/>
          </p:spPr>
          <p:txBody>
            <a:bodyPr wrap="square" rtlCol="0">
              <a:spAutoFit/>
            </a:bodyPr>
            <a:lstStyle/>
            <a:p>
              <a:pPr algn="ctr"/>
              <a:endParaRPr lang="ru-RU" sz="667" dirty="0">
                <a:solidFill>
                  <a:srgbClr val="FEFFFF"/>
                </a:solidFill>
                <a:latin typeface="Roboto Condensed" panose="02000000000000000000" pitchFamily="2" charset="0"/>
                <a:ea typeface="Roboto Condensed" panose="02000000000000000000" pitchFamily="2" charset="0"/>
              </a:endParaRPr>
            </a:p>
          </p:txBody>
        </p:sp>
      </p:grpSp>
      <p:grpSp>
        <p:nvGrpSpPr>
          <p:cNvPr id="171" name="Arrow A">
            <a:extLst>
              <a:ext uri="{FF2B5EF4-FFF2-40B4-BE49-F238E27FC236}">
                <a16:creationId xmlns:a16="http://schemas.microsoft.com/office/drawing/2014/main" id="{5843652F-922A-F191-15B5-CAC525EAF0C8}"/>
              </a:ext>
            </a:extLst>
          </p:cNvPr>
          <p:cNvGrpSpPr/>
          <p:nvPr/>
        </p:nvGrpSpPr>
        <p:grpSpPr>
          <a:xfrm>
            <a:off x="1117600" y="2385907"/>
            <a:ext cx="2692400" cy="1043093"/>
            <a:chOff x="2950855" y="327401"/>
            <a:chExt cx="3289566" cy="1564640"/>
          </a:xfrm>
        </p:grpSpPr>
        <p:pic>
          <p:nvPicPr>
            <p:cNvPr id="172" name="Shadow">
              <a:extLst>
                <a:ext uri="{FF2B5EF4-FFF2-40B4-BE49-F238E27FC236}">
                  <a16:creationId xmlns:a16="http://schemas.microsoft.com/office/drawing/2014/main" id="{15C8A57B-E3C3-8704-9037-3822B1EEFA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0855" y="327401"/>
              <a:ext cx="2481072" cy="1564640"/>
            </a:xfrm>
            <a:prstGeom prst="rect">
              <a:avLst/>
            </a:prstGeom>
          </p:spPr>
        </p:pic>
        <p:sp>
          <p:nvSpPr>
            <p:cNvPr id="173" name="Body">
              <a:extLst>
                <a:ext uri="{FF2B5EF4-FFF2-40B4-BE49-F238E27FC236}">
                  <a16:creationId xmlns:a16="http://schemas.microsoft.com/office/drawing/2014/main" id="{C55F826B-DC8E-0BAA-447D-CBD5A4859FEC}"/>
                </a:ext>
              </a:extLst>
            </p:cNvPr>
            <p:cNvSpPr>
              <a:spLocks/>
            </p:cNvSpPr>
            <p:nvPr/>
          </p:nvSpPr>
          <p:spPr bwMode="auto">
            <a:xfrm>
              <a:off x="2979057" y="619699"/>
              <a:ext cx="3261363" cy="973245"/>
            </a:xfrm>
            <a:custGeom>
              <a:avLst/>
              <a:gdLst>
                <a:gd name="T0" fmla="*/ 3148 w 4105"/>
                <a:gd name="T1" fmla="*/ 0 h 1225"/>
                <a:gd name="T2" fmla="*/ 0 w 4105"/>
                <a:gd name="T3" fmla="*/ 0 h 1225"/>
                <a:gd name="T4" fmla="*/ 614 w 4105"/>
                <a:gd name="T5" fmla="*/ 614 h 1225"/>
                <a:gd name="T6" fmla="*/ 0 w 4105"/>
                <a:gd name="T7" fmla="*/ 1225 h 1225"/>
                <a:gd name="T8" fmla="*/ 3148 w 4105"/>
                <a:gd name="T9" fmla="*/ 1225 h 1225"/>
                <a:gd name="T10" fmla="*/ 4105 w 4105"/>
                <a:gd name="T11" fmla="*/ 614 h 1225"/>
                <a:gd name="T12" fmla="*/ 3148 w 4105"/>
                <a:gd name="T13" fmla="*/ 0 h 1225"/>
              </a:gdLst>
              <a:ahLst/>
              <a:cxnLst>
                <a:cxn ang="0">
                  <a:pos x="T0" y="T1"/>
                </a:cxn>
                <a:cxn ang="0">
                  <a:pos x="T2" y="T3"/>
                </a:cxn>
                <a:cxn ang="0">
                  <a:pos x="T4" y="T5"/>
                </a:cxn>
                <a:cxn ang="0">
                  <a:pos x="T6" y="T7"/>
                </a:cxn>
                <a:cxn ang="0">
                  <a:pos x="T8" y="T9"/>
                </a:cxn>
                <a:cxn ang="0">
                  <a:pos x="T10" y="T11"/>
                </a:cxn>
                <a:cxn ang="0">
                  <a:pos x="T12" y="T13"/>
                </a:cxn>
              </a:cxnLst>
              <a:rect l="0" t="0" r="r" b="b"/>
              <a:pathLst>
                <a:path w="4105" h="1225">
                  <a:moveTo>
                    <a:pt x="3148" y="0"/>
                  </a:moveTo>
                  <a:lnTo>
                    <a:pt x="0" y="0"/>
                  </a:lnTo>
                  <a:lnTo>
                    <a:pt x="614" y="614"/>
                  </a:lnTo>
                  <a:lnTo>
                    <a:pt x="0" y="1225"/>
                  </a:lnTo>
                  <a:lnTo>
                    <a:pt x="3148" y="1225"/>
                  </a:lnTo>
                  <a:lnTo>
                    <a:pt x="4105" y="614"/>
                  </a:lnTo>
                  <a:lnTo>
                    <a:pt x="3148" y="0"/>
                  </a:lnTo>
                  <a:close/>
                </a:path>
              </a:pathLst>
            </a:custGeom>
            <a:solidFill>
              <a:srgbClr val="0066FF"/>
            </a:soli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74" name="Thickness">
              <a:extLst>
                <a:ext uri="{FF2B5EF4-FFF2-40B4-BE49-F238E27FC236}">
                  <a16:creationId xmlns:a16="http://schemas.microsoft.com/office/drawing/2014/main" id="{2528C60D-27D0-8B59-9BD0-A334E6143E8F}"/>
                </a:ext>
              </a:extLst>
            </p:cNvPr>
            <p:cNvSpPr>
              <a:spLocks/>
            </p:cNvSpPr>
            <p:nvPr/>
          </p:nvSpPr>
          <p:spPr bwMode="auto">
            <a:xfrm>
              <a:off x="2979057" y="619699"/>
              <a:ext cx="2522492" cy="14301"/>
            </a:xfrm>
            <a:custGeom>
              <a:avLst/>
              <a:gdLst>
                <a:gd name="T0" fmla="*/ 17 w 3175"/>
                <a:gd name="T1" fmla="*/ 18 h 18"/>
                <a:gd name="T2" fmla="*/ 0 w 3175"/>
                <a:gd name="T3" fmla="*/ 0 h 18"/>
                <a:gd name="T4" fmla="*/ 3148 w 3175"/>
                <a:gd name="T5" fmla="*/ 0 h 18"/>
                <a:gd name="T6" fmla="*/ 3175 w 3175"/>
                <a:gd name="T7" fmla="*/ 18 h 18"/>
                <a:gd name="T8" fmla="*/ 17 w 3175"/>
                <a:gd name="T9" fmla="*/ 18 h 18"/>
              </a:gdLst>
              <a:ahLst/>
              <a:cxnLst>
                <a:cxn ang="0">
                  <a:pos x="T0" y="T1"/>
                </a:cxn>
                <a:cxn ang="0">
                  <a:pos x="T2" y="T3"/>
                </a:cxn>
                <a:cxn ang="0">
                  <a:pos x="T4" y="T5"/>
                </a:cxn>
                <a:cxn ang="0">
                  <a:pos x="T6" y="T7"/>
                </a:cxn>
                <a:cxn ang="0">
                  <a:pos x="T8" y="T9"/>
                </a:cxn>
              </a:cxnLst>
              <a:rect l="0" t="0" r="r" b="b"/>
              <a:pathLst>
                <a:path w="3175" h="18">
                  <a:moveTo>
                    <a:pt x="17" y="18"/>
                  </a:moveTo>
                  <a:lnTo>
                    <a:pt x="0" y="0"/>
                  </a:lnTo>
                  <a:lnTo>
                    <a:pt x="3148" y="0"/>
                  </a:lnTo>
                  <a:lnTo>
                    <a:pt x="3175" y="18"/>
                  </a:lnTo>
                  <a:lnTo>
                    <a:pt x="17" y="18"/>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75" name="Thickness">
              <a:extLst>
                <a:ext uri="{FF2B5EF4-FFF2-40B4-BE49-F238E27FC236}">
                  <a16:creationId xmlns:a16="http://schemas.microsoft.com/office/drawing/2014/main" id="{6A2CF7F3-DFB7-D867-017A-F03522E534BF}"/>
                </a:ext>
              </a:extLst>
            </p:cNvPr>
            <p:cNvSpPr>
              <a:spLocks/>
            </p:cNvSpPr>
            <p:nvPr/>
          </p:nvSpPr>
          <p:spPr bwMode="auto">
            <a:xfrm>
              <a:off x="2982323" y="1580232"/>
              <a:ext cx="2522492" cy="12712"/>
            </a:xfrm>
            <a:custGeom>
              <a:avLst/>
              <a:gdLst>
                <a:gd name="T0" fmla="*/ 17 w 3175"/>
                <a:gd name="T1" fmla="*/ 0 h 16"/>
                <a:gd name="T2" fmla="*/ 0 w 3175"/>
                <a:gd name="T3" fmla="*/ 16 h 16"/>
                <a:gd name="T4" fmla="*/ 3148 w 3175"/>
                <a:gd name="T5" fmla="*/ 16 h 16"/>
                <a:gd name="T6" fmla="*/ 3175 w 3175"/>
                <a:gd name="T7" fmla="*/ 0 h 16"/>
                <a:gd name="T8" fmla="*/ 17 w 3175"/>
                <a:gd name="T9" fmla="*/ 0 h 16"/>
              </a:gdLst>
              <a:ahLst/>
              <a:cxnLst>
                <a:cxn ang="0">
                  <a:pos x="T0" y="T1"/>
                </a:cxn>
                <a:cxn ang="0">
                  <a:pos x="T2" y="T3"/>
                </a:cxn>
                <a:cxn ang="0">
                  <a:pos x="T4" y="T5"/>
                </a:cxn>
                <a:cxn ang="0">
                  <a:pos x="T6" y="T7"/>
                </a:cxn>
                <a:cxn ang="0">
                  <a:pos x="T8" y="T9"/>
                </a:cxn>
              </a:cxnLst>
              <a:rect l="0" t="0" r="r" b="b"/>
              <a:pathLst>
                <a:path w="3175" h="16">
                  <a:moveTo>
                    <a:pt x="17" y="0"/>
                  </a:moveTo>
                  <a:lnTo>
                    <a:pt x="0" y="16"/>
                  </a:lnTo>
                  <a:lnTo>
                    <a:pt x="3148" y="16"/>
                  </a:lnTo>
                  <a:lnTo>
                    <a:pt x="3175" y="0"/>
                  </a:lnTo>
                  <a:lnTo>
                    <a:pt x="17" y="0"/>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76" name="Edge">
              <a:extLst>
                <a:ext uri="{FF2B5EF4-FFF2-40B4-BE49-F238E27FC236}">
                  <a16:creationId xmlns:a16="http://schemas.microsoft.com/office/drawing/2014/main" id="{08FEB4A2-7B41-AFE6-4406-7F798037095E}"/>
                </a:ext>
              </a:extLst>
            </p:cNvPr>
            <p:cNvSpPr>
              <a:spLocks/>
            </p:cNvSpPr>
            <p:nvPr/>
          </p:nvSpPr>
          <p:spPr bwMode="auto">
            <a:xfrm>
              <a:off x="5480098" y="619699"/>
              <a:ext cx="760323" cy="973245"/>
            </a:xfrm>
            <a:custGeom>
              <a:avLst/>
              <a:gdLst>
                <a:gd name="T0" fmla="*/ 0 w 957"/>
                <a:gd name="T1" fmla="*/ 0 h 1225"/>
                <a:gd name="T2" fmla="*/ 639 w 957"/>
                <a:gd name="T3" fmla="*/ 614 h 1225"/>
                <a:gd name="T4" fmla="*/ 0 w 957"/>
                <a:gd name="T5" fmla="*/ 1225 h 1225"/>
                <a:gd name="T6" fmla="*/ 957 w 957"/>
                <a:gd name="T7" fmla="*/ 614 h 1225"/>
                <a:gd name="T8" fmla="*/ 0 w 957"/>
                <a:gd name="T9" fmla="*/ 0 h 1225"/>
              </a:gdLst>
              <a:ahLst/>
              <a:cxnLst>
                <a:cxn ang="0">
                  <a:pos x="T0" y="T1"/>
                </a:cxn>
                <a:cxn ang="0">
                  <a:pos x="T2" y="T3"/>
                </a:cxn>
                <a:cxn ang="0">
                  <a:pos x="T4" y="T5"/>
                </a:cxn>
                <a:cxn ang="0">
                  <a:pos x="T6" y="T7"/>
                </a:cxn>
                <a:cxn ang="0">
                  <a:pos x="T8" y="T9"/>
                </a:cxn>
              </a:cxnLst>
              <a:rect l="0" t="0" r="r" b="b"/>
              <a:pathLst>
                <a:path w="957" h="1225">
                  <a:moveTo>
                    <a:pt x="0" y="0"/>
                  </a:moveTo>
                  <a:lnTo>
                    <a:pt x="639" y="614"/>
                  </a:lnTo>
                  <a:lnTo>
                    <a:pt x="0" y="1225"/>
                  </a:lnTo>
                  <a:lnTo>
                    <a:pt x="957" y="614"/>
                  </a:lnTo>
                  <a:lnTo>
                    <a:pt x="0" y="0"/>
                  </a:lnTo>
                  <a:close/>
                </a:path>
              </a:pathLst>
            </a:custGeom>
            <a:solidFill>
              <a:srgbClr val="6699FF"/>
            </a:solidFill>
            <a:ln>
              <a:noFill/>
            </a:ln>
          </p:spPr>
          <p:txBody>
            <a:bodyPr vert="horz" wrap="square" lIns="60960" tIns="30480" rIns="60960" bIns="30480" numCol="1" anchor="t" anchorCtr="0" compatLnSpc="1">
              <a:prstTxWarp prst="textNoShape">
                <a:avLst/>
              </a:prstTxWarp>
            </a:bodyPr>
            <a:lstStyle/>
            <a:p>
              <a:endParaRPr lang="ru-RU" sz="1200" dirty="0"/>
            </a:p>
          </p:txBody>
        </p:sp>
      </p:grpSp>
      <p:grpSp>
        <p:nvGrpSpPr>
          <p:cNvPr id="177" name="Text">
            <a:extLst>
              <a:ext uri="{FF2B5EF4-FFF2-40B4-BE49-F238E27FC236}">
                <a16:creationId xmlns:a16="http://schemas.microsoft.com/office/drawing/2014/main" id="{130397A2-6B59-45DE-9147-50AB4312A332}"/>
              </a:ext>
            </a:extLst>
          </p:cNvPr>
          <p:cNvGrpSpPr/>
          <p:nvPr/>
        </p:nvGrpSpPr>
        <p:grpSpPr>
          <a:xfrm>
            <a:off x="1524001" y="1861562"/>
            <a:ext cx="1891942" cy="1517599"/>
            <a:chOff x="5670207" y="1819293"/>
            <a:chExt cx="1711060" cy="2276399"/>
          </a:xfrm>
        </p:grpSpPr>
        <p:sp>
          <p:nvSpPr>
            <p:cNvPr id="178" name="TextBox 177">
              <a:extLst>
                <a:ext uri="{FF2B5EF4-FFF2-40B4-BE49-F238E27FC236}">
                  <a16:creationId xmlns:a16="http://schemas.microsoft.com/office/drawing/2014/main" id="{CD260568-F268-BC4E-1732-A7AB012B2B34}"/>
                </a:ext>
              </a:extLst>
            </p:cNvPr>
            <p:cNvSpPr txBox="1"/>
            <p:nvPr/>
          </p:nvSpPr>
          <p:spPr>
            <a:xfrm>
              <a:off x="5670207" y="3187751"/>
              <a:ext cx="1705175" cy="907941"/>
            </a:xfrm>
            <a:prstGeom prst="rect">
              <a:avLst/>
            </a:prstGeom>
            <a:noFill/>
          </p:spPr>
          <p:txBody>
            <a:bodyPr wrap="square" rtlCol="0">
              <a:spAutoFit/>
            </a:bodyPr>
            <a:lstStyle/>
            <a:p>
              <a:pPr>
                <a:lnSpc>
                  <a:spcPts val="1960"/>
                </a:lnSpc>
                <a:spcBef>
                  <a:spcPct val="0"/>
                </a:spcBef>
              </a:pPr>
              <a:r>
                <a:rPr lang="en-US" sz="1600" b="1" dirty="0">
                  <a:solidFill>
                    <a:schemeClr val="tx2">
                      <a:lumMod val="75000"/>
                    </a:schemeClr>
                  </a:solidFill>
                  <a:latin typeface="Codec Pro Bold"/>
                  <a:ea typeface="Codec Pro Bold"/>
                  <a:cs typeface="Codec Pro Bold"/>
                  <a:sym typeface="Codec Pro Bold"/>
                </a:rPr>
                <a:t> </a:t>
              </a:r>
              <a:r>
                <a:rPr lang="en-US" sz="1733" b="1" dirty="0">
                  <a:solidFill>
                    <a:schemeClr val="bg1"/>
                  </a:solidFill>
                  <a:latin typeface="Codec Pro Bold"/>
                  <a:ea typeface="Codec Pro Bold"/>
                  <a:cs typeface="Codec Pro Bold"/>
                  <a:sym typeface="Codec Pro Bold"/>
                </a:rPr>
                <a:t>Customer Focus</a:t>
              </a:r>
            </a:p>
          </p:txBody>
        </p:sp>
        <p:sp>
          <p:nvSpPr>
            <p:cNvPr id="179" name="TextBox 178">
              <a:extLst>
                <a:ext uri="{FF2B5EF4-FFF2-40B4-BE49-F238E27FC236}">
                  <a16:creationId xmlns:a16="http://schemas.microsoft.com/office/drawing/2014/main" id="{952F131F-CF9B-55B0-0237-717C24B4AE55}"/>
                </a:ext>
              </a:extLst>
            </p:cNvPr>
            <p:cNvSpPr txBox="1"/>
            <p:nvPr/>
          </p:nvSpPr>
          <p:spPr>
            <a:xfrm>
              <a:off x="5939837" y="1819293"/>
              <a:ext cx="1441430" cy="292485"/>
            </a:xfrm>
            <a:prstGeom prst="rect">
              <a:avLst/>
            </a:prstGeom>
            <a:noFill/>
          </p:spPr>
          <p:txBody>
            <a:bodyPr wrap="square" rtlCol="0">
              <a:spAutoFit/>
            </a:bodyPr>
            <a:lstStyle/>
            <a:p>
              <a:pPr algn="ctr"/>
              <a:endParaRPr lang="ru-RU" sz="667" dirty="0">
                <a:solidFill>
                  <a:srgbClr val="FEFFFF"/>
                </a:solidFill>
                <a:latin typeface="Roboto Condensed" panose="02000000000000000000" pitchFamily="2" charset="0"/>
                <a:ea typeface="Roboto Condensed" panose="02000000000000000000" pitchFamily="2" charset="0"/>
              </a:endParaRPr>
            </a:p>
          </p:txBody>
        </p:sp>
      </p:grpSp>
      <p:grpSp>
        <p:nvGrpSpPr>
          <p:cNvPr id="186" name="Arrow A">
            <a:extLst>
              <a:ext uri="{FF2B5EF4-FFF2-40B4-BE49-F238E27FC236}">
                <a16:creationId xmlns:a16="http://schemas.microsoft.com/office/drawing/2014/main" id="{6627BB23-C0E7-A9E6-9CEC-B402B4885CF1}"/>
              </a:ext>
            </a:extLst>
          </p:cNvPr>
          <p:cNvGrpSpPr/>
          <p:nvPr/>
        </p:nvGrpSpPr>
        <p:grpSpPr>
          <a:xfrm>
            <a:off x="1101304" y="3238006"/>
            <a:ext cx="2657896" cy="1043093"/>
            <a:chOff x="2950855" y="327401"/>
            <a:chExt cx="3289566" cy="1564640"/>
          </a:xfrm>
        </p:grpSpPr>
        <p:pic>
          <p:nvPicPr>
            <p:cNvPr id="187" name="Shadow">
              <a:extLst>
                <a:ext uri="{FF2B5EF4-FFF2-40B4-BE49-F238E27FC236}">
                  <a16:creationId xmlns:a16="http://schemas.microsoft.com/office/drawing/2014/main" id="{BA9BD702-6FF9-538D-15A6-57B27708DC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50855" y="327401"/>
              <a:ext cx="2481072" cy="1564640"/>
            </a:xfrm>
            <a:prstGeom prst="rect">
              <a:avLst/>
            </a:prstGeom>
          </p:spPr>
        </p:pic>
        <p:sp>
          <p:nvSpPr>
            <p:cNvPr id="188" name="Body">
              <a:extLst>
                <a:ext uri="{FF2B5EF4-FFF2-40B4-BE49-F238E27FC236}">
                  <a16:creationId xmlns:a16="http://schemas.microsoft.com/office/drawing/2014/main" id="{E9CED2AE-DD9E-4610-451A-FC8EF1EA35E4}"/>
                </a:ext>
              </a:extLst>
            </p:cNvPr>
            <p:cNvSpPr>
              <a:spLocks/>
            </p:cNvSpPr>
            <p:nvPr/>
          </p:nvSpPr>
          <p:spPr bwMode="auto">
            <a:xfrm>
              <a:off x="2979057" y="619699"/>
              <a:ext cx="3261363" cy="973245"/>
            </a:xfrm>
            <a:custGeom>
              <a:avLst/>
              <a:gdLst>
                <a:gd name="T0" fmla="*/ 3148 w 4105"/>
                <a:gd name="T1" fmla="*/ 0 h 1225"/>
                <a:gd name="T2" fmla="*/ 0 w 4105"/>
                <a:gd name="T3" fmla="*/ 0 h 1225"/>
                <a:gd name="T4" fmla="*/ 614 w 4105"/>
                <a:gd name="T5" fmla="*/ 614 h 1225"/>
                <a:gd name="T6" fmla="*/ 0 w 4105"/>
                <a:gd name="T7" fmla="*/ 1225 h 1225"/>
                <a:gd name="T8" fmla="*/ 3148 w 4105"/>
                <a:gd name="T9" fmla="*/ 1225 h 1225"/>
                <a:gd name="T10" fmla="*/ 4105 w 4105"/>
                <a:gd name="T11" fmla="*/ 614 h 1225"/>
                <a:gd name="T12" fmla="*/ 3148 w 4105"/>
                <a:gd name="T13" fmla="*/ 0 h 1225"/>
              </a:gdLst>
              <a:ahLst/>
              <a:cxnLst>
                <a:cxn ang="0">
                  <a:pos x="T0" y="T1"/>
                </a:cxn>
                <a:cxn ang="0">
                  <a:pos x="T2" y="T3"/>
                </a:cxn>
                <a:cxn ang="0">
                  <a:pos x="T4" y="T5"/>
                </a:cxn>
                <a:cxn ang="0">
                  <a:pos x="T6" y="T7"/>
                </a:cxn>
                <a:cxn ang="0">
                  <a:pos x="T8" y="T9"/>
                </a:cxn>
                <a:cxn ang="0">
                  <a:pos x="T10" y="T11"/>
                </a:cxn>
                <a:cxn ang="0">
                  <a:pos x="T12" y="T13"/>
                </a:cxn>
              </a:cxnLst>
              <a:rect l="0" t="0" r="r" b="b"/>
              <a:pathLst>
                <a:path w="4105" h="1225">
                  <a:moveTo>
                    <a:pt x="3148" y="0"/>
                  </a:moveTo>
                  <a:lnTo>
                    <a:pt x="0" y="0"/>
                  </a:lnTo>
                  <a:lnTo>
                    <a:pt x="614" y="614"/>
                  </a:lnTo>
                  <a:lnTo>
                    <a:pt x="0" y="1225"/>
                  </a:lnTo>
                  <a:lnTo>
                    <a:pt x="3148" y="1225"/>
                  </a:lnTo>
                  <a:lnTo>
                    <a:pt x="4105" y="614"/>
                  </a:lnTo>
                  <a:lnTo>
                    <a:pt x="3148" y="0"/>
                  </a:lnTo>
                  <a:close/>
                </a:path>
              </a:pathLst>
            </a:custGeom>
            <a:solidFill>
              <a:srgbClr val="0066FF"/>
            </a:soli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89" name="Thickness">
              <a:extLst>
                <a:ext uri="{FF2B5EF4-FFF2-40B4-BE49-F238E27FC236}">
                  <a16:creationId xmlns:a16="http://schemas.microsoft.com/office/drawing/2014/main" id="{BCFB65C7-BC0D-9BED-B83F-24066EB9B8D9}"/>
                </a:ext>
              </a:extLst>
            </p:cNvPr>
            <p:cNvSpPr>
              <a:spLocks/>
            </p:cNvSpPr>
            <p:nvPr/>
          </p:nvSpPr>
          <p:spPr bwMode="auto">
            <a:xfrm>
              <a:off x="2979057" y="619699"/>
              <a:ext cx="2522492" cy="14301"/>
            </a:xfrm>
            <a:custGeom>
              <a:avLst/>
              <a:gdLst>
                <a:gd name="T0" fmla="*/ 17 w 3175"/>
                <a:gd name="T1" fmla="*/ 18 h 18"/>
                <a:gd name="T2" fmla="*/ 0 w 3175"/>
                <a:gd name="T3" fmla="*/ 0 h 18"/>
                <a:gd name="T4" fmla="*/ 3148 w 3175"/>
                <a:gd name="T5" fmla="*/ 0 h 18"/>
                <a:gd name="T6" fmla="*/ 3175 w 3175"/>
                <a:gd name="T7" fmla="*/ 18 h 18"/>
                <a:gd name="T8" fmla="*/ 17 w 3175"/>
                <a:gd name="T9" fmla="*/ 18 h 18"/>
              </a:gdLst>
              <a:ahLst/>
              <a:cxnLst>
                <a:cxn ang="0">
                  <a:pos x="T0" y="T1"/>
                </a:cxn>
                <a:cxn ang="0">
                  <a:pos x="T2" y="T3"/>
                </a:cxn>
                <a:cxn ang="0">
                  <a:pos x="T4" y="T5"/>
                </a:cxn>
                <a:cxn ang="0">
                  <a:pos x="T6" y="T7"/>
                </a:cxn>
                <a:cxn ang="0">
                  <a:pos x="T8" y="T9"/>
                </a:cxn>
              </a:cxnLst>
              <a:rect l="0" t="0" r="r" b="b"/>
              <a:pathLst>
                <a:path w="3175" h="18">
                  <a:moveTo>
                    <a:pt x="17" y="18"/>
                  </a:moveTo>
                  <a:lnTo>
                    <a:pt x="0" y="0"/>
                  </a:lnTo>
                  <a:lnTo>
                    <a:pt x="3148" y="0"/>
                  </a:lnTo>
                  <a:lnTo>
                    <a:pt x="3175" y="18"/>
                  </a:lnTo>
                  <a:lnTo>
                    <a:pt x="17" y="18"/>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90" name="Thickness">
              <a:extLst>
                <a:ext uri="{FF2B5EF4-FFF2-40B4-BE49-F238E27FC236}">
                  <a16:creationId xmlns:a16="http://schemas.microsoft.com/office/drawing/2014/main" id="{D4A1944C-6549-99F8-9CD5-397190130288}"/>
                </a:ext>
              </a:extLst>
            </p:cNvPr>
            <p:cNvSpPr>
              <a:spLocks/>
            </p:cNvSpPr>
            <p:nvPr/>
          </p:nvSpPr>
          <p:spPr bwMode="auto">
            <a:xfrm>
              <a:off x="2982323" y="1580232"/>
              <a:ext cx="2522492" cy="12712"/>
            </a:xfrm>
            <a:custGeom>
              <a:avLst/>
              <a:gdLst>
                <a:gd name="T0" fmla="*/ 17 w 3175"/>
                <a:gd name="T1" fmla="*/ 0 h 16"/>
                <a:gd name="T2" fmla="*/ 0 w 3175"/>
                <a:gd name="T3" fmla="*/ 16 h 16"/>
                <a:gd name="T4" fmla="*/ 3148 w 3175"/>
                <a:gd name="T5" fmla="*/ 16 h 16"/>
                <a:gd name="T6" fmla="*/ 3175 w 3175"/>
                <a:gd name="T7" fmla="*/ 0 h 16"/>
                <a:gd name="T8" fmla="*/ 17 w 3175"/>
                <a:gd name="T9" fmla="*/ 0 h 16"/>
              </a:gdLst>
              <a:ahLst/>
              <a:cxnLst>
                <a:cxn ang="0">
                  <a:pos x="T0" y="T1"/>
                </a:cxn>
                <a:cxn ang="0">
                  <a:pos x="T2" y="T3"/>
                </a:cxn>
                <a:cxn ang="0">
                  <a:pos x="T4" y="T5"/>
                </a:cxn>
                <a:cxn ang="0">
                  <a:pos x="T6" y="T7"/>
                </a:cxn>
                <a:cxn ang="0">
                  <a:pos x="T8" y="T9"/>
                </a:cxn>
              </a:cxnLst>
              <a:rect l="0" t="0" r="r" b="b"/>
              <a:pathLst>
                <a:path w="3175" h="16">
                  <a:moveTo>
                    <a:pt x="17" y="0"/>
                  </a:moveTo>
                  <a:lnTo>
                    <a:pt x="0" y="16"/>
                  </a:lnTo>
                  <a:lnTo>
                    <a:pt x="3148" y="16"/>
                  </a:lnTo>
                  <a:lnTo>
                    <a:pt x="3175" y="0"/>
                  </a:lnTo>
                  <a:lnTo>
                    <a:pt x="17" y="0"/>
                  </a:lnTo>
                  <a:close/>
                </a:path>
              </a:pathLst>
            </a:custGeom>
            <a:gradFill>
              <a:gsLst>
                <a:gs pos="0">
                  <a:schemeClr val="accent1">
                    <a:lumMod val="60000"/>
                    <a:lumOff val="40000"/>
                  </a:schemeClr>
                </a:gs>
                <a:gs pos="100000">
                  <a:srgbClr val="FFDE3B">
                    <a:alpha val="0"/>
                  </a:srgbClr>
                </a:gs>
              </a:gsLst>
              <a:lin ang="0" scaled="0"/>
            </a:gradFill>
            <a:ln>
              <a:noFill/>
            </a:ln>
          </p:spPr>
          <p:txBody>
            <a:bodyPr vert="horz" wrap="square" lIns="60960" tIns="30480" rIns="60960" bIns="30480" numCol="1" anchor="t" anchorCtr="0" compatLnSpc="1">
              <a:prstTxWarp prst="textNoShape">
                <a:avLst/>
              </a:prstTxWarp>
            </a:bodyPr>
            <a:lstStyle/>
            <a:p>
              <a:endParaRPr lang="ru-RU" sz="1200" dirty="0"/>
            </a:p>
          </p:txBody>
        </p:sp>
        <p:sp>
          <p:nvSpPr>
            <p:cNvPr id="191" name="Edge">
              <a:extLst>
                <a:ext uri="{FF2B5EF4-FFF2-40B4-BE49-F238E27FC236}">
                  <a16:creationId xmlns:a16="http://schemas.microsoft.com/office/drawing/2014/main" id="{3073E394-F733-2165-7F39-948864E9377E}"/>
                </a:ext>
              </a:extLst>
            </p:cNvPr>
            <p:cNvSpPr>
              <a:spLocks/>
            </p:cNvSpPr>
            <p:nvPr/>
          </p:nvSpPr>
          <p:spPr bwMode="auto">
            <a:xfrm>
              <a:off x="5480098" y="619699"/>
              <a:ext cx="760323" cy="973245"/>
            </a:xfrm>
            <a:custGeom>
              <a:avLst/>
              <a:gdLst>
                <a:gd name="T0" fmla="*/ 0 w 957"/>
                <a:gd name="T1" fmla="*/ 0 h 1225"/>
                <a:gd name="T2" fmla="*/ 639 w 957"/>
                <a:gd name="T3" fmla="*/ 614 h 1225"/>
                <a:gd name="T4" fmla="*/ 0 w 957"/>
                <a:gd name="T5" fmla="*/ 1225 h 1225"/>
                <a:gd name="T6" fmla="*/ 957 w 957"/>
                <a:gd name="T7" fmla="*/ 614 h 1225"/>
                <a:gd name="T8" fmla="*/ 0 w 957"/>
                <a:gd name="T9" fmla="*/ 0 h 1225"/>
              </a:gdLst>
              <a:ahLst/>
              <a:cxnLst>
                <a:cxn ang="0">
                  <a:pos x="T0" y="T1"/>
                </a:cxn>
                <a:cxn ang="0">
                  <a:pos x="T2" y="T3"/>
                </a:cxn>
                <a:cxn ang="0">
                  <a:pos x="T4" y="T5"/>
                </a:cxn>
                <a:cxn ang="0">
                  <a:pos x="T6" y="T7"/>
                </a:cxn>
                <a:cxn ang="0">
                  <a:pos x="T8" y="T9"/>
                </a:cxn>
              </a:cxnLst>
              <a:rect l="0" t="0" r="r" b="b"/>
              <a:pathLst>
                <a:path w="957" h="1225">
                  <a:moveTo>
                    <a:pt x="0" y="0"/>
                  </a:moveTo>
                  <a:lnTo>
                    <a:pt x="639" y="614"/>
                  </a:lnTo>
                  <a:lnTo>
                    <a:pt x="0" y="1225"/>
                  </a:lnTo>
                  <a:lnTo>
                    <a:pt x="957" y="614"/>
                  </a:lnTo>
                  <a:lnTo>
                    <a:pt x="0" y="0"/>
                  </a:lnTo>
                  <a:close/>
                </a:path>
              </a:pathLst>
            </a:custGeom>
            <a:solidFill>
              <a:srgbClr val="6699FF"/>
            </a:solidFill>
            <a:ln>
              <a:noFill/>
            </a:ln>
          </p:spPr>
          <p:txBody>
            <a:bodyPr vert="horz" wrap="square" lIns="60960" tIns="30480" rIns="60960" bIns="30480" numCol="1" anchor="t" anchorCtr="0" compatLnSpc="1">
              <a:prstTxWarp prst="textNoShape">
                <a:avLst/>
              </a:prstTxWarp>
            </a:bodyPr>
            <a:lstStyle/>
            <a:p>
              <a:endParaRPr lang="ru-RU" sz="1200" dirty="0"/>
            </a:p>
          </p:txBody>
        </p:sp>
      </p:grpSp>
      <p:grpSp>
        <p:nvGrpSpPr>
          <p:cNvPr id="192" name="Text">
            <a:extLst>
              <a:ext uri="{FF2B5EF4-FFF2-40B4-BE49-F238E27FC236}">
                <a16:creationId xmlns:a16="http://schemas.microsoft.com/office/drawing/2014/main" id="{E8D55D04-8C3D-D3B0-18A7-E7127526F073}"/>
              </a:ext>
            </a:extLst>
          </p:cNvPr>
          <p:cNvGrpSpPr/>
          <p:nvPr/>
        </p:nvGrpSpPr>
        <p:grpSpPr>
          <a:xfrm>
            <a:off x="1502115" y="3499366"/>
            <a:ext cx="1486551" cy="456382"/>
            <a:chOff x="5838609" y="1819293"/>
            <a:chExt cx="1705175" cy="684574"/>
          </a:xfrm>
        </p:grpSpPr>
        <p:sp>
          <p:nvSpPr>
            <p:cNvPr id="193" name="TextBox 192">
              <a:extLst>
                <a:ext uri="{FF2B5EF4-FFF2-40B4-BE49-F238E27FC236}">
                  <a16:creationId xmlns:a16="http://schemas.microsoft.com/office/drawing/2014/main" id="{FC81ACF3-0F26-3AF5-813A-ADE30E62664A}"/>
                </a:ext>
              </a:extLst>
            </p:cNvPr>
            <p:cNvSpPr txBox="1"/>
            <p:nvPr/>
          </p:nvSpPr>
          <p:spPr>
            <a:xfrm>
              <a:off x="5838609" y="1980647"/>
              <a:ext cx="1705175" cy="523220"/>
            </a:xfrm>
            <a:prstGeom prst="rect">
              <a:avLst/>
            </a:prstGeom>
            <a:noFill/>
          </p:spPr>
          <p:txBody>
            <a:bodyPr wrap="square" rtlCol="0">
              <a:spAutoFit/>
            </a:bodyPr>
            <a:lstStyle/>
            <a:p>
              <a:pPr>
                <a:lnSpc>
                  <a:spcPts val="1960"/>
                </a:lnSpc>
                <a:spcBef>
                  <a:spcPct val="0"/>
                </a:spcBef>
              </a:pPr>
              <a:r>
                <a:rPr lang="en-US" sz="1600" b="1" dirty="0">
                  <a:solidFill>
                    <a:schemeClr val="tx2">
                      <a:lumMod val="75000"/>
                    </a:schemeClr>
                  </a:solidFill>
                  <a:latin typeface="Codec Pro Bold"/>
                  <a:ea typeface="Codec Pro Bold"/>
                  <a:cs typeface="Codec Pro Bold"/>
                  <a:sym typeface="Codec Pro Bold"/>
                </a:rPr>
                <a:t>  </a:t>
              </a:r>
              <a:r>
                <a:rPr lang="en-US" sz="1733" b="1" dirty="0">
                  <a:solidFill>
                    <a:schemeClr val="bg1"/>
                  </a:solidFill>
                  <a:latin typeface="Codec Pro Bold"/>
                  <a:ea typeface="Codec Pro Bold"/>
                  <a:cs typeface="Codec Pro Bold"/>
                  <a:sym typeface="Codec Pro Bold"/>
                </a:rPr>
                <a:t>Innovation</a:t>
              </a:r>
            </a:p>
          </p:txBody>
        </p:sp>
        <p:sp>
          <p:nvSpPr>
            <p:cNvPr id="194" name="TextBox 193">
              <a:extLst>
                <a:ext uri="{FF2B5EF4-FFF2-40B4-BE49-F238E27FC236}">
                  <a16:creationId xmlns:a16="http://schemas.microsoft.com/office/drawing/2014/main" id="{F156446B-31F0-9FA7-D822-B088BA7C5D7E}"/>
                </a:ext>
              </a:extLst>
            </p:cNvPr>
            <p:cNvSpPr txBox="1"/>
            <p:nvPr/>
          </p:nvSpPr>
          <p:spPr>
            <a:xfrm>
              <a:off x="5939837" y="1819293"/>
              <a:ext cx="1441430" cy="292485"/>
            </a:xfrm>
            <a:prstGeom prst="rect">
              <a:avLst/>
            </a:prstGeom>
            <a:noFill/>
          </p:spPr>
          <p:txBody>
            <a:bodyPr wrap="square" rtlCol="0">
              <a:spAutoFit/>
            </a:bodyPr>
            <a:lstStyle/>
            <a:p>
              <a:pPr algn="ctr"/>
              <a:endParaRPr lang="ru-RU" sz="667" dirty="0">
                <a:solidFill>
                  <a:srgbClr val="FEFFFF"/>
                </a:solidFill>
                <a:latin typeface="Roboto Condensed" panose="02000000000000000000" pitchFamily="2" charset="0"/>
                <a:ea typeface="Roboto Condensed" panose="02000000000000000000" pitchFamily="2" charset="0"/>
              </a:endParaRPr>
            </a:p>
          </p:txBody>
        </p:sp>
      </p:grpSp>
      <p:sp>
        <p:nvSpPr>
          <p:cNvPr id="8" name="Footer Placeholder 24">
            <a:extLst>
              <a:ext uri="{FF2B5EF4-FFF2-40B4-BE49-F238E27FC236}">
                <a16:creationId xmlns:a16="http://schemas.microsoft.com/office/drawing/2014/main" id="{51D720E8-CE10-8F2B-1E22-93603EEDC8A5}"/>
              </a:ext>
            </a:extLst>
          </p:cNvPr>
          <p:cNvSpPr>
            <a:spLocks noGrp="1"/>
          </p:cNvSpPr>
          <p:nvPr>
            <p:ph type="ftr" sz="quarter" idx="11"/>
          </p:nvPr>
        </p:nvSpPr>
        <p:spPr>
          <a:xfrm>
            <a:off x="5130800" y="6487584"/>
            <a:ext cx="1930400" cy="243417"/>
          </a:xfrm>
        </p:spPr>
        <p:txBody>
          <a:bodyPr/>
          <a:lstStyle/>
          <a:p>
            <a:r>
              <a:rPr lang="en-US" sz="867" dirty="0">
                <a:solidFill>
                  <a:schemeClr val="tx2">
                    <a:lumMod val="75000"/>
                  </a:schemeClr>
                </a:solidFill>
                <a:latin typeface="Codec Pro" panose="020B0604020202020204" charset="0"/>
              </a:rPr>
              <a:t>                            2</a:t>
            </a:r>
          </a:p>
        </p:txBody>
      </p:sp>
    </p:spTree>
    <p:extLst>
      <p:ext uri="{BB962C8B-B14F-4D97-AF65-F5344CB8AC3E}">
        <p14:creationId xmlns:p14="http://schemas.microsoft.com/office/powerpoint/2010/main" val="93536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62"/>
                                        </p:tgtEl>
                                        <p:attrNameLst>
                                          <p:attrName>style.visibility</p:attrName>
                                        </p:attrNameLst>
                                      </p:cBhvr>
                                      <p:to>
                                        <p:strVal val="visible"/>
                                      </p:to>
                                    </p:set>
                                    <p:animEffect transition="in" filter="fade">
                                      <p:cBhvr>
                                        <p:cTn id="7" dur="2000"/>
                                        <p:tgtEl>
                                          <p:spTgt spid="162"/>
                                        </p:tgtEl>
                                      </p:cBhvr>
                                    </p:animEffect>
                                  </p:childTnLst>
                                </p:cTn>
                              </p:par>
                              <p:par>
                                <p:cTn id="8" presetID="10" presetClass="entr" presetSubtype="0" fill="hold" nodeType="withEffect">
                                  <p:stCondLst>
                                    <p:cond delay="0"/>
                                  </p:stCondLst>
                                  <p:childTnLst>
                                    <p:set>
                                      <p:cBhvr>
                                        <p:cTn id="9" dur="1" fill="hold">
                                          <p:stCondLst>
                                            <p:cond delay="0"/>
                                          </p:stCondLst>
                                        </p:cTn>
                                        <p:tgtEl>
                                          <p:spTgt spid="171"/>
                                        </p:tgtEl>
                                        <p:attrNameLst>
                                          <p:attrName>style.visibility</p:attrName>
                                        </p:attrNameLst>
                                      </p:cBhvr>
                                      <p:to>
                                        <p:strVal val="visible"/>
                                      </p:to>
                                    </p:set>
                                    <p:animEffect transition="in" filter="fade">
                                      <p:cBhvr>
                                        <p:cTn id="10" dur="2000"/>
                                        <p:tgtEl>
                                          <p:spTgt spid="171"/>
                                        </p:tgtEl>
                                      </p:cBhvr>
                                    </p:animEffect>
                                  </p:childTnLst>
                                </p:cTn>
                              </p:par>
                              <p:par>
                                <p:cTn id="11" presetID="10" presetClass="entr" presetSubtype="0" fill="hold" nodeType="withEffect">
                                  <p:stCondLst>
                                    <p:cond delay="0"/>
                                  </p:stCondLst>
                                  <p:childTnLst>
                                    <p:set>
                                      <p:cBhvr>
                                        <p:cTn id="12" dur="1" fill="hold">
                                          <p:stCondLst>
                                            <p:cond delay="0"/>
                                          </p:stCondLst>
                                        </p:cTn>
                                        <p:tgtEl>
                                          <p:spTgt spid="186"/>
                                        </p:tgtEl>
                                        <p:attrNameLst>
                                          <p:attrName>style.visibility</p:attrName>
                                        </p:attrNameLst>
                                      </p:cBhvr>
                                      <p:to>
                                        <p:strVal val="visible"/>
                                      </p:to>
                                    </p:set>
                                    <p:animEffect transition="in" filter="fade">
                                      <p:cBhvr>
                                        <p:cTn id="13" dur="2000"/>
                                        <p:tgtEl>
                                          <p:spTgt spid="186"/>
                                        </p:tgtEl>
                                      </p:cBhvr>
                                    </p:animEffect>
                                  </p:childTnLst>
                                </p:cTn>
                              </p:par>
                              <p:par>
                                <p:cTn id="14" presetID="10" presetClass="entr" presetSubtype="0" fill="hold" nodeType="withEffect">
                                  <p:stCondLst>
                                    <p:cond delay="0"/>
                                  </p:stCondLst>
                                  <p:childTnLst>
                                    <p:set>
                                      <p:cBhvr>
                                        <p:cTn id="15" dur="1" fill="hold">
                                          <p:stCondLst>
                                            <p:cond delay="0"/>
                                          </p:stCondLst>
                                        </p:cTn>
                                        <p:tgtEl>
                                          <p:spTgt spid="107"/>
                                        </p:tgtEl>
                                        <p:attrNameLst>
                                          <p:attrName>style.visibility</p:attrName>
                                        </p:attrNameLst>
                                      </p:cBhvr>
                                      <p:to>
                                        <p:strVal val="visible"/>
                                      </p:to>
                                    </p:set>
                                    <p:animEffect transition="in" filter="fade">
                                      <p:cBhvr>
                                        <p:cTn id="16" dur="20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248960" y="210121"/>
            <a:ext cx="868640" cy="895898"/>
            <a:chOff x="0" y="0"/>
            <a:chExt cx="1737281" cy="1791796"/>
          </a:xfrm>
        </p:grpSpPr>
        <p:sp>
          <p:nvSpPr>
            <p:cNvPr id="6" name="Freeform 6"/>
            <p:cNvSpPr/>
            <p:nvPr/>
          </p:nvSpPr>
          <p:spPr>
            <a:xfrm>
              <a:off x="0" y="0"/>
              <a:ext cx="1737281" cy="1464970"/>
            </a:xfrm>
            <a:custGeom>
              <a:avLst/>
              <a:gdLst/>
              <a:ahLst/>
              <a:cxnLst/>
              <a:rect l="l" t="t" r="r" b="b"/>
              <a:pathLst>
                <a:path w="1737281" h="1464970">
                  <a:moveTo>
                    <a:pt x="0" y="0"/>
                  </a:moveTo>
                  <a:lnTo>
                    <a:pt x="1737281" y="0"/>
                  </a:lnTo>
                  <a:lnTo>
                    <a:pt x="1737281" y="1464970"/>
                  </a:lnTo>
                  <a:lnTo>
                    <a:pt x="0" y="1464970"/>
                  </a:lnTo>
                  <a:lnTo>
                    <a:pt x="0" y="0"/>
                  </a:lnTo>
                  <a:close/>
                </a:path>
              </a:pathLst>
            </a:custGeom>
            <a:blipFill>
              <a:blip r:embed="rId2"/>
              <a:stretch>
                <a:fillRect t="-47826" b="-108579"/>
              </a:stretch>
            </a:blipFill>
          </p:spPr>
          <p:txBody>
            <a:bodyPr/>
            <a:lstStyle/>
            <a:p>
              <a:endParaRPr lang="en-US" sz="1200"/>
            </a:p>
          </p:txBody>
        </p:sp>
        <p:sp>
          <p:nvSpPr>
            <p:cNvPr id="7" name="TextBox 7"/>
            <p:cNvSpPr txBox="1"/>
            <p:nvPr/>
          </p:nvSpPr>
          <p:spPr>
            <a:xfrm>
              <a:off x="68072" y="1484020"/>
              <a:ext cx="1669209" cy="307776"/>
            </a:xfrm>
            <a:prstGeom prst="rect">
              <a:avLst/>
            </a:prstGeom>
          </p:spPr>
          <p:txBody>
            <a:bodyPr lIns="0" tIns="0" rIns="0" bIns="0" rtlCol="0" anchor="t">
              <a:spAutoFit/>
            </a:bodyPr>
            <a:lstStyle/>
            <a:p>
              <a:pPr>
                <a:lnSpc>
                  <a:spcPts val="1173"/>
                </a:lnSpc>
              </a:pPr>
              <a:r>
                <a:rPr lang="en-US" sz="1317" spc="-76" dirty="0">
                  <a:solidFill>
                    <a:srgbClr val="090A3C"/>
                  </a:solidFill>
                  <a:latin typeface="Codec Pro"/>
                  <a:ea typeface="Codec Pro"/>
                  <a:cs typeface="Codec Pro"/>
                  <a:sym typeface="Codec Pro"/>
                </a:rPr>
                <a:t>virtuous</a:t>
              </a:r>
              <a:r>
                <a:rPr lang="en-US" sz="1317" spc="-76" dirty="0">
                  <a:solidFill>
                    <a:srgbClr val="0053EB"/>
                  </a:solidFill>
                  <a:latin typeface="Codec Pro"/>
                  <a:ea typeface="Codec Pro"/>
                  <a:cs typeface="Codec Pro"/>
                  <a:sym typeface="Codec Pro"/>
                </a:rPr>
                <a:t>info</a:t>
              </a:r>
            </a:p>
          </p:txBody>
        </p:sp>
      </p:grpSp>
      <p:grpSp>
        <p:nvGrpSpPr>
          <p:cNvPr id="8" name="Group 8"/>
          <p:cNvGrpSpPr/>
          <p:nvPr/>
        </p:nvGrpSpPr>
        <p:grpSpPr>
          <a:xfrm>
            <a:off x="771486" y="4879017"/>
            <a:ext cx="3576747" cy="351527"/>
            <a:chOff x="0" y="0"/>
            <a:chExt cx="2806630" cy="406400"/>
          </a:xfrm>
        </p:grpSpPr>
        <p:sp>
          <p:nvSpPr>
            <p:cNvPr id="9" name="Freeform 9"/>
            <p:cNvSpPr/>
            <p:nvPr/>
          </p:nvSpPr>
          <p:spPr>
            <a:xfrm>
              <a:off x="0" y="0"/>
              <a:ext cx="2806630" cy="406400"/>
            </a:xfrm>
            <a:custGeom>
              <a:avLst/>
              <a:gdLst/>
              <a:ahLst/>
              <a:cxnLst/>
              <a:rect l="l" t="t" r="r" b="b"/>
              <a:pathLst>
                <a:path w="2806630" h="406400">
                  <a:moveTo>
                    <a:pt x="2603430" y="0"/>
                  </a:moveTo>
                  <a:cubicBezTo>
                    <a:pt x="2715654" y="0"/>
                    <a:pt x="2806630" y="90976"/>
                    <a:pt x="2806630" y="203200"/>
                  </a:cubicBezTo>
                  <a:cubicBezTo>
                    <a:pt x="2806630" y="315424"/>
                    <a:pt x="2715654" y="406400"/>
                    <a:pt x="2603430" y="406400"/>
                  </a:cubicBezTo>
                  <a:lnTo>
                    <a:pt x="203200" y="406400"/>
                  </a:lnTo>
                  <a:cubicBezTo>
                    <a:pt x="90976" y="406400"/>
                    <a:pt x="0" y="315424"/>
                    <a:pt x="0" y="203200"/>
                  </a:cubicBezTo>
                  <a:cubicBezTo>
                    <a:pt x="0" y="90976"/>
                    <a:pt x="90976" y="0"/>
                    <a:pt x="203200" y="0"/>
                  </a:cubicBezTo>
                  <a:close/>
                </a:path>
              </a:pathLst>
            </a:custGeom>
            <a:ln w="38100" cap="sq">
              <a:solidFill>
                <a:srgbClr val="A6A6A6"/>
              </a:solidFill>
              <a:prstDash val="solid"/>
              <a:miter/>
            </a:ln>
          </p:spPr>
          <p:txBody>
            <a:bodyPr/>
            <a:lstStyle/>
            <a:p>
              <a:endParaRPr lang="en-US" sz="1200"/>
            </a:p>
          </p:txBody>
        </p:sp>
        <p:sp>
          <p:nvSpPr>
            <p:cNvPr id="10" name="TextBox 10"/>
            <p:cNvSpPr txBox="1"/>
            <p:nvPr/>
          </p:nvSpPr>
          <p:spPr>
            <a:xfrm>
              <a:off x="0" y="-66675"/>
              <a:ext cx="2806630" cy="473075"/>
            </a:xfrm>
            <a:prstGeom prst="rect">
              <a:avLst/>
            </a:prstGeom>
          </p:spPr>
          <p:txBody>
            <a:bodyPr lIns="33867" tIns="33867" rIns="33867" bIns="33867" rtlCol="0" anchor="ctr"/>
            <a:lstStyle/>
            <a:p>
              <a:pPr algn="ctr">
                <a:lnSpc>
                  <a:spcPts val="1773"/>
                </a:lnSpc>
              </a:pPr>
              <a:endParaRPr sz="1200"/>
            </a:p>
          </p:txBody>
        </p:sp>
      </p:grpSp>
      <p:sp>
        <p:nvSpPr>
          <p:cNvPr id="12" name="TextBox 12"/>
          <p:cNvSpPr txBox="1"/>
          <p:nvPr/>
        </p:nvSpPr>
        <p:spPr>
          <a:xfrm>
            <a:off x="990140" y="2933821"/>
            <a:ext cx="2944109" cy="1471044"/>
          </a:xfrm>
          <a:prstGeom prst="rect">
            <a:avLst/>
          </a:prstGeom>
        </p:spPr>
        <p:txBody>
          <a:bodyPr wrap="square" lIns="0" tIns="0" rIns="0" bIns="0" rtlCol="0" anchor="t">
            <a:spAutoFit/>
          </a:bodyPr>
          <a:lstStyle/>
          <a:p>
            <a:pPr>
              <a:lnSpc>
                <a:spcPts val="5973"/>
              </a:lnSpc>
              <a:spcBef>
                <a:spcPct val="0"/>
              </a:spcBef>
            </a:pPr>
            <a:r>
              <a:rPr lang="en-US" sz="4267" b="1" dirty="0">
                <a:solidFill>
                  <a:srgbClr val="0066FF"/>
                </a:solidFill>
                <a:latin typeface="Codec Pro Bold"/>
                <a:sym typeface="Codec Pro Bold"/>
              </a:rPr>
              <a:t>4 Pillars of </a:t>
            </a:r>
            <a:r>
              <a:rPr lang="en-US" sz="4267" b="1" dirty="0">
                <a:solidFill>
                  <a:srgbClr val="002060"/>
                </a:solidFill>
                <a:latin typeface="Codec Pro Bold"/>
                <a:sym typeface="Codec Pro Bold"/>
              </a:rPr>
              <a:t>Expertise</a:t>
            </a:r>
          </a:p>
        </p:txBody>
      </p:sp>
      <p:sp>
        <p:nvSpPr>
          <p:cNvPr id="13" name="TextBox 13"/>
          <p:cNvSpPr txBox="1"/>
          <p:nvPr/>
        </p:nvSpPr>
        <p:spPr>
          <a:xfrm>
            <a:off x="803490" y="5558500"/>
            <a:ext cx="3403453" cy="634597"/>
          </a:xfrm>
          <a:prstGeom prst="rect">
            <a:avLst/>
          </a:prstGeom>
        </p:spPr>
        <p:txBody>
          <a:bodyPr lIns="0" tIns="0" rIns="0" bIns="0" rtlCol="0" anchor="t">
            <a:spAutoFit/>
          </a:bodyPr>
          <a:lstStyle/>
          <a:p>
            <a:pPr algn="just">
              <a:lnSpc>
                <a:spcPts val="1680"/>
              </a:lnSpc>
              <a:spcBef>
                <a:spcPct val="0"/>
              </a:spcBef>
            </a:pPr>
            <a:r>
              <a:rPr lang="en-US" sz="1200" dirty="0">
                <a:solidFill>
                  <a:schemeClr val="tx2">
                    <a:lumMod val="75000"/>
                  </a:schemeClr>
                </a:solidFill>
                <a:latin typeface="Codec Pro"/>
                <a:ea typeface="Codec Pro"/>
                <a:cs typeface="Codec Pro"/>
                <a:sym typeface="Codec Pro"/>
              </a:rPr>
              <a:t>Our goal is to build a seamlessly connected world, powered by intelligent automation and AI-driven systems</a:t>
            </a:r>
          </a:p>
        </p:txBody>
      </p:sp>
      <p:sp>
        <p:nvSpPr>
          <p:cNvPr id="14" name="Freeform 14"/>
          <p:cNvSpPr/>
          <p:nvPr/>
        </p:nvSpPr>
        <p:spPr>
          <a:xfrm>
            <a:off x="3761677" y="4915299"/>
            <a:ext cx="302324" cy="275953"/>
          </a:xfrm>
          <a:custGeom>
            <a:avLst/>
            <a:gdLst/>
            <a:ahLst/>
            <a:cxnLst/>
            <a:rect l="l" t="t" r="r" b="b"/>
            <a:pathLst>
              <a:path w="527291" h="527291">
                <a:moveTo>
                  <a:pt x="0" y="0"/>
                </a:moveTo>
                <a:lnTo>
                  <a:pt x="527291" y="0"/>
                </a:lnTo>
                <a:lnTo>
                  <a:pt x="527291" y="527291"/>
                </a:lnTo>
                <a:lnTo>
                  <a:pt x="0" y="5272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sz="1200"/>
          </a:p>
        </p:txBody>
      </p:sp>
      <p:grpSp>
        <p:nvGrpSpPr>
          <p:cNvPr id="15" name="Group 15"/>
          <p:cNvGrpSpPr/>
          <p:nvPr/>
        </p:nvGrpSpPr>
        <p:grpSpPr>
          <a:xfrm>
            <a:off x="990998" y="4932794"/>
            <a:ext cx="253574" cy="298497"/>
            <a:chOff x="0" y="0"/>
            <a:chExt cx="812800" cy="736600"/>
          </a:xfrm>
        </p:grpSpPr>
        <p:sp>
          <p:nvSpPr>
            <p:cNvPr id="16" name="Freeform 16"/>
            <p:cNvSpPr/>
            <p:nvPr/>
          </p:nvSpPr>
          <p:spPr>
            <a:xfrm>
              <a:off x="0" y="0"/>
              <a:ext cx="812800" cy="6493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17" name="TextBox 17"/>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18" name="Group 18"/>
          <p:cNvGrpSpPr/>
          <p:nvPr/>
        </p:nvGrpSpPr>
        <p:grpSpPr>
          <a:xfrm>
            <a:off x="1574928" y="4937461"/>
            <a:ext cx="247635" cy="25379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20" name="TextBox 20"/>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dirty="0"/>
            </a:p>
          </p:txBody>
        </p:sp>
      </p:grpSp>
      <p:grpSp>
        <p:nvGrpSpPr>
          <p:cNvPr id="21" name="Group 21"/>
          <p:cNvGrpSpPr/>
          <p:nvPr/>
        </p:nvGrpSpPr>
        <p:grpSpPr>
          <a:xfrm>
            <a:off x="1282098" y="4915298"/>
            <a:ext cx="326333" cy="290729"/>
            <a:chOff x="-133676" y="9525"/>
            <a:chExt cx="870276" cy="727075"/>
          </a:xfrm>
        </p:grpSpPr>
        <p:sp>
          <p:nvSpPr>
            <p:cNvPr id="22" name="Freeform 22"/>
            <p:cNvSpPr/>
            <p:nvPr/>
          </p:nvSpPr>
          <p:spPr>
            <a:xfrm>
              <a:off x="-133676" y="50298"/>
              <a:ext cx="651997" cy="64934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23" name="TextBox 23"/>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dirty="0"/>
            </a:p>
          </p:txBody>
        </p:sp>
      </p:grpSp>
      <p:grpSp>
        <p:nvGrpSpPr>
          <p:cNvPr id="24" name="Group 24"/>
          <p:cNvGrpSpPr/>
          <p:nvPr/>
        </p:nvGrpSpPr>
        <p:grpSpPr>
          <a:xfrm>
            <a:off x="5939427" y="330200"/>
            <a:ext cx="5671836" cy="1269362"/>
            <a:chOff x="0" y="0"/>
            <a:chExt cx="2254594" cy="608711"/>
          </a:xfrm>
        </p:grpSpPr>
        <p:sp>
          <p:nvSpPr>
            <p:cNvPr id="25" name="Freeform 25"/>
            <p:cNvSpPr/>
            <p:nvPr/>
          </p:nvSpPr>
          <p:spPr>
            <a:xfrm>
              <a:off x="0" y="0"/>
              <a:ext cx="2254594" cy="608711"/>
            </a:xfrm>
            <a:custGeom>
              <a:avLst/>
              <a:gdLst/>
              <a:ahLst/>
              <a:cxnLst/>
              <a:rect l="l" t="t" r="r" b="b"/>
              <a:pathLst>
                <a:path w="2254594" h="608711">
                  <a:moveTo>
                    <a:pt x="46124" y="0"/>
                  </a:moveTo>
                  <a:lnTo>
                    <a:pt x="2208471" y="0"/>
                  </a:lnTo>
                  <a:cubicBezTo>
                    <a:pt x="2220703" y="0"/>
                    <a:pt x="2232435" y="4859"/>
                    <a:pt x="2241085" y="13509"/>
                  </a:cubicBezTo>
                  <a:cubicBezTo>
                    <a:pt x="2249735" y="22159"/>
                    <a:pt x="2254594" y="33891"/>
                    <a:pt x="2254594" y="46124"/>
                  </a:cubicBezTo>
                  <a:lnTo>
                    <a:pt x="2254594" y="562588"/>
                  </a:lnTo>
                  <a:cubicBezTo>
                    <a:pt x="2254594" y="574820"/>
                    <a:pt x="2249735" y="586552"/>
                    <a:pt x="2241085" y="595202"/>
                  </a:cubicBezTo>
                  <a:cubicBezTo>
                    <a:pt x="2232435" y="603852"/>
                    <a:pt x="2220703" y="608711"/>
                    <a:pt x="2208471" y="608711"/>
                  </a:cubicBezTo>
                  <a:lnTo>
                    <a:pt x="46124" y="608711"/>
                  </a:lnTo>
                  <a:cubicBezTo>
                    <a:pt x="33891" y="608711"/>
                    <a:pt x="22159" y="603852"/>
                    <a:pt x="13509" y="595202"/>
                  </a:cubicBezTo>
                  <a:cubicBezTo>
                    <a:pt x="4859" y="586552"/>
                    <a:pt x="0" y="574820"/>
                    <a:pt x="0" y="562588"/>
                  </a:cubicBezTo>
                  <a:lnTo>
                    <a:pt x="0" y="46124"/>
                  </a:lnTo>
                  <a:cubicBezTo>
                    <a:pt x="0" y="33891"/>
                    <a:pt x="4859" y="22159"/>
                    <a:pt x="13509" y="13509"/>
                  </a:cubicBezTo>
                  <a:cubicBezTo>
                    <a:pt x="22159" y="4859"/>
                    <a:pt x="33891" y="0"/>
                    <a:pt x="46124" y="0"/>
                  </a:cubicBezTo>
                  <a:close/>
                </a:path>
              </a:pathLst>
            </a:custGeom>
            <a:solidFill>
              <a:srgbClr val="3366FF"/>
            </a:solidFill>
          </p:spPr>
          <p:txBody>
            <a:bodyPr/>
            <a:lstStyle/>
            <a:p>
              <a:endParaRPr lang="en-US" sz="1200"/>
            </a:p>
          </p:txBody>
        </p:sp>
        <p:sp>
          <p:nvSpPr>
            <p:cNvPr id="26" name="TextBox 26"/>
            <p:cNvSpPr txBox="1"/>
            <p:nvPr/>
          </p:nvSpPr>
          <p:spPr>
            <a:xfrm>
              <a:off x="0" y="-66675"/>
              <a:ext cx="2254594" cy="675386"/>
            </a:xfrm>
            <a:prstGeom prst="rect">
              <a:avLst/>
            </a:prstGeom>
          </p:spPr>
          <p:txBody>
            <a:bodyPr lIns="33867" tIns="33867" rIns="33867" bIns="33867" rtlCol="0" anchor="ctr"/>
            <a:lstStyle/>
            <a:p>
              <a:pPr algn="ctr">
                <a:lnSpc>
                  <a:spcPts val="1773"/>
                </a:lnSpc>
              </a:pPr>
              <a:endParaRPr sz="1200"/>
            </a:p>
          </p:txBody>
        </p:sp>
      </p:grpSp>
      <p:grpSp>
        <p:nvGrpSpPr>
          <p:cNvPr id="27" name="Group 27"/>
          <p:cNvGrpSpPr/>
          <p:nvPr/>
        </p:nvGrpSpPr>
        <p:grpSpPr>
          <a:xfrm>
            <a:off x="5889653" y="1633099"/>
            <a:ext cx="5736279" cy="1563043"/>
            <a:chOff x="0" y="-66675"/>
            <a:chExt cx="2254594" cy="675386"/>
          </a:xfrm>
        </p:grpSpPr>
        <p:sp>
          <p:nvSpPr>
            <p:cNvPr id="28" name="Freeform 28"/>
            <p:cNvSpPr/>
            <p:nvPr/>
          </p:nvSpPr>
          <p:spPr>
            <a:xfrm>
              <a:off x="0" y="15694"/>
              <a:ext cx="2254594" cy="593017"/>
            </a:xfrm>
            <a:custGeom>
              <a:avLst/>
              <a:gdLst/>
              <a:ahLst/>
              <a:cxnLst/>
              <a:rect l="l" t="t" r="r" b="b"/>
              <a:pathLst>
                <a:path w="2254594" h="608711">
                  <a:moveTo>
                    <a:pt x="46124" y="0"/>
                  </a:moveTo>
                  <a:lnTo>
                    <a:pt x="2208471" y="0"/>
                  </a:lnTo>
                  <a:cubicBezTo>
                    <a:pt x="2220703" y="0"/>
                    <a:pt x="2232435" y="4859"/>
                    <a:pt x="2241085" y="13509"/>
                  </a:cubicBezTo>
                  <a:cubicBezTo>
                    <a:pt x="2249735" y="22159"/>
                    <a:pt x="2254594" y="33891"/>
                    <a:pt x="2254594" y="46124"/>
                  </a:cubicBezTo>
                  <a:lnTo>
                    <a:pt x="2254594" y="562588"/>
                  </a:lnTo>
                  <a:cubicBezTo>
                    <a:pt x="2254594" y="574820"/>
                    <a:pt x="2249735" y="586552"/>
                    <a:pt x="2241085" y="595202"/>
                  </a:cubicBezTo>
                  <a:cubicBezTo>
                    <a:pt x="2232435" y="603852"/>
                    <a:pt x="2220703" y="608711"/>
                    <a:pt x="2208471" y="608711"/>
                  </a:cubicBezTo>
                  <a:lnTo>
                    <a:pt x="46124" y="608711"/>
                  </a:lnTo>
                  <a:cubicBezTo>
                    <a:pt x="33891" y="608711"/>
                    <a:pt x="22159" y="603852"/>
                    <a:pt x="13509" y="595202"/>
                  </a:cubicBezTo>
                  <a:cubicBezTo>
                    <a:pt x="4859" y="586552"/>
                    <a:pt x="0" y="574820"/>
                    <a:pt x="0" y="562588"/>
                  </a:cubicBezTo>
                  <a:lnTo>
                    <a:pt x="0" y="46124"/>
                  </a:lnTo>
                  <a:cubicBezTo>
                    <a:pt x="0" y="33891"/>
                    <a:pt x="4859" y="22159"/>
                    <a:pt x="13509" y="13509"/>
                  </a:cubicBezTo>
                  <a:cubicBezTo>
                    <a:pt x="22159" y="4859"/>
                    <a:pt x="33891" y="0"/>
                    <a:pt x="46124" y="0"/>
                  </a:cubicBezTo>
                  <a:close/>
                </a:path>
              </a:pathLst>
            </a:custGeom>
            <a:solidFill>
              <a:schemeClr val="tx2">
                <a:lumMod val="75000"/>
              </a:schemeClr>
            </a:solidFill>
          </p:spPr>
          <p:txBody>
            <a:bodyPr/>
            <a:lstStyle/>
            <a:p>
              <a:endParaRPr lang="en-US" sz="1200" dirty="0"/>
            </a:p>
          </p:txBody>
        </p:sp>
        <p:sp>
          <p:nvSpPr>
            <p:cNvPr id="29" name="TextBox 29"/>
            <p:cNvSpPr txBox="1"/>
            <p:nvPr/>
          </p:nvSpPr>
          <p:spPr>
            <a:xfrm>
              <a:off x="0" y="-66675"/>
              <a:ext cx="2254594" cy="675386"/>
            </a:xfrm>
            <a:prstGeom prst="rect">
              <a:avLst/>
            </a:prstGeom>
          </p:spPr>
          <p:txBody>
            <a:bodyPr lIns="33867" tIns="33867" rIns="33867" bIns="33867" rtlCol="0" anchor="ctr"/>
            <a:lstStyle/>
            <a:p>
              <a:pPr algn="ctr">
                <a:lnSpc>
                  <a:spcPts val="1773"/>
                </a:lnSpc>
              </a:pPr>
              <a:endParaRPr sz="1200"/>
            </a:p>
          </p:txBody>
        </p:sp>
      </p:grpSp>
      <p:grpSp>
        <p:nvGrpSpPr>
          <p:cNvPr id="30" name="Group 30"/>
          <p:cNvGrpSpPr/>
          <p:nvPr/>
        </p:nvGrpSpPr>
        <p:grpSpPr>
          <a:xfrm>
            <a:off x="5926258" y="4838336"/>
            <a:ext cx="5671837" cy="1536645"/>
            <a:chOff x="0" y="-66675"/>
            <a:chExt cx="2254594" cy="675386"/>
          </a:xfrm>
        </p:grpSpPr>
        <p:sp>
          <p:nvSpPr>
            <p:cNvPr id="31" name="Freeform 31"/>
            <p:cNvSpPr/>
            <p:nvPr/>
          </p:nvSpPr>
          <p:spPr>
            <a:xfrm>
              <a:off x="0" y="9875"/>
              <a:ext cx="2254594" cy="598836"/>
            </a:xfrm>
            <a:custGeom>
              <a:avLst/>
              <a:gdLst/>
              <a:ahLst/>
              <a:cxnLst/>
              <a:rect l="l" t="t" r="r" b="b"/>
              <a:pathLst>
                <a:path w="2254594" h="608711">
                  <a:moveTo>
                    <a:pt x="46124" y="0"/>
                  </a:moveTo>
                  <a:lnTo>
                    <a:pt x="2208471" y="0"/>
                  </a:lnTo>
                  <a:cubicBezTo>
                    <a:pt x="2220703" y="0"/>
                    <a:pt x="2232435" y="4859"/>
                    <a:pt x="2241085" y="13509"/>
                  </a:cubicBezTo>
                  <a:cubicBezTo>
                    <a:pt x="2249735" y="22159"/>
                    <a:pt x="2254594" y="33891"/>
                    <a:pt x="2254594" y="46124"/>
                  </a:cubicBezTo>
                  <a:lnTo>
                    <a:pt x="2254594" y="562588"/>
                  </a:lnTo>
                  <a:cubicBezTo>
                    <a:pt x="2254594" y="574820"/>
                    <a:pt x="2249735" y="586552"/>
                    <a:pt x="2241085" y="595202"/>
                  </a:cubicBezTo>
                  <a:cubicBezTo>
                    <a:pt x="2232435" y="603852"/>
                    <a:pt x="2220703" y="608711"/>
                    <a:pt x="2208471" y="608711"/>
                  </a:cubicBezTo>
                  <a:lnTo>
                    <a:pt x="46124" y="608711"/>
                  </a:lnTo>
                  <a:cubicBezTo>
                    <a:pt x="33891" y="608711"/>
                    <a:pt x="22159" y="603852"/>
                    <a:pt x="13509" y="595202"/>
                  </a:cubicBezTo>
                  <a:cubicBezTo>
                    <a:pt x="4859" y="586552"/>
                    <a:pt x="0" y="574820"/>
                    <a:pt x="0" y="562588"/>
                  </a:cubicBezTo>
                  <a:lnTo>
                    <a:pt x="0" y="46124"/>
                  </a:lnTo>
                  <a:cubicBezTo>
                    <a:pt x="0" y="33891"/>
                    <a:pt x="4859" y="22159"/>
                    <a:pt x="13509" y="13509"/>
                  </a:cubicBezTo>
                  <a:cubicBezTo>
                    <a:pt x="22159" y="4859"/>
                    <a:pt x="33891" y="0"/>
                    <a:pt x="46124" y="0"/>
                  </a:cubicBezTo>
                  <a:close/>
                </a:path>
              </a:pathLst>
            </a:custGeom>
            <a:solidFill>
              <a:schemeClr val="tx2">
                <a:lumMod val="75000"/>
              </a:schemeClr>
            </a:solidFill>
          </p:spPr>
          <p:txBody>
            <a:bodyPr/>
            <a:lstStyle/>
            <a:p>
              <a:endParaRPr lang="en-US" sz="1200" dirty="0"/>
            </a:p>
          </p:txBody>
        </p:sp>
        <p:sp>
          <p:nvSpPr>
            <p:cNvPr id="32" name="TextBox 32"/>
            <p:cNvSpPr txBox="1"/>
            <p:nvPr/>
          </p:nvSpPr>
          <p:spPr>
            <a:xfrm>
              <a:off x="0" y="-66675"/>
              <a:ext cx="2254594" cy="675386"/>
            </a:xfrm>
            <a:prstGeom prst="rect">
              <a:avLst/>
            </a:prstGeom>
          </p:spPr>
          <p:txBody>
            <a:bodyPr lIns="33867" tIns="33867" rIns="33867" bIns="33867" rtlCol="0" anchor="ctr"/>
            <a:lstStyle/>
            <a:p>
              <a:pPr algn="ctr">
                <a:lnSpc>
                  <a:spcPts val="1773"/>
                </a:lnSpc>
              </a:pPr>
              <a:endParaRPr sz="1200"/>
            </a:p>
          </p:txBody>
        </p:sp>
      </p:grpSp>
      <p:grpSp>
        <p:nvGrpSpPr>
          <p:cNvPr id="36" name="Group 36"/>
          <p:cNvGrpSpPr/>
          <p:nvPr/>
        </p:nvGrpSpPr>
        <p:grpSpPr>
          <a:xfrm>
            <a:off x="5396065" y="2212348"/>
            <a:ext cx="898127" cy="1071406"/>
            <a:chOff x="0" y="-66675"/>
            <a:chExt cx="354816" cy="423272"/>
          </a:xfrm>
        </p:grpSpPr>
        <p:sp>
          <p:nvSpPr>
            <p:cNvPr id="37" name="Freeform 37"/>
            <p:cNvSpPr/>
            <p:nvPr/>
          </p:nvSpPr>
          <p:spPr>
            <a:xfrm>
              <a:off x="0" y="0"/>
              <a:ext cx="354816" cy="356597"/>
            </a:xfrm>
            <a:custGeom>
              <a:avLst/>
              <a:gdLst/>
              <a:ahLst/>
              <a:cxnLst/>
              <a:rect l="l" t="t" r="r" b="b"/>
              <a:pathLst>
                <a:path w="354816" h="356597">
                  <a:moveTo>
                    <a:pt x="177408" y="0"/>
                  </a:moveTo>
                  <a:lnTo>
                    <a:pt x="177408" y="0"/>
                  </a:lnTo>
                  <a:cubicBezTo>
                    <a:pt x="275387" y="0"/>
                    <a:pt x="354816" y="79428"/>
                    <a:pt x="354816" y="177408"/>
                  </a:cubicBezTo>
                  <a:lnTo>
                    <a:pt x="354816" y="179189"/>
                  </a:lnTo>
                  <a:cubicBezTo>
                    <a:pt x="354816" y="277169"/>
                    <a:pt x="275387" y="356597"/>
                    <a:pt x="177408" y="356597"/>
                  </a:cubicBezTo>
                  <a:lnTo>
                    <a:pt x="177408" y="356597"/>
                  </a:lnTo>
                  <a:cubicBezTo>
                    <a:pt x="130356" y="356597"/>
                    <a:pt x="85232" y="337906"/>
                    <a:pt x="51962" y="304635"/>
                  </a:cubicBezTo>
                  <a:cubicBezTo>
                    <a:pt x="18691" y="271365"/>
                    <a:pt x="0" y="226240"/>
                    <a:pt x="0" y="179189"/>
                  </a:cubicBezTo>
                  <a:lnTo>
                    <a:pt x="0" y="177408"/>
                  </a:lnTo>
                  <a:cubicBezTo>
                    <a:pt x="0" y="130356"/>
                    <a:pt x="18691" y="85232"/>
                    <a:pt x="51962" y="51962"/>
                  </a:cubicBezTo>
                  <a:cubicBezTo>
                    <a:pt x="85232" y="18691"/>
                    <a:pt x="130356" y="0"/>
                    <a:pt x="177408" y="0"/>
                  </a:cubicBezTo>
                  <a:close/>
                </a:path>
              </a:pathLst>
            </a:custGeom>
            <a:solidFill>
              <a:schemeClr val="tx2">
                <a:lumMod val="75000"/>
              </a:schemeClr>
            </a:solidFill>
            <a:ln w="104775" cap="rnd">
              <a:solidFill>
                <a:srgbClr val="F8F9FC"/>
              </a:solidFill>
              <a:prstDash val="solid"/>
              <a:round/>
            </a:ln>
          </p:spPr>
          <p:txBody>
            <a:bodyPr/>
            <a:lstStyle/>
            <a:p>
              <a:endParaRPr lang="en-US" sz="1200" dirty="0"/>
            </a:p>
          </p:txBody>
        </p:sp>
        <p:sp>
          <p:nvSpPr>
            <p:cNvPr id="38" name="TextBox 38"/>
            <p:cNvSpPr txBox="1"/>
            <p:nvPr/>
          </p:nvSpPr>
          <p:spPr>
            <a:xfrm>
              <a:off x="0" y="-66675"/>
              <a:ext cx="354816" cy="423272"/>
            </a:xfrm>
            <a:prstGeom prst="rect">
              <a:avLst/>
            </a:prstGeom>
          </p:spPr>
          <p:txBody>
            <a:bodyPr lIns="33867" tIns="33867" rIns="33867" bIns="33867" rtlCol="0" anchor="ctr"/>
            <a:lstStyle/>
            <a:p>
              <a:pPr algn="ctr">
                <a:lnSpc>
                  <a:spcPts val="1773"/>
                </a:lnSpc>
              </a:pPr>
              <a:endParaRPr sz="1200"/>
            </a:p>
          </p:txBody>
        </p:sp>
      </p:grpSp>
      <p:grpSp>
        <p:nvGrpSpPr>
          <p:cNvPr id="39" name="Group 39"/>
          <p:cNvGrpSpPr/>
          <p:nvPr/>
        </p:nvGrpSpPr>
        <p:grpSpPr>
          <a:xfrm>
            <a:off x="5386976" y="5602148"/>
            <a:ext cx="892602" cy="835593"/>
            <a:chOff x="0" y="0"/>
            <a:chExt cx="354816" cy="356597"/>
          </a:xfrm>
        </p:grpSpPr>
        <p:sp>
          <p:nvSpPr>
            <p:cNvPr id="40" name="Freeform 40"/>
            <p:cNvSpPr/>
            <p:nvPr/>
          </p:nvSpPr>
          <p:spPr>
            <a:xfrm>
              <a:off x="0" y="0"/>
              <a:ext cx="354816" cy="356597"/>
            </a:xfrm>
            <a:custGeom>
              <a:avLst/>
              <a:gdLst/>
              <a:ahLst/>
              <a:cxnLst/>
              <a:rect l="l" t="t" r="r" b="b"/>
              <a:pathLst>
                <a:path w="354816" h="356597">
                  <a:moveTo>
                    <a:pt x="177408" y="0"/>
                  </a:moveTo>
                  <a:lnTo>
                    <a:pt x="177408" y="0"/>
                  </a:lnTo>
                  <a:cubicBezTo>
                    <a:pt x="275387" y="0"/>
                    <a:pt x="354816" y="79428"/>
                    <a:pt x="354816" y="177408"/>
                  </a:cubicBezTo>
                  <a:lnTo>
                    <a:pt x="354816" y="179189"/>
                  </a:lnTo>
                  <a:cubicBezTo>
                    <a:pt x="354816" y="277169"/>
                    <a:pt x="275387" y="356597"/>
                    <a:pt x="177408" y="356597"/>
                  </a:cubicBezTo>
                  <a:lnTo>
                    <a:pt x="177408" y="356597"/>
                  </a:lnTo>
                  <a:cubicBezTo>
                    <a:pt x="130356" y="356597"/>
                    <a:pt x="85232" y="337906"/>
                    <a:pt x="51962" y="304635"/>
                  </a:cubicBezTo>
                  <a:cubicBezTo>
                    <a:pt x="18691" y="271365"/>
                    <a:pt x="0" y="226240"/>
                    <a:pt x="0" y="179189"/>
                  </a:cubicBezTo>
                  <a:lnTo>
                    <a:pt x="0" y="177408"/>
                  </a:lnTo>
                  <a:cubicBezTo>
                    <a:pt x="0" y="130356"/>
                    <a:pt x="18691" y="85232"/>
                    <a:pt x="51962" y="51962"/>
                  </a:cubicBezTo>
                  <a:cubicBezTo>
                    <a:pt x="85232" y="18691"/>
                    <a:pt x="130356" y="0"/>
                    <a:pt x="177408" y="0"/>
                  </a:cubicBezTo>
                  <a:close/>
                </a:path>
              </a:pathLst>
            </a:custGeom>
            <a:solidFill>
              <a:schemeClr val="tx2">
                <a:lumMod val="75000"/>
              </a:schemeClr>
            </a:solidFill>
            <a:ln w="104775" cap="rnd">
              <a:solidFill>
                <a:srgbClr val="F8F9FC"/>
              </a:solidFill>
              <a:prstDash val="solid"/>
              <a:round/>
            </a:ln>
          </p:spPr>
          <p:txBody>
            <a:bodyPr/>
            <a:lstStyle/>
            <a:p>
              <a:endParaRPr lang="en-US" sz="1200"/>
            </a:p>
          </p:txBody>
        </p:sp>
        <p:sp>
          <p:nvSpPr>
            <p:cNvPr id="41" name="TextBox 41"/>
            <p:cNvSpPr txBox="1"/>
            <p:nvPr/>
          </p:nvSpPr>
          <p:spPr>
            <a:xfrm>
              <a:off x="0" y="-66675"/>
              <a:ext cx="354816" cy="423272"/>
            </a:xfrm>
            <a:prstGeom prst="rect">
              <a:avLst/>
            </a:prstGeom>
          </p:spPr>
          <p:txBody>
            <a:bodyPr lIns="33867" tIns="33867" rIns="33867" bIns="33867" rtlCol="0" anchor="ctr"/>
            <a:lstStyle/>
            <a:p>
              <a:pPr algn="ctr">
                <a:lnSpc>
                  <a:spcPts val="1773"/>
                </a:lnSpc>
              </a:pPr>
              <a:endParaRPr sz="1200"/>
            </a:p>
          </p:txBody>
        </p:sp>
      </p:grpSp>
      <p:sp>
        <p:nvSpPr>
          <p:cNvPr id="42" name="TextBox 42"/>
          <p:cNvSpPr txBox="1"/>
          <p:nvPr/>
        </p:nvSpPr>
        <p:spPr>
          <a:xfrm>
            <a:off x="6706933" y="469860"/>
            <a:ext cx="3023779" cy="266676"/>
          </a:xfrm>
          <a:prstGeom prst="rect">
            <a:avLst/>
          </a:prstGeom>
        </p:spPr>
        <p:txBody>
          <a:bodyPr wrap="square" lIns="0" tIns="0" rIns="0" bIns="0" rtlCol="0" anchor="t">
            <a:spAutoFit/>
          </a:bodyPr>
          <a:lstStyle/>
          <a:p>
            <a:r>
              <a:rPr lang="en-IN" sz="1733" b="1" dirty="0">
                <a:solidFill>
                  <a:srgbClr val="F8F9FC"/>
                </a:solidFill>
                <a:latin typeface="Codec Pro"/>
              </a:rPr>
              <a:t>AI Transformation</a:t>
            </a:r>
          </a:p>
        </p:txBody>
      </p:sp>
      <p:sp>
        <p:nvSpPr>
          <p:cNvPr id="43" name="TextBox 43"/>
          <p:cNvSpPr txBox="1"/>
          <p:nvPr/>
        </p:nvSpPr>
        <p:spPr>
          <a:xfrm>
            <a:off x="6620175" y="2029552"/>
            <a:ext cx="2471488" cy="266676"/>
          </a:xfrm>
          <a:prstGeom prst="rect">
            <a:avLst/>
          </a:prstGeom>
        </p:spPr>
        <p:txBody>
          <a:bodyPr wrap="square" lIns="0" tIns="0" rIns="0" bIns="0" rtlCol="0" anchor="t">
            <a:spAutoFit/>
          </a:bodyPr>
          <a:lstStyle/>
          <a:p>
            <a:r>
              <a:rPr lang="en-IN" sz="1733" b="1" dirty="0">
                <a:solidFill>
                  <a:schemeClr val="bg1"/>
                </a:solidFill>
                <a:latin typeface="Codec Pro" panose="020B0604020202020204" charset="0"/>
              </a:rPr>
              <a:t>Software Development</a:t>
            </a:r>
          </a:p>
        </p:txBody>
      </p:sp>
      <p:sp>
        <p:nvSpPr>
          <p:cNvPr id="44" name="TextBox 44"/>
          <p:cNvSpPr txBox="1"/>
          <p:nvPr/>
        </p:nvSpPr>
        <p:spPr>
          <a:xfrm>
            <a:off x="6587633" y="5196619"/>
            <a:ext cx="2716628" cy="218008"/>
          </a:xfrm>
          <a:prstGeom prst="rect">
            <a:avLst/>
          </a:prstGeom>
        </p:spPr>
        <p:txBody>
          <a:bodyPr wrap="square" lIns="0" tIns="0" rIns="0" bIns="0" rtlCol="0" anchor="t">
            <a:spAutoFit/>
          </a:bodyPr>
          <a:lstStyle/>
          <a:p>
            <a:pPr algn="just">
              <a:lnSpc>
                <a:spcPts val="1680"/>
              </a:lnSpc>
              <a:spcBef>
                <a:spcPct val="0"/>
              </a:spcBef>
            </a:pPr>
            <a:r>
              <a:rPr lang="en-US" sz="1733" b="1" dirty="0">
                <a:solidFill>
                  <a:srgbClr val="F8F9FC"/>
                </a:solidFill>
                <a:latin typeface="Codec Pro Bold"/>
                <a:ea typeface="Codec Pro Bold"/>
                <a:cs typeface="Codec Pro Bold"/>
                <a:sym typeface="Codec Pro Bold"/>
              </a:rPr>
              <a:t>Talent Solutions</a:t>
            </a:r>
          </a:p>
        </p:txBody>
      </p:sp>
      <p:sp>
        <p:nvSpPr>
          <p:cNvPr id="45" name="TextBox 45"/>
          <p:cNvSpPr txBox="1"/>
          <p:nvPr/>
        </p:nvSpPr>
        <p:spPr>
          <a:xfrm>
            <a:off x="6726068" y="792203"/>
            <a:ext cx="4288563" cy="634597"/>
          </a:xfrm>
          <a:prstGeom prst="rect">
            <a:avLst/>
          </a:prstGeom>
        </p:spPr>
        <p:txBody>
          <a:bodyPr wrap="square" lIns="0" tIns="0" rIns="0" bIns="0" rtlCol="0" anchor="t">
            <a:spAutoFit/>
          </a:bodyPr>
          <a:lstStyle/>
          <a:p>
            <a:pPr algn="just">
              <a:lnSpc>
                <a:spcPts val="1680"/>
              </a:lnSpc>
              <a:spcBef>
                <a:spcPct val="0"/>
              </a:spcBef>
            </a:pPr>
            <a:r>
              <a:rPr lang="en-US" sz="1200" dirty="0">
                <a:solidFill>
                  <a:srgbClr val="F8F9FC"/>
                </a:solidFill>
                <a:latin typeface="Codec Pro"/>
                <a:ea typeface="Codec Pro"/>
                <a:cs typeface="Codec Pro"/>
                <a:sym typeface="Codec Pro"/>
              </a:rPr>
              <a:t>Transforming business operations through adaptive AI applications engineered for intelligence, scale, and real-world impact</a:t>
            </a:r>
          </a:p>
        </p:txBody>
      </p:sp>
      <p:sp>
        <p:nvSpPr>
          <p:cNvPr id="46" name="TextBox 46"/>
          <p:cNvSpPr txBox="1"/>
          <p:nvPr/>
        </p:nvSpPr>
        <p:spPr>
          <a:xfrm>
            <a:off x="6620175" y="2360746"/>
            <a:ext cx="4337288" cy="416589"/>
          </a:xfrm>
          <a:prstGeom prst="rect">
            <a:avLst/>
          </a:prstGeom>
        </p:spPr>
        <p:txBody>
          <a:bodyPr wrap="square" lIns="0" tIns="0" rIns="0" bIns="0" rtlCol="0" anchor="t">
            <a:spAutoFit/>
          </a:bodyPr>
          <a:lstStyle/>
          <a:p>
            <a:pPr algn="just">
              <a:lnSpc>
                <a:spcPts val="1680"/>
              </a:lnSpc>
              <a:spcBef>
                <a:spcPct val="0"/>
              </a:spcBef>
            </a:pPr>
            <a:r>
              <a:rPr lang="en-US" sz="1200" dirty="0">
                <a:solidFill>
                  <a:srgbClr val="F8F9FC"/>
                </a:solidFill>
                <a:latin typeface="Codec Pro"/>
                <a:ea typeface="Codec Pro"/>
                <a:cs typeface="Codec Pro"/>
                <a:sym typeface="Codec Pro"/>
              </a:rPr>
              <a:t>Designing and developing high-performance software platforms that transform ideas into reliable, scalable digital products</a:t>
            </a:r>
          </a:p>
        </p:txBody>
      </p:sp>
      <p:sp>
        <p:nvSpPr>
          <p:cNvPr id="47" name="TextBox 47"/>
          <p:cNvSpPr txBox="1"/>
          <p:nvPr/>
        </p:nvSpPr>
        <p:spPr>
          <a:xfrm>
            <a:off x="6603888" y="5446942"/>
            <a:ext cx="4288563" cy="634597"/>
          </a:xfrm>
          <a:prstGeom prst="rect">
            <a:avLst/>
          </a:prstGeom>
        </p:spPr>
        <p:txBody>
          <a:bodyPr wrap="square" lIns="0" tIns="0" rIns="0" bIns="0" rtlCol="0" anchor="t">
            <a:spAutoFit/>
          </a:bodyPr>
          <a:lstStyle/>
          <a:p>
            <a:pPr algn="just">
              <a:lnSpc>
                <a:spcPts val="1680"/>
              </a:lnSpc>
              <a:spcBef>
                <a:spcPct val="0"/>
              </a:spcBef>
            </a:pPr>
            <a:r>
              <a:rPr lang="en-US" sz="1200" dirty="0">
                <a:solidFill>
                  <a:srgbClr val="F8F9FC"/>
                </a:solidFill>
                <a:latin typeface="Codec Pro"/>
                <a:ea typeface="Codec Pro"/>
                <a:cs typeface="Codec Pro"/>
                <a:sym typeface="Codec Pro"/>
              </a:rPr>
              <a:t>Delivering comprehensive solutions across workforce management, meticulously engineered to align with dynamic business priorities and enterprise-scale strategic imperatives</a:t>
            </a:r>
          </a:p>
        </p:txBody>
      </p:sp>
      <p:sp>
        <p:nvSpPr>
          <p:cNvPr id="48" name="TextBox 48"/>
          <p:cNvSpPr txBox="1"/>
          <p:nvPr/>
        </p:nvSpPr>
        <p:spPr>
          <a:xfrm>
            <a:off x="5383142" y="1138273"/>
            <a:ext cx="631629" cy="456856"/>
          </a:xfrm>
          <a:prstGeom prst="rect">
            <a:avLst/>
          </a:prstGeom>
        </p:spPr>
        <p:txBody>
          <a:bodyPr wrap="square" lIns="0" tIns="0" rIns="0" bIns="0" rtlCol="0" anchor="t">
            <a:spAutoFit/>
          </a:bodyPr>
          <a:lstStyle/>
          <a:p>
            <a:pPr algn="ctr">
              <a:lnSpc>
                <a:spcPts val="3920"/>
              </a:lnSpc>
              <a:spcBef>
                <a:spcPct val="0"/>
              </a:spcBef>
            </a:pPr>
            <a:r>
              <a:rPr lang="en-US" sz="2800" b="1" dirty="0">
                <a:solidFill>
                  <a:srgbClr val="F8F9FC"/>
                </a:solidFill>
                <a:latin typeface="Codec Pro Bold"/>
                <a:ea typeface="Codec Pro Bold"/>
                <a:cs typeface="Codec Pro Bold"/>
                <a:sym typeface="Codec Pro Bold"/>
              </a:rPr>
              <a:t>01</a:t>
            </a:r>
          </a:p>
        </p:txBody>
      </p:sp>
      <p:sp>
        <p:nvSpPr>
          <p:cNvPr id="49" name="TextBox 49"/>
          <p:cNvSpPr txBox="1"/>
          <p:nvPr/>
        </p:nvSpPr>
        <p:spPr>
          <a:xfrm>
            <a:off x="5525726" y="2545322"/>
            <a:ext cx="638805" cy="456856"/>
          </a:xfrm>
          <a:prstGeom prst="rect">
            <a:avLst/>
          </a:prstGeom>
        </p:spPr>
        <p:txBody>
          <a:bodyPr wrap="square" lIns="0" tIns="0" rIns="0" bIns="0" rtlCol="0" anchor="t">
            <a:spAutoFit/>
          </a:bodyPr>
          <a:lstStyle/>
          <a:p>
            <a:pPr algn="ctr">
              <a:lnSpc>
                <a:spcPts val="3920"/>
              </a:lnSpc>
              <a:spcBef>
                <a:spcPct val="0"/>
              </a:spcBef>
            </a:pPr>
            <a:r>
              <a:rPr lang="en-US" sz="2800" b="1" dirty="0">
                <a:solidFill>
                  <a:srgbClr val="F8F9FC"/>
                </a:solidFill>
                <a:latin typeface="Codec Pro Bold"/>
                <a:ea typeface="Codec Pro Bold"/>
                <a:cs typeface="Codec Pro Bold"/>
                <a:sym typeface="Codec Pro Bold"/>
              </a:rPr>
              <a:t>02</a:t>
            </a:r>
          </a:p>
        </p:txBody>
      </p:sp>
      <p:sp>
        <p:nvSpPr>
          <p:cNvPr id="50" name="TextBox 50"/>
          <p:cNvSpPr txBox="1"/>
          <p:nvPr/>
        </p:nvSpPr>
        <p:spPr>
          <a:xfrm>
            <a:off x="5518270" y="5746125"/>
            <a:ext cx="631629" cy="456856"/>
          </a:xfrm>
          <a:prstGeom prst="rect">
            <a:avLst/>
          </a:prstGeom>
        </p:spPr>
        <p:txBody>
          <a:bodyPr wrap="square" lIns="0" tIns="0" rIns="0" bIns="0" rtlCol="0" anchor="t">
            <a:spAutoFit/>
          </a:bodyPr>
          <a:lstStyle/>
          <a:p>
            <a:pPr algn="ctr">
              <a:lnSpc>
                <a:spcPts val="3920"/>
              </a:lnSpc>
              <a:spcBef>
                <a:spcPct val="0"/>
              </a:spcBef>
            </a:pPr>
            <a:r>
              <a:rPr lang="en-US" sz="2800" b="1" dirty="0">
                <a:solidFill>
                  <a:srgbClr val="F8F9FC"/>
                </a:solidFill>
                <a:latin typeface="Codec Pro Bold"/>
                <a:ea typeface="Codec Pro Bold"/>
                <a:cs typeface="Codec Pro Bold"/>
                <a:sym typeface="Codec Pro Bold"/>
              </a:rPr>
              <a:t>04</a:t>
            </a:r>
          </a:p>
        </p:txBody>
      </p:sp>
      <p:sp>
        <p:nvSpPr>
          <p:cNvPr id="53" name="TextBox 52">
            <a:extLst>
              <a:ext uri="{FF2B5EF4-FFF2-40B4-BE49-F238E27FC236}">
                <a16:creationId xmlns:a16="http://schemas.microsoft.com/office/drawing/2014/main" id="{B2A3138A-BB4B-BB6B-CACC-51F5BC340BAA}"/>
              </a:ext>
            </a:extLst>
          </p:cNvPr>
          <p:cNvSpPr txBox="1"/>
          <p:nvPr/>
        </p:nvSpPr>
        <p:spPr>
          <a:xfrm>
            <a:off x="974688" y="1397590"/>
            <a:ext cx="3089313" cy="1405641"/>
          </a:xfrm>
          <a:prstGeom prst="rect">
            <a:avLst/>
          </a:prstGeom>
          <a:noFill/>
        </p:spPr>
        <p:txBody>
          <a:bodyPr wrap="square">
            <a:spAutoFit/>
          </a:bodyPr>
          <a:lstStyle/>
          <a:p>
            <a:r>
              <a:rPr lang="en-IN" sz="4267" b="1" dirty="0">
                <a:solidFill>
                  <a:srgbClr val="0066FF"/>
                </a:solidFill>
                <a:latin typeface="Codec Pro Bold"/>
              </a:rPr>
              <a:t>1 Trusted </a:t>
            </a:r>
          </a:p>
          <a:p>
            <a:r>
              <a:rPr lang="en-IN" sz="4267" b="1" dirty="0">
                <a:solidFill>
                  <a:srgbClr val="002060"/>
                </a:solidFill>
                <a:latin typeface="Codec Pro Bold"/>
              </a:rPr>
              <a:t>Partner</a:t>
            </a:r>
          </a:p>
        </p:txBody>
      </p:sp>
      <p:sp>
        <p:nvSpPr>
          <p:cNvPr id="4" name="AutoShape 2">
            <a:extLst>
              <a:ext uri="{FF2B5EF4-FFF2-40B4-BE49-F238E27FC236}">
                <a16:creationId xmlns:a16="http://schemas.microsoft.com/office/drawing/2014/main" id="{4D662893-36C7-3943-C125-374F880B85A3}"/>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dirty="0"/>
          </a:p>
        </p:txBody>
      </p:sp>
      <p:sp>
        <p:nvSpPr>
          <p:cNvPr id="11" name="TextBox 7">
            <a:extLst>
              <a:ext uri="{FF2B5EF4-FFF2-40B4-BE49-F238E27FC236}">
                <a16:creationId xmlns:a16="http://schemas.microsoft.com/office/drawing/2014/main" id="{DB13727C-E90A-D433-ECE3-AC949360FB8F}"/>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52" name="TextBox 9">
            <a:extLst>
              <a:ext uri="{FF2B5EF4-FFF2-40B4-BE49-F238E27FC236}">
                <a16:creationId xmlns:a16="http://schemas.microsoft.com/office/drawing/2014/main" id="{A17CF9BD-D0DD-6AED-CEC0-E01EB4688982}"/>
              </a:ext>
            </a:extLst>
          </p:cNvPr>
          <p:cNvSpPr txBox="1"/>
          <p:nvPr/>
        </p:nvSpPr>
        <p:spPr>
          <a:xfrm>
            <a:off x="641880" y="6538570"/>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grpSp>
        <p:nvGrpSpPr>
          <p:cNvPr id="107" name="Group 24">
            <a:extLst>
              <a:ext uri="{FF2B5EF4-FFF2-40B4-BE49-F238E27FC236}">
                <a16:creationId xmlns:a16="http://schemas.microsoft.com/office/drawing/2014/main" id="{4D0E5AFC-EF60-4BED-9A30-1518C1774242}"/>
              </a:ext>
            </a:extLst>
          </p:cNvPr>
          <p:cNvGrpSpPr/>
          <p:nvPr/>
        </p:nvGrpSpPr>
        <p:grpSpPr>
          <a:xfrm>
            <a:off x="5954095" y="3385354"/>
            <a:ext cx="5671836" cy="1403141"/>
            <a:chOff x="0" y="0"/>
            <a:chExt cx="2254594" cy="608711"/>
          </a:xfrm>
        </p:grpSpPr>
        <p:sp>
          <p:nvSpPr>
            <p:cNvPr id="108" name="Freeform 25">
              <a:extLst>
                <a:ext uri="{FF2B5EF4-FFF2-40B4-BE49-F238E27FC236}">
                  <a16:creationId xmlns:a16="http://schemas.microsoft.com/office/drawing/2014/main" id="{E38B1395-2313-4EB3-9B95-923C35001DB2}"/>
                </a:ext>
              </a:extLst>
            </p:cNvPr>
            <p:cNvSpPr/>
            <p:nvPr/>
          </p:nvSpPr>
          <p:spPr>
            <a:xfrm>
              <a:off x="0" y="0"/>
              <a:ext cx="2254594" cy="608711"/>
            </a:xfrm>
            <a:custGeom>
              <a:avLst/>
              <a:gdLst/>
              <a:ahLst/>
              <a:cxnLst/>
              <a:rect l="l" t="t" r="r" b="b"/>
              <a:pathLst>
                <a:path w="2254594" h="608711">
                  <a:moveTo>
                    <a:pt x="46124" y="0"/>
                  </a:moveTo>
                  <a:lnTo>
                    <a:pt x="2208471" y="0"/>
                  </a:lnTo>
                  <a:cubicBezTo>
                    <a:pt x="2220703" y="0"/>
                    <a:pt x="2232435" y="4859"/>
                    <a:pt x="2241085" y="13509"/>
                  </a:cubicBezTo>
                  <a:cubicBezTo>
                    <a:pt x="2249735" y="22159"/>
                    <a:pt x="2254594" y="33891"/>
                    <a:pt x="2254594" y="46124"/>
                  </a:cubicBezTo>
                  <a:lnTo>
                    <a:pt x="2254594" y="562588"/>
                  </a:lnTo>
                  <a:cubicBezTo>
                    <a:pt x="2254594" y="574820"/>
                    <a:pt x="2249735" y="586552"/>
                    <a:pt x="2241085" y="595202"/>
                  </a:cubicBezTo>
                  <a:cubicBezTo>
                    <a:pt x="2232435" y="603852"/>
                    <a:pt x="2220703" y="608711"/>
                    <a:pt x="2208471" y="608711"/>
                  </a:cubicBezTo>
                  <a:lnTo>
                    <a:pt x="46124" y="608711"/>
                  </a:lnTo>
                  <a:cubicBezTo>
                    <a:pt x="33891" y="608711"/>
                    <a:pt x="22159" y="603852"/>
                    <a:pt x="13509" y="595202"/>
                  </a:cubicBezTo>
                  <a:cubicBezTo>
                    <a:pt x="4859" y="586552"/>
                    <a:pt x="0" y="574820"/>
                    <a:pt x="0" y="562588"/>
                  </a:cubicBezTo>
                  <a:lnTo>
                    <a:pt x="0" y="46124"/>
                  </a:lnTo>
                  <a:cubicBezTo>
                    <a:pt x="0" y="33891"/>
                    <a:pt x="4859" y="22159"/>
                    <a:pt x="13509" y="13509"/>
                  </a:cubicBezTo>
                  <a:cubicBezTo>
                    <a:pt x="22159" y="4859"/>
                    <a:pt x="33891" y="0"/>
                    <a:pt x="46124" y="0"/>
                  </a:cubicBezTo>
                  <a:close/>
                </a:path>
              </a:pathLst>
            </a:custGeom>
            <a:solidFill>
              <a:srgbClr val="3366FF"/>
            </a:solidFill>
          </p:spPr>
          <p:txBody>
            <a:bodyPr/>
            <a:lstStyle/>
            <a:p>
              <a:endParaRPr lang="en-US" sz="1200" dirty="0"/>
            </a:p>
          </p:txBody>
        </p:sp>
        <p:sp>
          <p:nvSpPr>
            <p:cNvPr id="109" name="TextBox 26">
              <a:extLst>
                <a:ext uri="{FF2B5EF4-FFF2-40B4-BE49-F238E27FC236}">
                  <a16:creationId xmlns:a16="http://schemas.microsoft.com/office/drawing/2014/main" id="{63D996E5-A06E-4338-9D73-505784DFD131}"/>
                </a:ext>
              </a:extLst>
            </p:cNvPr>
            <p:cNvSpPr txBox="1"/>
            <p:nvPr/>
          </p:nvSpPr>
          <p:spPr>
            <a:xfrm>
              <a:off x="0" y="-66675"/>
              <a:ext cx="2254594" cy="675386"/>
            </a:xfrm>
            <a:prstGeom prst="rect">
              <a:avLst/>
            </a:prstGeom>
          </p:spPr>
          <p:txBody>
            <a:bodyPr lIns="33867" tIns="33867" rIns="33867" bIns="33867" rtlCol="0" anchor="ctr"/>
            <a:lstStyle/>
            <a:p>
              <a:pPr algn="ctr">
                <a:lnSpc>
                  <a:spcPts val="1773"/>
                </a:lnSpc>
              </a:pPr>
              <a:endParaRPr sz="1200"/>
            </a:p>
          </p:txBody>
        </p:sp>
      </p:grpSp>
      <p:grpSp>
        <p:nvGrpSpPr>
          <p:cNvPr id="110" name="Group 33">
            <a:extLst>
              <a:ext uri="{FF2B5EF4-FFF2-40B4-BE49-F238E27FC236}">
                <a16:creationId xmlns:a16="http://schemas.microsoft.com/office/drawing/2014/main" id="{E1F51FE8-CAAD-4CBE-80B8-D67535E2E481}"/>
              </a:ext>
            </a:extLst>
          </p:cNvPr>
          <p:cNvGrpSpPr/>
          <p:nvPr/>
        </p:nvGrpSpPr>
        <p:grpSpPr>
          <a:xfrm>
            <a:off x="5486400" y="4013598"/>
            <a:ext cx="892602" cy="821991"/>
            <a:chOff x="0" y="0"/>
            <a:chExt cx="354816" cy="356597"/>
          </a:xfrm>
        </p:grpSpPr>
        <p:sp>
          <p:nvSpPr>
            <p:cNvPr id="111" name="Freeform 34">
              <a:extLst>
                <a:ext uri="{FF2B5EF4-FFF2-40B4-BE49-F238E27FC236}">
                  <a16:creationId xmlns:a16="http://schemas.microsoft.com/office/drawing/2014/main" id="{1120D865-2928-40F6-BE62-CB733DEE1692}"/>
                </a:ext>
              </a:extLst>
            </p:cNvPr>
            <p:cNvSpPr/>
            <p:nvPr/>
          </p:nvSpPr>
          <p:spPr>
            <a:xfrm>
              <a:off x="0" y="0"/>
              <a:ext cx="354816" cy="356597"/>
            </a:xfrm>
            <a:custGeom>
              <a:avLst/>
              <a:gdLst/>
              <a:ahLst/>
              <a:cxnLst/>
              <a:rect l="l" t="t" r="r" b="b"/>
              <a:pathLst>
                <a:path w="354816" h="356597">
                  <a:moveTo>
                    <a:pt x="177408" y="0"/>
                  </a:moveTo>
                  <a:lnTo>
                    <a:pt x="177408" y="0"/>
                  </a:lnTo>
                  <a:cubicBezTo>
                    <a:pt x="275387" y="0"/>
                    <a:pt x="354816" y="79428"/>
                    <a:pt x="354816" y="177408"/>
                  </a:cubicBezTo>
                  <a:lnTo>
                    <a:pt x="354816" y="179189"/>
                  </a:lnTo>
                  <a:cubicBezTo>
                    <a:pt x="354816" y="277169"/>
                    <a:pt x="275387" y="356597"/>
                    <a:pt x="177408" y="356597"/>
                  </a:cubicBezTo>
                  <a:lnTo>
                    <a:pt x="177408" y="356597"/>
                  </a:lnTo>
                  <a:cubicBezTo>
                    <a:pt x="130356" y="356597"/>
                    <a:pt x="85232" y="337906"/>
                    <a:pt x="51962" y="304635"/>
                  </a:cubicBezTo>
                  <a:cubicBezTo>
                    <a:pt x="18691" y="271365"/>
                    <a:pt x="0" y="226240"/>
                    <a:pt x="0" y="179189"/>
                  </a:cubicBezTo>
                  <a:lnTo>
                    <a:pt x="0" y="177408"/>
                  </a:lnTo>
                  <a:cubicBezTo>
                    <a:pt x="0" y="130356"/>
                    <a:pt x="18691" y="85232"/>
                    <a:pt x="51962" y="51962"/>
                  </a:cubicBezTo>
                  <a:cubicBezTo>
                    <a:pt x="85232" y="18691"/>
                    <a:pt x="130356" y="0"/>
                    <a:pt x="177408" y="0"/>
                  </a:cubicBezTo>
                  <a:close/>
                </a:path>
              </a:pathLst>
            </a:custGeom>
            <a:solidFill>
              <a:srgbClr val="2979FF"/>
            </a:solidFill>
            <a:ln w="104775" cap="rnd">
              <a:solidFill>
                <a:srgbClr val="F8F9FC"/>
              </a:solidFill>
              <a:prstDash val="solid"/>
              <a:round/>
            </a:ln>
          </p:spPr>
          <p:txBody>
            <a:bodyPr/>
            <a:lstStyle/>
            <a:p>
              <a:endParaRPr lang="en-US" sz="1200"/>
            </a:p>
          </p:txBody>
        </p:sp>
        <p:sp>
          <p:nvSpPr>
            <p:cNvPr id="112" name="TextBox 35">
              <a:extLst>
                <a:ext uri="{FF2B5EF4-FFF2-40B4-BE49-F238E27FC236}">
                  <a16:creationId xmlns:a16="http://schemas.microsoft.com/office/drawing/2014/main" id="{DE4115D2-1E89-49D1-8BDB-07C2EB87CE05}"/>
                </a:ext>
              </a:extLst>
            </p:cNvPr>
            <p:cNvSpPr txBox="1"/>
            <p:nvPr/>
          </p:nvSpPr>
          <p:spPr>
            <a:xfrm>
              <a:off x="0" y="-66675"/>
              <a:ext cx="354816" cy="423272"/>
            </a:xfrm>
            <a:prstGeom prst="rect">
              <a:avLst/>
            </a:prstGeom>
          </p:spPr>
          <p:txBody>
            <a:bodyPr lIns="33867" tIns="33867" rIns="33867" bIns="33867" rtlCol="0" anchor="ctr"/>
            <a:lstStyle/>
            <a:p>
              <a:pPr algn="ctr">
                <a:lnSpc>
                  <a:spcPts val="1773"/>
                </a:lnSpc>
              </a:pPr>
              <a:endParaRPr sz="1200"/>
            </a:p>
          </p:txBody>
        </p:sp>
      </p:grpSp>
      <p:sp>
        <p:nvSpPr>
          <p:cNvPr id="113" name="TextBox 42">
            <a:extLst>
              <a:ext uri="{FF2B5EF4-FFF2-40B4-BE49-F238E27FC236}">
                <a16:creationId xmlns:a16="http://schemas.microsoft.com/office/drawing/2014/main" id="{D37076EF-0B1D-42FB-B045-F8EFBA0E3045}"/>
              </a:ext>
            </a:extLst>
          </p:cNvPr>
          <p:cNvSpPr txBox="1"/>
          <p:nvPr/>
        </p:nvSpPr>
        <p:spPr>
          <a:xfrm>
            <a:off x="6726069" y="3624901"/>
            <a:ext cx="3023779" cy="266676"/>
          </a:xfrm>
          <a:prstGeom prst="rect">
            <a:avLst/>
          </a:prstGeom>
        </p:spPr>
        <p:txBody>
          <a:bodyPr wrap="square" lIns="0" tIns="0" rIns="0" bIns="0" rtlCol="0" anchor="t">
            <a:spAutoFit/>
          </a:bodyPr>
          <a:lstStyle/>
          <a:p>
            <a:r>
              <a:rPr lang="en-IN" sz="1733" b="1" dirty="0">
                <a:solidFill>
                  <a:srgbClr val="F8F9FC"/>
                </a:solidFill>
                <a:latin typeface="Codec Pro"/>
              </a:rPr>
              <a:t>Infrastructure Engineering</a:t>
            </a:r>
          </a:p>
        </p:txBody>
      </p:sp>
      <p:sp>
        <p:nvSpPr>
          <p:cNvPr id="114" name="TextBox 45">
            <a:extLst>
              <a:ext uri="{FF2B5EF4-FFF2-40B4-BE49-F238E27FC236}">
                <a16:creationId xmlns:a16="http://schemas.microsoft.com/office/drawing/2014/main" id="{E93BDF4E-8183-42E7-BF42-DE8770F6269A}"/>
              </a:ext>
            </a:extLst>
          </p:cNvPr>
          <p:cNvSpPr txBox="1"/>
          <p:nvPr/>
        </p:nvSpPr>
        <p:spPr>
          <a:xfrm>
            <a:off x="6726068" y="3934735"/>
            <a:ext cx="4288563" cy="634597"/>
          </a:xfrm>
          <a:prstGeom prst="rect">
            <a:avLst/>
          </a:prstGeom>
        </p:spPr>
        <p:txBody>
          <a:bodyPr wrap="square" lIns="0" tIns="0" rIns="0" bIns="0" rtlCol="0" anchor="t">
            <a:spAutoFit/>
          </a:bodyPr>
          <a:lstStyle/>
          <a:p>
            <a:pPr algn="just">
              <a:lnSpc>
                <a:spcPts val="1680"/>
              </a:lnSpc>
              <a:spcBef>
                <a:spcPct val="0"/>
              </a:spcBef>
            </a:pPr>
            <a:r>
              <a:rPr lang="en-US" sz="1200" dirty="0">
                <a:solidFill>
                  <a:srgbClr val="F8F9FC"/>
                </a:solidFill>
                <a:latin typeface="Codec Pro"/>
                <a:ea typeface="Codec Pro"/>
                <a:cs typeface="Codec Pro"/>
                <a:sym typeface="Codec Pro"/>
              </a:rPr>
              <a:t>Building secure, resilient and cloud ready infrastructure that powers high performance applications with reliability, scalability and operational excellence</a:t>
            </a:r>
          </a:p>
        </p:txBody>
      </p:sp>
      <p:sp>
        <p:nvSpPr>
          <p:cNvPr id="115" name="TextBox 48">
            <a:extLst>
              <a:ext uri="{FF2B5EF4-FFF2-40B4-BE49-F238E27FC236}">
                <a16:creationId xmlns:a16="http://schemas.microsoft.com/office/drawing/2014/main" id="{A61F5381-F84F-44DB-B921-60E046F21EBE}"/>
              </a:ext>
            </a:extLst>
          </p:cNvPr>
          <p:cNvSpPr txBox="1"/>
          <p:nvPr/>
        </p:nvSpPr>
        <p:spPr>
          <a:xfrm>
            <a:off x="5610444" y="4169001"/>
            <a:ext cx="631629" cy="456856"/>
          </a:xfrm>
          <a:prstGeom prst="rect">
            <a:avLst/>
          </a:prstGeom>
        </p:spPr>
        <p:txBody>
          <a:bodyPr wrap="square" lIns="0" tIns="0" rIns="0" bIns="0" rtlCol="0" anchor="t">
            <a:spAutoFit/>
          </a:bodyPr>
          <a:lstStyle/>
          <a:p>
            <a:pPr algn="ctr">
              <a:lnSpc>
                <a:spcPts val="3920"/>
              </a:lnSpc>
              <a:spcBef>
                <a:spcPct val="0"/>
              </a:spcBef>
            </a:pPr>
            <a:r>
              <a:rPr lang="en-US" sz="2800" b="1" dirty="0">
                <a:solidFill>
                  <a:srgbClr val="F8F9FC"/>
                </a:solidFill>
                <a:latin typeface="Codec Pro Bold"/>
                <a:ea typeface="Codec Pro Bold"/>
                <a:cs typeface="Codec Pro Bold"/>
                <a:sym typeface="Codec Pro Bold"/>
              </a:rPr>
              <a:t>03</a:t>
            </a:r>
          </a:p>
        </p:txBody>
      </p:sp>
      <p:grpSp>
        <p:nvGrpSpPr>
          <p:cNvPr id="2" name="Group 33">
            <a:extLst>
              <a:ext uri="{FF2B5EF4-FFF2-40B4-BE49-F238E27FC236}">
                <a16:creationId xmlns:a16="http://schemas.microsoft.com/office/drawing/2014/main" id="{48D704E1-B2CF-7877-D66B-B59C153453CA}"/>
              </a:ext>
            </a:extLst>
          </p:cNvPr>
          <p:cNvGrpSpPr/>
          <p:nvPr/>
        </p:nvGrpSpPr>
        <p:grpSpPr>
          <a:xfrm>
            <a:off x="5337012" y="802505"/>
            <a:ext cx="892602" cy="821991"/>
            <a:chOff x="0" y="0"/>
            <a:chExt cx="354816" cy="356597"/>
          </a:xfrm>
        </p:grpSpPr>
        <p:sp>
          <p:nvSpPr>
            <p:cNvPr id="3" name="Freeform 34">
              <a:extLst>
                <a:ext uri="{FF2B5EF4-FFF2-40B4-BE49-F238E27FC236}">
                  <a16:creationId xmlns:a16="http://schemas.microsoft.com/office/drawing/2014/main" id="{ADB6F142-9D2F-6191-9754-134C2B9BF4B8}"/>
                </a:ext>
              </a:extLst>
            </p:cNvPr>
            <p:cNvSpPr/>
            <p:nvPr/>
          </p:nvSpPr>
          <p:spPr>
            <a:xfrm>
              <a:off x="0" y="0"/>
              <a:ext cx="354816" cy="356597"/>
            </a:xfrm>
            <a:custGeom>
              <a:avLst/>
              <a:gdLst/>
              <a:ahLst/>
              <a:cxnLst/>
              <a:rect l="l" t="t" r="r" b="b"/>
              <a:pathLst>
                <a:path w="354816" h="356597">
                  <a:moveTo>
                    <a:pt x="177408" y="0"/>
                  </a:moveTo>
                  <a:lnTo>
                    <a:pt x="177408" y="0"/>
                  </a:lnTo>
                  <a:cubicBezTo>
                    <a:pt x="275387" y="0"/>
                    <a:pt x="354816" y="79428"/>
                    <a:pt x="354816" y="177408"/>
                  </a:cubicBezTo>
                  <a:lnTo>
                    <a:pt x="354816" y="179189"/>
                  </a:lnTo>
                  <a:cubicBezTo>
                    <a:pt x="354816" y="277169"/>
                    <a:pt x="275387" y="356597"/>
                    <a:pt x="177408" y="356597"/>
                  </a:cubicBezTo>
                  <a:lnTo>
                    <a:pt x="177408" y="356597"/>
                  </a:lnTo>
                  <a:cubicBezTo>
                    <a:pt x="130356" y="356597"/>
                    <a:pt x="85232" y="337906"/>
                    <a:pt x="51962" y="304635"/>
                  </a:cubicBezTo>
                  <a:cubicBezTo>
                    <a:pt x="18691" y="271365"/>
                    <a:pt x="0" y="226240"/>
                    <a:pt x="0" y="179189"/>
                  </a:cubicBezTo>
                  <a:lnTo>
                    <a:pt x="0" y="177408"/>
                  </a:lnTo>
                  <a:cubicBezTo>
                    <a:pt x="0" y="130356"/>
                    <a:pt x="18691" y="85232"/>
                    <a:pt x="51962" y="51962"/>
                  </a:cubicBezTo>
                  <a:cubicBezTo>
                    <a:pt x="85232" y="18691"/>
                    <a:pt x="130356" y="0"/>
                    <a:pt x="177408" y="0"/>
                  </a:cubicBezTo>
                  <a:close/>
                </a:path>
              </a:pathLst>
            </a:custGeom>
            <a:solidFill>
              <a:srgbClr val="2979FF"/>
            </a:solidFill>
            <a:ln w="104775" cap="rnd">
              <a:solidFill>
                <a:srgbClr val="F8F9FC"/>
              </a:solidFill>
              <a:prstDash val="solid"/>
              <a:round/>
            </a:ln>
          </p:spPr>
          <p:txBody>
            <a:bodyPr/>
            <a:lstStyle/>
            <a:p>
              <a:endParaRPr lang="en-US" sz="1200"/>
            </a:p>
          </p:txBody>
        </p:sp>
        <p:sp>
          <p:nvSpPr>
            <p:cNvPr id="51" name="TextBox 35">
              <a:extLst>
                <a:ext uri="{FF2B5EF4-FFF2-40B4-BE49-F238E27FC236}">
                  <a16:creationId xmlns:a16="http://schemas.microsoft.com/office/drawing/2014/main" id="{31FF6C36-95BF-63C9-984D-04476B1D94B0}"/>
                </a:ext>
              </a:extLst>
            </p:cNvPr>
            <p:cNvSpPr txBox="1"/>
            <p:nvPr/>
          </p:nvSpPr>
          <p:spPr>
            <a:xfrm>
              <a:off x="0" y="-66675"/>
              <a:ext cx="354816" cy="423272"/>
            </a:xfrm>
            <a:prstGeom prst="rect">
              <a:avLst/>
            </a:prstGeom>
          </p:spPr>
          <p:txBody>
            <a:bodyPr lIns="33867" tIns="33867" rIns="33867" bIns="33867" rtlCol="0" anchor="ctr"/>
            <a:lstStyle/>
            <a:p>
              <a:pPr algn="ctr">
                <a:lnSpc>
                  <a:spcPts val="1773"/>
                </a:lnSpc>
              </a:pPr>
              <a:endParaRPr sz="1200"/>
            </a:p>
          </p:txBody>
        </p:sp>
      </p:grpSp>
      <p:sp>
        <p:nvSpPr>
          <p:cNvPr id="55" name="TextBox 48">
            <a:extLst>
              <a:ext uri="{FF2B5EF4-FFF2-40B4-BE49-F238E27FC236}">
                <a16:creationId xmlns:a16="http://schemas.microsoft.com/office/drawing/2014/main" id="{FF2E1940-4734-ACDB-EFC1-1968567BAB28}"/>
              </a:ext>
            </a:extLst>
          </p:cNvPr>
          <p:cNvSpPr txBox="1"/>
          <p:nvPr/>
        </p:nvSpPr>
        <p:spPr>
          <a:xfrm>
            <a:off x="5486400" y="939800"/>
            <a:ext cx="631629" cy="456856"/>
          </a:xfrm>
          <a:prstGeom prst="rect">
            <a:avLst/>
          </a:prstGeom>
        </p:spPr>
        <p:txBody>
          <a:bodyPr wrap="square" lIns="0" tIns="0" rIns="0" bIns="0" rtlCol="0" anchor="t">
            <a:spAutoFit/>
          </a:bodyPr>
          <a:lstStyle/>
          <a:p>
            <a:pPr algn="ctr">
              <a:lnSpc>
                <a:spcPts val="3920"/>
              </a:lnSpc>
              <a:spcBef>
                <a:spcPct val="0"/>
              </a:spcBef>
            </a:pPr>
            <a:r>
              <a:rPr lang="en-US" sz="2800" b="1" dirty="0">
                <a:solidFill>
                  <a:srgbClr val="F8F9FC"/>
                </a:solidFill>
                <a:latin typeface="Codec Pro Bold"/>
                <a:ea typeface="Codec Pro Bold"/>
                <a:cs typeface="Codec Pro Bold"/>
                <a:sym typeface="Codec Pro Bold"/>
              </a:rPr>
              <a:t>01</a:t>
            </a:r>
          </a:p>
        </p:txBody>
      </p:sp>
      <p:sp>
        <p:nvSpPr>
          <p:cNvPr id="33" name="Footer Placeholder 24">
            <a:extLst>
              <a:ext uri="{FF2B5EF4-FFF2-40B4-BE49-F238E27FC236}">
                <a16:creationId xmlns:a16="http://schemas.microsoft.com/office/drawing/2014/main" id="{871DCC4A-6AD0-02ED-6DDE-5665FC946E9C}"/>
              </a:ext>
            </a:extLst>
          </p:cNvPr>
          <p:cNvSpPr>
            <a:spLocks noGrp="1"/>
          </p:cNvSpPr>
          <p:nvPr>
            <p:ph type="ftr" sz="quarter" idx="11"/>
          </p:nvPr>
        </p:nvSpPr>
        <p:spPr>
          <a:xfrm>
            <a:off x="5130800" y="6487584"/>
            <a:ext cx="1930400" cy="243417"/>
          </a:xfrm>
        </p:spPr>
        <p:txBody>
          <a:bodyPr/>
          <a:lstStyle/>
          <a:p>
            <a:r>
              <a:rPr lang="en-US" sz="867" dirty="0">
                <a:solidFill>
                  <a:schemeClr val="tx2">
                    <a:lumMod val="75000"/>
                  </a:schemeClr>
                </a:solidFill>
                <a:latin typeface="Codec Pro" panose="020B0604020202020204" charset="0"/>
              </a:rPr>
              <a:t>                            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circle(in)">
                                      <p:cBhvr>
                                        <p:cTn id="7" dur="1500"/>
                                        <p:tgtEl>
                                          <p:spTgt spid="4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circle(in)">
                                      <p:cBhvr>
                                        <p:cTn id="10" dur="1500"/>
                                        <p:tgtEl>
                                          <p:spTgt spid="49"/>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circle(in)">
                                      <p:cBhvr>
                                        <p:cTn id="13" dur="1500"/>
                                        <p:tgtEl>
                                          <p:spTgt spid="5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Effect transition="in" filter="fade">
                                      <p:cBhvr>
                                        <p:cTn id="16" dur="1750"/>
                                        <p:tgtEl>
                                          <p:spTgt spid="4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1750"/>
                                        <p:tgtEl>
                                          <p:spTgt spid="4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1750"/>
                                        <p:tgtEl>
                                          <p:spTgt spid="42"/>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115"/>
                                        </p:tgtEl>
                                        <p:attrNameLst>
                                          <p:attrName>style.visibility</p:attrName>
                                        </p:attrNameLst>
                                      </p:cBhvr>
                                      <p:to>
                                        <p:strVal val="visible"/>
                                      </p:to>
                                    </p:set>
                                    <p:animEffect transition="in" filter="circle(in)">
                                      <p:cBhvr>
                                        <p:cTn id="25" dur="1500"/>
                                        <p:tgtEl>
                                          <p:spTgt spid="1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13"/>
                                        </p:tgtEl>
                                        <p:attrNameLst>
                                          <p:attrName>style.visibility</p:attrName>
                                        </p:attrNameLst>
                                      </p:cBhvr>
                                      <p:to>
                                        <p:strVal val="visible"/>
                                      </p:to>
                                    </p:set>
                                    <p:animEffect transition="in" filter="fade">
                                      <p:cBhvr>
                                        <p:cTn id="28" dur="1750"/>
                                        <p:tgtEl>
                                          <p:spTgt spid="113"/>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circle(in)">
                                      <p:cBhvr>
                                        <p:cTn id="31" dur="1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8" grpId="0"/>
      <p:bldP spid="49" grpId="0"/>
      <p:bldP spid="50" grpId="0"/>
      <p:bldP spid="113" grpId="0"/>
      <p:bldP spid="115" grpId="0"/>
      <p:bldP spid="5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2">
            <a:extLst>
              <a:ext uri="{FF2B5EF4-FFF2-40B4-BE49-F238E27FC236}">
                <a16:creationId xmlns:a16="http://schemas.microsoft.com/office/drawing/2014/main" id="{760FDE9C-AE63-5127-E747-C586681F3F31}"/>
              </a:ext>
            </a:extLst>
          </p:cNvPr>
          <p:cNvGrpSpPr/>
          <p:nvPr/>
        </p:nvGrpSpPr>
        <p:grpSpPr>
          <a:xfrm rot="4999431">
            <a:off x="10419459" y="5716031"/>
            <a:ext cx="251669" cy="229316"/>
            <a:chOff x="76200" y="0"/>
            <a:chExt cx="892027" cy="812800"/>
          </a:xfrm>
        </p:grpSpPr>
        <p:sp>
          <p:nvSpPr>
            <p:cNvPr id="34" name="Freeform 3">
              <a:extLst>
                <a:ext uri="{FF2B5EF4-FFF2-40B4-BE49-F238E27FC236}">
                  <a16:creationId xmlns:a16="http://schemas.microsoft.com/office/drawing/2014/main" id="{D3E8190C-AB3D-AD79-E677-F6185080273E}"/>
                </a:ext>
              </a:extLst>
            </p:cNvPr>
            <p:cNvSpPr/>
            <p:nvPr/>
          </p:nvSpPr>
          <p:spPr>
            <a:xfrm>
              <a:off x="155427"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35" name="TextBox 4">
              <a:extLst>
                <a:ext uri="{FF2B5EF4-FFF2-40B4-BE49-F238E27FC236}">
                  <a16:creationId xmlns:a16="http://schemas.microsoft.com/office/drawing/2014/main" id="{3C0D191A-6795-8961-60CA-E604011C1B45}"/>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36" name="Group 5">
            <a:extLst>
              <a:ext uri="{FF2B5EF4-FFF2-40B4-BE49-F238E27FC236}">
                <a16:creationId xmlns:a16="http://schemas.microsoft.com/office/drawing/2014/main" id="{DCF0CE5D-B0FE-C0B6-4959-BC9A0B7E18E5}"/>
              </a:ext>
            </a:extLst>
          </p:cNvPr>
          <p:cNvGrpSpPr/>
          <p:nvPr/>
        </p:nvGrpSpPr>
        <p:grpSpPr>
          <a:xfrm rot="4999431">
            <a:off x="10743457" y="5722055"/>
            <a:ext cx="229316" cy="229316"/>
            <a:chOff x="0" y="0"/>
            <a:chExt cx="812800" cy="812800"/>
          </a:xfrm>
        </p:grpSpPr>
        <p:sp>
          <p:nvSpPr>
            <p:cNvPr id="37" name="Freeform 6">
              <a:extLst>
                <a:ext uri="{FF2B5EF4-FFF2-40B4-BE49-F238E27FC236}">
                  <a16:creationId xmlns:a16="http://schemas.microsoft.com/office/drawing/2014/main" id="{5325F619-3D32-DBB7-BA88-F8995EEB163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38" name="TextBox 7">
              <a:extLst>
                <a:ext uri="{FF2B5EF4-FFF2-40B4-BE49-F238E27FC236}">
                  <a16:creationId xmlns:a16="http://schemas.microsoft.com/office/drawing/2014/main" id="{B3D02E30-F8DD-72F1-E102-1A261A37C8BE}"/>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39" name="Group 8">
            <a:extLst>
              <a:ext uri="{FF2B5EF4-FFF2-40B4-BE49-F238E27FC236}">
                <a16:creationId xmlns:a16="http://schemas.microsoft.com/office/drawing/2014/main" id="{514C2260-D749-2D90-EA85-2937695473D6}"/>
              </a:ext>
            </a:extLst>
          </p:cNvPr>
          <p:cNvGrpSpPr/>
          <p:nvPr/>
        </p:nvGrpSpPr>
        <p:grpSpPr>
          <a:xfrm rot="4999431">
            <a:off x="11035731" y="5722615"/>
            <a:ext cx="229316" cy="229316"/>
            <a:chOff x="0" y="0"/>
            <a:chExt cx="812800" cy="812800"/>
          </a:xfrm>
        </p:grpSpPr>
        <p:sp>
          <p:nvSpPr>
            <p:cNvPr id="40" name="Freeform 9">
              <a:extLst>
                <a:ext uri="{FF2B5EF4-FFF2-40B4-BE49-F238E27FC236}">
                  <a16:creationId xmlns:a16="http://schemas.microsoft.com/office/drawing/2014/main" id="{B1FB4C2D-9F9E-37D0-C82E-4215724CC23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1" name="TextBox 10">
              <a:extLst>
                <a:ext uri="{FF2B5EF4-FFF2-40B4-BE49-F238E27FC236}">
                  <a16:creationId xmlns:a16="http://schemas.microsoft.com/office/drawing/2014/main" id="{43786968-7D86-78E8-3AB2-3240D274FE3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sp>
        <p:nvSpPr>
          <p:cNvPr id="3" name="AutoShape 2">
            <a:extLst>
              <a:ext uri="{FF2B5EF4-FFF2-40B4-BE49-F238E27FC236}">
                <a16:creationId xmlns:a16="http://schemas.microsoft.com/office/drawing/2014/main" id="{63720F31-3B0B-C6FA-AA33-6EFE12E40FD5}"/>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4" name="TextBox 7">
            <a:extLst>
              <a:ext uri="{FF2B5EF4-FFF2-40B4-BE49-F238E27FC236}">
                <a16:creationId xmlns:a16="http://schemas.microsoft.com/office/drawing/2014/main" id="{11755562-CE0F-69B5-C0EB-A52A6538248E}"/>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8" name="TextBox 9">
            <a:extLst>
              <a:ext uri="{FF2B5EF4-FFF2-40B4-BE49-F238E27FC236}">
                <a16:creationId xmlns:a16="http://schemas.microsoft.com/office/drawing/2014/main" id="{4170B73F-2B9D-AF8E-EC79-229B69DEC586}"/>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0" name="Text 2">
            <a:extLst>
              <a:ext uri="{FF2B5EF4-FFF2-40B4-BE49-F238E27FC236}">
                <a16:creationId xmlns:a16="http://schemas.microsoft.com/office/drawing/2014/main" id="{6861A429-8ECC-4903-BC31-C6174EDB8ED1}"/>
              </a:ext>
            </a:extLst>
          </p:cNvPr>
          <p:cNvSpPr txBox="1"/>
          <p:nvPr/>
        </p:nvSpPr>
        <p:spPr>
          <a:xfrm>
            <a:off x="685800" y="368855"/>
            <a:ext cx="9626617" cy="1357323"/>
          </a:xfrm>
          <a:prstGeom prst="rect">
            <a:avLst/>
          </a:prstGeom>
          <a:noFill/>
          <a:ln/>
        </p:spPr>
        <p:txBody>
          <a:bodyPr wrap="square" lIns="0" tIns="0" rIns="0" bIns="0" rtlCol="0" anchor="ctr"/>
          <a:lstStyle/>
          <a:p>
            <a:pPr marL="0" indent="0">
              <a:buNone/>
            </a:pPr>
            <a:r>
              <a:rPr lang="en-US" sz="3200" b="1" kern="0" spc="200" dirty="0">
                <a:solidFill>
                  <a:srgbClr val="0066FF"/>
                </a:solidFill>
                <a:latin typeface="Codec Pro" panose="020B0604020202020204" charset="0"/>
                <a:ea typeface="Calibri" panose="020F0502020204030204" pitchFamily="34" charset="0"/>
                <a:cs typeface="Calibri" panose="020F0502020204030204" pitchFamily="34" charset="0"/>
              </a:rPr>
              <a:t>MICROSOFT 365 TO GOOGLE WORKSPACE</a:t>
            </a:r>
          </a:p>
          <a:p>
            <a:pPr marL="0" indent="0">
              <a:buNone/>
            </a:pPr>
            <a:endParaRPr lang="en-US" sz="3200" dirty="0">
              <a:solidFill>
                <a:srgbClr val="0066FF"/>
              </a:solidFill>
              <a:latin typeface="Codec Pro" panose="020B0604020202020204" charset="0"/>
              <a:ea typeface="Calibri" panose="020F0502020204030204" pitchFamily="34" charset="0"/>
              <a:cs typeface="Calibri" panose="020F0502020204030204" pitchFamily="34" charset="0"/>
            </a:endParaRPr>
          </a:p>
        </p:txBody>
      </p:sp>
      <p:sp>
        <p:nvSpPr>
          <p:cNvPr id="23" name="Text 5">
            <a:extLst>
              <a:ext uri="{FF2B5EF4-FFF2-40B4-BE49-F238E27FC236}">
                <a16:creationId xmlns:a16="http://schemas.microsoft.com/office/drawing/2014/main" id="{9EEBB008-53F7-4F58-A277-122474CDF8C9}"/>
              </a:ext>
            </a:extLst>
          </p:cNvPr>
          <p:cNvSpPr txBox="1"/>
          <p:nvPr/>
        </p:nvSpPr>
        <p:spPr>
          <a:xfrm>
            <a:off x="747193" y="3440700"/>
            <a:ext cx="9531378" cy="873109"/>
          </a:xfrm>
          <a:prstGeom prst="rect">
            <a:avLst/>
          </a:prstGeom>
          <a:noFill/>
          <a:ln/>
        </p:spPr>
        <p:txBody>
          <a:bodyPr wrap="square" lIns="0" tIns="0" rIns="0" bIns="0" rtlCol="0" anchor="t"/>
          <a:lstStyle/>
          <a:p>
            <a:pPr marL="0" indent="0" algn="l">
              <a:lnSpc>
                <a:spcPct val="125000"/>
              </a:lnSpc>
              <a:buNone/>
            </a:pPr>
            <a:r>
              <a:rPr lang="en-US" sz="2000" dirty="0">
                <a:solidFill>
                  <a:srgbClr val="002060"/>
                </a:solidFill>
                <a:latin typeface="Codec Pro" panose="020B0604020202020204" charset="0"/>
                <a:ea typeface="Calibri" panose="020F0502020204030204" pitchFamily="34" charset="0"/>
                <a:cs typeface="Calibri" panose="020F0502020204030204" pitchFamily="34" charset="0"/>
              </a:rPr>
              <a:t>Proof of Concept plan, end-to-end migration approach, identity and application authentication, tooling evaluation, and a full disclosure of platform limitations.</a:t>
            </a:r>
          </a:p>
        </p:txBody>
      </p:sp>
      <p:sp>
        <p:nvSpPr>
          <p:cNvPr id="24" name="Text 6">
            <a:extLst>
              <a:ext uri="{FF2B5EF4-FFF2-40B4-BE49-F238E27FC236}">
                <a16:creationId xmlns:a16="http://schemas.microsoft.com/office/drawing/2014/main" id="{2A5026A0-622C-486B-9022-6FF0B2C259E5}"/>
              </a:ext>
            </a:extLst>
          </p:cNvPr>
          <p:cNvSpPr txBox="1"/>
          <p:nvPr/>
        </p:nvSpPr>
        <p:spPr>
          <a:xfrm>
            <a:off x="723637" y="4256687"/>
            <a:ext cx="2468880" cy="548640"/>
          </a:xfrm>
          <a:prstGeom prst="rect">
            <a:avLst/>
          </a:prstGeom>
          <a:noFill/>
          <a:ln/>
        </p:spPr>
        <p:txBody>
          <a:bodyPr wrap="square" lIns="0" tIns="0" rIns="0" bIns="0" rtlCol="0" anchor="ctr"/>
          <a:lstStyle/>
          <a:p>
            <a:pPr marL="0" indent="0">
              <a:buNone/>
            </a:pPr>
            <a:r>
              <a:rPr lang="en-US" sz="3000" b="1" dirty="0">
                <a:solidFill>
                  <a:schemeClr val="accent1"/>
                </a:solidFill>
                <a:latin typeface="Codec Pro" panose="020B0604020202020204" charset="0"/>
                <a:ea typeface="Calibri" panose="020F0502020204030204" pitchFamily="34" charset="0"/>
                <a:cs typeface="Calibri" panose="020F0502020204030204" pitchFamily="34" charset="0"/>
              </a:rPr>
              <a:t>700+</a:t>
            </a:r>
            <a:endParaRPr lang="en-US" sz="3000" dirty="0">
              <a:solidFill>
                <a:schemeClr val="accent1"/>
              </a:solidFill>
              <a:latin typeface="Codec Pro" panose="020B0604020202020204" charset="0"/>
              <a:ea typeface="Calibri" panose="020F0502020204030204" pitchFamily="34" charset="0"/>
              <a:cs typeface="Calibri" panose="020F0502020204030204" pitchFamily="34" charset="0"/>
            </a:endParaRPr>
          </a:p>
        </p:txBody>
      </p:sp>
      <p:sp>
        <p:nvSpPr>
          <p:cNvPr id="26" name="Text 8">
            <a:extLst>
              <a:ext uri="{FF2B5EF4-FFF2-40B4-BE49-F238E27FC236}">
                <a16:creationId xmlns:a16="http://schemas.microsoft.com/office/drawing/2014/main" id="{9BE317D6-5C8C-4F7C-9905-2E3483D6F763}"/>
              </a:ext>
            </a:extLst>
          </p:cNvPr>
          <p:cNvSpPr txBox="1"/>
          <p:nvPr/>
        </p:nvSpPr>
        <p:spPr>
          <a:xfrm>
            <a:off x="3375397" y="4256687"/>
            <a:ext cx="2468880" cy="548640"/>
          </a:xfrm>
          <a:prstGeom prst="rect">
            <a:avLst/>
          </a:prstGeom>
          <a:noFill/>
          <a:ln/>
        </p:spPr>
        <p:txBody>
          <a:bodyPr wrap="square" lIns="0" tIns="0" rIns="0" bIns="0" rtlCol="0" anchor="ctr"/>
          <a:lstStyle/>
          <a:p>
            <a:pPr marL="0" indent="0">
              <a:buNone/>
            </a:pPr>
            <a:r>
              <a:rPr lang="en-US" sz="3000" b="1" dirty="0">
                <a:solidFill>
                  <a:schemeClr val="accent1"/>
                </a:solidFill>
                <a:latin typeface="Codec Pro" panose="020B0604020202020204" charset="0"/>
                <a:ea typeface="Calibri" panose="020F0502020204030204" pitchFamily="34" charset="0"/>
                <a:cs typeface="Calibri" panose="020F0502020204030204" pitchFamily="34" charset="0"/>
              </a:rPr>
              <a:t>4-6 wks</a:t>
            </a:r>
            <a:endParaRPr lang="en-US" sz="3000" dirty="0">
              <a:solidFill>
                <a:schemeClr val="accent1"/>
              </a:solidFill>
              <a:latin typeface="Codec Pro" panose="020B0604020202020204" charset="0"/>
              <a:ea typeface="Calibri" panose="020F0502020204030204" pitchFamily="34" charset="0"/>
              <a:cs typeface="Calibri" panose="020F0502020204030204" pitchFamily="34" charset="0"/>
            </a:endParaRPr>
          </a:p>
        </p:txBody>
      </p:sp>
      <p:sp>
        <p:nvSpPr>
          <p:cNvPr id="28" name="Text 10">
            <a:extLst>
              <a:ext uri="{FF2B5EF4-FFF2-40B4-BE49-F238E27FC236}">
                <a16:creationId xmlns:a16="http://schemas.microsoft.com/office/drawing/2014/main" id="{54997C9A-F5D9-461F-980F-26545225CB20}"/>
              </a:ext>
            </a:extLst>
          </p:cNvPr>
          <p:cNvSpPr txBox="1"/>
          <p:nvPr/>
        </p:nvSpPr>
        <p:spPr>
          <a:xfrm>
            <a:off x="6027157" y="4256687"/>
            <a:ext cx="2468880" cy="548640"/>
          </a:xfrm>
          <a:prstGeom prst="rect">
            <a:avLst/>
          </a:prstGeom>
          <a:noFill/>
          <a:ln/>
        </p:spPr>
        <p:txBody>
          <a:bodyPr wrap="square" lIns="0" tIns="0" rIns="0" bIns="0" rtlCol="0" anchor="ctr"/>
          <a:lstStyle/>
          <a:p>
            <a:pPr marL="0" indent="0">
              <a:buNone/>
            </a:pPr>
            <a:r>
              <a:rPr lang="en-US" sz="3000" b="1" dirty="0">
                <a:solidFill>
                  <a:schemeClr val="accent1"/>
                </a:solidFill>
                <a:latin typeface="Codec Pro" panose="020B0604020202020204" charset="0"/>
                <a:ea typeface="Calibri" panose="020F0502020204030204" pitchFamily="34" charset="0"/>
                <a:cs typeface="Calibri" panose="020F0502020204030204" pitchFamily="34" charset="0"/>
              </a:rPr>
              <a:t>0</a:t>
            </a:r>
            <a:endParaRPr lang="en-US" sz="3000" dirty="0">
              <a:solidFill>
                <a:schemeClr val="accent1"/>
              </a:solidFill>
              <a:latin typeface="Codec Pro" panose="020B0604020202020204" charset="0"/>
              <a:ea typeface="Calibri" panose="020F0502020204030204" pitchFamily="34" charset="0"/>
              <a:cs typeface="Calibri" panose="020F0502020204030204" pitchFamily="34" charset="0"/>
            </a:endParaRPr>
          </a:p>
        </p:txBody>
      </p:sp>
      <p:sp>
        <p:nvSpPr>
          <p:cNvPr id="30" name="Text 12">
            <a:extLst>
              <a:ext uri="{FF2B5EF4-FFF2-40B4-BE49-F238E27FC236}">
                <a16:creationId xmlns:a16="http://schemas.microsoft.com/office/drawing/2014/main" id="{7CFB2CDD-91F2-408E-AC31-BA64794C069C}"/>
              </a:ext>
            </a:extLst>
          </p:cNvPr>
          <p:cNvSpPr txBox="1"/>
          <p:nvPr/>
        </p:nvSpPr>
        <p:spPr>
          <a:xfrm>
            <a:off x="8678917" y="4256687"/>
            <a:ext cx="2468880" cy="548640"/>
          </a:xfrm>
          <a:prstGeom prst="rect">
            <a:avLst/>
          </a:prstGeom>
          <a:noFill/>
          <a:ln/>
        </p:spPr>
        <p:txBody>
          <a:bodyPr wrap="square" lIns="0" tIns="0" rIns="0" bIns="0" rtlCol="0" anchor="ctr"/>
          <a:lstStyle/>
          <a:p>
            <a:pPr marL="0" indent="0">
              <a:buNone/>
            </a:pPr>
            <a:r>
              <a:rPr lang="en-US" sz="3000" b="1" dirty="0">
                <a:solidFill>
                  <a:schemeClr val="accent1"/>
                </a:solidFill>
                <a:latin typeface="Codec Pro" panose="020B0604020202020204" charset="0"/>
                <a:ea typeface="Calibri" panose="020F0502020204030204" pitchFamily="34" charset="0"/>
                <a:cs typeface="Calibri" panose="020F0502020204030204" pitchFamily="34" charset="0"/>
              </a:rPr>
              <a:t>1</a:t>
            </a:r>
            <a:endParaRPr lang="en-US" sz="3000" dirty="0">
              <a:solidFill>
                <a:schemeClr val="accent1"/>
              </a:solidFill>
              <a:latin typeface="Codec Pro" panose="020B0604020202020204" charset="0"/>
              <a:ea typeface="Calibri" panose="020F0502020204030204" pitchFamily="34" charset="0"/>
              <a:cs typeface="Calibri" panose="020F0502020204030204" pitchFamily="34" charset="0"/>
            </a:endParaRPr>
          </a:p>
        </p:txBody>
      </p:sp>
      <p:sp>
        <p:nvSpPr>
          <p:cNvPr id="31" name="Text 13">
            <a:extLst>
              <a:ext uri="{FF2B5EF4-FFF2-40B4-BE49-F238E27FC236}">
                <a16:creationId xmlns:a16="http://schemas.microsoft.com/office/drawing/2014/main" id="{F74B1743-3A80-49E5-BD40-5ED817D54C0F}"/>
              </a:ext>
            </a:extLst>
          </p:cNvPr>
          <p:cNvSpPr txBox="1"/>
          <p:nvPr/>
        </p:nvSpPr>
        <p:spPr>
          <a:xfrm>
            <a:off x="8694683" y="4870913"/>
            <a:ext cx="2468880" cy="457200"/>
          </a:xfrm>
          <a:prstGeom prst="rect">
            <a:avLst/>
          </a:prstGeom>
          <a:noFill/>
          <a:ln/>
        </p:spPr>
        <p:txBody>
          <a:bodyPr wrap="square" lIns="0" tIns="0" rIns="0" bIns="0" rtlCol="0" anchor="ctr"/>
          <a:lstStyle/>
          <a:p>
            <a:pPr marL="0" indent="0">
              <a:buNone/>
            </a:pPr>
            <a:r>
              <a:rPr lang="en-US" dirty="0">
                <a:solidFill>
                  <a:srgbClr val="002060"/>
                </a:solidFill>
                <a:latin typeface="Codec Pro" panose="020B0604020202020204" charset="0"/>
                <a:ea typeface="Calibri" panose="020F0502020204030204" pitchFamily="34" charset="0"/>
                <a:cs typeface="Calibri" panose="020F0502020204030204" pitchFamily="34" charset="0"/>
              </a:rPr>
              <a:t>signed gate before production</a:t>
            </a:r>
          </a:p>
        </p:txBody>
      </p:sp>
      <p:sp>
        <p:nvSpPr>
          <p:cNvPr id="32" name="Text 14">
            <a:extLst>
              <a:ext uri="{FF2B5EF4-FFF2-40B4-BE49-F238E27FC236}">
                <a16:creationId xmlns:a16="http://schemas.microsoft.com/office/drawing/2014/main" id="{744DE7C5-469F-4671-B0B1-4891AFB8B423}"/>
              </a:ext>
            </a:extLst>
          </p:cNvPr>
          <p:cNvSpPr txBox="1"/>
          <p:nvPr/>
        </p:nvSpPr>
        <p:spPr>
          <a:xfrm>
            <a:off x="818233" y="5723504"/>
            <a:ext cx="8956382" cy="330245"/>
          </a:xfrm>
          <a:prstGeom prst="rect">
            <a:avLst/>
          </a:prstGeom>
          <a:noFill/>
          <a:ln/>
        </p:spPr>
        <p:txBody>
          <a:bodyPr wrap="square" lIns="0" tIns="0" rIns="0" bIns="0" rtlCol="0" anchor="ctr"/>
          <a:lstStyle/>
          <a:p>
            <a:pPr marL="0" indent="0">
              <a:buNone/>
            </a:pPr>
            <a:r>
              <a:rPr lang="en-US" sz="2000" dirty="0">
                <a:solidFill>
                  <a:srgbClr val="002060"/>
                </a:solidFill>
                <a:latin typeface="Codec Pro" panose="020B0604020202020204" charset="0"/>
                <a:ea typeface="Calibri" panose="020F0502020204030204" pitchFamily="34" charset="0"/>
                <a:cs typeface="Calibri" panose="020F0502020204030204" pitchFamily="34" charset="0"/>
              </a:rPr>
              <a:t>Prepared for client evaluation  </a:t>
            </a:r>
            <a:r>
              <a:rPr lang="en-US" sz="2000" dirty="0">
                <a:solidFill>
                  <a:srgbClr val="00B0F0"/>
                </a:solidFill>
                <a:latin typeface="Codec Pro" panose="020B0604020202020204" charset="0"/>
                <a:ea typeface="Calibri" panose="020F0502020204030204" pitchFamily="34" charset="0"/>
                <a:cs typeface="Calibri" panose="020F0502020204030204" pitchFamily="34" charset="0"/>
              </a:rPr>
              <a:t>·</a:t>
            </a:r>
            <a:r>
              <a:rPr lang="en-US" sz="2000" dirty="0">
                <a:solidFill>
                  <a:srgbClr val="002060"/>
                </a:solidFill>
                <a:latin typeface="Codec Pro" panose="020B0604020202020204" charset="0"/>
                <a:ea typeface="Calibri" panose="020F0502020204030204" pitchFamily="34" charset="0"/>
                <a:cs typeface="Calibri" panose="020F0502020204030204" pitchFamily="34" charset="0"/>
              </a:rPr>
              <a:t>  Virtuousinfo Migration &amp; Collaboration Practice</a:t>
            </a:r>
          </a:p>
        </p:txBody>
      </p:sp>
      <p:grpSp>
        <p:nvGrpSpPr>
          <p:cNvPr id="42" name="Group 21">
            <a:extLst>
              <a:ext uri="{FF2B5EF4-FFF2-40B4-BE49-F238E27FC236}">
                <a16:creationId xmlns:a16="http://schemas.microsoft.com/office/drawing/2014/main" id="{8911CB2D-4EF7-4BB3-BC3F-28C609BEC781}"/>
              </a:ext>
            </a:extLst>
          </p:cNvPr>
          <p:cNvGrpSpPr/>
          <p:nvPr/>
        </p:nvGrpSpPr>
        <p:grpSpPr>
          <a:xfrm>
            <a:off x="10673804" y="166813"/>
            <a:ext cx="1302960" cy="1399319"/>
            <a:chOff x="0" y="0"/>
            <a:chExt cx="1737281" cy="1865759"/>
          </a:xfrm>
        </p:grpSpPr>
        <p:sp>
          <p:nvSpPr>
            <p:cNvPr id="43" name="Freeform 22">
              <a:extLst>
                <a:ext uri="{FF2B5EF4-FFF2-40B4-BE49-F238E27FC236}">
                  <a16:creationId xmlns:a16="http://schemas.microsoft.com/office/drawing/2014/main" id="{8C9B04B1-143D-4BD7-BCF1-0655BD02762E}"/>
                </a:ext>
              </a:extLst>
            </p:cNvPr>
            <p:cNvSpPr/>
            <p:nvPr/>
          </p:nvSpPr>
          <p:spPr>
            <a:xfrm>
              <a:off x="0" y="0"/>
              <a:ext cx="1737281" cy="1464970"/>
            </a:xfrm>
            <a:custGeom>
              <a:avLst/>
              <a:gdLst/>
              <a:ahLst/>
              <a:cxnLst/>
              <a:rect l="l" t="t" r="r" b="b"/>
              <a:pathLst>
                <a:path w="1737281" h="1464970">
                  <a:moveTo>
                    <a:pt x="0" y="0"/>
                  </a:moveTo>
                  <a:lnTo>
                    <a:pt x="1737281" y="0"/>
                  </a:lnTo>
                  <a:lnTo>
                    <a:pt x="1737281" y="1464970"/>
                  </a:lnTo>
                  <a:lnTo>
                    <a:pt x="0" y="1464970"/>
                  </a:lnTo>
                  <a:lnTo>
                    <a:pt x="0" y="0"/>
                  </a:lnTo>
                  <a:close/>
                </a:path>
              </a:pathLst>
            </a:custGeom>
            <a:blipFill>
              <a:blip r:embed="rId2"/>
              <a:stretch>
                <a:fillRect t="-47826" b="-108579"/>
              </a:stretch>
            </a:blipFill>
          </p:spPr>
          <p:txBody>
            <a:bodyPr/>
            <a:lstStyle/>
            <a:p>
              <a:endParaRPr lang="en-US"/>
            </a:p>
          </p:txBody>
        </p:sp>
        <p:sp>
          <p:nvSpPr>
            <p:cNvPr id="44" name="TextBox 23">
              <a:extLst>
                <a:ext uri="{FF2B5EF4-FFF2-40B4-BE49-F238E27FC236}">
                  <a16:creationId xmlns:a16="http://schemas.microsoft.com/office/drawing/2014/main" id="{F9106DAE-42A1-4BFC-9F9C-57CA8ABABDC2}"/>
                </a:ext>
              </a:extLst>
            </p:cNvPr>
            <p:cNvSpPr txBox="1"/>
            <p:nvPr/>
          </p:nvSpPr>
          <p:spPr>
            <a:xfrm>
              <a:off x="68072" y="1484020"/>
              <a:ext cx="1669208" cy="381739"/>
            </a:xfrm>
            <a:prstGeom prst="rect">
              <a:avLst/>
            </a:prstGeom>
          </p:spPr>
          <p:txBody>
            <a:bodyPr lIns="0" tIns="0" rIns="0" bIns="0" rtlCol="0" anchor="t">
              <a:spAutoFit/>
            </a:bodyPr>
            <a:lstStyle/>
            <a:p>
              <a:pPr algn="l">
                <a:lnSpc>
                  <a:spcPts val="1759"/>
                </a:lnSpc>
              </a:pPr>
              <a:r>
                <a:rPr lang="en-US" sz="1976" spc="-114" dirty="0">
                  <a:solidFill>
                    <a:srgbClr val="090A3C"/>
                  </a:solidFill>
                  <a:latin typeface="Codec Pro"/>
                  <a:ea typeface="Codec Pro"/>
                  <a:cs typeface="Codec Pro"/>
                  <a:sym typeface="Codec Pro"/>
                </a:rPr>
                <a:t>virtuous</a:t>
              </a:r>
              <a:r>
                <a:rPr lang="en-US" sz="1976" spc="-114" dirty="0">
                  <a:solidFill>
                    <a:srgbClr val="0053EB"/>
                  </a:solidFill>
                  <a:latin typeface="Codec Pro"/>
                  <a:ea typeface="Codec Pro"/>
                  <a:cs typeface="Codec Pro"/>
                  <a:sym typeface="Codec Pro"/>
                </a:rPr>
                <a:t>info</a:t>
              </a:r>
            </a:p>
          </p:txBody>
        </p:sp>
      </p:grpSp>
      <p:sp>
        <p:nvSpPr>
          <p:cNvPr id="45" name="Text 7">
            <a:extLst>
              <a:ext uri="{FF2B5EF4-FFF2-40B4-BE49-F238E27FC236}">
                <a16:creationId xmlns:a16="http://schemas.microsoft.com/office/drawing/2014/main" id="{0AE997C9-1555-4466-BF51-A4001195A397}"/>
              </a:ext>
            </a:extLst>
          </p:cNvPr>
          <p:cNvSpPr txBox="1"/>
          <p:nvPr/>
        </p:nvSpPr>
        <p:spPr>
          <a:xfrm>
            <a:off x="786693" y="4863092"/>
            <a:ext cx="2468880" cy="457200"/>
          </a:xfrm>
          <a:prstGeom prst="rect">
            <a:avLst/>
          </a:prstGeom>
          <a:noFill/>
          <a:ln/>
        </p:spPr>
        <p:txBody>
          <a:bodyPr wrap="square" lIns="0" tIns="0" rIns="0" bIns="0" rtlCol="0" anchor="ctr"/>
          <a:lstStyle/>
          <a:p>
            <a:pPr marL="0" indent="0">
              <a:buNone/>
            </a:pPr>
            <a:r>
              <a:rPr lang="en-US" dirty="0">
                <a:solidFill>
                  <a:srgbClr val="002060"/>
                </a:solidFill>
                <a:latin typeface="Codec Pro" panose="020B0604020202020204" charset="0"/>
                <a:ea typeface="Calibri" panose="020F0502020204030204" pitchFamily="34" charset="0"/>
                <a:cs typeface="Calibri" panose="020F0502020204030204" pitchFamily="34" charset="0"/>
              </a:rPr>
              <a:t>users in scope</a:t>
            </a:r>
          </a:p>
        </p:txBody>
      </p:sp>
      <p:sp>
        <p:nvSpPr>
          <p:cNvPr id="46" name="Text 9">
            <a:extLst>
              <a:ext uri="{FF2B5EF4-FFF2-40B4-BE49-F238E27FC236}">
                <a16:creationId xmlns:a16="http://schemas.microsoft.com/office/drawing/2014/main" id="{BFEE27CD-F1F5-4614-89BF-F6EA49437B88}"/>
              </a:ext>
            </a:extLst>
          </p:cNvPr>
          <p:cNvSpPr txBox="1"/>
          <p:nvPr/>
        </p:nvSpPr>
        <p:spPr>
          <a:xfrm>
            <a:off x="3449495" y="4831565"/>
            <a:ext cx="2468880" cy="457200"/>
          </a:xfrm>
          <a:prstGeom prst="rect">
            <a:avLst/>
          </a:prstGeom>
          <a:noFill/>
          <a:ln/>
        </p:spPr>
        <p:txBody>
          <a:bodyPr wrap="square" lIns="0" tIns="0" rIns="0" bIns="0" rtlCol="0" anchor="ctr"/>
          <a:lstStyle/>
          <a:p>
            <a:pPr marL="0" indent="0">
              <a:buNone/>
            </a:pPr>
            <a:r>
              <a:rPr lang="en-US" dirty="0">
                <a:solidFill>
                  <a:srgbClr val="002060"/>
                </a:solidFill>
                <a:latin typeface="Codec Pro" panose="020B0604020202020204" charset="0"/>
                <a:ea typeface="Calibri" panose="020F0502020204030204" pitchFamily="34" charset="0"/>
                <a:cs typeface="Calibri" panose="020F0502020204030204" pitchFamily="34" charset="0"/>
              </a:rPr>
              <a:t>proof of concept</a:t>
            </a:r>
          </a:p>
        </p:txBody>
      </p:sp>
      <p:sp>
        <p:nvSpPr>
          <p:cNvPr id="47" name="Text 11">
            <a:extLst>
              <a:ext uri="{FF2B5EF4-FFF2-40B4-BE49-F238E27FC236}">
                <a16:creationId xmlns:a16="http://schemas.microsoft.com/office/drawing/2014/main" id="{8B95F237-22EF-4F90-B8CA-5CFBE39C20F6}"/>
              </a:ext>
            </a:extLst>
          </p:cNvPr>
          <p:cNvSpPr txBox="1"/>
          <p:nvPr/>
        </p:nvSpPr>
        <p:spPr>
          <a:xfrm>
            <a:off x="6027157" y="4790645"/>
            <a:ext cx="2468880" cy="457200"/>
          </a:xfrm>
          <a:prstGeom prst="rect">
            <a:avLst/>
          </a:prstGeom>
          <a:noFill/>
          <a:ln/>
        </p:spPr>
        <p:txBody>
          <a:bodyPr wrap="square" lIns="0" tIns="0" rIns="0" bIns="0" rtlCol="0" anchor="ctr"/>
          <a:lstStyle/>
          <a:p>
            <a:pPr marL="0" indent="0">
              <a:buNone/>
            </a:pPr>
            <a:r>
              <a:rPr lang="en-US" dirty="0">
                <a:solidFill>
                  <a:srgbClr val="002060"/>
                </a:solidFill>
                <a:latin typeface="Codec Pro" panose="020B0604020202020204" charset="0"/>
                <a:ea typeface="Calibri" panose="020F0502020204030204" pitchFamily="34" charset="0"/>
                <a:cs typeface="Calibri" panose="020F0502020204030204" pitchFamily="34" charset="0"/>
              </a:rPr>
              <a:t>days of mail downtime</a:t>
            </a:r>
          </a:p>
        </p:txBody>
      </p:sp>
      <p:sp>
        <p:nvSpPr>
          <p:cNvPr id="50" name="Text 3">
            <a:extLst>
              <a:ext uri="{FF2B5EF4-FFF2-40B4-BE49-F238E27FC236}">
                <a16:creationId xmlns:a16="http://schemas.microsoft.com/office/drawing/2014/main" id="{FEF9B069-A809-4B08-AA56-5C31964DBE83}"/>
              </a:ext>
            </a:extLst>
          </p:cNvPr>
          <p:cNvSpPr txBox="1"/>
          <p:nvPr/>
        </p:nvSpPr>
        <p:spPr>
          <a:xfrm>
            <a:off x="723637" y="1470256"/>
            <a:ext cx="8138160" cy="1280160"/>
          </a:xfrm>
          <a:prstGeom prst="rect">
            <a:avLst/>
          </a:prstGeom>
          <a:noFill/>
          <a:ln/>
        </p:spPr>
        <p:txBody>
          <a:bodyPr wrap="square" lIns="0" tIns="0" rIns="0" bIns="0" rtlCol="0" anchor="ctr"/>
          <a:lstStyle/>
          <a:p>
            <a:pPr marL="0" indent="0">
              <a:lnSpc>
                <a:spcPct val="100000"/>
              </a:lnSpc>
              <a:buNone/>
            </a:pPr>
            <a:r>
              <a:rPr lang="en-US" sz="3600" b="1" dirty="0">
                <a:solidFill>
                  <a:srgbClr val="002060"/>
                </a:solidFill>
                <a:latin typeface="Calibri" pitchFamily="34" charset="0"/>
                <a:ea typeface="Calibri" pitchFamily="34" charset="-122"/>
                <a:cs typeface="Calibri" pitchFamily="34" charset="-120"/>
              </a:rPr>
              <a:t>A seamless migration programme</a:t>
            </a:r>
            <a:endParaRPr lang="en-US" sz="3600" dirty="0">
              <a:solidFill>
                <a:srgbClr val="002060"/>
              </a:solidFill>
            </a:endParaRPr>
          </a:p>
          <a:p>
            <a:pPr marL="0" indent="0">
              <a:lnSpc>
                <a:spcPct val="100000"/>
              </a:lnSpc>
              <a:buNone/>
            </a:pPr>
            <a:r>
              <a:rPr lang="en-US" sz="3600" b="1" dirty="0">
                <a:solidFill>
                  <a:srgbClr val="002060"/>
                </a:solidFill>
                <a:latin typeface="Calibri" pitchFamily="34" charset="0"/>
                <a:ea typeface="Calibri" pitchFamily="34" charset="-122"/>
                <a:cs typeface="Calibri" pitchFamily="34" charset="-120"/>
              </a:rPr>
              <a:t>for 700+ users</a:t>
            </a:r>
            <a:endParaRPr lang="en-US" sz="3600" dirty="0">
              <a:solidFill>
                <a:srgbClr val="002060"/>
              </a:solidFill>
            </a:endParaRPr>
          </a:p>
        </p:txBody>
      </p:sp>
      <p:sp>
        <p:nvSpPr>
          <p:cNvPr id="51" name="Shape 4">
            <a:extLst>
              <a:ext uri="{FF2B5EF4-FFF2-40B4-BE49-F238E27FC236}">
                <a16:creationId xmlns:a16="http://schemas.microsoft.com/office/drawing/2014/main" id="{A504D3E1-3F8B-49ED-B1CB-BA2162FAB458}"/>
              </a:ext>
            </a:extLst>
          </p:cNvPr>
          <p:cNvSpPr/>
          <p:nvPr/>
        </p:nvSpPr>
        <p:spPr>
          <a:xfrm>
            <a:off x="799316" y="2990080"/>
            <a:ext cx="2926080" cy="22860"/>
          </a:xfrm>
          <a:prstGeom prst="rect">
            <a:avLst/>
          </a:prstGeom>
          <a:solidFill>
            <a:srgbClr val="0053EB"/>
          </a:solidFill>
          <a:ln w="12700">
            <a:solidFill>
              <a:srgbClr val="0053EB"/>
            </a:solidFill>
            <a:prstDash val="solid"/>
          </a:ln>
        </p:spPr>
        <p:txBody>
          <a:bodyPr/>
          <a:lstStyle/>
          <a:p>
            <a:endParaRPr lang="en-IN"/>
          </a:p>
        </p:txBody>
      </p:sp>
      <p:sp>
        <p:nvSpPr>
          <p:cNvPr id="5" name="Footer Placeholder 24">
            <a:extLst>
              <a:ext uri="{FF2B5EF4-FFF2-40B4-BE49-F238E27FC236}">
                <a16:creationId xmlns:a16="http://schemas.microsoft.com/office/drawing/2014/main" id="{2FDFBB42-AB32-03EE-FBC5-ABDF0852149B}"/>
              </a:ext>
            </a:extLst>
          </p:cNvPr>
          <p:cNvSpPr>
            <a:spLocks noGrp="1"/>
          </p:cNvSpPr>
          <p:nvPr>
            <p:ph type="ftr" sz="quarter" idx="11"/>
          </p:nvPr>
        </p:nvSpPr>
        <p:spPr>
          <a:xfrm>
            <a:off x="5130800" y="6487584"/>
            <a:ext cx="1930400" cy="243417"/>
          </a:xfrm>
        </p:spPr>
        <p:txBody>
          <a:bodyPr/>
          <a:lstStyle/>
          <a:p>
            <a:r>
              <a:rPr lang="en-US" sz="867" dirty="0">
                <a:solidFill>
                  <a:schemeClr val="tx2">
                    <a:lumMod val="75000"/>
                  </a:schemeClr>
                </a:solidFill>
                <a:latin typeface="Codec Pro" panose="020B0604020202020204" charset="0"/>
              </a:rPr>
              <a:t>                            4</a:t>
            </a:r>
          </a:p>
        </p:txBody>
      </p:sp>
    </p:spTree>
    <p:extLst>
      <p:ext uri="{BB962C8B-B14F-4D97-AF65-F5344CB8AC3E}">
        <p14:creationId xmlns:p14="http://schemas.microsoft.com/office/powerpoint/2010/main" val="3889606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EXECUTIVE SUMMARY</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What we are proposing, and why it de-risks the move</a:t>
            </a:r>
            <a:endParaRPr lang="en-US" sz="2800" dirty="0"/>
          </a:p>
        </p:txBody>
      </p:sp>
      <p:sp>
        <p:nvSpPr>
          <p:cNvPr id="6" name="Text 3"/>
          <p:cNvSpPr txBox="1"/>
          <p:nvPr/>
        </p:nvSpPr>
        <p:spPr>
          <a:xfrm>
            <a:off x="502920" y="1298448"/>
            <a:ext cx="10607040" cy="685800"/>
          </a:xfrm>
          <a:prstGeom prst="rect">
            <a:avLst/>
          </a:prstGeom>
          <a:noFill/>
          <a:ln/>
        </p:spPr>
        <p:txBody>
          <a:bodyPr wrap="square" lIns="0" tIns="0" rIns="0" bIns="0" rtlCol="0" anchor="t"/>
          <a:lstStyle/>
          <a:p>
            <a:pPr>
              <a:lnSpc>
                <a:spcPct val="125000"/>
              </a:lnSpc>
            </a:pPr>
            <a:r>
              <a:rPr lang="en-US" sz="1250" dirty="0">
                <a:solidFill>
                  <a:srgbClr val="15203D"/>
                </a:solidFill>
                <a:latin typeface="Calibri" pitchFamily="34" charset="0"/>
                <a:ea typeface="Calibri" pitchFamily="34" charset="-122"/>
                <a:cs typeface="Calibri" pitchFamily="34" charset="-120"/>
              </a:rPr>
              <a:t>A 700-user tenant migration is decided by four things: how faithfully data lands, how people and applications keep authenticating, how mail flows while two platforms coexist, and how honestly the gaps are handled. We prove all four in a Proof of Concept before a single production user is touched.</a:t>
            </a:r>
            <a:endParaRPr lang="en-US" sz="1250" dirty="0"/>
          </a:p>
        </p:txBody>
      </p:sp>
      <p:sp>
        <p:nvSpPr>
          <p:cNvPr id="37" name="AutoShape 2">
            <a:extLst>
              <a:ext uri="{FF2B5EF4-FFF2-40B4-BE49-F238E27FC236}">
                <a16:creationId xmlns:a16="http://schemas.microsoft.com/office/drawing/2014/main" id="{F1F306D2-0059-4AD9-A883-F161CBE1DAAA}"/>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38" name="TextBox 7">
            <a:extLst>
              <a:ext uri="{FF2B5EF4-FFF2-40B4-BE49-F238E27FC236}">
                <a16:creationId xmlns:a16="http://schemas.microsoft.com/office/drawing/2014/main" id="{899AB4C6-C2FC-4389-AC03-4C7CA0F68DEC}"/>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39" name="TextBox 9">
            <a:extLst>
              <a:ext uri="{FF2B5EF4-FFF2-40B4-BE49-F238E27FC236}">
                <a16:creationId xmlns:a16="http://schemas.microsoft.com/office/drawing/2014/main" id="{ABFFB387-A638-4D2B-B676-358FE9E2A187}"/>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grpSp>
        <p:nvGrpSpPr>
          <p:cNvPr id="3" name="Group 2">
            <a:extLst>
              <a:ext uri="{FF2B5EF4-FFF2-40B4-BE49-F238E27FC236}">
                <a16:creationId xmlns:a16="http://schemas.microsoft.com/office/drawing/2014/main" id="{184802E4-115C-A51F-9692-02CE3D1D5B4B}"/>
              </a:ext>
            </a:extLst>
          </p:cNvPr>
          <p:cNvGrpSpPr/>
          <p:nvPr/>
        </p:nvGrpSpPr>
        <p:grpSpPr>
          <a:xfrm>
            <a:off x="502920" y="2194560"/>
            <a:ext cx="10835731" cy="3794760"/>
            <a:chOff x="502920" y="2194560"/>
            <a:chExt cx="10835731" cy="3794760"/>
          </a:xfrm>
        </p:grpSpPr>
        <p:sp>
          <p:nvSpPr>
            <p:cNvPr id="41" name="Shape 4">
              <a:extLst>
                <a:ext uri="{FF2B5EF4-FFF2-40B4-BE49-F238E27FC236}">
                  <a16:creationId xmlns:a16="http://schemas.microsoft.com/office/drawing/2014/main" id="{427950AE-04CE-2478-E995-872666C35917}"/>
                </a:ext>
              </a:extLst>
            </p:cNvPr>
            <p:cNvSpPr/>
            <p:nvPr/>
          </p:nvSpPr>
          <p:spPr>
            <a:xfrm>
              <a:off x="502920" y="2194560"/>
              <a:ext cx="3453414" cy="1783080"/>
            </a:xfrm>
            <a:prstGeom prst="roundRect">
              <a:avLst>
                <a:gd name="adj" fmla="val 256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2" name="Shape 5">
              <a:extLst>
                <a:ext uri="{FF2B5EF4-FFF2-40B4-BE49-F238E27FC236}">
                  <a16:creationId xmlns:a16="http://schemas.microsoft.com/office/drawing/2014/main" id="{306D35FD-6886-1A01-F853-7BEAEB2CE4F6}"/>
                </a:ext>
              </a:extLst>
            </p:cNvPr>
            <p:cNvSpPr/>
            <p:nvPr/>
          </p:nvSpPr>
          <p:spPr>
            <a:xfrm>
              <a:off x="704088" y="2395728"/>
              <a:ext cx="329184" cy="329184"/>
            </a:xfrm>
            <a:prstGeom prst="ellipse">
              <a:avLst/>
            </a:prstGeom>
            <a:solidFill>
              <a:srgbClr val="0053EB"/>
            </a:solidFill>
            <a:ln w="12700">
              <a:solidFill>
                <a:srgbClr val="0053EB"/>
              </a:solidFill>
              <a:prstDash val="solid"/>
            </a:ln>
          </p:spPr>
          <p:txBody>
            <a:bodyPr/>
            <a:lstStyle/>
            <a:p>
              <a:endParaRPr lang="en-IN"/>
            </a:p>
          </p:txBody>
        </p:sp>
        <p:sp>
          <p:nvSpPr>
            <p:cNvPr id="43" name="Text 6">
              <a:extLst>
                <a:ext uri="{FF2B5EF4-FFF2-40B4-BE49-F238E27FC236}">
                  <a16:creationId xmlns:a16="http://schemas.microsoft.com/office/drawing/2014/main" id="{C0123FC5-E2DC-53C5-123B-DCDE9789EC3D}"/>
                </a:ext>
              </a:extLst>
            </p:cNvPr>
            <p:cNvSpPr txBox="1"/>
            <p:nvPr/>
          </p:nvSpPr>
          <p:spPr>
            <a:xfrm>
              <a:off x="704088" y="239572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4" name="Text 7">
              <a:extLst>
                <a:ext uri="{FF2B5EF4-FFF2-40B4-BE49-F238E27FC236}">
                  <a16:creationId xmlns:a16="http://schemas.microsoft.com/office/drawing/2014/main" id="{90BDC2DC-BB95-ED9A-CBC8-F624E2E5B367}"/>
                </a:ext>
              </a:extLst>
            </p:cNvPr>
            <p:cNvSpPr txBox="1"/>
            <p:nvPr/>
          </p:nvSpPr>
          <p:spPr>
            <a:xfrm>
              <a:off x="1106424" y="2432304"/>
              <a:ext cx="2560320" cy="45720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Prove first, migrate second</a:t>
              </a:r>
              <a:endParaRPr lang="en-US" sz="1150" dirty="0"/>
            </a:p>
          </p:txBody>
        </p:sp>
        <p:sp>
          <p:nvSpPr>
            <p:cNvPr id="45" name="Text 8">
              <a:extLst>
                <a:ext uri="{FF2B5EF4-FFF2-40B4-BE49-F238E27FC236}">
                  <a16:creationId xmlns:a16="http://schemas.microsoft.com/office/drawing/2014/main" id="{A6CDFDF8-E341-FAFD-C8A5-D1029E99D6DE}"/>
                </a:ext>
              </a:extLst>
            </p:cNvPr>
            <p:cNvSpPr txBox="1"/>
            <p:nvPr/>
          </p:nvSpPr>
          <p:spPr>
            <a:xfrm>
              <a:off x="704088" y="2980944"/>
              <a:ext cx="3054096" cy="960120"/>
            </a:xfrm>
            <a:prstGeom prst="rect">
              <a:avLst/>
            </a:prstGeom>
            <a:noFill/>
            <a:ln/>
          </p:spPr>
          <p:txBody>
            <a:bodyPr wrap="square" lIns="0" tIns="0" rIns="0" bIns="0" rtlCol="0" anchor="t"/>
            <a:lstStyle/>
            <a:p>
              <a:pPr marL="0" indent="0" algn="l">
                <a:lnSpc>
                  <a:spcPct val="110000"/>
                </a:lnSpc>
                <a:buNone/>
              </a:pPr>
              <a:r>
                <a:rPr lang="en-US" sz="900" dirty="0">
                  <a:solidFill>
                    <a:srgbClr val="5D6B8C"/>
                  </a:solidFill>
                  <a:latin typeface="Calibri" pitchFamily="34" charset="0"/>
                  <a:ea typeface="Calibri" pitchFamily="34" charset="-122"/>
                  <a:cs typeface="Calibri" pitchFamily="34" charset="-120"/>
                </a:rPr>
                <a:t>A 15-user Core IT POC validates fidelity, throughput, authentication and rollback against a signed test matrix. Production waves start only after the exit gate is passed.</a:t>
              </a:r>
              <a:endParaRPr lang="en-US" sz="900" dirty="0"/>
            </a:p>
          </p:txBody>
        </p:sp>
        <p:sp>
          <p:nvSpPr>
            <p:cNvPr id="46" name="Shape 9">
              <a:extLst>
                <a:ext uri="{FF2B5EF4-FFF2-40B4-BE49-F238E27FC236}">
                  <a16:creationId xmlns:a16="http://schemas.microsoft.com/office/drawing/2014/main" id="{8F7C5C54-0BEE-C84C-C9A4-5D03CF8DFA9C}"/>
                </a:ext>
              </a:extLst>
            </p:cNvPr>
            <p:cNvSpPr/>
            <p:nvPr/>
          </p:nvSpPr>
          <p:spPr>
            <a:xfrm>
              <a:off x="4194078" y="2194560"/>
              <a:ext cx="3453414" cy="1783080"/>
            </a:xfrm>
            <a:prstGeom prst="roundRect">
              <a:avLst>
                <a:gd name="adj" fmla="val 256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7" name="Shape 10">
              <a:extLst>
                <a:ext uri="{FF2B5EF4-FFF2-40B4-BE49-F238E27FC236}">
                  <a16:creationId xmlns:a16="http://schemas.microsoft.com/office/drawing/2014/main" id="{51D80A59-AA8D-AE2D-23C8-396EA2795A0C}"/>
                </a:ext>
              </a:extLst>
            </p:cNvPr>
            <p:cNvSpPr/>
            <p:nvPr/>
          </p:nvSpPr>
          <p:spPr>
            <a:xfrm>
              <a:off x="4395246" y="2395728"/>
              <a:ext cx="329184" cy="329184"/>
            </a:xfrm>
            <a:prstGeom prst="ellipse">
              <a:avLst/>
            </a:prstGeom>
            <a:solidFill>
              <a:srgbClr val="0053EB"/>
            </a:solidFill>
            <a:ln w="12700">
              <a:solidFill>
                <a:srgbClr val="0053EB"/>
              </a:solidFill>
              <a:prstDash val="solid"/>
            </a:ln>
          </p:spPr>
          <p:txBody>
            <a:bodyPr/>
            <a:lstStyle/>
            <a:p>
              <a:endParaRPr lang="en-IN"/>
            </a:p>
          </p:txBody>
        </p:sp>
        <p:sp>
          <p:nvSpPr>
            <p:cNvPr id="48" name="Text 11">
              <a:extLst>
                <a:ext uri="{FF2B5EF4-FFF2-40B4-BE49-F238E27FC236}">
                  <a16:creationId xmlns:a16="http://schemas.microsoft.com/office/drawing/2014/main" id="{C8911FC7-8503-482B-A6C1-4DC795F6CF39}"/>
                </a:ext>
              </a:extLst>
            </p:cNvPr>
            <p:cNvSpPr txBox="1"/>
            <p:nvPr/>
          </p:nvSpPr>
          <p:spPr>
            <a:xfrm>
              <a:off x="4395246" y="239572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9" name="Text 12">
              <a:extLst>
                <a:ext uri="{FF2B5EF4-FFF2-40B4-BE49-F238E27FC236}">
                  <a16:creationId xmlns:a16="http://schemas.microsoft.com/office/drawing/2014/main" id="{9A117394-2FAE-4777-C1B5-1404C4A03C45}"/>
                </a:ext>
              </a:extLst>
            </p:cNvPr>
            <p:cNvSpPr txBox="1"/>
            <p:nvPr/>
          </p:nvSpPr>
          <p:spPr>
            <a:xfrm>
              <a:off x="4797582" y="2432304"/>
              <a:ext cx="2560320" cy="45720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Identity and app auth designed in</a:t>
              </a:r>
              <a:endParaRPr lang="en-US" sz="1150" dirty="0"/>
            </a:p>
          </p:txBody>
        </p:sp>
        <p:sp>
          <p:nvSpPr>
            <p:cNvPr id="50" name="Text 13">
              <a:extLst>
                <a:ext uri="{FF2B5EF4-FFF2-40B4-BE49-F238E27FC236}">
                  <a16:creationId xmlns:a16="http://schemas.microsoft.com/office/drawing/2014/main" id="{F9716182-D0D2-979D-C566-EEC11EB4F92C}"/>
                </a:ext>
              </a:extLst>
            </p:cNvPr>
            <p:cNvSpPr txBox="1"/>
            <p:nvPr/>
          </p:nvSpPr>
          <p:spPr>
            <a:xfrm>
              <a:off x="4395246" y="2980944"/>
              <a:ext cx="3054096" cy="960120"/>
            </a:xfrm>
            <a:prstGeom prst="rect">
              <a:avLst/>
            </a:prstGeom>
            <a:noFill/>
            <a:ln/>
          </p:spPr>
          <p:txBody>
            <a:bodyPr wrap="square" lIns="0" tIns="0" rIns="0" bIns="0" rtlCol="0" anchor="t"/>
            <a:lstStyle/>
            <a:p>
              <a:pPr marL="0" indent="0" algn="l">
                <a:lnSpc>
                  <a:spcPct val="110000"/>
                </a:lnSpc>
                <a:buNone/>
              </a:pPr>
              <a:r>
                <a:rPr lang="en-US" sz="900" dirty="0">
                  <a:solidFill>
                    <a:srgbClr val="5D6B8C"/>
                  </a:solidFill>
                  <a:latin typeface="Calibri" pitchFamily="34" charset="0"/>
                  <a:ea typeface="Calibri" pitchFamily="34" charset="-122"/>
                  <a:cs typeface="Calibri" pitchFamily="34" charset="-120"/>
                </a:rPr>
                <a:t>Single sign-on, the credential experience and every application, relay device and integration that authenticates to Microsoft is designed and tested up front - never deferred to a later phase.</a:t>
              </a:r>
              <a:endParaRPr lang="en-US" sz="900" dirty="0"/>
            </a:p>
          </p:txBody>
        </p:sp>
        <p:sp>
          <p:nvSpPr>
            <p:cNvPr id="51" name="Shape 14">
              <a:extLst>
                <a:ext uri="{FF2B5EF4-FFF2-40B4-BE49-F238E27FC236}">
                  <a16:creationId xmlns:a16="http://schemas.microsoft.com/office/drawing/2014/main" id="{393BB5CD-CA62-A593-2609-6AFDA6698D84}"/>
                </a:ext>
              </a:extLst>
            </p:cNvPr>
            <p:cNvSpPr/>
            <p:nvPr/>
          </p:nvSpPr>
          <p:spPr>
            <a:xfrm>
              <a:off x="7885237" y="2194560"/>
              <a:ext cx="3453414" cy="1783080"/>
            </a:xfrm>
            <a:prstGeom prst="roundRect">
              <a:avLst>
                <a:gd name="adj" fmla="val 256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2" name="Shape 15">
              <a:extLst>
                <a:ext uri="{FF2B5EF4-FFF2-40B4-BE49-F238E27FC236}">
                  <a16:creationId xmlns:a16="http://schemas.microsoft.com/office/drawing/2014/main" id="{3B654E9D-8ACA-1F6B-9167-ECF99761639C}"/>
                </a:ext>
              </a:extLst>
            </p:cNvPr>
            <p:cNvSpPr/>
            <p:nvPr/>
          </p:nvSpPr>
          <p:spPr>
            <a:xfrm>
              <a:off x="8086405" y="2395728"/>
              <a:ext cx="329184" cy="329184"/>
            </a:xfrm>
            <a:prstGeom prst="ellipse">
              <a:avLst/>
            </a:prstGeom>
            <a:solidFill>
              <a:srgbClr val="0053EB"/>
            </a:solidFill>
            <a:ln w="12700">
              <a:solidFill>
                <a:srgbClr val="0053EB"/>
              </a:solidFill>
              <a:prstDash val="solid"/>
            </a:ln>
          </p:spPr>
          <p:txBody>
            <a:bodyPr/>
            <a:lstStyle/>
            <a:p>
              <a:endParaRPr lang="en-IN"/>
            </a:p>
          </p:txBody>
        </p:sp>
        <p:sp>
          <p:nvSpPr>
            <p:cNvPr id="53" name="Text 16">
              <a:extLst>
                <a:ext uri="{FF2B5EF4-FFF2-40B4-BE49-F238E27FC236}">
                  <a16:creationId xmlns:a16="http://schemas.microsoft.com/office/drawing/2014/main" id="{F037504A-AD4A-C38C-4313-CD0D6716631B}"/>
                </a:ext>
              </a:extLst>
            </p:cNvPr>
            <p:cNvSpPr txBox="1"/>
            <p:nvPr/>
          </p:nvSpPr>
          <p:spPr>
            <a:xfrm>
              <a:off x="8086405" y="239572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4" name="Text 17">
              <a:extLst>
                <a:ext uri="{FF2B5EF4-FFF2-40B4-BE49-F238E27FC236}">
                  <a16:creationId xmlns:a16="http://schemas.microsoft.com/office/drawing/2014/main" id="{D1C8C659-128E-EB82-64C2-073DF83D6E21}"/>
                </a:ext>
              </a:extLst>
            </p:cNvPr>
            <p:cNvSpPr txBox="1"/>
            <p:nvPr/>
          </p:nvSpPr>
          <p:spPr>
            <a:xfrm>
              <a:off x="8488741" y="2432304"/>
              <a:ext cx="2560320" cy="45720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One programme, staged in two releases</a:t>
              </a:r>
              <a:endParaRPr lang="en-US" sz="1150" dirty="0"/>
            </a:p>
          </p:txBody>
        </p:sp>
        <p:sp>
          <p:nvSpPr>
            <p:cNvPr id="55" name="Text 18">
              <a:extLst>
                <a:ext uri="{FF2B5EF4-FFF2-40B4-BE49-F238E27FC236}">
                  <a16:creationId xmlns:a16="http://schemas.microsoft.com/office/drawing/2014/main" id="{C25A02E2-6860-E16C-9184-490ABE3C92A6}"/>
                </a:ext>
              </a:extLst>
            </p:cNvPr>
            <p:cNvSpPr txBox="1"/>
            <p:nvPr/>
          </p:nvSpPr>
          <p:spPr>
            <a:xfrm>
              <a:off x="8086405" y="2980944"/>
              <a:ext cx="3054096" cy="960120"/>
            </a:xfrm>
            <a:prstGeom prst="rect">
              <a:avLst/>
            </a:prstGeom>
            <a:noFill/>
            <a:ln/>
          </p:spPr>
          <p:txBody>
            <a:bodyPr wrap="square" lIns="0" tIns="0" rIns="0" bIns="0" rtlCol="0" anchor="t"/>
            <a:lstStyle/>
            <a:p>
              <a:pPr marL="0" indent="0" algn="l">
                <a:lnSpc>
                  <a:spcPct val="110000"/>
                </a:lnSpc>
                <a:buNone/>
              </a:pPr>
              <a:r>
                <a:rPr lang="en-US" sz="900" dirty="0">
                  <a:solidFill>
                    <a:srgbClr val="5D6B8C"/>
                  </a:solidFill>
                  <a:latin typeface="Calibri" pitchFamily="34" charset="0"/>
                  <a:ea typeface="Calibri" pitchFamily="34" charset="-122"/>
                  <a:cs typeface="Calibri" pitchFamily="34" charset="-120"/>
                </a:rPr>
                <a:t>Collaboration platform, then identity ownership and endpoint management - a single scope and one team, staged so that no two estate-wide changes share a window.</a:t>
              </a:r>
              <a:endParaRPr lang="en-US" sz="900" dirty="0"/>
            </a:p>
          </p:txBody>
        </p:sp>
        <p:sp>
          <p:nvSpPr>
            <p:cNvPr id="56" name="Shape 19">
              <a:extLst>
                <a:ext uri="{FF2B5EF4-FFF2-40B4-BE49-F238E27FC236}">
                  <a16:creationId xmlns:a16="http://schemas.microsoft.com/office/drawing/2014/main" id="{96D573D3-DFB6-4A55-55EB-7F39F4E17E2D}"/>
                </a:ext>
              </a:extLst>
            </p:cNvPr>
            <p:cNvSpPr/>
            <p:nvPr/>
          </p:nvSpPr>
          <p:spPr>
            <a:xfrm>
              <a:off x="502920" y="4206240"/>
              <a:ext cx="3453414" cy="1783080"/>
            </a:xfrm>
            <a:prstGeom prst="roundRect">
              <a:avLst>
                <a:gd name="adj" fmla="val 256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7" name="Shape 20">
              <a:extLst>
                <a:ext uri="{FF2B5EF4-FFF2-40B4-BE49-F238E27FC236}">
                  <a16:creationId xmlns:a16="http://schemas.microsoft.com/office/drawing/2014/main" id="{1F874509-D74F-0B73-5F41-DDF0A6C1C3B4}"/>
                </a:ext>
              </a:extLst>
            </p:cNvPr>
            <p:cNvSpPr/>
            <p:nvPr/>
          </p:nvSpPr>
          <p:spPr>
            <a:xfrm>
              <a:off x="704088" y="4407408"/>
              <a:ext cx="329184" cy="329184"/>
            </a:xfrm>
            <a:prstGeom prst="ellipse">
              <a:avLst/>
            </a:prstGeom>
            <a:solidFill>
              <a:srgbClr val="0053EB"/>
            </a:solidFill>
            <a:ln w="12700">
              <a:solidFill>
                <a:srgbClr val="0053EB"/>
              </a:solidFill>
              <a:prstDash val="solid"/>
            </a:ln>
          </p:spPr>
          <p:txBody>
            <a:bodyPr/>
            <a:lstStyle/>
            <a:p>
              <a:endParaRPr lang="en-IN"/>
            </a:p>
          </p:txBody>
        </p:sp>
        <p:sp>
          <p:nvSpPr>
            <p:cNvPr id="58" name="Text 21">
              <a:extLst>
                <a:ext uri="{FF2B5EF4-FFF2-40B4-BE49-F238E27FC236}">
                  <a16:creationId xmlns:a16="http://schemas.microsoft.com/office/drawing/2014/main" id="{D0913924-FA8D-6B85-64FE-4FC4759997B4}"/>
                </a:ext>
              </a:extLst>
            </p:cNvPr>
            <p:cNvSpPr txBox="1"/>
            <p:nvPr/>
          </p:nvSpPr>
          <p:spPr>
            <a:xfrm>
              <a:off x="704088" y="440740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22">
              <a:extLst>
                <a:ext uri="{FF2B5EF4-FFF2-40B4-BE49-F238E27FC236}">
                  <a16:creationId xmlns:a16="http://schemas.microsoft.com/office/drawing/2014/main" id="{1855A6C9-0E4C-607E-D4B6-6A0E2E6841B4}"/>
                </a:ext>
              </a:extLst>
            </p:cNvPr>
            <p:cNvSpPr txBox="1"/>
            <p:nvPr/>
          </p:nvSpPr>
          <p:spPr>
            <a:xfrm>
              <a:off x="1106424" y="4443984"/>
              <a:ext cx="2560320" cy="45720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Hybrid tooling, not tool loyalty</a:t>
              </a:r>
              <a:endParaRPr lang="en-US" sz="1150" dirty="0"/>
            </a:p>
          </p:txBody>
        </p:sp>
        <p:sp>
          <p:nvSpPr>
            <p:cNvPr id="60" name="Text 23">
              <a:extLst>
                <a:ext uri="{FF2B5EF4-FFF2-40B4-BE49-F238E27FC236}">
                  <a16:creationId xmlns:a16="http://schemas.microsoft.com/office/drawing/2014/main" id="{D8681A67-E9D4-95B8-B8D2-91D93A2EC6A0}"/>
                </a:ext>
              </a:extLst>
            </p:cNvPr>
            <p:cNvSpPr txBox="1"/>
            <p:nvPr/>
          </p:nvSpPr>
          <p:spPr>
            <a:xfrm>
              <a:off x="704088" y="4992624"/>
              <a:ext cx="3054096" cy="960120"/>
            </a:xfrm>
            <a:prstGeom prst="rect">
              <a:avLst/>
            </a:prstGeom>
            <a:noFill/>
            <a:ln/>
          </p:spPr>
          <p:txBody>
            <a:bodyPr wrap="square" lIns="0" tIns="0" rIns="0" bIns="0" rtlCol="0" anchor="t"/>
            <a:lstStyle/>
            <a:p>
              <a:pPr marL="0" indent="0" algn="l">
                <a:lnSpc>
                  <a:spcPct val="110000"/>
                </a:lnSpc>
                <a:buNone/>
              </a:pPr>
              <a:r>
                <a:rPr lang="en-US" sz="900" dirty="0">
                  <a:solidFill>
                    <a:srgbClr val="5D6B8C"/>
                  </a:solidFill>
                  <a:latin typeface="Calibri" pitchFamily="34" charset="0"/>
                  <a:ea typeface="Calibri" pitchFamily="34" charset="-122"/>
                  <a:cs typeface="Calibri" pitchFamily="34" charset="-120"/>
                </a:rPr>
                <a:t>Google's native data import for Exchange at zero tool cost; a specialist tool where permission fidelity and audit evidence justify the licence.</a:t>
              </a:r>
              <a:endParaRPr lang="en-US" sz="900" dirty="0"/>
            </a:p>
          </p:txBody>
        </p:sp>
        <p:sp>
          <p:nvSpPr>
            <p:cNvPr id="61" name="Shape 24">
              <a:extLst>
                <a:ext uri="{FF2B5EF4-FFF2-40B4-BE49-F238E27FC236}">
                  <a16:creationId xmlns:a16="http://schemas.microsoft.com/office/drawing/2014/main" id="{DF2DB8E5-E07E-5A3A-B58A-4E5DBE51514A}"/>
                </a:ext>
              </a:extLst>
            </p:cNvPr>
            <p:cNvSpPr/>
            <p:nvPr/>
          </p:nvSpPr>
          <p:spPr>
            <a:xfrm>
              <a:off x="4194078" y="4206240"/>
              <a:ext cx="3453414" cy="1783080"/>
            </a:xfrm>
            <a:prstGeom prst="roundRect">
              <a:avLst>
                <a:gd name="adj" fmla="val 256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62" name="Shape 25">
              <a:extLst>
                <a:ext uri="{FF2B5EF4-FFF2-40B4-BE49-F238E27FC236}">
                  <a16:creationId xmlns:a16="http://schemas.microsoft.com/office/drawing/2014/main" id="{5C155440-AB8F-A1AA-C130-BB0F82A6967D}"/>
                </a:ext>
              </a:extLst>
            </p:cNvPr>
            <p:cNvSpPr/>
            <p:nvPr/>
          </p:nvSpPr>
          <p:spPr>
            <a:xfrm>
              <a:off x="4395246" y="4407408"/>
              <a:ext cx="329184" cy="329184"/>
            </a:xfrm>
            <a:prstGeom prst="ellipse">
              <a:avLst/>
            </a:prstGeom>
            <a:solidFill>
              <a:srgbClr val="0053EB"/>
            </a:solidFill>
            <a:ln w="12700">
              <a:solidFill>
                <a:srgbClr val="0053EB"/>
              </a:solidFill>
              <a:prstDash val="solid"/>
            </a:ln>
          </p:spPr>
          <p:txBody>
            <a:bodyPr/>
            <a:lstStyle/>
            <a:p>
              <a:endParaRPr lang="en-IN"/>
            </a:p>
          </p:txBody>
        </p:sp>
        <p:sp>
          <p:nvSpPr>
            <p:cNvPr id="63" name="Text 26">
              <a:extLst>
                <a:ext uri="{FF2B5EF4-FFF2-40B4-BE49-F238E27FC236}">
                  <a16:creationId xmlns:a16="http://schemas.microsoft.com/office/drawing/2014/main" id="{ED499CF2-9AEC-791E-8E51-FA70BBD1716F}"/>
                </a:ext>
              </a:extLst>
            </p:cNvPr>
            <p:cNvSpPr txBox="1"/>
            <p:nvPr/>
          </p:nvSpPr>
          <p:spPr>
            <a:xfrm>
              <a:off x="4395246" y="440740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64" name="Text 27">
              <a:extLst>
                <a:ext uri="{FF2B5EF4-FFF2-40B4-BE49-F238E27FC236}">
                  <a16:creationId xmlns:a16="http://schemas.microsoft.com/office/drawing/2014/main" id="{967A65C8-7D62-F3B3-803C-DB6A9D51EDC8}"/>
                </a:ext>
              </a:extLst>
            </p:cNvPr>
            <p:cNvSpPr txBox="1"/>
            <p:nvPr/>
          </p:nvSpPr>
          <p:spPr>
            <a:xfrm>
              <a:off x="4797582" y="4443984"/>
              <a:ext cx="2560320" cy="45720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Coexistence, not a cliff edge</a:t>
              </a:r>
              <a:endParaRPr lang="en-US" sz="1150" dirty="0"/>
            </a:p>
          </p:txBody>
        </p:sp>
        <p:sp>
          <p:nvSpPr>
            <p:cNvPr id="65" name="Text 28">
              <a:extLst>
                <a:ext uri="{FF2B5EF4-FFF2-40B4-BE49-F238E27FC236}">
                  <a16:creationId xmlns:a16="http://schemas.microsoft.com/office/drawing/2014/main" id="{36F23390-0B19-8504-87BE-99F6E461BC22}"/>
                </a:ext>
              </a:extLst>
            </p:cNvPr>
            <p:cNvSpPr txBox="1"/>
            <p:nvPr/>
          </p:nvSpPr>
          <p:spPr>
            <a:xfrm>
              <a:off x="4395246" y="4992624"/>
              <a:ext cx="3054096" cy="960120"/>
            </a:xfrm>
            <a:prstGeom prst="rect">
              <a:avLst/>
            </a:prstGeom>
            <a:noFill/>
            <a:ln/>
          </p:spPr>
          <p:txBody>
            <a:bodyPr wrap="square" lIns="0" tIns="0" rIns="0" bIns="0" rtlCol="0" anchor="t"/>
            <a:lstStyle/>
            <a:p>
              <a:pPr marL="0" indent="0" algn="l">
                <a:lnSpc>
                  <a:spcPct val="110000"/>
                </a:lnSpc>
                <a:buNone/>
              </a:pPr>
              <a:r>
                <a:rPr lang="en-US" sz="900" dirty="0">
                  <a:solidFill>
                    <a:srgbClr val="5D6B8C"/>
                  </a:solidFill>
                  <a:latin typeface="Calibri" pitchFamily="34" charset="0"/>
                  <a:ea typeface="Calibri" pitchFamily="34" charset="-122"/>
                  <a:cs typeface="Calibri" pitchFamily="34" charset="-120"/>
                </a:rPr>
                <a:t>Free/busy interop, GAL sync, split mail routing and Chat-to-Teams federation keep 700 people working normally across the wave window.</a:t>
              </a:r>
              <a:endParaRPr lang="en-US" sz="900" dirty="0"/>
            </a:p>
          </p:txBody>
        </p:sp>
        <p:sp>
          <p:nvSpPr>
            <p:cNvPr id="66" name="Shape 29">
              <a:extLst>
                <a:ext uri="{FF2B5EF4-FFF2-40B4-BE49-F238E27FC236}">
                  <a16:creationId xmlns:a16="http://schemas.microsoft.com/office/drawing/2014/main" id="{BD84EB96-E738-4484-FBFB-77EC45F9C09D}"/>
                </a:ext>
              </a:extLst>
            </p:cNvPr>
            <p:cNvSpPr/>
            <p:nvPr/>
          </p:nvSpPr>
          <p:spPr>
            <a:xfrm>
              <a:off x="7885237" y="4206240"/>
              <a:ext cx="3453414" cy="1783080"/>
            </a:xfrm>
            <a:prstGeom prst="roundRect">
              <a:avLst>
                <a:gd name="adj" fmla="val 256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67" name="Shape 30">
              <a:extLst>
                <a:ext uri="{FF2B5EF4-FFF2-40B4-BE49-F238E27FC236}">
                  <a16:creationId xmlns:a16="http://schemas.microsoft.com/office/drawing/2014/main" id="{CFA3C480-0D4D-5D55-B4D1-870F982F7568}"/>
                </a:ext>
              </a:extLst>
            </p:cNvPr>
            <p:cNvSpPr/>
            <p:nvPr/>
          </p:nvSpPr>
          <p:spPr>
            <a:xfrm>
              <a:off x="8086405" y="4407408"/>
              <a:ext cx="329184" cy="329184"/>
            </a:xfrm>
            <a:prstGeom prst="ellipse">
              <a:avLst/>
            </a:prstGeom>
            <a:solidFill>
              <a:srgbClr val="0053EB"/>
            </a:solidFill>
            <a:ln w="12700">
              <a:solidFill>
                <a:srgbClr val="0053EB"/>
              </a:solidFill>
              <a:prstDash val="solid"/>
            </a:ln>
          </p:spPr>
          <p:txBody>
            <a:bodyPr/>
            <a:lstStyle/>
            <a:p>
              <a:endParaRPr lang="en-IN"/>
            </a:p>
          </p:txBody>
        </p:sp>
        <p:sp>
          <p:nvSpPr>
            <p:cNvPr id="68" name="Text 31">
              <a:extLst>
                <a:ext uri="{FF2B5EF4-FFF2-40B4-BE49-F238E27FC236}">
                  <a16:creationId xmlns:a16="http://schemas.microsoft.com/office/drawing/2014/main" id="{6DF9ADEC-C0D4-6BB6-5EF9-543A11EBB742}"/>
                </a:ext>
              </a:extLst>
            </p:cNvPr>
            <p:cNvSpPr txBox="1"/>
            <p:nvPr/>
          </p:nvSpPr>
          <p:spPr>
            <a:xfrm>
              <a:off x="8086405" y="4407408"/>
              <a:ext cx="329184"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69" name="Text 32">
              <a:extLst>
                <a:ext uri="{FF2B5EF4-FFF2-40B4-BE49-F238E27FC236}">
                  <a16:creationId xmlns:a16="http://schemas.microsoft.com/office/drawing/2014/main" id="{39B43335-24AD-1CBB-EF85-359FC8BDCAD9}"/>
                </a:ext>
              </a:extLst>
            </p:cNvPr>
            <p:cNvSpPr txBox="1"/>
            <p:nvPr/>
          </p:nvSpPr>
          <p:spPr>
            <a:xfrm>
              <a:off x="8488741" y="4443984"/>
              <a:ext cx="2560320" cy="45720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Full limitation disclosure</a:t>
              </a:r>
              <a:endParaRPr lang="en-US" sz="1150" dirty="0"/>
            </a:p>
          </p:txBody>
        </p:sp>
        <p:sp>
          <p:nvSpPr>
            <p:cNvPr id="70" name="Text 33">
              <a:extLst>
                <a:ext uri="{FF2B5EF4-FFF2-40B4-BE49-F238E27FC236}">
                  <a16:creationId xmlns:a16="http://schemas.microsoft.com/office/drawing/2014/main" id="{406A175D-507A-3F28-4FA1-2D68706CAEE9}"/>
                </a:ext>
              </a:extLst>
            </p:cNvPr>
            <p:cNvSpPr txBox="1"/>
            <p:nvPr/>
          </p:nvSpPr>
          <p:spPr>
            <a:xfrm>
              <a:off x="8086405" y="4992624"/>
              <a:ext cx="3054096" cy="960120"/>
            </a:xfrm>
            <a:prstGeom prst="rect">
              <a:avLst/>
            </a:prstGeom>
            <a:noFill/>
            <a:ln/>
          </p:spPr>
          <p:txBody>
            <a:bodyPr wrap="square" lIns="0" tIns="0" rIns="0" bIns="0" rtlCol="0" anchor="t"/>
            <a:lstStyle/>
            <a:p>
              <a:pPr marL="0" indent="0" algn="l">
                <a:lnSpc>
                  <a:spcPct val="110000"/>
                </a:lnSpc>
                <a:buNone/>
              </a:pPr>
              <a:r>
                <a:rPr lang="en-US" sz="900" dirty="0">
                  <a:solidFill>
                    <a:srgbClr val="5D6B8C"/>
                  </a:solidFill>
                  <a:latin typeface="Calibri" pitchFamily="34" charset="0"/>
                  <a:ea typeface="Calibri" pitchFamily="34" charset="-122"/>
                  <a:cs typeface="Calibri" pitchFamily="34" charset="-120"/>
                </a:rPr>
                <a:t>A signed "will not migrate" register is a POC deliverable. Surprises in the final wave are a planning failure, not a technology one.</a:t>
              </a:r>
              <a:endParaRPr lang="en-US" sz="900" dirty="0"/>
            </a:p>
          </p:txBody>
        </p:sp>
      </p:grpSp>
      <p:sp>
        <p:nvSpPr>
          <p:cNvPr id="71" name="Footer Placeholder 24">
            <a:extLst>
              <a:ext uri="{FF2B5EF4-FFF2-40B4-BE49-F238E27FC236}">
                <a16:creationId xmlns:a16="http://schemas.microsoft.com/office/drawing/2014/main" id="{C8648311-C415-FAA8-4046-51AD1351657F}"/>
              </a:ext>
            </a:extLst>
          </p:cNvPr>
          <p:cNvSpPr txBox="1">
            <a:spLocks/>
          </p:cNvSpPr>
          <p:nvPr/>
        </p:nvSpPr>
        <p:spPr>
          <a:xfrm>
            <a:off x="5130800" y="6487584"/>
            <a:ext cx="1930400" cy="243417"/>
          </a:xfr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67" dirty="0">
                <a:solidFill>
                  <a:schemeClr val="tx2">
                    <a:lumMod val="75000"/>
                  </a:schemeClr>
                </a:solidFill>
                <a:latin typeface="Codec Pro" panose="020B0604020202020204" charset="0"/>
              </a:rPr>
              <a:t>                            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3" name="Text 0"/>
          <p:cNvSpPr txBox="1"/>
          <p:nvPr/>
        </p:nvSpPr>
        <p:spPr>
          <a:xfrm>
            <a:off x="11064240" y="6510528"/>
            <a:ext cx="749808" cy="201168"/>
          </a:xfrm>
          <a:prstGeom prst="rect">
            <a:avLst/>
          </a:prstGeom>
          <a:noFill/>
          <a:ln/>
        </p:spPr>
        <p:txBody>
          <a:bodyPr wrap="square" lIns="0" tIns="0" rIns="0" bIns="0" rtlCol="0" anchor="ctr"/>
          <a:lstStyle/>
          <a:p>
            <a:pPr marL="0" indent="0" algn="r">
              <a:buNone/>
            </a:pPr>
            <a:r>
              <a:rPr lang="en-US" sz="750" dirty="0">
                <a:solidFill>
                  <a:srgbClr val="92A0BC"/>
                </a:solidFill>
                <a:latin typeface="Calibri" pitchFamily="34" charset="0"/>
                <a:ea typeface="Calibri" pitchFamily="34" charset="-122"/>
                <a:cs typeface="Calibri" pitchFamily="34" charset="-120"/>
              </a:rPr>
              <a:t>3</a:t>
            </a:r>
            <a:endParaRPr lang="en-US" sz="750" dirty="0"/>
          </a:p>
        </p:txBody>
      </p:sp>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SERVICE OBJECTIVES</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We define "seamless" as numbers you can hold us to</a:t>
            </a:r>
            <a:endParaRPr lang="en-US" sz="2800" dirty="0"/>
          </a:p>
        </p:txBody>
      </p:sp>
      <p:sp>
        <p:nvSpPr>
          <p:cNvPr id="6" name="Text 3"/>
          <p:cNvSpPr txBox="1"/>
          <p:nvPr/>
        </p:nvSpPr>
        <p:spPr>
          <a:xfrm>
            <a:off x="502920" y="1261872"/>
            <a:ext cx="10424160" cy="274320"/>
          </a:xfrm>
          <a:prstGeom prst="rect">
            <a:avLst/>
          </a:prstGeom>
          <a:noFill/>
          <a:ln/>
        </p:spPr>
        <p:txBody>
          <a:bodyPr wrap="square" lIns="0" tIns="0" rIns="0" bIns="0" rtlCol="0" anchor="t"/>
          <a:lstStyle/>
          <a:p>
            <a:pPr>
              <a:lnSpc>
                <a:spcPct val="112000"/>
              </a:lnSpc>
            </a:pPr>
            <a:r>
              <a:rPr lang="en-US" sz="1100" dirty="0">
                <a:solidFill>
                  <a:srgbClr val="5D6B8C"/>
                </a:solidFill>
                <a:latin typeface="Calibri" pitchFamily="34" charset="0"/>
                <a:ea typeface="Calibri" pitchFamily="34" charset="-122"/>
                <a:cs typeface="Calibri" pitchFamily="34" charset="-120"/>
              </a:rPr>
              <a:t>Every objective is measured per wave and reported in the daily migration stand-up. Anything not measurable is not a commitment.</a:t>
            </a:r>
            <a:endParaRPr lang="en-US" sz="1100" dirty="0"/>
          </a:p>
        </p:txBody>
      </p:sp>
      <p:sp>
        <p:nvSpPr>
          <p:cNvPr id="8" name="Text 4"/>
          <p:cNvSpPr txBox="1"/>
          <p:nvPr/>
        </p:nvSpPr>
        <p:spPr>
          <a:xfrm>
            <a:off x="534093" y="6134375"/>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Targets are proposed baselines; they are ratified with you and frozen at the end of discovery.</a:t>
            </a:r>
            <a:endParaRPr lang="en-US" sz="800" dirty="0"/>
          </a:p>
        </p:txBody>
      </p:sp>
      <p:sp>
        <p:nvSpPr>
          <p:cNvPr id="9" name="AutoShape 2">
            <a:extLst>
              <a:ext uri="{FF2B5EF4-FFF2-40B4-BE49-F238E27FC236}">
                <a16:creationId xmlns:a16="http://schemas.microsoft.com/office/drawing/2014/main" id="{317302F4-8E8F-4D80-9617-0BE24BDD30D6}"/>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1" name="TextBox 9">
            <a:extLst>
              <a:ext uri="{FF2B5EF4-FFF2-40B4-BE49-F238E27FC236}">
                <a16:creationId xmlns:a16="http://schemas.microsoft.com/office/drawing/2014/main" id="{0571E07A-03A8-4E63-8B2E-C86968F2F675}"/>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2" name="TextBox 11">
            <a:extLst>
              <a:ext uri="{FF2B5EF4-FFF2-40B4-BE49-F238E27FC236}">
                <a16:creationId xmlns:a16="http://schemas.microsoft.com/office/drawing/2014/main" id="{A3A65848-C860-48E2-BC08-8CE8C99A0A7E}"/>
              </a:ext>
            </a:extLst>
          </p:cNvPr>
          <p:cNvSpPr txBox="1"/>
          <p:nvPr/>
        </p:nvSpPr>
        <p:spPr>
          <a:xfrm>
            <a:off x="5911269" y="6533202"/>
            <a:ext cx="235962" cy="215444"/>
          </a:xfrm>
          <a:prstGeom prst="rect">
            <a:avLst/>
          </a:prstGeom>
          <a:noFill/>
        </p:spPr>
        <p:txBody>
          <a:bodyPr wrap="none" rtlCol="0">
            <a:spAutoFit/>
          </a:bodyPr>
          <a:lstStyle/>
          <a:p>
            <a:r>
              <a:rPr lang="en-US" sz="800" dirty="0"/>
              <a:t>6</a:t>
            </a:r>
          </a:p>
        </p:txBody>
      </p:sp>
      <p:graphicFrame>
        <p:nvGraphicFramePr>
          <p:cNvPr id="17" name="Table 0">
            <a:extLst>
              <a:ext uri="{FF2B5EF4-FFF2-40B4-BE49-F238E27FC236}">
                <a16:creationId xmlns:a16="http://schemas.microsoft.com/office/drawing/2014/main" id="{5306FD35-2CDA-1717-C2FF-010DC064B3BD}"/>
              </a:ext>
            </a:extLst>
          </p:cNvPr>
          <p:cNvGraphicFramePr>
            <a:graphicFrameLocks noGrp="1"/>
          </p:cNvGraphicFramePr>
          <p:nvPr>
            <p:extLst>
              <p:ext uri="{D42A27DB-BD31-4B8C-83A1-F6EECF244321}">
                <p14:modId xmlns:p14="http://schemas.microsoft.com/office/powerpoint/2010/main" val="1900310751"/>
              </p:ext>
            </p:extLst>
          </p:nvPr>
        </p:nvGraphicFramePr>
        <p:xfrm>
          <a:off x="502920" y="1609344"/>
          <a:ext cx="10835640" cy="4389120"/>
        </p:xfrm>
        <a:graphic>
          <a:graphicData uri="http://schemas.openxmlformats.org/drawingml/2006/table">
            <a:tbl>
              <a:tblPr/>
              <a:tblGrid>
                <a:gridCol w="21031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3794760">
                  <a:extLst>
                    <a:ext uri="{9D8B030D-6E8A-4147-A177-3AD203B41FA5}">
                      <a16:colId xmlns:a16="http://schemas.microsoft.com/office/drawing/2014/main" val="20002"/>
                    </a:ext>
                  </a:extLst>
                </a:gridCol>
                <a:gridCol w="3063240">
                  <a:extLst>
                    <a:ext uri="{9D8B030D-6E8A-4147-A177-3AD203B41FA5}">
                      <a16:colId xmlns:a16="http://schemas.microsoft.com/office/drawing/2014/main" val="20003"/>
                    </a:ext>
                  </a:extLst>
                </a:gridCol>
              </a:tblGrid>
              <a:tr h="36576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Objective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Target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How it is measured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Fallback if missed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Mail delivery continuity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Zero lost inbound messages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Split-routing test harness; message-ID reconciliation source vs target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Revert routing rule; queue drain from Exchange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User downtime at cutover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&lt; 30 minutes per user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Cutover window timestamps vs first successful Gmail send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User stays on Exchange until the next wave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Mail item fidelity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&gt;= 99.5% items matched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Item-count and hash reconciliation report per mailbox</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Targeted delta re-run before wave sign-off</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Calendar fidelity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100% of future-dated meetings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Forward-looking event diff: organiser, attendees, room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Manual remediation list issued to affected users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Single sign-on continuity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100% of federated apps reachable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Per-application login test executed by the named app owner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App reverts to its existing Microsoft login path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Credential experience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new password for any user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Federated sign-in tested on web, mobile and desktop clients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Documented interim credential path plus helpdesk script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Application &amp; device mail auth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100% of relay sources sending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Synthetic send test per SMTP relay source and per integration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Legacy relay path retained until the source is confirmed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File permission fidelity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&gt;= 98% ACLs reproduced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Permission diff report, exceptions itemised by site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Owner-notified exception list, remediated in hypercare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Free/busy availability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Continuous through the wave window</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Synthetic cross-platform lookup every 15 minutes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Interop role-account failover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Helpdesk deflection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&lt; 8% of migrated users raise a ticket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Wave ticket volume / wave user count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Additional floorwalker cover for the next wave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0"/>
                  </a:ext>
                </a:extLst>
              </a:tr>
              <a:tr h="36576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Rollback readiness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Per-user rollback within 4 hours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Rehearsed in the POC and in the wave 1 dress rehearsal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n/a - this is a gate, not a target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DISCOVERY</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What we measure before we design anything</a:t>
            </a:r>
            <a:endParaRPr lang="en-US" sz="2800" dirty="0"/>
          </a:p>
        </p:txBody>
      </p:sp>
      <p:sp>
        <p:nvSpPr>
          <p:cNvPr id="6" name="Text 3"/>
          <p:cNvSpPr txBox="1"/>
          <p:nvPr/>
        </p:nvSpPr>
        <p:spPr>
          <a:xfrm>
            <a:off x="502920" y="1298448"/>
            <a:ext cx="10424160" cy="274320"/>
          </a:xfrm>
          <a:prstGeom prst="rect">
            <a:avLst/>
          </a:prstGeom>
          <a:noFill/>
          <a:ln/>
        </p:spPr>
        <p:txBody>
          <a:bodyPr wrap="square" lIns="0" tIns="0" rIns="0" bIns="0" rtlCol="0" anchor="t"/>
          <a:lstStyle/>
          <a:p>
            <a:pPr>
              <a:lnSpc>
                <a:spcPct val="112000"/>
              </a:lnSpc>
            </a:pPr>
            <a:r>
              <a:rPr lang="en-US" sz="1100" dirty="0">
                <a:solidFill>
                  <a:srgbClr val="5D6B8C"/>
                </a:solidFill>
                <a:latin typeface="Calibri" pitchFamily="34" charset="0"/>
                <a:ea typeface="Calibri" pitchFamily="34" charset="-122"/>
                <a:cs typeface="Calibri" pitchFamily="34" charset="-120"/>
              </a:rPr>
              <a:t>Discovery is run with tenant-side telemetry, not a questionnaire. The outputs drive wave design, tool selection, the authentication plan and the limitation register.</a:t>
            </a:r>
            <a:endParaRPr lang="en-US" sz="1100" dirty="0"/>
          </a:p>
        </p:txBody>
      </p:sp>
      <p:sp>
        <p:nvSpPr>
          <p:cNvPr id="23" name="Text 20"/>
          <p:cNvSpPr txBox="1"/>
          <p:nvPr/>
        </p:nvSpPr>
        <p:spPr>
          <a:xfrm>
            <a:off x="502920" y="6238285"/>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Discovery tooling: Microsoft Graph and Exchange Online PowerShell extracts, SharePoint tenant reports, message-trace analysis for relay discovery, and endpoint inventory. Read-only throughout.</a:t>
            </a:r>
            <a:endParaRPr lang="en-US" sz="800" dirty="0"/>
          </a:p>
        </p:txBody>
      </p:sp>
      <p:sp>
        <p:nvSpPr>
          <p:cNvPr id="24" name="AutoShape 2">
            <a:extLst>
              <a:ext uri="{FF2B5EF4-FFF2-40B4-BE49-F238E27FC236}">
                <a16:creationId xmlns:a16="http://schemas.microsoft.com/office/drawing/2014/main" id="{3F8A2A8B-C892-423C-AB29-544A3D210ECA}"/>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25" name="TextBox 7">
            <a:extLst>
              <a:ext uri="{FF2B5EF4-FFF2-40B4-BE49-F238E27FC236}">
                <a16:creationId xmlns:a16="http://schemas.microsoft.com/office/drawing/2014/main" id="{6756FB92-E074-46CE-BA67-C7E8A9B07BDD}"/>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6" name="TextBox 9">
            <a:extLst>
              <a:ext uri="{FF2B5EF4-FFF2-40B4-BE49-F238E27FC236}">
                <a16:creationId xmlns:a16="http://schemas.microsoft.com/office/drawing/2014/main" id="{97FB6EF7-FA6A-49A2-B184-3093C240E43B}"/>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7" name="TextBox 26">
            <a:extLst>
              <a:ext uri="{FF2B5EF4-FFF2-40B4-BE49-F238E27FC236}">
                <a16:creationId xmlns:a16="http://schemas.microsoft.com/office/drawing/2014/main" id="{A7FD9320-02E7-4E69-8A44-32F0FF55A347}"/>
              </a:ext>
            </a:extLst>
          </p:cNvPr>
          <p:cNvSpPr txBox="1"/>
          <p:nvPr/>
        </p:nvSpPr>
        <p:spPr>
          <a:xfrm>
            <a:off x="5911269" y="6533202"/>
            <a:ext cx="235962" cy="215444"/>
          </a:xfrm>
          <a:prstGeom prst="rect">
            <a:avLst/>
          </a:prstGeom>
          <a:noFill/>
        </p:spPr>
        <p:txBody>
          <a:bodyPr wrap="none" rtlCol="0">
            <a:spAutoFit/>
          </a:bodyPr>
          <a:lstStyle/>
          <a:p>
            <a:r>
              <a:rPr lang="en-US" sz="800" dirty="0"/>
              <a:t>7</a:t>
            </a:r>
          </a:p>
        </p:txBody>
      </p:sp>
      <p:grpSp>
        <p:nvGrpSpPr>
          <p:cNvPr id="3" name="Group 2">
            <a:extLst>
              <a:ext uri="{FF2B5EF4-FFF2-40B4-BE49-F238E27FC236}">
                <a16:creationId xmlns:a16="http://schemas.microsoft.com/office/drawing/2014/main" id="{71436DB6-3792-8277-09C0-BA2E9E58351D}"/>
              </a:ext>
            </a:extLst>
          </p:cNvPr>
          <p:cNvGrpSpPr/>
          <p:nvPr/>
        </p:nvGrpSpPr>
        <p:grpSpPr>
          <a:xfrm>
            <a:off x="502920" y="1700784"/>
            <a:ext cx="10835640" cy="4261104"/>
            <a:chOff x="502920" y="1700784"/>
            <a:chExt cx="10835640" cy="4261104"/>
          </a:xfrm>
        </p:grpSpPr>
        <p:sp>
          <p:nvSpPr>
            <p:cNvPr id="28" name="Shape 4">
              <a:extLst>
                <a:ext uri="{FF2B5EF4-FFF2-40B4-BE49-F238E27FC236}">
                  <a16:creationId xmlns:a16="http://schemas.microsoft.com/office/drawing/2014/main" id="{4EFCAE2E-8408-FB37-8268-BB5E349A6B16}"/>
                </a:ext>
              </a:extLst>
            </p:cNvPr>
            <p:cNvSpPr/>
            <p:nvPr/>
          </p:nvSpPr>
          <p:spPr>
            <a:xfrm>
              <a:off x="502920" y="1700784"/>
              <a:ext cx="5257800" cy="2029968"/>
            </a:xfrm>
            <a:prstGeom prst="roundRect">
              <a:avLst>
                <a:gd name="adj" fmla="val 2252"/>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9" name="Shape 5">
              <a:extLst>
                <a:ext uri="{FF2B5EF4-FFF2-40B4-BE49-F238E27FC236}">
                  <a16:creationId xmlns:a16="http://schemas.microsoft.com/office/drawing/2014/main" id="{B49A7361-D27D-C338-2771-585578A65A9A}"/>
                </a:ext>
              </a:extLst>
            </p:cNvPr>
            <p:cNvSpPr/>
            <p:nvPr/>
          </p:nvSpPr>
          <p:spPr>
            <a:xfrm>
              <a:off x="722376" y="1929384"/>
              <a:ext cx="109728" cy="109728"/>
            </a:xfrm>
            <a:prstGeom prst="rect">
              <a:avLst/>
            </a:prstGeom>
            <a:solidFill>
              <a:srgbClr val="0053EB"/>
            </a:solidFill>
            <a:ln w="12700">
              <a:solidFill>
                <a:srgbClr val="0053EB"/>
              </a:solidFill>
              <a:prstDash val="solid"/>
            </a:ln>
          </p:spPr>
          <p:txBody>
            <a:bodyPr/>
            <a:lstStyle/>
            <a:p>
              <a:endParaRPr lang="en-IN"/>
            </a:p>
          </p:txBody>
        </p:sp>
        <p:sp>
          <p:nvSpPr>
            <p:cNvPr id="30" name="Text 6">
              <a:extLst>
                <a:ext uri="{FF2B5EF4-FFF2-40B4-BE49-F238E27FC236}">
                  <a16:creationId xmlns:a16="http://schemas.microsoft.com/office/drawing/2014/main" id="{C0EEBC43-933E-4F9B-54A9-560FA4CA081A}"/>
                </a:ext>
              </a:extLst>
            </p:cNvPr>
            <p:cNvSpPr txBox="1"/>
            <p:nvPr/>
          </p:nvSpPr>
          <p:spPr>
            <a:xfrm>
              <a:off x="941832" y="1847088"/>
              <a:ext cx="466344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Identity, access &amp; authentication</a:t>
              </a:r>
              <a:endParaRPr lang="en-US" sz="1200" dirty="0"/>
            </a:p>
          </p:txBody>
        </p:sp>
        <p:sp>
          <p:nvSpPr>
            <p:cNvPr id="31" name="Text 7">
              <a:extLst>
                <a:ext uri="{FF2B5EF4-FFF2-40B4-BE49-F238E27FC236}">
                  <a16:creationId xmlns:a16="http://schemas.microsoft.com/office/drawing/2014/main" id="{E186B9F6-5111-D58C-880E-6C9736970372}"/>
                </a:ext>
              </a:extLst>
            </p:cNvPr>
            <p:cNvSpPr txBox="1"/>
            <p:nvPr/>
          </p:nvSpPr>
          <p:spPr>
            <a:xfrm>
              <a:off x="740664" y="2231136"/>
              <a:ext cx="4800600" cy="1517904"/>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Entra ID user, guest and service-principal inventory; UPN vs primary SMTP mismatches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Every SAML/OIDC application trusting Entra ID, with its owner and re-federation effort</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Applications holding Graph or EWS permissions against Exchange (backup, archiving, CRM, signature tools)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SMTP relay sources: multifunction printers, scan-to-mail, monitoring, ERP and application alerts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Dynamic distribution groups, nested group depth, mail-enabled security groups</a:t>
              </a:r>
              <a:endParaRPr lang="en-US" sz="860" dirty="0"/>
            </a:p>
          </p:txBody>
        </p:sp>
        <p:sp>
          <p:nvSpPr>
            <p:cNvPr id="32" name="Shape 8">
              <a:extLst>
                <a:ext uri="{FF2B5EF4-FFF2-40B4-BE49-F238E27FC236}">
                  <a16:creationId xmlns:a16="http://schemas.microsoft.com/office/drawing/2014/main" id="{84A144CF-50AC-D7DF-F2A6-1964DCED5F92}"/>
                </a:ext>
              </a:extLst>
            </p:cNvPr>
            <p:cNvSpPr/>
            <p:nvPr/>
          </p:nvSpPr>
          <p:spPr>
            <a:xfrm>
              <a:off x="6080760" y="1700784"/>
              <a:ext cx="5257800" cy="2029968"/>
            </a:xfrm>
            <a:prstGeom prst="roundRect">
              <a:avLst>
                <a:gd name="adj" fmla="val 2252"/>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3" name="Shape 9">
              <a:extLst>
                <a:ext uri="{FF2B5EF4-FFF2-40B4-BE49-F238E27FC236}">
                  <a16:creationId xmlns:a16="http://schemas.microsoft.com/office/drawing/2014/main" id="{CB17D696-45E5-7B33-FC5A-FCADCD8E845A}"/>
                </a:ext>
              </a:extLst>
            </p:cNvPr>
            <p:cNvSpPr/>
            <p:nvPr/>
          </p:nvSpPr>
          <p:spPr>
            <a:xfrm>
              <a:off x="6300216" y="1929384"/>
              <a:ext cx="109728" cy="109728"/>
            </a:xfrm>
            <a:prstGeom prst="rect">
              <a:avLst/>
            </a:prstGeom>
            <a:solidFill>
              <a:srgbClr val="0C3EB1"/>
            </a:solidFill>
            <a:ln w="12700">
              <a:solidFill>
                <a:srgbClr val="0C3EB1"/>
              </a:solidFill>
              <a:prstDash val="solid"/>
            </a:ln>
          </p:spPr>
          <p:txBody>
            <a:bodyPr/>
            <a:lstStyle/>
            <a:p>
              <a:endParaRPr lang="en-IN"/>
            </a:p>
          </p:txBody>
        </p:sp>
        <p:sp>
          <p:nvSpPr>
            <p:cNvPr id="34" name="Text 10">
              <a:extLst>
                <a:ext uri="{FF2B5EF4-FFF2-40B4-BE49-F238E27FC236}">
                  <a16:creationId xmlns:a16="http://schemas.microsoft.com/office/drawing/2014/main" id="{B2778A84-5082-91F8-764D-81D8EA5FD4CB}"/>
                </a:ext>
              </a:extLst>
            </p:cNvPr>
            <p:cNvSpPr txBox="1"/>
            <p:nvPr/>
          </p:nvSpPr>
          <p:spPr>
            <a:xfrm>
              <a:off x="6519672" y="1847088"/>
              <a:ext cx="466344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Exchange Online estate</a:t>
              </a:r>
              <a:endParaRPr lang="en-US" sz="1200" dirty="0"/>
            </a:p>
          </p:txBody>
        </p:sp>
        <p:sp>
          <p:nvSpPr>
            <p:cNvPr id="35" name="Text 11">
              <a:extLst>
                <a:ext uri="{FF2B5EF4-FFF2-40B4-BE49-F238E27FC236}">
                  <a16:creationId xmlns:a16="http://schemas.microsoft.com/office/drawing/2014/main" id="{08BD38C1-EC49-2B03-B45A-053385749151}"/>
                </a:ext>
              </a:extLst>
            </p:cNvPr>
            <p:cNvSpPr txBox="1"/>
            <p:nvPr/>
          </p:nvSpPr>
          <p:spPr>
            <a:xfrm>
              <a:off x="6318504" y="2231136"/>
              <a:ext cx="4800600" cy="1517904"/>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Mailbox count by type: user, shared, room, equipment, M365 Group, discovery</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Mailbox size distribution and In-Place Archive usage (drives wave sequencing)</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Litigation / In-Place holds, retention labels and journaling targets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Public folders, transport rules, connectors, third-party gateway (Mimecast / Proofpoint)</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Mailbox permission and delegation map, including cross-mailbox calendar access</a:t>
              </a:r>
              <a:endParaRPr lang="en-US" sz="860" dirty="0"/>
            </a:p>
          </p:txBody>
        </p:sp>
        <p:sp>
          <p:nvSpPr>
            <p:cNvPr id="36" name="Shape 12">
              <a:extLst>
                <a:ext uri="{FF2B5EF4-FFF2-40B4-BE49-F238E27FC236}">
                  <a16:creationId xmlns:a16="http://schemas.microsoft.com/office/drawing/2014/main" id="{69252F5B-E4E6-FB36-78AA-B11FB8869167}"/>
                </a:ext>
              </a:extLst>
            </p:cNvPr>
            <p:cNvSpPr/>
            <p:nvPr/>
          </p:nvSpPr>
          <p:spPr>
            <a:xfrm>
              <a:off x="502920" y="3913632"/>
              <a:ext cx="5257800" cy="2029968"/>
            </a:xfrm>
            <a:prstGeom prst="roundRect">
              <a:avLst>
                <a:gd name="adj" fmla="val 2252"/>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7" name="Shape 13">
              <a:extLst>
                <a:ext uri="{FF2B5EF4-FFF2-40B4-BE49-F238E27FC236}">
                  <a16:creationId xmlns:a16="http://schemas.microsoft.com/office/drawing/2014/main" id="{B4AA731A-5BBD-588C-18B9-629BC4E9B4BA}"/>
                </a:ext>
              </a:extLst>
            </p:cNvPr>
            <p:cNvSpPr/>
            <p:nvPr/>
          </p:nvSpPr>
          <p:spPr>
            <a:xfrm>
              <a:off x="722376" y="4142232"/>
              <a:ext cx="109728" cy="109728"/>
            </a:xfrm>
            <a:prstGeom prst="rect">
              <a:avLst/>
            </a:prstGeom>
            <a:solidFill>
              <a:srgbClr val="0053EB"/>
            </a:solidFill>
            <a:ln w="12700">
              <a:solidFill>
                <a:srgbClr val="0053EB"/>
              </a:solidFill>
              <a:prstDash val="solid"/>
            </a:ln>
          </p:spPr>
          <p:txBody>
            <a:bodyPr/>
            <a:lstStyle/>
            <a:p>
              <a:endParaRPr lang="en-IN"/>
            </a:p>
          </p:txBody>
        </p:sp>
        <p:sp>
          <p:nvSpPr>
            <p:cNvPr id="38" name="Text 14">
              <a:extLst>
                <a:ext uri="{FF2B5EF4-FFF2-40B4-BE49-F238E27FC236}">
                  <a16:creationId xmlns:a16="http://schemas.microsoft.com/office/drawing/2014/main" id="{1932F167-A6C0-181C-A374-99AEC5BB55BD}"/>
                </a:ext>
              </a:extLst>
            </p:cNvPr>
            <p:cNvSpPr txBox="1"/>
            <p:nvPr/>
          </p:nvSpPr>
          <p:spPr>
            <a:xfrm>
              <a:off x="941832" y="4059936"/>
              <a:ext cx="466344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Files &amp; collaboration</a:t>
              </a:r>
              <a:endParaRPr lang="en-US" sz="1200" dirty="0"/>
            </a:p>
          </p:txBody>
        </p:sp>
        <p:sp>
          <p:nvSpPr>
            <p:cNvPr id="39" name="Text 15">
              <a:extLst>
                <a:ext uri="{FF2B5EF4-FFF2-40B4-BE49-F238E27FC236}">
                  <a16:creationId xmlns:a16="http://schemas.microsoft.com/office/drawing/2014/main" id="{4648D96F-ABC1-CCBA-289F-20AB08A849AD}"/>
                </a:ext>
              </a:extLst>
            </p:cNvPr>
            <p:cNvSpPr txBox="1"/>
            <p:nvPr/>
          </p:nvSpPr>
          <p:spPr>
            <a:xfrm>
              <a:off x="740664" y="4443984"/>
              <a:ext cx="4800600" cy="1517904"/>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OneDrive volume per user; SharePoint site count, library item counts, versions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Libraries approaching Google shared-drive ceilings (500,000 items, 100 nesting levels)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Externally shared links, checked-out files, retention-labelled and locked content</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Teams: private/shared channel usage, channel file paths, apps and connectors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Storage totals per workload, to size the Workspace edition and the migration window</a:t>
              </a:r>
              <a:endParaRPr lang="en-US" sz="860" dirty="0"/>
            </a:p>
          </p:txBody>
        </p:sp>
        <p:sp>
          <p:nvSpPr>
            <p:cNvPr id="40" name="Shape 16">
              <a:extLst>
                <a:ext uri="{FF2B5EF4-FFF2-40B4-BE49-F238E27FC236}">
                  <a16:creationId xmlns:a16="http://schemas.microsoft.com/office/drawing/2014/main" id="{673FCFAA-777A-6F79-2EDF-EFBC5317417D}"/>
                </a:ext>
              </a:extLst>
            </p:cNvPr>
            <p:cNvSpPr/>
            <p:nvPr/>
          </p:nvSpPr>
          <p:spPr>
            <a:xfrm>
              <a:off x="6080760" y="3913632"/>
              <a:ext cx="5257800" cy="2029968"/>
            </a:xfrm>
            <a:prstGeom prst="roundRect">
              <a:avLst>
                <a:gd name="adj" fmla="val 2252"/>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1" name="Shape 17">
              <a:extLst>
                <a:ext uri="{FF2B5EF4-FFF2-40B4-BE49-F238E27FC236}">
                  <a16:creationId xmlns:a16="http://schemas.microsoft.com/office/drawing/2014/main" id="{5B66024D-DD54-BDBE-80BE-E0AC7A36C137}"/>
                </a:ext>
              </a:extLst>
            </p:cNvPr>
            <p:cNvSpPr/>
            <p:nvPr/>
          </p:nvSpPr>
          <p:spPr>
            <a:xfrm>
              <a:off x="6300216" y="4142232"/>
              <a:ext cx="109728" cy="109728"/>
            </a:xfrm>
            <a:prstGeom prst="rect">
              <a:avLst/>
            </a:prstGeom>
            <a:solidFill>
              <a:srgbClr val="0C3EB1"/>
            </a:solidFill>
            <a:ln w="12700">
              <a:solidFill>
                <a:srgbClr val="0C3EB1"/>
              </a:solidFill>
              <a:prstDash val="solid"/>
            </a:ln>
          </p:spPr>
          <p:txBody>
            <a:bodyPr/>
            <a:lstStyle/>
            <a:p>
              <a:endParaRPr lang="en-IN"/>
            </a:p>
          </p:txBody>
        </p:sp>
        <p:sp>
          <p:nvSpPr>
            <p:cNvPr id="42" name="Text 18">
              <a:extLst>
                <a:ext uri="{FF2B5EF4-FFF2-40B4-BE49-F238E27FC236}">
                  <a16:creationId xmlns:a16="http://schemas.microsoft.com/office/drawing/2014/main" id="{5CC35CE7-3813-E7D3-5133-6466731F647E}"/>
                </a:ext>
              </a:extLst>
            </p:cNvPr>
            <p:cNvSpPr txBox="1"/>
            <p:nvPr/>
          </p:nvSpPr>
          <p:spPr>
            <a:xfrm>
              <a:off x="6519672" y="4059936"/>
              <a:ext cx="466344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Endpoint &amp; client reality</a:t>
              </a:r>
              <a:endParaRPr lang="en-US" sz="1200" dirty="0"/>
            </a:p>
          </p:txBody>
        </p:sp>
        <p:sp>
          <p:nvSpPr>
            <p:cNvPr id="43" name="Text 19">
              <a:extLst>
                <a:ext uri="{FF2B5EF4-FFF2-40B4-BE49-F238E27FC236}">
                  <a16:creationId xmlns:a16="http://schemas.microsoft.com/office/drawing/2014/main" id="{2C188D0C-5486-F5D6-5E7C-4C8477697649}"/>
                </a:ext>
              </a:extLst>
            </p:cNvPr>
            <p:cNvSpPr txBox="1"/>
            <p:nvPr/>
          </p:nvSpPr>
          <p:spPr>
            <a:xfrm>
              <a:off x="6318504" y="4443984"/>
              <a:ext cx="4800600" cy="1517904"/>
            </a:xfrm>
            <a:prstGeom prst="rect">
              <a:avLst/>
            </a:prstGeom>
            <a:noFill/>
            <a:ln/>
          </p:spPr>
          <p:txBody>
            <a:bodyPr wrap="square" lIns="0" tIns="0" rIns="0" bIns="0" rtlCol="0" anchor="t"/>
            <a:lstStyle/>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Outlook build inventory, cached OST sizes, PST sprawl on endpoints and file shares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Device management posture (Intune enrolment, compliance policies, conditional access)</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Line-of-business add-ins bound to Outlook / Office COM</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Macro-enabled workbooks, Access databases, Visio and Project dependency map</a:t>
              </a:r>
              <a:endParaRPr lang="en-US" sz="860" dirty="0"/>
            </a:p>
            <a:p>
              <a:pPr marL="342900" indent="-342900">
                <a:lnSpc>
                  <a:spcPct val="105000"/>
                </a:lnSpc>
                <a:spcAft>
                  <a:spcPts val="300"/>
                </a:spcAft>
                <a:buSzPct val="100000"/>
                <a:buChar char="▪"/>
              </a:pPr>
              <a:r>
                <a:rPr lang="en-US" sz="860" dirty="0">
                  <a:solidFill>
                    <a:srgbClr val="15203D"/>
                  </a:solidFill>
                  <a:latin typeface="Calibri" pitchFamily="34" charset="0"/>
                  <a:ea typeface="Calibri" pitchFamily="34" charset="-122"/>
                  <a:cs typeface="Calibri" pitchFamily="34" charset="-120"/>
                </a:rPr>
                <a:t>Browser estate and version spread, which decides how much of the training is really about Chrome</a:t>
              </a:r>
              <a:endParaRPr lang="en-US" sz="860" dirty="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SCOPE 1 OF 3</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Collaboration platform: Exchange, OneDrive, SharePoint, Teams</a:t>
            </a:r>
            <a:endParaRPr lang="en-US" sz="2800" dirty="0"/>
          </a:p>
        </p:txBody>
      </p:sp>
      <p:sp>
        <p:nvSpPr>
          <p:cNvPr id="6" name="Text 3"/>
          <p:cNvSpPr txBox="1"/>
          <p:nvPr/>
        </p:nvSpPr>
        <p:spPr>
          <a:xfrm>
            <a:off x="502920" y="1243584"/>
            <a:ext cx="10424160" cy="274320"/>
          </a:xfrm>
          <a:prstGeom prst="rect">
            <a:avLst/>
          </a:prstGeom>
          <a:noFill/>
          <a:ln/>
        </p:spPr>
        <p:txBody>
          <a:bodyPr wrap="square" lIns="0" tIns="0" rIns="0" bIns="0" rtlCol="0" anchor="t"/>
          <a:lstStyle/>
          <a:p>
            <a:pPr>
              <a:lnSpc>
                <a:spcPct val="112000"/>
              </a:lnSpc>
            </a:pPr>
            <a:r>
              <a:rPr lang="en-US" sz="1100" dirty="0">
                <a:solidFill>
                  <a:srgbClr val="5D6B8C"/>
                </a:solidFill>
                <a:latin typeface="Calibri" pitchFamily="34" charset="0"/>
                <a:ea typeface="Calibri" pitchFamily="34" charset="-122"/>
                <a:cs typeface="Calibri" pitchFamily="34" charset="-120"/>
              </a:rPr>
              <a:t>Every workload names the tool and the method. Nothing in this table is left as "to be determined during delivery".</a:t>
            </a:r>
            <a:endParaRPr lang="en-US" sz="1100" dirty="0"/>
          </a:p>
        </p:txBody>
      </p:sp>
      <p:sp>
        <p:nvSpPr>
          <p:cNvPr id="8" name="Text 4"/>
          <p:cNvSpPr txBox="1"/>
          <p:nvPr/>
        </p:nvSpPr>
        <p:spPr>
          <a:xfrm>
            <a:off x="502920" y="5874601"/>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Workspace edition assumed Enterprise Standard or Plus - required for enterprise data regions, Vault retention and advanced security controls. Identity and application authentication for this scope is covered on the next slide.</a:t>
            </a:r>
            <a:endParaRPr lang="en-US" sz="800" dirty="0"/>
          </a:p>
        </p:txBody>
      </p:sp>
      <p:sp>
        <p:nvSpPr>
          <p:cNvPr id="9" name="AutoShape 2">
            <a:extLst>
              <a:ext uri="{FF2B5EF4-FFF2-40B4-BE49-F238E27FC236}">
                <a16:creationId xmlns:a16="http://schemas.microsoft.com/office/drawing/2014/main" id="{120B3BB3-355E-4DD0-9C3D-EAB38B319965}"/>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0" name="TextBox 7">
            <a:extLst>
              <a:ext uri="{FF2B5EF4-FFF2-40B4-BE49-F238E27FC236}">
                <a16:creationId xmlns:a16="http://schemas.microsoft.com/office/drawing/2014/main" id="{BECA8338-8EA9-444B-84D7-50FA3090A0C6}"/>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1" name="TextBox 9">
            <a:extLst>
              <a:ext uri="{FF2B5EF4-FFF2-40B4-BE49-F238E27FC236}">
                <a16:creationId xmlns:a16="http://schemas.microsoft.com/office/drawing/2014/main" id="{FB48FA57-8399-4C8E-9345-F12AB796E8E9}"/>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2" name="TextBox 11">
            <a:extLst>
              <a:ext uri="{FF2B5EF4-FFF2-40B4-BE49-F238E27FC236}">
                <a16:creationId xmlns:a16="http://schemas.microsoft.com/office/drawing/2014/main" id="{B77CF67B-9A95-46FE-A2B0-F367FE68C0D3}"/>
              </a:ext>
            </a:extLst>
          </p:cNvPr>
          <p:cNvSpPr txBox="1"/>
          <p:nvPr/>
        </p:nvSpPr>
        <p:spPr>
          <a:xfrm>
            <a:off x="5911269" y="6533202"/>
            <a:ext cx="235962" cy="215444"/>
          </a:xfrm>
          <a:prstGeom prst="rect">
            <a:avLst/>
          </a:prstGeom>
          <a:noFill/>
        </p:spPr>
        <p:txBody>
          <a:bodyPr wrap="none" rtlCol="0">
            <a:spAutoFit/>
          </a:bodyPr>
          <a:lstStyle/>
          <a:p>
            <a:r>
              <a:rPr lang="en-US" sz="800" dirty="0"/>
              <a:t>8</a:t>
            </a:r>
          </a:p>
        </p:txBody>
      </p:sp>
      <p:graphicFrame>
        <p:nvGraphicFramePr>
          <p:cNvPr id="13" name="Table 0">
            <a:extLst>
              <a:ext uri="{FF2B5EF4-FFF2-40B4-BE49-F238E27FC236}">
                <a16:creationId xmlns:a16="http://schemas.microsoft.com/office/drawing/2014/main" id="{5D0CA56D-D792-F565-D3ED-0480FC02DEFF}"/>
              </a:ext>
            </a:extLst>
          </p:cNvPr>
          <p:cNvGraphicFramePr>
            <a:graphicFrameLocks noGrp="1"/>
          </p:cNvGraphicFramePr>
          <p:nvPr>
            <p:extLst>
              <p:ext uri="{D42A27DB-BD31-4B8C-83A1-F6EECF244321}">
                <p14:modId xmlns:p14="http://schemas.microsoft.com/office/powerpoint/2010/main" val="3506657073"/>
              </p:ext>
            </p:extLst>
          </p:nvPr>
        </p:nvGraphicFramePr>
        <p:xfrm>
          <a:off x="502920" y="1572768"/>
          <a:ext cx="10835640" cy="4224528"/>
        </p:xfrm>
        <a:graphic>
          <a:graphicData uri="http://schemas.openxmlformats.org/drawingml/2006/table">
            <a:tbl>
              <a:tblPr/>
              <a:tblGrid>
                <a:gridCol w="19659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352044">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Source workload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Google Workspace target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Tool and method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Fidelity note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Exchange Online mailboxes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Gmail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data import, advanced method - pre-stage pass then timed delta</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Folders become labels; nested folders flatten to single-level labels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Calendar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Calendar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data import - same job; forward-dated events prioritised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Events before the import start date are not carried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Contacts (personal)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Contacts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data import - same job</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Contact lists, GAL entries and mail contacts do not migrate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Shared mailboxes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Group or delegated Gmail account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data import many-to-one mapping; delegation rebuilt by script (Admin SDK / GAM)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FullAccess and SendAs are remodelled as Gmail delegation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Room &amp; equipment mailboxes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Calendar resources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Built by script from the discovery inventory to an agreed naming and capacity standard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Historic bookings follow the event, not the resource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Distribution / M365 groups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Groups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Exchange Online PowerShell export, de-duplicated, bulk-created with membership</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Dynamic DLs have no equivalent - materialised or IdP-driven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OneDrive for Business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My Drive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Specialist tool (CloudM Migrate or Quest On Demand) for ACL and sharing-link mapping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Version history is not preserved; current version only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SharePoint Online sites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Shared drives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Shared-drive structure pre-built by script; content and ACLs moved by specialist tool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Pages, web parts, workflows and lists do not convert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Teams chat &amp; channels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Chat spaces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Specialist tool, scope-limited to an agreed cut-off; channel files land in the mapped shared drive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Private channels, apps, tabs and recordings need separate handling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Public folders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Groups / shared drives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direct tool - redesigned in discovery, then moved by specialist tool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redesign decision, not a migration task</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0"/>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PST archives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Gmail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GWMMO on endpoints; centralised PSTs bulk-ingested by specialist tool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Corrupt or protected PSTs are itemised, not silently skipped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r>
              <a:rPr lang="en-US" sz="950" b="1" kern="0" spc="200" dirty="0">
                <a:solidFill>
                  <a:srgbClr val="0053EB"/>
                </a:solidFill>
                <a:latin typeface="Calibri" pitchFamily="34" charset="0"/>
                <a:ea typeface="Calibri" pitchFamily="34" charset="-122"/>
                <a:cs typeface="Calibri" pitchFamily="34" charset="-120"/>
              </a:rPr>
              <a:t>SCOPE 2 OF 3</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Sign-on, credentials and application authentication</a:t>
            </a:r>
            <a:endParaRPr lang="en-US" sz="2800" dirty="0"/>
          </a:p>
        </p:txBody>
      </p:sp>
      <p:sp>
        <p:nvSpPr>
          <p:cNvPr id="6" name="Text 3"/>
          <p:cNvSpPr txBox="1"/>
          <p:nvPr/>
        </p:nvSpPr>
        <p:spPr>
          <a:xfrm>
            <a:off x="502920" y="1261872"/>
            <a:ext cx="10424160" cy="457200"/>
          </a:xfrm>
          <a:prstGeom prst="rect">
            <a:avLst/>
          </a:prstGeom>
          <a:noFill/>
          <a:ln/>
        </p:spPr>
        <p:txBody>
          <a:bodyPr wrap="square" lIns="0" tIns="0" rIns="0" bIns="0" rtlCol="0" anchor="t"/>
          <a:lstStyle/>
          <a:p>
            <a:pPr>
              <a:lnSpc>
                <a:spcPct val="115000"/>
              </a:lnSpc>
            </a:pPr>
            <a:r>
              <a:rPr lang="en-US" sz="1100" dirty="0">
                <a:solidFill>
                  <a:srgbClr val="5D6B8C"/>
                </a:solidFill>
                <a:latin typeface="Calibri" pitchFamily="34" charset="0"/>
                <a:ea typeface="Calibri" pitchFamily="34" charset="-122"/>
                <a:cs typeface="Calibri" pitchFamily="34" charset="-120"/>
              </a:rPr>
              <a:t>This is the workstream that decides whether day one feels seamless. Through release 1 users keep their existing credentials, and every application, device and integration that authenticates to Microsoft is inventoried, re-pointed and tested.</a:t>
            </a:r>
            <a:endParaRPr lang="en-US" sz="1100" dirty="0"/>
          </a:p>
        </p:txBody>
      </p:sp>
      <p:sp>
        <p:nvSpPr>
          <p:cNvPr id="22" name="AutoShape 2">
            <a:extLst>
              <a:ext uri="{FF2B5EF4-FFF2-40B4-BE49-F238E27FC236}">
                <a16:creationId xmlns:a16="http://schemas.microsoft.com/office/drawing/2014/main" id="{95E6A4F8-6150-4218-993F-A61734FC76BC}"/>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23" name="TextBox 7">
            <a:extLst>
              <a:ext uri="{FF2B5EF4-FFF2-40B4-BE49-F238E27FC236}">
                <a16:creationId xmlns:a16="http://schemas.microsoft.com/office/drawing/2014/main" id="{1F497460-14D3-4EDF-8A96-597B6874647E}"/>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4" name="TextBox 9">
            <a:extLst>
              <a:ext uri="{FF2B5EF4-FFF2-40B4-BE49-F238E27FC236}">
                <a16:creationId xmlns:a16="http://schemas.microsoft.com/office/drawing/2014/main" id="{6A03FE4B-B64B-404C-9C2A-027BDB45C4C0}"/>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5" name="TextBox 24">
            <a:extLst>
              <a:ext uri="{FF2B5EF4-FFF2-40B4-BE49-F238E27FC236}">
                <a16:creationId xmlns:a16="http://schemas.microsoft.com/office/drawing/2014/main" id="{F8F94AA4-35F2-40A3-A80F-1FFB72CD1F7B}"/>
              </a:ext>
            </a:extLst>
          </p:cNvPr>
          <p:cNvSpPr txBox="1"/>
          <p:nvPr/>
        </p:nvSpPr>
        <p:spPr>
          <a:xfrm>
            <a:off x="5911269" y="6533202"/>
            <a:ext cx="235962" cy="215444"/>
          </a:xfrm>
          <a:prstGeom prst="rect">
            <a:avLst/>
          </a:prstGeom>
          <a:noFill/>
        </p:spPr>
        <p:txBody>
          <a:bodyPr wrap="none" rtlCol="0">
            <a:spAutoFit/>
          </a:bodyPr>
          <a:lstStyle/>
          <a:p>
            <a:r>
              <a:rPr lang="en-US" sz="800" dirty="0"/>
              <a:t>9</a:t>
            </a:r>
          </a:p>
        </p:txBody>
      </p:sp>
      <p:grpSp>
        <p:nvGrpSpPr>
          <p:cNvPr id="3" name="Group 2">
            <a:extLst>
              <a:ext uri="{FF2B5EF4-FFF2-40B4-BE49-F238E27FC236}">
                <a16:creationId xmlns:a16="http://schemas.microsoft.com/office/drawing/2014/main" id="{B761EF35-41D7-89C7-AD28-BF802CCBF9AE}"/>
              </a:ext>
            </a:extLst>
          </p:cNvPr>
          <p:cNvGrpSpPr/>
          <p:nvPr/>
        </p:nvGrpSpPr>
        <p:grpSpPr>
          <a:xfrm>
            <a:off x="502920" y="1810512"/>
            <a:ext cx="10835731" cy="4142232"/>
            <a:chOff x="502920" y="1810512"/>
            <a:chExt cx="10835731" cy="4142232"/>
          </a:xfrm>
        </p:grpSpPr>
        <p:sp>
          <p:nvSpPr>
            <p:cNvPr id="26" name="Shape 4">
              <a:extLst>
                <a:ext uri="{FF2B5EF4-FFF2-40B4-BE49-F238E27FC236}">
                  <a16:creationId xmlns:a16="http://schemas.microsoft.com/office/drawing/2014/main" id="{0FA84679-FA51-4CE4-6905-1C2532DD79AE}"/>
                </a:ext>
              </a:extLst>
            </p:cNvPr>
            <p:cNvSpPr/>
            <p:nvPr/>
          </p:nvSpPr>
          <p:spPr>
            <a:xfrm>
              <a:off x="502920" y="1810512"/>
              <a:ext cx="3453414" cy="3200400"/>
            </a:xfrm>
            <a:prstGeom prst="roundRect">
              <a:avLst>
                <a:gd name="adj" fmla="val 142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7" name="Shape 5">
              <a:extLst>
                <a:ext uri="{FF2B5EF4-FFF2-40B4-BE49-F238E27FC236}">
                  <a16:creationId xmlns:a16="http://schemas.microsoft.com/office/drawing/2014/main" id="{47898C6B-9AAD-217B-0C97-17E6DB97F589}"/>
                </a:ext>
              </a:extLst>
            </p:cNvPr>
            <p:cNvSpPr/>
            <p:nvPr/>
          </p:nvSpPr>
          <p:spPr>
            <a:xfrm>
              <a:off x="740664" y="2002536"/>
              <a:ext cx="109728" cy="109728"/>
            </a:xfrm>
            <a:prstGeom prst="rect">
              <a:avLst/>
            </a:prstGeom>
            <a:solidFill>
              <a:srgbClr val="0053EB"/>
            </a:solidFill>
            <a:ln w="12700">
              <a:solidFill>
                <a:srgbClr val="0053EB"/>
              </a:solidFill>
              <a:prstDash val="solid"/>
            </a:ln>
          </p:spPr>
          <p:txBody>
            <a:bodyPr/>
            <a:lstStyle/>
            <a:p>
              <a:endParaRPr lang="en-IN"/>
            </a:p>
          </p:txBody>
        </p:sp>
        <p:sp>
          <p:nvSpPr>
            <p:cNvPr id="28" name="Text 6">
              <a:extLst>
                <a:ext uri="{FF2B5EF4-FFF2-40B4-BE49-F238E27FC236}">
                  <a16:creationId xmlns:a16="http://schemas.microsoft.com/office/drawing/2014/main" id="{B6D02DB9-C06C-E42F-5989-65F64BA02298}"/>
                </a:ext>
              </a:extLst>
            </p:cNvPr>
            <p:cNvSpPr txBox="1"/>
            <p:nvPr/>
          </p:nvSpPr>
          <p:spPr>
            <a:xfrm>
              <a:off x="960120"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User sign-on &amp; credentials</a:t>
              </a:r>
              <a:endParaRPr lang="en-US" sz="1150" dirty="0"/>
            </a:p>
          </p:txBody>
        </p:sp>
        <p:sp>
          <p:nvSpPr>
            <p:cNvPr id="29" name="Text 7">
              <a:extLst>
                <a:ext uri="{FF2B5EF4-FFF2-40B4-BE49-F238E27FC236}">
                  <a16:creationId xmlns:a16="http://schemas.microsoft.com/office/drawing/2014/main" id="{2646E32A-8A1F-BB3D-63DC-7959DFE1F3BA}"/>
                </a:ext>
              </a:extLst>
            </p:cNvPr>
            <p:cNvSpPr txBox="1"/>
            <p:nvPr/>
          </p:nvSpPr>
          <p:spPr>
            <a:xfrm>
              <a:off x="740664" y="2340864"/>
              <a:ext cx="3017520" cy="292608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Google Workspace federated to Entra ID via SAML - users keep their existing credentials and MFA, and learn no new password</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Provisioning via the Entra ID connector, or Google Cloud Directory Sync where on-prem AD remains authoritative</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Entra ID does not synchronise passwords to Google. Either federate (recommended) or use GCDS password sync from on-prem AD - decided explicitly, never left as a second password</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Session lifetime, re-authentication and MFA behaviour tested on web, mobile and Drive for Desktop</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Break-glass Google super-admin accounts held outside federation and vaulted</a:t>
              </a:r>
              <a:endParaRPr lang="en-US" sz="850" dirty="0"/>
            </a:p>
          </p:txBody>
        </p:sp>
        <p:sp>
          <p:nvSpPr>
            <p:cNvPr id="30" name="Shape 8">
              <a:extLst>
                <a:ext uri="{FF2B5EF4-FFF2-40B4-BE49-F238E27FC236}">
                  <a16:creationId xmlns:a16="http://schemas.microsoft.com/office/drawing/2014/main" id="{B458473F-D78D-4F48-9B9D-E4D95B9B7A26}"/>
                </a:ext>
              </a:extLst>
            </p:cNvPr>
            <p:cNvSpPr/>
            <p:nvPr/>
          </p:nvSpPr>
          <p:spPr>
            <a:xfrm>
              <a:off x="4194078" y="1810512"/>
              <a:ext cx="3453414" cy="3200400"/>
            </a:xfrm>
            <a:prstGeom prst="roundRect">
              <a:avLst>
                <a:gd name="adj" fmla="val 142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1" name="Shape 9">
              <a:extLst>
                <a:ext uri="{FF2B5EF4-FFF2-40B4-BE49-F238E27FC236}">
                  <a16:creationId xmlns:a16="http://schemas.microsoft.com/office/drawing/2014/main" id="{5443C9DF-C878-8335-8A7B-3190CA0479F2}"/>
                </a:ext>
              </a:extLst>
            </p:cNvPr>
            <p:cNvSpPr/>
            <p:nvPr/>
          </p:nvSpPr>
          <p:spPr>
            <a:xfrm>
              <a:off x="4431822" y="2002536"/>
              <a:ext cx="109728" cy="109728"/>
            </a:xfrm>
            <a:prstGeom prst="rect">
              <a:avLst/>
            </a:prstGeom>
            <a:solidFill>
              <a:srgbClr val="0C3EB1"/>
            </a:solidFill>
            <a:ln w="12700">
              <a:solidFill>
                <a:srgbClr val="0C3EB1"/>
              </a:solidFill>
              <a:prstDash val="solid"/>
            </a:ln>
          </p:spPr>
          <p:txBody>
            <a:bodyPr/>
            <a:lstStyle/>
            <a:p>
              <a:endParaRPr lang="en-IN"/>
            </a:p>
          </p:txBody>
        </p:sp>
        <p:sp>
          <p:nvSpPr>
            <p:cNvPr id="32" name="Text 10">
              <a:extLst>
                <a:ext uri="{FF2B5EF4-FFF2-40B4-BE49-F238E27FC236}">
                  <a16:creationId xmlns:a16="http://schemas.microsoft.com/office/drawing/2014/main" id="{79DEB33C-9288-8141-6D8D-016E15C21FA9}"/>
                </a:ext>
              </a:extLst>
            </p:cNvPr>
            <p:cNvSpPr txBox="1"/>
            <p:nvPr/>
          </p:nvSpPr>
          <p:spPr>
            <a:xfrm>
              <a:off x="4651278"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Application authentication</a:t>
              </a:r>
              <a:endParaRPr lang="en-US" sz="1150" dirty="0"/>
            </a:p>
          </p:txBody>
        </p:sp>
        <p:sp>
          <p:nvSpPr>
            <p:cNvPr id="33" name="Text 11">
              <a:extLst>
                <a:ext uri="{FF2B5EF4-FFF2-40B4-BE49-F238E27FC236}">
                  <a16:creationId xmlns:a16="http://schemas.microsoft.com/office/drawing/2014/main" id="{21FB70CF-16A3-B376-3E52-466F1B9AF0EC}"/>
                </a:ext>
              </a:extLst>
            </p:cNvPr>
            <p:cNvSpPr txBox="1"/>
            <p:nvPr/>
          </p:nvSpPr>
          <p:spPr>
            <a:xfrm>
              <a:off x="4431822" y="2340864"/>
              <a:ext cx="3017520" cy="292608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The inventory covers everything that authenticates to Microsoft, not only the SSO application list</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SaaS applications using Entra ID SSO: unaffected in release 1; re-federated in release 2 alongside identity ownership</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Applications with Graph or EWS permissions on Exchange - backup, archiving, CRM plug-ins, signature managers</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Each gets a Google equivalent (Gmail or Drive API with a service account and domain-wide delegation) or a retirement decision</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OAuth application access control and API access policy configured in Workspace before the first user lands</a:t>
              </a:r>
              <a:endParaRPr lang="en-US" sz="850" dirty="0"/>
            </a:p>
          </p:txBody>
        </p:sp>
        <p:sp>
          <p:nvSpPr>
            <p:cNvPr id="34" name="Shape 12">
              <a:extLst>
                <a:ext uri="{FF2B5EF4-FFF2-40B4-BE49-F238E27FC236}">
                  <a16:creationId xmlns:a16="http://schemas.microsoft.com/office/drawing/2014/main" id="{D812AE4F-972B-53B8-C79A-64398B5D4A98}"/>
                </a:ext>
              </a:extLst>
            </p:cNvPr>
            <p:cNvSpPr/>
            <p:nvPr/>
          </p:nvSpPr>
          <p:spPr>
            <a:xfrm>
              <a:off x="7885237" y="1810512"/>
              <a:ext cx="3453414" cy="3200400"/>
            </a:xfrm>
            <a:prstGeom prst="roundRect">
              <a:avLst>
                <a:gd name="adj" fmla="val 142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5" name="Shape 13">
              <a:extLst>
                <a:ext uri="{FF2B5EF4-FFF2-40B4-BE49-F238E27FC236}">
                  <a16:creationId xmlns:a16="http://schemas.microsoft.com/office/drawing/2014/main" id="{E71C498E-198E-D895-601E-83A9A24F73E9}"/>
                </a:ext>
              </a:extLst>
            </p:cNvPr>
            <p:cNvSpPr/>
            <p:nvPr/>
          </p:nvSpPr>
          <p:spPr>
            <a:xfrm>
              <a:off x="8122981" y="2002536"/>
              <a:ext cx="109728" cy="109728"/>
            </a:xfrm>
            <a:prstGeom prst="rect">
              <a:avLst/>
            </a:prstGeom>
            <a:solidFill>
              <a:srgbClr val="0053EB"/>
            </a:solidFill>
            <a:ln w="12700">
              <a:solidFill>
                <a:srgbClr val="0053EB"/>
              </a:solidFill>
              <a:prstDash val="solid"/>
            </a:ln>
          </p:spPr>
          <p:txBody>
            <a:bodyPr/>
            <a:lstStyle/>
            <a:p>
              <a:endParaRPr lang="en-IN"/>
            </a:p>
          </p:txBody>
        </p:sp>
        <p:sp>
          <p:nvSpPr>
            <p:cNvPr id="36" name="Text 14">
              <a:extLst>
                <a:ext uri="{FF2B5EF4-FFF2-40B4-BE49-F238E27FC236}">
                  <a16:creationId xmlns:a16="http://schemas.microsoft.com/office/drawing/2014/main" id="{D6D0DED6-EBDF-2279-3495-022EB21BDBBE}"/>
                </a:ext>
              </a:extLst>
            </p:cNvPr>
            <p:cNvSpPr txBox="1"/>
            <p:nvPr/>
          </p:nvSpPr>
          <p:spPr>
            <a:xfrm>
              <a:off x="8342437"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Devices &amp; mail relay</a:t>
              </a:r>
              <a:endParaRPr lang="en-US" sz="1150" dirty="0"/>
            </a:p>
          </p:txBody>
        </p:sp>
        <p:sp>
          <p:nvSpPr>
            <p:cNvPr id="37" name="Text 15">
              <a:extLst>
                <a:ext uri="{FF2B5EF4-FFF2-40B4-BE49-F238E27FC236}">
                  <a16:creationId xmlns:a16="http://schemas.microsoft.com/office/drawing/2014/main" id="{6E627969-F344-ACAD-922A-BB9C3A364ED0}"/>
                </a:ext>
              </a:extLst>
            </p:cNvPr>
            <p:cNvSpPr txBox="1"/>
            <p:nvPr/>
          </p:nvSpPr>
          <p:spPr>
            <a:xfrm>
              <a:off x="8122981" y="2340864"/>
              <a:ext cx="3017520" cy="292608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Relay sources discovered from message-trace analysis, not from memory - the list is always longer than expected</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Multifunction printers and scan-to-mail, monitoring and alerting, ERP and line-of-business notifications</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Re-pointed to Google SMTP relay with IP allow-listing and an agreed authentication method per source class</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Synthetic send test per source, with the legacy Exchange relay path retained until each source is confirmed</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Owners named per device class so a failure has someone to call, not a ticket queue</a:t>
              </a:r>
              <a:endParaRPr lang="en-US" sz="850" dirty="0"/>
            </a:p>
          </p:txBody>
        </p:sp>
        <p:sp>
          <p:nvSpPr>
            <p:cNvPr id="38" name="Shape 16">
              <a:extLst>
                <a:ext uri="{FF2B5EF4-FFF2-40B4-BE49-F238E27FC236}">
                  <a16:creationId xmlns:a16="http://schemas.microsoft.com/office/drawing/2014/main" id="{A4AAADCA-45BA-0789-F1F5-CF1952737328}"/>
                </a:ext>
              </a:extLst>
            </p:cNvPr>
            <p:cNvSpPr/>
            <p:nvPr/>
          </p:nvSpPr>
          <p:spPr>
            <a:xfrm>
              <a:off x="502920" y="5175504"/>
              <a:ext cx="10835640" cy="777240"/>
            </a:xfrm>
            <a:prstGeom prst="roundRect">
              <a:avLst>
                <a:gd name="adj" fmla="val 5882"/>
              </a:avLst>
            </a:prstGeom>
            <a:solidFill>
              <a:srgbClr val="001D5F"/>
            </a:solidFill>
            <a:ln w="12700">
              <a:solidFill>
                <a:srgbClr val="001D5F"/>
              </a:solidFill>
              <a:prstDash val="solid"/>
            </a:ln>
            <a:effectLst>
              <a:outerShdw blurRad="88900" dist="12700" dir="5400000" algn="bl" rotWithShape="0">
                <a:srgbClr val="000000">
                  <a:alpha val="7000"/>
                </a:srgbClr>
              </a:outerShdw>
            </a:effectLst>
          </p:spPr>
          <p:txBody>
            <a:bodyPr/>
            <a:lstStyle/>
            <a:p>
              <a:endParaRPr lang="en-IN"/>
            </a:p>
          </p:txBody>
        </p:sp>
        <p:sp>
          <p:nvSpPr>
            <p:cNvPr id="39" name="Text 17">
              <a:extLst>
                <a:ext uri="{FF2B5EF4-FFF2-40B4-BE49-F238E27FC236}">
                  <a16:creationId xmlns:a16="http://schemas.microsoft.com/office/drawing/2014/main" id="{95CAC349-0434-9018-E099-13DB8827756B}"/>
                </a:ext>
              </a:extLst>
            </p:cNvPr>
            <p:cNvSpPr txBox="1"/>
            <p:nvPr/>
          </p:nvSpPr>
          <p:spPr>
            <a:xfrm>
              <a:off x="758952" y="5340096"/>
              <a:ext cx="1600200" cy="274320"/>
            </a:xfrm>
            <a:prstGeom prst="rect">
              <a:avLst/>
            </a:prstGeom>
            <a:noFill/>
            <a:ln/>
          </p:spPr>
          <p:txBody>
            <a:bodyPr wrap="square" lIns="0" tIns="0" rIns="0" bIns="0" rtlCol="0" anchor="t"/>
            <a:lstStyle/>
            <a:p>
              <a:pPr marL="0" indent="0" algn="l">
                <a:lnSpc>
                  <a:spcPct val="112000"/>
                </a:lnSpc>
                <a:buNone/>
              </a:pPr>
              <a:r>
                <a:rPr lang="en-US" sz="1100" b="1" dirty="0">
                  <a:solidFill>
                    <a:srgbClr val="78A8FF"/>
                  </a:solidFill>
                  <a:latin typeface="Calibri" pitchFamily="34" charset="0"/>
                  <a:ea typeface="Calibri" pitchFamily="34" charset="-122"/>
                  <a:cs typeface="Calibri" pitchFamily="34" charset="-120"/>
                </a:rPr>
                <a:t>Sequencing rule:</a:t>
              </a:r>
              <a:endParaRPr lang="en-US" sz="1100" dirty="0"/>
            </a:p>
          </p:txBody>
        </p:sp>
        <p:sp>
          <p:nvSpPr>
            <p:cNvPr id="40" name="Text 18">
              <a:extLst>
                <a:ext uri="{FF2B5EF4-FFF2-40B4-BE49-F238E27FC236}">
                  <a16:creationId xmlns:a16="http://schemas.microsoft.com/office/drawing/2014/main" id="{0260A750-7130-5D41-DEAD-3E0C89CA4185}"/>
                </a:ext>
              </a:extLst>
            </p:cNvPr>
            <p:cNvSpPr txBox="1"/>
            <p:nvPr/>
          </p:nvSpPr>
          <p:spPr>
            <a:xfrm>
              <a:off x="2423160" y="5340096"/>
              <a:ext cx="8686800" cy="457200"/>
            </a:xfrm>
            <a:prstGeom prst="rect">
              <a:avLst/>
            </a:prstGeom>
            <a:noFill/>
            <a:ln/>
          </p:spPr>
          <p:txBody>
            <a:bodyPr wrap="square" lIns="0" tIns="0" rIns="0" bIns="0" rtlCol="0" anchor="t"/>
            <a:lstStyle/>
            <a:p>
              <a:pPr marL="0" indent="0" algn="l">
                <a:lnSpc>
                  <a:spcPct val="110000"/>
                </a:lnSpc>
                <a:buNone/>
              </a:pPr>
              <a:r>
                <a:rPr lang="en-US" sz="1050" dirty="0">
                  <a:solidFill>
                    <a:srgbClr val="C6D5F0"/>
                  </a:solidFill>
                  <a:latin typeface="Calibri" pitchFamily="34" charset="0"/>
                  <a:ea typeface="Calibri" pitchFamily="34" charset="-122"/>
                  <a:cs typeface="Calibri" pitchFamily="34" charset="-120"/>
                </a:rPr>
                <a:t>every authenticating item has an owner, a test script and a wave assignment. SMTP relay and printer re-pointing happens at the mail routing change, not per user - a single missed device is a silent business failure that surfaces weeks later.</a:t>
              </a:r>
              <a:endParaRPr lang="en-US" sz="105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r>
              <a:rPr lang="en-US" sz="950" b="1" kern="0" spc="200" dirty="0">
                <a:solidFill>
                  <a:srgbClr val="0053EB"/>
                </a:solidFill>
                <a:latin typeface="Calibri" pitchFamily="34" charset="0"/>
                <a:ea typeface="Calibri" pitchFamily="34" charset="-122"/>
                <a:cs typeface="Calibri" pitchFamily="34" charset="-120"/>
              </a:rPr>
              <a:t>SCOPE 3 OF 3</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r>
              <a:rPr lang="en-US" sz="2800" b="1" dirty="0">
                <a:solidFill>
                  <a:srgbClr val="001D5F"/>
                </a:solidFill>
                <a:latin typeface="Calibri" pitchFamily="34" charset="0"/>
                <a:ea typeface="Calibri" pitchFamily="34" charset="-122"/>
                <a:cs typeface="Calibri" pitchFamily="34" charset="-120"/>
              </a:rPr>
              <a:t>Identity ownership, endpoint management and the Microsoft exit</a:t>
            </a:r>
            <a:endParaRPr lang="en-US" sz="2800" dirty="0"/>
          </a:p>
        </p:txBody>
      </p:sp>
      <p:sp>
        <p:nvSpPr>
          <p:cNvPr id="16" name="AutoShape 2">
            <a:extLst>
              <a:ext uri="{FF2B5EF4-FFF2-40B4-BE49-F238E27FC236}">
                <a16:creationId xmlns:a16="http://schemas.microsoft.com/office/drawing/2014/main" id="{38BB87DC-BB4C-49A1-9CE6-4F0D4021A9FA}"/>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7" name="TextBox 7">
            <a:extLst>
              <a:ext uri="{FF2B5EF4-FFF2-40B4-BE49-F238E27FC236}">
                <a16:creationId xmlns:a16="http://schemas.microsoft.com/office/drawing/2014/main" id="{5AC9AA8E-FD46-4CD3-B175-C506996615A8}"/>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8" name="TextBox 9">
            <a:extLst>
              <a:ext uri="{FF2B5EF4-FFF2-40B4-BE49-F238E27FC236}">
                <a16:creationId xmlns:a16="http://schemas.microsoft.com/office/drawing/2014/main" id="{3DEEC2BB-F0C1-4F48-BCD8-A2E523E7EBAB}"/>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9" name="TextBox 18">
            <a:extLst>
              <a:ext uri="{FF2B5EF4-FFF2-40B4-BE49-F238E27FC236}">
                <a16:creationId xmlns:a16="http://schemas.microsoft.com/office/drawing/2014/main" id="{45E4A706-6C2E-4AAD-9A81-CE265F55FACE}"/>
              </a:ext>
            </a:extLst>
          </p:cNvPr>
          <p:cNvSpPr txBox="1"/>
          <p:nvPr/>
        </p:nvSpPr>
        <p:spPr>
          <a:xfrm>
            <a:off x="5911269" y="6533202"/>
            <a:ext cx="287258" cy="215444"/>
          </a:xfrm>
          <a:prstGeom prst="rect">
            <a:avLst/>
          </a:prstGeom>
          <a:noFill/>
        </p:spPr>
        <p:txBody>
          <a:bodyPr wrap="none" rtlCol="0">
            <a:spAutoFit/>
          </a:bodyPr>
          <a:lstStyle/>
          <a:p>
            <a:r>
              <a:rPr lang="en-US" sz="800" dirty="0"/>
              <a:t>10</a:t>
            </a:r>
          </a:p>
        </p:txBody>
      </p:sp>
      <p:grpSp>
        <p:nvGrpSpPr>
          <p:cNvPr id="3" name="Group 2">
            <a:extLst>
              <a:ext uri="{FF2B5EF4-FFF2-40B4-BE49-F238E27FC236}">
                <a16:creationId xmlns:a16="http://schemas.microsoft.com/office/drawing/2014/main" id="{CD66B6BF-919D-AC08-0192-10295BE02573}"/>
              </a:ext>
            </a:extLst>
          </p:cNvPr>
          <p:cNvGrpSpPr/>
          <p:nvPr/>
        </p:nvGrpSpPr>
        <p:grpSpPr>
          <a:xfrm>
            <a:off x="502920" y="1261872"/>
            <a:ext cx="10835731" cy="4690872"/>
            <a:chOff x="502920" y="1261872"/>
            <a:chExt cx="10835731" cy="4690872"/>
          </a:xfrm>
        </p:grpSpPr>
        <p:sp>
          <p:nvSpPr>
            <p:cNvPr id="20" name="Text 3">
              <a:extLst>
                <a:ext uri="{FF2B5EF4-FFF2-40B4-BE49-F238E27FC236}">
                  <a16:creationId xmlns:a16="http://schemas.microsoft.com/office/drawing/2014/main" id="{D7BC7BB6-2C3D-9234-5073-787D7F930400}"/>
                </a:ext>
              </a:extLst>
            </p:cNvPr>
            <p:cNvSpPr txBox="1"/>
            <p:nvPr/>
          </p:nvSpPr>
          <p:spPr>
            <a:xfrm>
              <a:off x="502920" y="1261872"/>
              <a:ext cx="10424160" cy="457200"/>
            </a:xfrm>
            <a:prstGeom prst="rect">
              <a:avLst/>
            </a:prstGeom>
            <a:noFill/>
            <a:ln/>
          </p:spPr>
          <p:txBody>
            <a:bodyPr wrap="square" lIns="0" tIns="0" rIns="0" bIns="0" rtlCol="0" anchor="t"/>
            <a:lstStyle/>
            <a:p>
              <a:pPr marL="0" indent="0" algn="l">
                <a:lnSpc>
                  <a:spcPct val="115000"/>
                </a:lnSpc>
                <a:buNone/>
              </a:pPr>
              <a:r>
                <a:rPr lang="en-US" sz="1100" dirty="0">
                  <a:solidFill>
                    <a:srgbClr val="5D6B8C"/>
                  </a:solidFill>
                  <a:latin typeface="Calibri" pitchFamily="34" charset="0"/>
                  <a:ea typeface="Calibri" pitchFamily="34" charset="-122"/>
                  <a:cs typeface="Calibri" pitchFamily="34" charset="-120"/>
                </a:rPr>
                <a:t>The programme does not stop at collaboration. Owning identity and re-managing the endpoint estate is what turns a second platform into a replaced one - and it is what makes a Microsoft licence reduction achievable rather than theoretical.</a:t>
              </a:r>
              <a:endParaRPr lang="en-US" sz="1100" dirty="0"/>
            </a:p>
          </p:txBody>
        </p:sp>
        <p:sp>
          <p:nvSpPr>
            <p:cNvPr id="21" name="Shape 4">
              <a:extLst>
                <a:ext uri="{FF2B5EF4-FFF2-40B4-BE49-F238E27FC236}">
                  <a16:creationId xmlns:a16="http://schemas.microsoft.com/office/drawing/2014/main" id="{C39B9A0F-D57A-8B69-22BA-35AFF7D8A408}"/>
                </a:ext>
              </a:extLst>
            </p:cNvPr>
            <p:cNvSpPr/>
            <p:nvPr/>
          </p:nvSpPr>
          <p:spPr>
            <a:xfrm>
              <a:off x="502920" y="1810512"/>
              <a:ext cx="3453414" cy="3200400"/>
            </a:xfrm>
            <a:prstGeom prst="roundRect">
              <a:avLst>
                <a:gd name="adj" fmla="val 142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2" name="Shape 5">
              <a:extLst>
                <a:ext uri="{FF2B5EF4-FFF2-40B4-BE49-F238E27FC236}">
                  <a16:creationId xmlns:a16="http://schemas.microsoft.com/office/drawing/2014/main" id="{7D30A282-4AD3-FD5D-E807-4D34CD41FCEB}"/>
                </a:ext>
              </a:extLst>
            </p:cNvPr>
            <p:cNvSpPr/>
            <p:nvPr/>
          </p:nvSpPr>
          <p:spPr>
            <a:xfrm>
              <a:off x="740664" y="2002536"/>
              <a:ext cx="109728" cy="109728"/>
            </a:xfrm>
            <a:prstGeom prst="rect">
              <a:avLst/>
            </a:prstGeom>
            <a:solidFill>
              <a:srgbClr val="0053EB"/>
            </a:solidFill>
            <a:ln w="12700">
              <a:solidFill>
                <a:srgbClr val="0053EB"/>
              </a:solidFill>
              <a:prstDash val="solid"/>
            </a:ln>
          </p:spPr>
          <p:txBody>
            <a:bodyPr/>
            <a:lstStyle/>
            <a:p>
              <a:endParaRPr lang="en-IN"/>
            </a:p>
          </p:txBody>
        </p:sp>
        <p:sp>
          <p:nvSpPr>
            <p:cNvPr id="23" name="Text 6">
              <a:extLst>
                <a:ext uri="{FF2B5EF4-FFF2-40B4-BE49-F238E27FC236}">
                  <a16:creationId xmlns:a16="http://schemas.microsoft.com/office/drawing/2014/main" id="{B532AC54-8B44-A0BA-E348-8B70445CE9C0}"/>
                </a:ext>
              </a:extLst>
            </p:cNvPr>
            <p:cNvSpPr txBox="1"/>
            <p:nvPr/>
          </p:nvSpPr>
          <p:spPr>
            <a:xfrm>
              <a:off x="960120"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Identity ownership</a:t>
              </a:r>
              <a:endParaRPr lang="en-US" sz="1150" dirty="0"/>
            </a:p>
          </p:txBody>
        </p:sp>
        <p:sp>
          <p:nvSpPr>
            <p:cNvPr id="24" name="Text 7">
              <a:extLst>
                <a:ext uri="{FF2B5EF4-FFF2-40B4-BE49-F238E27FC236}">
                  <a16:creationId xmlns:a16="http://schemas.microsoft.com/office/drawing/2014/main" id="{B69A3A17-60E1-2B0D-BC64-7DE52E7301C3}"/>
                </a:ext>
              </a:extLst>
            </p:cNvPr>
            <p:cNvSpPr txBox="1"/>
            <p:nvPr/>
          </p:nvSpPr>
          <p:spPr>
            <a:xfrm>
              <a:off x="740664" y="2340864"/>
              <a:ext cx="3017520" cy="292608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Entra ID to Cloud Identity: authoritative-source decision, then provisioning and joiner-mover-leaver moved to Google</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Google becomes the identity provider for downstream applications, replacing Entra ID as the SSO authority</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Re-federation of every SAML and OIDC application, each with a named owner and a written test script</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Conditional access mapped to context-aware access; MFA re-enrolment strategy and break-glass design</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Service accounts, app registrations and API integrations re-pointed or formally retired</a:t>
              </a:r>
              <a:endParaRPr lang="en-US" sz="850" dirty="0"/>
            </a:p>
          </p:txBody>
        </p:sp>
        <p:sp>
          <p:nvSpPr>
            <p:cNvPr id="25" name="Shape 8">
              <a:extLst>
                <a:ext uri="{FF2B5EF4-FFF2-40B4-BE49-F238E27FC236}">
                  <a16:creationId xmlns:a16="http://schemas.microsoft.com/office/drawing/2014/main" id="{F60152BD-DAD7-525D-128F-98E0A847CA8C}"/>
                </a:ext>
              </a:extLst>
            </p:cNvPr>
            <p:cNvSpPr/>
            <p:nvPr/>
          </p:nvSpPr>
          <p:spPr>
            <a:xfrm>
              <a:off x="4194078" y="1810512"/>
              <a:ext cx="3453414" cy="3200400"/>
            </a:xfrm>
            <a:prstGeom prst="roundRect">
              <a:avLst>
                <a:gd name="adj" fmla="val 142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6" name="Shape 9">
              <a:extLst>
                <a:ext uri="{FF2B5EF4-FFF2-40B4-BE49-F238E27FC236}">
                  <a16:creationId xmlns:a16="http://schemas.microsoft.com/office/drawing/2014/main" id="{5E0FA841-B57E-6A6E-91EF-436461358FA1}"/>
                </a:ext>
              </a:extLst>
            </p:cNvPr>
            <p:cNvSpPr/>
            <p:nvPr/>
          </p:nvSpPr>
          <p:spPr>
            <a:xfrm>
              <a:off x="4431822" y="2002536"/>
              <a:ext cx="109728" cy="109728"/>
            </a:xfrm>
            <a:prstGeom prst="rect">
              <a:avLst/>
            </a:prstGeom>
            <a:solidFill>
              <a:srgbClr val="0C3EB1"/>
            </a:solidFill>
            <a:ln w="12700">
              <a:solidFill>
                <a:srgbClr val="0C3EB1"/>
              </a:solidFill>
              <a:prstDash val="solid"/>
            </a:ln>
          </p:spPr>
          <p:txBody>
            <a:bodyPr/>
            <a:lstStyle/>
            <a:p>
              <a:endParaRPr lang="en-IN"/>
            </a:p>
          </p:txBody>
        </p:sp>
        <p:sp>
          <p:nvSpPr>
            <p:cNvPr id="27" name="Text 10">
              <a:extLst>
                <a:ext uri="{FF2B5EF4-FFF2-40B4-BE49-F238E27FC236}">
                  <a16:creationId xmlns:a16="http://schemas.microsoft.com/office/drawing/2014/main" id="{534C4155-D81A-9BB1-9886-B23B19AF7BA4}"/>
                </a:ext>
              </a:extLst>
            </p:cNvPr>
            <p:cNvSpPr txBox="1"/>
            <p:nvPr/>
          </p:nvSpPr>
          <p:spPr>
            <a:xfrm>
              <a:off x="4651278"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Endpoint management</a:t>
              </a:r>
              <a:endParaRPr lang="en-US" sz="1150" dirty="0"/>
            </a:p>
          </p:txBody>
        </p:sp>
        <p:sp>
          <p:nvSpPr>
            <p:cNvPr id="28" name="Text 11">
              <a:extLst>
                <a:ext uri="{FF2B5EF4-FFF2-40B4-BE49-F238E27FC236}">
                  <a16:creationId xmlns:a16="http://schemas.microsoft.com/office/drawing/2014/main" id="{F583D542-069F-A419-AC90-EAE5C694E2A7}"/>
                </a:ext>
              </a:extLst>
            </p:cNvPr>
            <p:cNvSpPr txBox="1"/>
            <p:nvPr/>
          </p:nvSpPr>
          <p:spPr>
            <a:xfrm>
              <a:off x="4431822" y="2340864"/>
              <a:ext cx="3017520" cy="292608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Intune to Google endpoint management: a policy parity matrix built control by control, with gaps escalated as accepted risk</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Windows: Google Credential Provider for Windows for sign-in; Chrome Enterprise for browser policy and data protection</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Mobile: Android and iOS re-enrolment path, with a wipe-or-retire decision per device class</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ChromeOS assessed for kiosk, frontline and shared-device populations where it lowers cost</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Certificate, VPN and Wi-Fi profile re-issuance - the single most commonly missed dependency</a:t>
              </a:r>
              <a:endParaRPr lang="en-US" sz="850" dirty="0"/>
            </a:p>
          </p:txBody>
        </p:sp>
        <p:sp>
          <p:nvSpPr>
            <p:cNvPr id="29" name="Shape 12">
              <a:extLst>
                <a:ext uri="{FF2B5EF4-FFF2-40B4-BE49-F238E27FC236}">
                  <a16:creationId xmlns:a16="http://schemas.microsoft.com/office/drawing/2014/main" id="{FFA72D54-2944-B08C-CE4F-6CF966AD3F59}"/>
                </a:ext>
              </a:extLst>
            </p:cNvPr>
            <p:cNvSpPr/>
            <p:nvPr/>
          </p:nvSpPr>
          <p:spPr>
            <a:xfrm>
              <a:off x="7885237" y="1810512"/>
              <a:ext cx="3453414" cy="3200400"/>
            </a:xfrm>
            <a:prstGeom prst="roundRect">
              <a:avLst>
                <a:gd name="adj" fmla="val 142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0" name="Shape 13">
              <a:extLst>
                <a:ext uri="{FF2B5EF4-FFF2-40B4-BE49-F238E27FC236}">
                  <a16:creationId xmlns:a16="http://schemas.microsoft.com/office/drawing/2014/main" id="{8DC67458-92F2-1D09-31AC-FF99B85D1083}"/>
                </a:ext>
              </a:extLst>
            </p:cNvPr>
            <p:cNvSpPr/>
            <p:nvPr/>
          </p:nvSpPr>
          <p:spPr>
            <a:xfrm>
              <a:off x="8122981" y="2002536"/>
              <a:ext cx="109728" cy="109728"/>
            </a:xfrm>
            <a:prstGeom prst="rect">
              <a:avLst/>
            </a:prstGeom>
            <a:solidFill>
              <a:srgbClr val="0053EB"/>
            </a:solidFill>
            <a:ln w="12700">
              <a:solidFill>
                <a:srgbClr val="0053EB"/>
              </a:solidFill>
              <a:prstDash val="solid"/>
            </a:ln>
          </p:spPr>
          <p:txBody>
            <a:bodyPr/>
            <a:lstStyle/>
            <a:p>
              <a:endParaRPr lang="en-IN"/>
            </a:p>
          </p:txBody>
        </p:sp>
        <p:sp>
          <p:nvSpPr>
            <p:cNvPr id="31" name="Text 14">
              <a:extLst>
                <a:ext uri="{FF2B5EF4-FFF2-40B4-BE49-F238E27FC236}">
                  <a16:creationId xmlns:a16="http://schemas.microsoft.com/office/drawing/2014/main" id="{4257C17E-0D24-F2E9-A043-359D6AEE5E04}"/>
                </a:ext>
              </a:extLst>
            </p:cNvPr>
            <p:cNvSpPr txBox="1"/>
            <p:nvPr/>
          </p:nvSpPr>
          <p:spPr>
            <a:xfrm>
              <a:off x="8342437"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Microsoft estate exit</a:t>
              </a:r>
              <a:endParaRPr lang="en-US" sz="1150" dirty="0"/>
            </a:p>
          </p:txBody>
        </p:sp>
        <p:sp>
          <p:nvSpPr>
            <p:cNvPr id="32" name="Text 15">
              <a:extLst>
                <a:ext uri="{FF2B5EF4-FFF2-40B4-BE49-F238E27FC236}">
                  <a16:creationId xmlns:a16="http://schemas.microsoft.com/office/drawing/2014/main" id="{C6137936-0D3D-4EE0-742C-1A0F4129CB53}"/>
                </a:ext>
              </a:extLst>
            </p:cNvPr>
            <p:cNvSpPr txBox="1"/>
            <p:nvPr/>
          </p:nvSpPr>
          <p:spPr>
            <a:xfrm>
              <a:off x="8122981" y="2340864"/>
              <a:ext cx="3017520" cy="292608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Licence position modelled: what can be released, what must be retained, and for exactly which people</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The population that genuinely cannot leave - macro, Access, Visio and Project users - sized and priced rather than wished away</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Tenant retention period agreed for held mailboxes, archives and audit evidence</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Decommission sequence with a documented point of no return for each service</a:t>
              </a:r>
              <a:endParaRPr lang="en-US" sz="850" dirty="0"/>
            </a:p>
            <a:p>
              <a:pPr marL="342900" indent="-342900">
                <a:lnSpc>
                  <a:spcPct val="105000"/>
                </a:lnSpc>
                <a:spcAft>
                  <a:spcPts val="600"/>
                </a:spcAft>
                <a:buSzPct val="100000"/>
                <a:buChar char="▪"/>
              </a:pPr>
              <a:r>
                <a:rPr lang="en-US" sz="850" dirty="0">
                  <a:solidFill>
                    <a:srgbClr val="15203D"/>
                  </a:solidFill>
                  <a:latin typeface="Calibri" pitchFamily="34" charset="0"/>
                  <a:ea typeface="Calibri" pitchFamily="34" charset="-122"/>
                  <a:cs typeface="Calibri" pitchFamily="34" charset="-120"/>
                </a:rPr>
                <a:t>Exit report: what left, what stayed, why, and what it now costs</a:t>
              </a:r>
              <a:endParaRPr lang="en-US" sz="850" dirty="0"/>
            </a:p>
          </p:txBody>
        </p:sp>
        <p:sp>
          <p:nvSpPr>
            <p:cNvPr id="33" name="Shape 16">
              <a:extLst>
                <a:ext uri="{FF2B5EF4-FFF2-40B4-BE49-F238E27FC236}">
                  <a16:creationId xmlns:a16="http://schemas.microsoft.com/office/drawing/2014/main" id="{C3EB9B6D-092E-8898-6F14-04D4D9436B3F}"/>
                </a:ext>
              </a:extLst>
            </p:cNvPr>
            <p:cNvSpPr/>
            <p:nvPr/>
          </p:nvSpPr>
          <p:spPr>
            <a:xfrm>
              <a:off x="502920" y="5175504"/>
              <a:ext cx="10835640" cy="777240"/>
            </a:xfrm>
            <a:prstGeom prst="roundRect">
              <a:avLst>
                <a:gd name="adj" fmla="val 5882"/>
              </a:avLst>
            </a:prstGeom>
            <a:solidFill>
              <a:srgbClr val="001D5F"/>
            </a:solidFill>
            <a:ln w="12700">
              <a:solidFill>
                <a:srgbClr val="001D5F"/>
              </a:solidFill>
              <a:prstDash val="solid"/>
            </a:ln>
            <a:effectLst>
              <a:outerShdw blurRad="88900" dist="12700" dir="5400000" algn="bl" rotWithShape="0">
                <a:srgbClr val="000000">
                  <a:alpha val="7000"/>
                </a:srgbClr>
              </a:outerShdw>
            </a:effectLst>
          </p:spPr>
          <p:txBody>
            <a:bodyPr/>
            <a:lstStyle/>
            <a:p>
              <a:endParaRPr lang="en-IN"/>
            </a:p>
          </p:txBody>
        </p:sp>
        <p:sp>
          <p:nvSpPr>
            <p:cNvPr id="34" name="Text 17">
              <a:extLst>
                <a:ext uri="{FF2B5EF4-FFF2-40B4-BE49-F238E27FC236}">
                  <a16:creationId xmlns:a16="http://schemas.microsoft.com/office/drawing/2014/main" id="{F90D21CD-8F14-3F38-8F38-857F89C114D7}"/>
                </a:ext>
              </a:extLst>
            </p:cNvPr>
            <p:cNvSpPr txBox="1"/>
            <p:nvPr/>
          </p:nvSpPr>
          <p:spPr>
            <a:xfrm>
              <a:off x="758952" y="5340096"/>
              <a:ext cx="1600200" cy="274320"/>
            </a:xfrm>
            <a:prstGeom prst="rect">
              <a:avLst/>
            </a:prstGeom>
            <a:noFill/>
            <a:ln/>
          </p:spPr>
          <p:txBody>
            <a:bodyPr wrap="square" lIns="0" tIns="0" rIns="0" bIns="0" rtlCol="0" anchor="t"/>
            <a:lstStyle/>
            <a:p>
              <a:pPr marL="0" indent="0" algn="l">
                <a:lnSpc>
                  <a:spcPct val="112000"/>
                </a:lnSpc>
                <a:buNone/>
              </a:pPr>
              <a:r>
                <a:rPr lang="en-US" sz="1100" b="1" dirty="0">
                  <a:solidFill>
                    <a:srgbClr val="78A8FF"/>
                  </a:solidFill>
                  <a:latin typeface="Calibri" pitchFamily="34" charset="0"/>
                  <a:ea typeface="Calibri" pitchFamily="34" charset="-122"/>
                  <a:cs typeface="Calibri" pitchFamily="34" charset="-120"/>
                </a:rPr>
                <a:t>Sequencing:</a:t>
              </a:r>
              <a:endParaRPr lang="en-US" sz="1100" dirty="0"/>
            </a:p>
          </p:txBody>
        </p:sp>
        <p:sp>
          <p:nvSpPr>
            <p:cNvPr id="35" name="Text 18">
              <a:extLst>
                <a:ext uri="{FF2B5EF4-FFF2-40B4-BE49-F238E27FC236}">
                  <a16:creationId xmlns:a16="http://schemas.microsoft.com/office/drawing/2014/main" id="{ADB34D88-67B4-EBB1-9941-024388BDF109}"/>
                </a:ext>
              </a:extLst>
            </p:cNvPr>
            <p:cNvSpPr txBox="1"/>
            <p:nvPr/>
          </p:nvSpPr>
          <p:spPr>
            <a:xfrm>
              <a:off x="2423160" y="5340096"/>
              <a:ext cx="8686800" cy="502920"/>
            </a:xfrm>
            <a:prstGeom prst="rect">
              <a:avLst/>
            </a:prstGeom>
            <a:noFill/>
            <a:ln/>
          </p:spPr>
          <p:txBody>
            <a:bodyPr wrap="square" lIns="0" tIns="0" rIns="0" bIns="0" rtlCol="0" anchor="t"/>
            <a:lstStyle/>
            <a:p>
              <a:pPr marL="0" indent="0" algn="l">
                <a:lnSpc>
                  <a:spcPct val="110000"/>
                </a:lnSpc>
                <a:buNone/>
              </a:pPr>
              <a:r>
                <a:rPr lang="en-US" sz="1050" dirty="0">
                  <a:solidFill>
                    <a:srgbClr val="C6D5F0"/>
                  </a:solidFill>
                  <a:latin typeface="Calibri" pitchFamily="34" charset="0"/>
                  <a:ea typeface="Calibri" pitchFamily="34" charset="-122"/>
                  <a:cs typeface="Calibri" pitchFamily="34" charset="-120"/>
                </a:rPr>
                <a:t>one programme and one team, deliberately staged into two releases. Collaboration first, then identity and endpoints once Workspace is in steady state. Changing the identity provider changes the blast radius of every authentication failure in the estate, so it does not share a change window with a mail cutover.</a:t>
              </a:r>
              <a:endParaRPr lang="en-US" sz="1050" dirty="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43A3B-1A87-109E-B8A9-E37A96E8CE8C}"/>
            </a:ext>
          </a:extLst>
        </p:cNvPr>
        <p:cNvGrpSpPr/>
        <p:nvPr/>
      </p:nvGrpSpPr>
      <p:grpSpPr>
        <a:xfrm>
          <a:off x="0" y="0"/>
          <a:ext cx="0" cy="0"/>
          <a:chOff x="0" y="0"/>
          <a:chExt cx="0" cy="0"/>
        </a:xfrm>
      </p:grpSpPr>
      <p:pic>
        <p:nvPicPr>
          <p:cNvPr id="2" name="Image 0" descr="logo_icon.png">
            <a:extLst>
              <a:ext uri="{FF2B5EF4-FFF2-40B4-BE49-F238E27FC236}">
                <a16:creationId xmlns:a16="http://schemas.microsoft.com/office/drawing/2014/main" id="{625C8097-2A49-B56D-236B-D3D8087A8E79}"/>
              </a:ext>
            </a:extLst>
          </p:cNvPr>
          <p:cNvPicPr>
            <a:picLocks noChangeAspect="1"/>
          </p:cNvPicPr>
          <p:nvPr/>
        </p:nvPicPr>
        <p:blipFill>
          <a:blip r:embed="rId3"/>
          <a:stretch>
            <a:fillRect/>
          </a:stretch>
        </p:blipFill>
        <p:spPr>
          <a:xfrm>
            <a:off x="11301984" y="292608"/>
            <a:ext cx="512064" cy="407822"/>
          </a:xfrm>
          <a:prstGeom prst="rect">
            <a:avLst/>
          </a:prstGeom>
        </p:spPr>
      </p:pic>
      <p:sp>
        <p:nvSpPr>
          <p:cNvPr id="16" name="AutoShape 2">
            <a:extLst>
              <a:ext uri="{FF2B5EF4-FFF2-40B4-BE49-F238E27FC236}">
                <a16:creationId xmlns:a16="http://schemas.microsoft.com/office/drawing/2014/main" id="{86FF860A-AA59-2D55-41D4-EA112D62325B}"/>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7" name="TextBox 7">
            <a:extLst>
              <a:ext uri="{FF2B5EF4-FFF2-40B4-BE49-F238E27FC236}">
                <a16:creationId xmlns:a16="http://schemas.microsoft.com/office/drawing/2014/main" id="{E32ED6AC-53B1-4EB3-F953-0648574DF5B4}"/>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8" name="TextBox 9">
            <a:extLst>
              <a:ext uri="{FF2B5EF4-FFF2-40B4-BE49-F238E27FC236}">
                <a16:creationId xmlns:a16="http://schemas.microsoft.com/office/drawing/2014/main" id="{690CBB03-F263-F407-6AD6-22FDE88E96D7}"/>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9" name="TextBox 18">
            <a:extLst>
              <a:ext uri="{FF2B5EF4-FFF2-40B4-BE49-F238E27FC236}">
                <a16:creationId xmlns:a16="http://schemas.microsoft.com/office/drawing/2014/main" id="{FBBC62C9-54AA-A627-8DF3-175ECD58498E}"/>
              </a:ext>
            </a:extLst>
          </p:cNvPr>
          <p:cNvSpPr txBox="1"/>
          <p:nvPr/>
        </p:nvSpPr>
        <p:spPr>
          <a:xfrm>
            <a:off x="5911269" y="6533202"/>
            <a:ext cx="287258" cy="215444"/>
          </a:xfrm>
          <a:prstGeom prst="rect">
            <a:avLst/>
          </a:prstGeom>
          <a:noFill/>
        </p:spPr>
        <p:txBody>
          <a:bodyPr wrap="none" rtlCol="0">
            <a:spAutoFit/>
          </a:bodyPr>
          <a:lstStyle/>
          <a:p>
            <a:r>
              <a:rPr lang="en-US" sz="800" dirty="0"/>
              <a:t>11</a:t>
            </a:r>
          </a:p>
        </p:txBody>
      </p:sp>
      <p:sp>
        <p:nvSpPr>
          <p:cNvPr id="7" name="Text 1">
            <a:extLst>
              <a:ext uri="{FF2B5EF4-FFF2-40B4-BE49-F238E27FC236}">
                <a16:creationId xmlns:a16="http://schemas.microsoft.com/office/drawing/2014/main" id="{62911BBC-21FC-C6C7-621D-1B6AF6CB730D}"/>
              </a:ext>
            </a:extLst>
          </p:cNvPr>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STAKEHOLDER REQUIREMENTS 1 OF 2</a:t>
            </a:r>
            <a:endParaRPr lang="en-US" sz="950" dirty="0"/>
          </a:p>
        </p:txBody>
      </p:sp>
      <p:sp>
        <p:nvSpPr>
          <p:cNvPr id="9" name="Text 2">
            <a:extLst>
              <a:ext uri="{FF2B5EF4-FFF2-40B4-BE49-F238E27FC236}">
                <a16:creationId xmlns:a16="http://schemas.microsoft.com/office/drawing/2014/main" id="{C23A1686-4ADB-06F9-658E-B4674468E1AA}"/>
              </a:ext>
            </a:extLst>
          </p:cNvPr>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What your CTO will require - and what we need in return</a:t>
            </a:r>
            <a:endParaRPr lang="en-US" sz="2800" dirty="0"/>
          </a:p>
        </p:txBody>
      </p:sp>
      <p:sp>
        <p:nvSpPr>
          <p:cNvPr id="11" name="Text 3">
            <a:extLst>
              <a:ext uri="{FF2B5EF4-FFF2-40B4-BE49-F238E27FC236}">
                <a16:creationId xmlns:a16="http://schemas.microsoft.com/office/drawing/2014/main" id="{A96FCD6C-817F-52A5-A7B4-FDD86B5DF60A}"/>
              </a:ext>
            </a:extLst>
          </p:cNvPr>
          <p:cNvSpPr txBox="1"/>
          <p:nvPr/>
        </p:nvSpPr>
        <p:spPr>
          <a:xfrm>
            <a:off x="502920" y="1261872"/>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A migration fails at the seams between teams. Every line below is logged in a requirements traceability sheet against the control that satisfies it and the evidence that proves it.</a:t>
            </a:r>
            <a:endParaRPr lang="en-US" sz="1100" dirty="0"/>
          </a:p>
        </p:txBody>
      </p:sp>
      <p:graphicFrame>
        <p:nvGraphicFramePr>
          <p:cNvPr id="13" name="Table 0">
            <a:extLst>
              <a:ext uri="{FF2B5EF4-FFF2-40B4-BE49-F238E27FC236}">
                <a16:creationId xmlns:a16="http://schemas.microsoft.com/office/drawing/2014/main" id="{C737B605-D07A-1BB2-EE97-3DBA4436FC28}"/>
              </a:ext>
            </a:extLst>
          </p:cNvPr>
          <p:cNvGraphicFramePr>
            <a:graphicFrameLocks noGrp="1"/>
          </p:cNvGraphicFramePr>
          <p:nvPr>
            <p:extLst>
              <p:ext uri="{D42A27DB-BD31-4B8C-83A1-F6EECF244321}">
                <p14:modId xmlns:p14="http://schemas.microsoft.com/office/powerpoint/2010/main" val="2448231516"/>
              </p:ext>
            </p:extLst>
          </p:nvPr>
        </p:nvGraphicFramePr>
        <p:xfrm>
          <a:off x="502920" y="1664208"/>
          <a:ext cx="10835640" cy="4283964"/>
        </p:xfrm>
        <a:graphic>
          <a:graphicData uri="http://schemas.openxmlformats.org/drawingml/2006/table">
            <a:tbl>
              <a:tblPr/>
              <a:tblGrid>
                <a:gridCol w="17830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75488">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Area</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What the CTO will require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What we need from you</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By when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Network &amp; connectivity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Confirmation that migration traffic is cloud-to-cloud between Microsoft and Google - the only client-side load is Drive for Desktop sync and browser use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Bandwidth headroom confirmed per site, and a proxy or SWG allow-list for Google Workspace endpoints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TLS inspection &amp; egress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endpoints excluded from TLS interception, and certificate pinning respected for Drive for Desktop and Chrome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change request raised against the proxy platform, with a named network owner to carry it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POC</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DNS &amp; mail flow</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Authoritative control of MX, SPF, DKIM at 2048-bit and DMARC, with a short change window at each routing change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TTL reduction to 300s a week ahead, and delegated or pre-scheduled DNS change capability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wave 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Client &amp; endpoint deployment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supported browser build across the estate, a Drive for Desktop deployment path, and a decision on Outlook retirement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Software distribution channel (Intune, SCCM or equivalent) and a maintenance window per wave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wave 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Integration &amp; LOB applications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Every application authenticating to Microsoft carries a named owner and a written test script before its wave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Application inventory with owner contact details, and their availability during wave windows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Capacity &amp; licensing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Workspace edition sized for data-region, Vault and security requirements, plus a Microsoft licence retention decision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Current licence position, contract end dates, and the population that must stay on Microsoft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Service management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Workspace absorbed into existing ITSM rather than run as a project: incident, request, change and access processes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Service desk engagement, agreed severity definitions, and named knowledge base ownership</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POC exit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Rollback &amp; decommission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rehearsed per-user rollback, and the source retained read-only for an agreed period after each wave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Approval of the retention period and of the documented point of no return per service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During POC</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bl>
          </a:graphicData>
        </a:graphic>
      </p:graphicFrame>
      <p:sp>
        <p:nvSpPr>
          <p:cNvPr id="15" name="Text 4">
            <a:extLst>
              <a:ext uri="{FF2B5EF4-FFF2-40B4-BE49-F238E27FC236}">
                <a16:creationId xmlns:a16="http://schemas.microsoft.com/office/drawing/2014/main" id="{65DEEC71-721B-D7CE-75DC-B8FA748E5E0D}"/>
              </a:ext>
            </a:extLst>
          </p:cNvPr>
          <p:cNvSpPr txBox="1"/>
          <p:nvPr/>
        </p:nvSpPr>
        <p:spPr>
          <a:xfrm>
            <a:off x="502920" y="6104927"/>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None of the above is a change we make on your behalf. Each is a request with an owner, a date and an agreed test - which is why it belongs in the proposal rather than in a status report three weeks after mobilisation.</a:t>
            </a:r>
            <a:endParaRPr lang="en-US" sz="800" dirty="0"/>
          </a:p>
        </p:txBody>
      </p:sp>
    </p:spTree>
    <p:extLst>
      <p:ext uri="{BB962C8B-B14F-4D97-AF65-F5344CB8AC3E}">
        <p14:creationId xmlns:p14="http://schemas.microsoft.com/office/powerpoint/2010/main" val="955654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0AA7C-66B6-4EB8-44AB-E2E89956B329}"/>
            </a:ext>
          </a:extLst>
        </p:cNvPr>
        <p:cNvGrpSpPr/>
        <p:nvPr/>
      </p:nvGrpSpPr>
      <p:grpSpPr>
        <a:xfrm>
          <a:off x="0" y="0"/>
          <a:ext cx="0" cy="0"/>
          <a:chOff x="0" y="0"/>
          <a:chExt cx="0" cy="0"/>
        </a:xfrm>
      </p:grpSpPr>
      <p:pic>
        <p:nvPicPr>
          <p:cNvPr id="2" name="Image 0" descr="logo_icon.png">
            <a:extLst>
              <a:ext uri="{FF2B5EF4-FFF2-40B4-BE49-F238E27FC236}">
                <a16:creationId xmlns:a16="http://schemas.microsoft.com/office/drawing/2014/main" id="{99DF020E-0E4C-82C5-4174-89F00364AEA9}"/>
              </a:ext>
            </a:extLst>
          </p:cNvPr>
          <p:cNvPicPr>
            <a:picLocks noChangeAspect="1"/>
          </p:cNvPicPr>
          <p:nvPr/>
        </p:nvPicPr>
        <p:blipFill>
          <a:blip r:embed="rId3"/>
          <a:stretch>
            <a:fillRect/>
          </a:stretch>
        </p:blipFill>
        <p:spPr>
          <a:xfrm>
            <a:off x="11301984" y="292608"/>
            <a:ext cx="512064" cy="407822"/>
          </a:xfrm>
          <a:prstGeom prst="rect">
            <a:avLst/>
          </a:prstGeom>
        </p:spPr>
      </p:pic>
      <p:sp>
        <p:nvSpPr>
          <p:cNvPr id="16" name="AutoShape 2">
            <a:extLst>
              <a:ext uri="{FF2B5EF4-FFF2-40B4-BE49-F238E27FC236}">
                <a16:creationId xmlns:a16="http://schemas.microsoft.com/office/drawing/2014/main" id="{3FBBDCC5-2877-FEC8-7E3D-D17EFBF11B77}"/>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7" name="TextBox 7">
            <a:extLst>
              <a:ext uri="{FF2B5EF4-FFF2-40B4-BE49-F238E27FC236}">
                <a16:creationId xmlns:a16="http://schemas.microsoft.com/office/drawing/2014/main" id="{8551D333-7B97-FCE6-6BA3-BD7E4FA7AFC5}"/>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8" name="TextBox 9">
            <a:extLst>
              <a:ext uri="{FF2B5EF4-FFF2-40B4-BE49-F238E27FC236}">
                <a16:creationId xmlns:a16="http://schemas.microsoft.com/office/drawing/2014/main" id="{D657823D-5AFD-B7A3-0AFC-9A434645DE67}"/>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9" name="TextBox 18">
            <a:extLst>
              <a:ext uri="{FF2B5EF4-FFF2-40B4-BE49-F238E27FC236}">
                <a16:creationId xmlns:a16="http://schemas.microsoft.com/office/drawing/2014/main" id="{B979DF4A-ABEC-6F26-B4D5-457FC7DEBD6F}"/>
              </a:ext>
            </a:extLst>
          </p:cNvPr>
          <p:cNvSpPr txBox="1"/>
          <p:nvPr/>
        </p:nvSpPr>
        <p:spPr>
          <a:xfrm>
            <a:off x="5911269" y="6533202"/>
            <a:ext cx="287258" cy="215444"/>
          </a:xfrm>
          <a:prstGeom prst="rect">
            <a:avLst/>
          </a:prstGeom>
          <a:noFill/>
        </p:spPr>
        <p:txBody>
          <a:bodyPr wrap="none" rtlCol="0">
            <a:spAutoFit/>
          </a:bodyPr>
          <a:lstStyle/>
          <a:p>
            <a:r>
              <a:rPr lang="en-US" sz="800" dirty="0"/>
              <a:t>12</a:t>
            </a:r>
          </a:p>
        </p:txBody>
      </p:sp>
      <p:sp>
        <p:nvSpPr>
          <p:cNvPr id="4" name="Text 1">
            <a:extLst>
              <a:ext uri="{FF2B5EF4-FFF2-40B4-BE49-F238E27FC236}">
                <a16:creationId xmlns:a16="http://schemas.microsoft.com/office/drawing/2014/main" id="{AAD95C43-C488-B401-1625-E4A54C70B9DD}"/>
              </a:ext>
            </a:extLst>
          </p:cNvPr>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STAKEHOLDER REQUIREMENTS 2 OF 2</a:t>
            </a:r>
            <a:endParaRPr lang="en-US" sz="950" dirty="0"/>
          </a:p>
        </p:txBody>
      </p:sp>
      <p:sp>
        <p:nvSpPr>
          <p:cNvPr id="6" name="Text 2">
            <a:extLst>
              <a:ext uri="{FF2B5EF4-FFF2-40B4-BE49-F238E27FC236}">
                <a16:creationId xmlns:a16="http://schemas.microsoft.com/office/drawing/2014/main" id="{7B174850-D3BE-9BCE-6C94-015133CE71B5}"/>
              </a:ext>
            </a:extLst>
          </p:cNvPr>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What your CISO will require - and what we need in return</a:t>
            </a:r>
            <a:endParaRPr lang="en-US" sz="2800" dirty="0"/>
          </a:p>
        </p:txBody>
      </p:sp>
      <p:sp>
        <p:nvSpPr>
          <p:cNvPr id="10" name="Text 3">
            <a:extLst>
              <a:ext uri="{FF2B5EF4-FFF2-40B4-BE49-F238E27FC236}">
                <a16:creationId xmlns:a16="http://schemas.microsoft.com/office/drawing/2014/main" id="{87164E92-CCEB-43BC-BA70-00983F3CE2E9}"/>
              </a:ext>
            </a:extLst>
          </p:cNvPr>
          <p:cNvSpPr txBox="1"/>
          <p:nvPr/>
        </p:nvSpPr>
        <p:spPr>
          <a:xfrm>
            <a:off x="502920" y="1261872"/>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In a regulated estate the migration is itself an auditable event, evidenced through every wave and handed over as a migration evidence pack.</a:t>
            </a:r>
            <a:endParaRPr lang="en-US" sz="1100" dirty="0"/>
          </a:p>
        </p:txBody>
      </p:sp>
      <p:graphicFrame>
        <p:nvGraphicFramePr>
          <p:cNvPr id="14" name="Table 0">
            <a:extLst>
              <a:ext uri="{FF2B5EF4-FFF2-40B4-BE49-F238E27FC236}">
                <a16:creationId xmlns:a16="http://schemas.microsoft.com/office/drawing/2014/main" id="{CE9A0B5A-DC6F-C1CE-7EB4-603D8D6198C5}"/>
              </a:ext>
            </a:extLst>
          </p:cNvPr>
          <p:cNvGraphicFramePr>
            <a:graphicFrameLocks noGrp="1"/>
          </p:cNvGraphicFramePr>
          <p:nvPr>
            <p:extLst>
              <p:ext uri="{D42A27DB-BD31-4B8C-83A1-F6EECF244321}">
                <p14:modId xmlns:p14="http://schemas.microsoft.com/office/powerpoint/2010/main" val="641384624"/>
              </p:ext>
            </p:extLst>
          </p:nvPr>
        </p:nvGraphicFramePr>
        <p:xfrm>
          <a:off x="502920" y="1664208"/>
          <a:ext cx="10835640" cy="4279392"/>
        </p:xfrm>
        <a:graphic>
          <a:graphicData uri="http://schemas.openxmlformats.org/drawingml/2006/table">
            <a:tbl>
              <a:tblPr/>
              <a:tblGrid>
                <a:gridCol w="178308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gridCol w="1920240">
                  <a:extLst>
                    <a:ext uri="{9D8B030D-6E8A-4147-A177-3AD203B41FA5}">
                      <a16:colId xmlns:a16="http://schemas.microsoft.com/office/drawing/2014/main" val="20003"/>
                    </a:ext>
                  </a:extLst>
                </a:gridCol>
              </a:tblGrid>
              <a:tr h="475488">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Area</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What the CISO will require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What we need from you</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By when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Identity &amp; authentication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defined federation model, MFA enforcement, session lifetime policy, and a privileged access model for super-admin accounts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Approval of the federation design and of the break-glass account model, including vaulting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POC</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Access control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Context-aware access replacing or complementing conditional access, with device trust signals carried across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Export of current conditional access policy, and the risk appetite behind each rule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Data protection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DLP rules, client-side encryption for the highest classification, and an external sharing policy set before data lands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Export of existing Purview and DLP policy, so rules are re-expressed rather than reinvented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wave 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Data residency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Data region policy applied per organisational unit before the first byte, with an edition audit proving every user is covered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Residency requirement stated in writing per jurisdiction and per user population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Logging &amp; monitoring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Admin, login, Drive, token and Vault audit logs exported to the SIEM with an agreed retention period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SIEM ingestion path, retention requirement, and the detection use cases that must survive the move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POC exit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Retention &amp; eDiscovery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Vault retention authored before provisioning, and a documented disposition for every legal hold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Legal sign-off on hold disposition, and an agreed archive continuity date with no gap</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wave 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Third-party risk</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Migration tooling assessed on data path, sub-processors, credential handling, retention and deletion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vendor risk assessment window ahead of the POC, and the criteria it will be judged against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Before POC</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Evidence &amp; assurance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Reconciliation reports, gate approvals and exception registers retained as the migration evidence pack</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An audit representative named to accept the evidence format, plus any external auditor timing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bl>
          </a:graphicData>
        </a:graphic>
      </p:graphicFrame>
      <p:sp>
        <p:nvSpPr>
          <p:cNvPr id="21" name="Text 4">
            <a:extLst>
              <a:ext uri="{FF2B5EF4-FFF2-40B4-BE49-F238E27FC236}">
                <a16:creationId xmlns:a16="http://schemas.microsoft.com/office/drawing/2014/main" id="{45CF5CE4-07D3-71D8-DEF9-98577D204D80}"/>
              </a:ext>
            </a:extLst>
          </p:cNvPr>
          <p:cNvSpPr txBox="1"/>
          <p:nvPr/>
        </p:nvSpPr>
        <p:spPr>
          <a:xfrm>
            <a:off x="502920" y="6096414"/>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The CISO position we most often have to correct: holds, sensitivity labels and retention do not travel with the data. They are re-expressed on the target platform, and the evidence that they were is part of the deliverable.</a:t>
            </a:r>
            <a:endParaRPr lang="en-US" sz="800" dirty="0"/>
          </a:p>
        </p:txBody>
      </p:sp>
    </p:spTree>
    <p:extLst>
      <p:ext uri="{BB962C8B-B14F-4D97-AF65-F5344CB8AC3E}">
        <p14:creationId xmlns:p14="http://schemas.microsoft.com/office/powerpoint/2010/main" val="40695976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16FF-06DD-2D7B-7B49-E7D7838889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004FE7-D41A-401B-A40B-0425BEE4466B}"/>
              </a:ext>
            </a:extLst>
          </p:cNvPr>
          <p:cNvGrpSpPr/>
          <p:nvPr/>
        </p:nvGrpSpPr>
        <p:grpSpPr>
          <a:xfrm>
            <a:off x="10142683" y="5566065"/>
            <a:ext cx="229316" cy="229316"/>
            <a:chOff x="0" y="0"/>
            <a:chExt cx="812800" cy="812800"/>
          </a:xfrm>
        </p:grpSpPr>
        <p:sp>
          <p:nvSpPr>
            <p:cNvPr id="3" name="Freeform 3">
              <a:extLst>
                <a:ext uri="{FF2B5EF4-FFF2-40B4-BE49-F238E27FC236}">
                  <a16:creationId xmlns:a16="http://schemas.microsoft.com/office/drawing/2014/main" id="{56817DF6-DDA3-71D4-0F71-7AA6C0F3CA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 name="TextBox 4">
              <a:extLst>
                <a:ext uri="{FF2B5EF4-FFF2-40B4-BE49-F238E27FC236}">
                  <a16:creationId xmlns:a16="http://schemas.microsoft.com/office/drawing/2014/main" id="{5CDAFD9F-EC95-8FBA-8539-1336095C8205}"/>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5" name="Group 5">
            <a:extLst>
              <a:ext uri="{FF2B5EF4-FFF2-40B4-BE49-F238E27FC236}">
                <a16:creationId xmlns:a16="http://schemas.microsoft.com/office/drawing/2014/main" id="{9BC62E8F-53AE-6F25-7F71-36398AB1C999}"/>
              </a:ext>
            </a:extLst>
          </p:cNvPr>
          <p:cNvGrpSpPr/>
          <p:nvPr/>
        </p:nvGrpSpPr>
        <p:grpSpPr>
          <a:xfrm>
            <a:off x="10396683" y="5566065"/>
            <a:ext cx="229316" cy="229316"/>
            <a:chOff x="0" y="0"/>
            <a:chExt cx="812800" cy="812800"/>
          </a:xfrm>
        </p:grpSpPr>
        <p:sp>
          <p:nvSpPr>
            <p:cNvPr id="6" name="Freeform 6">
              <a:extLst>
                <a:ext uri="{FF2B5EF4-FFF2-40B4-BE49-F238E27FC236}">
                  <a16:creationId xmlns:a16="http://schemas.microsoft.com/office/drawing/2014/main" id="{C3024B66-0E7D-A813-6E1C-718F9EBC3D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7" name="TextBox 7">
              <a:extLst>
                <a:ext uri="{FF2B5EF4-FFF2-40B4-BE49-F238E27FC236}">
                  <a16:creationId xmlns:a16="http://schemas.microsoft.com/office/drawing/2014/main" id="{3C068469-CD5E-9646-7333-D7676CF448A3}"/>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8" name="Group 8">
            <a:extLst>
              <a:ext uri="{FF2B5EF4-FFF2-40B4-BE49-F238E27FC236}">
                <a16:creationId xmlns:a16="http://schemas.microsoft.com/office/drawing/2014/main" id="{BE4106E7-897E-D04B-0C07-D4A4BD30C270}"/>
              </a:ext>
            </a:extLst>
          </p:cNvPr>
          <p:cNvGrpSpPr/>
          <p:nvPr/>
        </p:nvGrpSpPr>
        <p:grpSpPr>
          <a:xfrm>
            <a:off x="10650683" y="5566065"/>
            <a:ext cx="229316" cy="229316"/>
            <a:chOff x="0" y="0"/>
            <a:chExt cx="812800" cy="812800"/>
          </a:xfrm>
        </p:grpSpPr>
        <p:sp>
          <p:nvSpPr>
            <p:cNvPr id="9" name="Freeform 9">
              <a:extLst>
                <a:ext uri="{FF2B5EF4-FFF2-40B4-BE49-F238E27FC236}">
                  <a16:creationId xmlns:a16="http://schemas.microsoft.com/office/drawing/2014/main" id="{A33A8CC3-899F-1FD7-E302-36A0C9DF64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10" name="TextBox 10">
              <a:extLst>
                <a:ext uri="{FF2B5EF4-FFF2-40B4-BE49-F238E27FC236}">
                  <a16:creationId xmlns:a16="http://schemas.microsoft.com/office/drawing/2014/main" id="{8E4434E9-5E55-520D-7AF7-E5A18CE60B1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17" name="Group 17">
            <a:extLst>
              <a:ext uri="{FF2B5EF4-FFF2-40B4-BE49-F238E27FC236}">
                <a16:creationId xmlns:a16="http://schemas.microsoft.com/office/drawing/2014/main" id="{43977719-F523-A315-B5FD-F5B76FE7984E}"/>
              </a:ext>
            </a:extLst>
          </p:cNvPr>
          <p:cNvGrpSpPr/>
          <p:nvPr/>
        </p:nvGrpSpPr>
        <p:grpSpPr>
          <a:xfrm>
            <a:off x="9099427" y="916663"/>
            <a:ext cx="1924173" cy="1991191"/>
            <a:chOff x="0" y="0"/>
            <a:chExt cx="3848347" cy="3982382"/>
          </a:xfrm>
        </p:grpSpPr>
        <p:sp>
          <p:nvSpPr>
            <p:cNvPr id="18" name="Freeform 18">
              <a:extLst>
                <a:ext uri="{FF2B5EF4-FFF2-40B4-BE49-F238E27FC236}">
                  <a16:creationId xmlns:a16="http://schemas.microsoft.com/office/drawing/2014/main" id="{60F460AF-0C64-96D5-100C-3E23CBB3B67F}"/>
                </a:ext>
              </a:extLst>
            </p:cNvPr>
            <p:cNvSpPr/>
            <p:nvPr/>
          </p:nvSpPr>
          <p:spPr>
            <a:xfrm>
              <a:off x="0" y="0"/>
              <a:ext cx="3848347" cy="3245137"/>
            </a:xfrm>
            <a:custGeom>
              <a:avLst/>
              <a:gdLst/>
              <a:ahLst/>
              <a:cxnLst/>
              <a:rect l="l" t="t" r="r" b="b"/>
              <a:pathLst>
                <a:path w="3848347" h="3245137">
                  <a:moveTo>
                    <a:pt x="0" y="0"/>
                  </a:moveTo>
                  <a:lnTo>
                    <a:pt x="3848347" y="0"/>
                  </a:lnTo>
                  <a:lnTo>
                    <a:pt x="3848347" y="3245137"/>
                  </a:lnTo>
                  <a:lnTo>
                    <a:pt x="0" y="3245137"/>
                  </a:lnTo>
                  <a:lnTo>
                    <a:pt x="0" y="0"/>
                  </a:lnTo>
                  <a:close/>
                </a:path>
              </a:pathLst>
            </a:custGeom>
            <a:blipFill>
              <a:blip r:embed="rId2"/>
              <a:stretch>
                <a:fillRect t="-47826" b="-108579"/>
              </a:stretch>
            </a:blipFill>
          </p:spPr>
          <p:txBody>
            <a:bodyPr/>
            <a:lstStyle/>
            <a:p>
              <a:endParaRPr lang="en-US" sz="1200"/>
            </a:p>
          </p:txBody>
        </p:sp>
        <p:sp>
          <p:nvSpPr>
            <p:cNvPr id="19" name="TextBox 19">
              <a:extLst>
                <a:ext uri="{FF2B5EF4-FFF2-40B4-BE49-F238E27FC236}">
                  <a16:creationId xmlns:a16="http://schemas.microsoft.com/office/drawing/2014/main" id="{ECDAD030-0DBF-543A-79AE-5D338191B9C3}"/>
                </a:ext>
              </a:extLst>
            </p:cNvPr>
            <p:cNvSpPr txBox="1"/>
            <p:nvPr/>
          </p:nvSpPr>
          <p:spPr>
            <a:xfrm>
              <a:off x="150790" y="3311812"/>
              <a:ext cx="3697557" cy="670570"/>
            </a:xfrm>
            <a:prstGeom prst="rect">
              <a:avLst/>
            </a:prstGeom>
          </p:spPr>
          <p:txBody>
            <a:bodyPr lIns="0" tIns="0" rIns="0" bIns="0" rtlCol="0" anchor="t">
              <a:spAutoFit/>
            </a:bodyPr>
            <a:lstStyle/>
            <a:p>
              <a:pPr>
                <a:lnSpc>
                  <a:spcPts val="2598"/>
                </a:lnSpc>
              </a:pPr>
              <a:r>
                <a:rPr lang="en-US" sz="2919" spc="-169" dirty="0">
                  <a:solidFill>
                    <a:srgbClr val="090A3C"/>
                  </a:solidFill>
                  <a:latin typeface="Codec Pro"/>
                  <a:ea typeface="Codec Pro"/>
                  <a:cs typeface="Codec Pro"/>
                  <a:sym typeface="Codec Pro"/>
                </a:rPr>
                <a:t>virtuous</a:t>
              </a:r>
              <a:r>
                <a:rPr lang="en-US" sz="2919" spc="-169" dirty="0">
                  <a:solidFill>
                    <a:srgbClr val="0053EB"/>
                  </a:solidFill>
                  <a:latin typeface="Codec Pro"/>
                  <a:ea typeface="Codec Pro"/>
                  <a:cs typeface="Codec Pro"/>
                  <a:sym typeface="Codec Pro"/>
                </a:rPr>
                <a:t>info</a:t>
              </a:r>
            </a:p>
          </p:txBody>
        </p:sp>
      </p:grpSp>
      <p:sp>
        <p:nvSpPr>
          <p:cNvPr id="13" name="TextBox 19">
            <a:extLst>
              <a:ext uri="{FF2B5EF4-FFF2-40B4-BE49-F238E27FC236}">
                <a16:creationId xmlns:a16="http://schemas.microsoft.com/office/drawing/2014/main" id="{FCC95918-99F1-6C67-9D98-26A8C9305C53}"/>
              </a:ext>
            </a:extLst>
          </p:cNvPr>
          <p:cNvSpPr txBox="1"/>
          <p:nvPr/>
        </p:nvSpPr>
        <p:spPr>
          <a:xfrm>
            <a:off x="685800" y="5254067"/>
            <a:ext cx="10001216" cy="677365"/>
          </a:xfrm>
          <a:prstGeom prst="rect">
            <a:avLst/>
          </a:prstGeom>
        </p:spPr>
        <p:txBody>
          <a:bodyPr wrap="square" lIns="0" tIns="0" rIns="0" bIns="0" rtlCol="0" anchor="t">
            <a:spAutoFit/>
          </a:bodyPr>
          <a:lstStyle/>
          <a:p>
            <a:pPr algn="just">
              <a:lnSpc>
                <a:spcPts val="1680"/>
              </a:lnSpc>
              <a:spcBef>
                <a:spcPct val="0"/>
              </a:spcBef>
            </a:pPr>
            <a:r>
              <a:rPr lang="en-US" sz="1600" b="1" dirty="0">
                <a:solidFill>
                  <a:schemeClr val="tx2">
                    <a:lumMod val="75000"/>
                  </a:schemeClr>
                </a:solidFill>
                <a:latin typeface="Codec Pro" panose="020B0604020202020204" charset="0"/>
                <a:sym typeface="Codec Pro"/>
              </a:rPr>
              <a:t>Turning Business Challenges into</a:t>
            </a:r>
          </a:p>
          <a:p>
            <a:pPr algn="just">
              <a:lnSpc>
                <a:spcPts val="1680"/>
              </a:lnSpc>
              <a:spcBef>
                <a:spcPct val="0"/>
              </a:spcBef>
            </a:pPr>
            <a:endParaRPr lang="en-US" sz="1600" b="1" dirty="0">
              <a:solidFill>
                <a:srgbClr val="0066FF"/>
              </a:solidFill>
              <a:latin typeface="Codec Pro" panose="020B0604020202020204" charset="0"/>
              <a:sym typeface="Codec Pro"/>
            </a:endParaRPr>
          </a:p>
          <a:p>
            <a:pPr algn="just">
              <a:lnSpc>
                <a:spcPts val="1680"/>
              </a:lnSpc>
              <a:spcBef>
                <a:spcPct val="0"/>
              </a:spcBef>
            </a:pPr>
            <a:r>
              <a:rPr lang="en-US" sz="1600" b="1" dirty="0">
                <a:solidFill>
                  <a:srgbClr val="0066FF"/>
                </a:solidFill>
                <a:latin typeface="Codec Pro" panose="020B0604020202020204" charset="0"/>
                <a:sym typeface="Codec Pro"/>
              </a:rPr>
              <a:t>Intelligent Solutions</a:t>
            </a:r>
          </a:p>
        </p:txBody>
      </p:sp>
      <p:sp>
        <p:nvSpPr>
          <p:cNvPr id="11" name="AutoShape 2">
            <a:extLst>
              <a:ext uri="{FF2B5EF4-FFF2-40B4-BE49-F238E27FC236}">
                <a16:creationId xmlns:a16="http://schemas.microsoft.com/office/drawing/2014/main" id="{AAED68A2-0EA4-F22B-7F20-CF35B0115759}"/>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61D2CADF-AAFC-DEDF-5372-54E23A9F185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86B80329-E9EB-A7C0-5237-D348EFF42A50}"/>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0" name="Text 2">
            <a:extLst>
              <a:ext uri="{FF2B5EF4-FFF2-40B4-BE49-F238E27FC236}">
                <a16:creationId xmlns:a16="http://schemas.microsoft.com/office/drawing/2014/main" id="{F2C0C80C-D454-430F-9864-8C7B0046FBBF}"/>
              </a:ext>
            </a:extLst>
          </p:cNvPr>
          <p:cNvSpPr txBox="1"/>
          <p:nvPr/>
        </p:nvSpPr>
        <p:spPr>
          <a:xfrm>
            <a:off x="658785" y="1847503"/>
            <a:ext cx="1828800" cy="914400"/>
          </a:xfrm>
          <a:prstGeom prst="rect">
            <a:avLst/>
          </a:prstGeom>
          <a:noFill/>
          <a:ln/>
        </p:spPr>
        <p:txBody>
          <a:bodyPr wrap="square" lIns="0" tIns="0" rIns="0" bIns="0" rtlCol="0" anchor="ctr"/>
          <a:lstStyle/>
          <a:p>
            <a:pPr marL="0" indent="0">
              <a:buNone/>
            </a:pPr>
            <a:r>
              <a:rPr lang="en-US" sz="5000" b="1" dirty="0">
                <a:solidFill>
                  <a:srgbClr val="0066FF"/>
                </a:solidFill>
                <a:latin typeface="Codec Pro" panose="020B0604020202020204" charset="0"/>
                <a:ea typeface="Calibri" pitchFamily="34" charset="-122"/>
                <a:cs typeface="Calibri" pitchFamily="34" charset="-120"/>
              </a:rPr>
              <a:t>01</a:t>
            </a:r>
            <a:endParaRPr lang="en-US" sz="5000" dirty="0">
              <a:solidFill>
                <a:srgbClr val="0066FF"/>
              </a:solidFill>
              <a:latin typeface="Codec Pro" panose="020B0604020202020204" charset="0"/>
            </a:endParaRPr>
          </a:p>
        </p:txBody>
      </p:sp>
      <p:sp>
        <p:nvSpPr>
          <p:cNvPr id="23" name="Text 3">
            <a:extLst>
              <a:ext uri="{FF2B5EF4-FFF2-40B4-BE49-F238E27FC236}">
                <a16:creationId xmlns:a16="http://schemas.microsoft.com/office/drawing/2014/main" id="{C5DD5B7B-04A8-48BD-B31C-2C7B1A821424}"/>
              </a:ext>
            </a:extLst>
          </p:cNvPr>
          <p:cNvSpPr txBox="1"/>
          <p:nvPr/>
        </p:nvSpPr>
        <p:spPr>
          <a:xfrm>
            <a:off x="658785" y="2788920"/>
            <a:ext cx="7772400" cy="731520"/>
          </a:xfrm>
          <a:prstGeom prst="rect">
            <a:avLst/>
          </a:prstGeom>
          <a:noFill/>
          <a:ln/>
        </p:spPr>
        <p:txBody>
          <a:bodyPr wrap="square" lIns="0" tIns="0" rIns="0" bIns="0" rtlCol="0" anchor="ctr"/>
          <a:lstStyle/>
          <a:p>
            <a:pPr marL="0" indent="0">
              <a:buNone/>
            </a:pPr>
            <a:r>
              <a:rPr lang="en-US" sz="3400" b="1" dirty="0">
                <a:solidFill>
                  <a:srgbClr val="002060"/>
                </a:solidFill>
                <a:latin typeface="Codec Pro" panose="020B0604020202020204" charset="0"/>
                <a:ea typeface="Calibri" pitchFamily="34" charset="-122"/>
                <a:cs typeface="Calibri" pitchFamily="34" charset="-120"/>
              </a:rPr>
              <a:t>Proof of Concept</a:t>
            </a:r>
            <a:endParaRPr lang="en-US" sz="3400" dirty="0">
              <a:solidFill>
                <a:srgbClr val="002060"/>
              </a:solidFill>
              <a:latin typeface="Codec Pro" panose="020B0604020202020204" charset="0"/>
            </a:endParaRPr>
          </a:p>
        </p:txBody>
      </p:sp>
      <p:sp>
        <p:nvSpPr>
          <p:cNvPr id="24" name="Text 4">
            <a:extLst>
              <a:ext uri="{FF2B5EF4-FFF2-40B4-BE49-F238E27FC236}">
                <a16:creationId xmlns:a16="http://schemas.microsoft.com/office/drawing/2014/main" id="{9D439EF8-9CDC-4DC5-BE3F-62A0D2E5FA1A}"/>
              </a:ext>
            </a:extLst>
          </p:cNvPr>
          <p:cNvSpPr txBox="1"/>
          <p:nvPr/>
        </p:nvSpPr>
        <p:spPr>
          <a:xfrm>
            <a:off x="679567" y="3695008"/>
            <a:ext cx="7680960" cy="822960"/>
          </a:xfrm>
          <a:prstGeom prst="rect">
            <a:avLst/>
          </a:prstGeom>
          <a:noFill/>
          <a:ln/>
        </p:spPr>
        <p:txBody>
          <a:bodyPr wrap="square" lIns="0" tIns="0" rIns="0" bIns="0" rtlCol="0" anchor="t"/>
          <a:lstStyle/>
          <a:p>
            <a:pPr marL="0" indent="0" algn="l">
              <a:lnSpc>
                <a:spcPct val="130000"/>
              </a:lnSpc>
              <a:buNone/>
            </a:pPr>
            <a:r>
              <a:rPr lang="en-US" sz="1400" dirty="0">
                <a:solidFill>
                  <a:srgbClr val="002060"/>
                </a:solidFill>
                <a:latin typeface="Codec Pro" panose="020B0604020202020204" charset="0"/>
                <a:ea typeface="Calibri" pitchFamily="34" charset="-122"/>
                <a:cs typeface="Calibri" pitchFamily="34" charset="-120"/>
              </a:rPr>
              <a:t>Three weeks. Fifteen users. One signed exit gate.</a:t>
            </a:r>
            <a:endParaRPr lang="en-US" sz="1400" dirty="0">
              <a:solidFill>
                <a:srgbClr val="002060"/>
              </a:solidFill>
              <a:latin typeface="Codec Pro" panose="020B0604020202020204" charset="0"/>
            </a:endParaRPr>
          </a:p>
          <a:p>
            <a:pPr marL="0" indent="0" algn="l">
              <a:lnSpc>
                <a:spcPct val="130000"/>
              </a:lnSpc>
              <a:buNone/>
            </a:pPr>
            <a:r>
              <a:rPr lang="en-US" sz="1400" dirty="0">
                <a:solidFill>
                  <a:srgbClr val="002060"/>
                </a:solidFill>
                <a:latin typeface="Codec Pro" panose="020B0604020202020204" charset="0"/>
                <a:ea typeface="Calibri" pitchFamily="34" charset="-122"/>
                <a:cs typeface="Calibri" pitchFamily="34" charset="-120"/>
              </a:rPr>
              <a:t>Nothing enters production until every claim in this deck is demonstrated on your own tenant.</a:t>
            </a:r>
            <a:endParaRPr lang="en-US" sz="1400" dirty="0">
              <a:solidFill>
                <a:srgbClr val="002060"/>
              </a:solidFill>
              <a:latin typeface="Codec Pro" panose="020B0604020202020204" charset="0"/>
            </a:endParaRPr>
          </a:p>
        </p:txBody>
      </p:sp>
    </p:spTree>
    <p:extLst>
      <p:ext uri="{BB962C8B-B14F-4D97-AF65-F5344CB8AC3E}">
        <p14:creationId xmlns:p14="http://schemas.microsoft.com/office/powerpoint/2010/main" val="3643780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POC DESIGN</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Cohort and exit criteria</a:t>
            </a:r>
            <a:endParaRPr lang="en-US" sz="2800" dirty="0"/>
          </a:p>
        </p:txBody>
      </p:sp>
      <p:sp>
        <p:nvSpPr>
          <p:cNvPr id="47" name="AutoShape 2">
            <a:extLst>
              <a:ext uri="{FF2B5EF4-FFF2-40B4-BE49-F238E27FC236}">
                <a16:creationId xmlns:a16="http://schemas.microsoft.com/office/drawing/2014/main" id="{17820686-0D16-434E-B98C-6A9E3215202E}"/>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48" name="TextBox 7">
            <a:extLst>
              <a:ext uri="{FF2B5EF4-FFF2-40B4-BE49-F238E27FC236}">
                <a16:creationId xmlns:a16="http://schemas.microsoft.com/office/drawing/2014/main" id="{5957312D-6B2D-417F-A16D-DD43101B111C}"/>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49" name="TextBox 9">
            <a:extLst>
              <a:ext uri="{FF2B5EF4-FFF2-40B4-BE49-F238E27FC236}">
                <a16:creationId xmlns:a16="http://schemas.microsoft.com/office/drawing/2014/main" id="{BBF6B1C1-CF28-46CC-946A-7A877E3A5926}"/>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50" name="TextBox 49">
            <a:extLst>
              <a:ext uri="{FF2B5EF4-FFF2-40B4-BE49-F238E27FC236}">
                <a16:creationId xmlns:a16="http://schemas.microsoft.com/office/drawing/2014/main" id="{ACFC82B4-CC18-4929-ACE8-FCD069A1CF1A}"/>
              </a:ext>
            </a:extLst>
          </p:cNvPr>
          <p:cNvSpPr txBox="1"/>
          <p:nvPr/>
        </p:nvSpPr>
        <p:spPr>
          <a:xfrm>
            <a:off x="5911269" y="6533202"/>
            <a:ext cx="287258" cy="215444"/>
          </a:xfrm>
          <a:prstGeom prst="rect">
            <a:avLst/>
          </a:prstGeom>
          <a:noFill/>
        </p:spPr>
        <p:txBody>
          <a:bodyPr wrap="none" rtlCol="0">
            <a:spAutoFit/>
          </a:bodyPr>
          <a:lstStyle/>
          <a:p>
            <a:r>
              <a:rPr lang="en-US" sz="800" dirty="0"/>
              <a:t>13</a:t>
            </a:r>
          </a:p>
        </p:txBody>
      </p:sp>
      <p:grpSp>
        <p:nvGrpSpPr>
          <p:cNvPr id="3" name="Group 2">
            <a:extLst>
              <a:ext uri="{FF2B5EF4-FFF2-40B4-BE49-F238E27FC236}">
                <a16:creationId xmlns:a16="http://schemas.microsoft.com/office/drawing/2014/main" id="{E365D9B0-FD65-C86C-AC25-EA3ABDB1B575}"/>
              </a:ext>
            </a:extLst>
          </p:cNvPr>
          <p:cNvGrpSpPr/>
          <p:nvPr/>
        </p:nvGrpSpPr>
        <p:grpSpPr>
          <a:xfrm>
            <a:off x="502920" y="1298448"/>
            <a:ext cx="10835640" cy="4937760"/>
            <a:chOff x="502920" y="1298448"/>
            <a:chExt cx="10835640" cy="4937760"/>
          </a:xfrm>
        </p:grpSpPr>
        <p:sp>
          <p:nvSpPr>
            <p:cNvPr id="51" name="Shape 3">
              <a:extLst>
                <a:ext uri="{FF2B5EF4-FFF2-40B4-BE49-F238E27FC236}">
                  <a16:creationId xmlns:a16="http://schemas.microsoft.com/office/drawing/2014/main" id="{7C219682-3FD5-1FB4-E400-F1A4240CB617}"/>
                </a:ext>
              </a:extLst>
            </p:cNvPr>
            <p:cNvSpPr/>
            <p:nvPr/>
          </p:nvSpPr>
          <p:spPr>
            <a:xfrm>
              <a:off x="502920" y="1298448"/>
              <a:ext cx="3383280" cy="4937760"/>
            </a:xfrm>
            <a:prstGeom prst="roundRect">
              <a:avLst>
                <a:gd name="adj" fmla="val 135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2" name="Text 4">
              <a:extLst>
                <a:ext uri="{FF2B5EF4-FFF2-40B4-BE49-F238E27FC236}">
                  <a16:creationId xmlns:a16="http://schemas.microsoft.com/office/drawing/2014/main" id="{000D6953-2C28-B88A-A8D8-D160B08576E7}"/>
                </a:ext>
              </a:extLst>
            </p:cNvPr>
            <p:cNvSpPr txBox="1"/>
            <p:nvPr/>
          </p:nvSpPr>
          <p:spPr>
            <a:xfrm>
              <a:off x="740664" y="1444752"/>
              <a:ext cx="2926080" cy="274320"/>
            </a:xfrm>
            <a:prstGeom prst="rect">
              <a:avLst/>
            </a:prstGeom>
            <a:noFill/>
            <a:ln/>
          </p:spPr>
          <p:txBody>
            <a:bodyPr wrap="square" lIns="0" tIns="0" rIns="0" bIns="0" rtlCol="0" anchor="t"/>
            <a:lstStyle/>
            <a:p>
              <a:pPr marL="0" indent="0" algn="l">
                <a:lnSpc>
                  <a:spcPct val="112000"/>
                </a:lnSpc>
                <a:buNone/>
              </a:pPr>
              <a:r>
                <a:rPr lang="en-US" sz="1250" b="1" dirty="0">
                  <a:solidFill>
                    <a:srgbClr val="001D5F"/>
                  </a:solidFill>
                  <a:latin typeface="Calibri" pitchFamily="34" charset="0"/>
                  <a:ea typeface="Calibri" pitchFamily="34" charset="-122"/>
                  <a:cs typeface="Calibri" pitchFamily="34" charset="-120"/>
                </a:rPr>
                <a:t>Cohort design</a:t>
              </a:r>
              <a:endParaRPr lang="en-US" sz="1250" dirty="0"/>
            </a:p>
          </p:txBody>
        </p:sp>
        <p:sp>
          <p:nvSpPr>
            <p:cNvPr id="53" name="Text 5">
              <a:extLst>
                <a:ext uri="{FF2B5EF4-FFF2-40B4-BE49-F238E27FC236}">
                  <a16:creationId xmlns:a16="http://schemas.microsoft.com/office/drawing/2014/main" id="{7C779C08-7C6F-AEFE-8EC3-33D00F94192E}"/>
                </a:ext>
              </a:extLst>
            </p:cNvPr>
            <p:cNvSpPr txBox="1"/>
            <p:nvPr/>
          </p:nvSpPr>
          <p:spPr>
            <a:xfrm>
              <a:off x="740664" y="1755648"/>
              <a:ext cx="2926080" cy="384048"/>
            </a:xfrm>
            <a:prstGeom prst="rect">
              <a:avLst/>
            </a:prstGeom>
            <a:noFill/>
            <a:ln/>
          </p:spPr>
          <p:txBody>
            <a:bodyPr wrap="square" lIns="0" tIns="0" rIns="0" bIns="0" rtlCol="0" anchor="t"/>
            <a:lstStyle/>
            <a:p>
              <a:pPr marL="0" indent="0" algn="l">
                <a:lnSpc>
                  <a:spcPct val="112000"/>
                </a:lnSpc>
                <a:buNone/>
              </a:pPr>
              <a:r>
                <a:rPr lang="en-US" sz="950" i="1" dirty="0">
                  <a:solidFill>
                    <a:srgbClr val="5D6B8C"/>
                  </a:solidFill>
                  <a:latin typeface="Calibri" pitchFamily="34" charset="0"/>
                  <a:ea typeface="Calibri" pitchFamily="34" charset="-122"/>
                  <a:cs typeface="Calibri" pitchFamily="34" charset="-120"/>
                </a:rPr>
                <a:t>15 users, deliberately unrepresentative of the average</a:t>
              </a:r>
              <a:endParaRPr lang="en-US" sz="950" dirty="0"/>
            </a:p>
          </p:txBody>
        </p:sp>
        <p:sp>
          <p:nvSpPr>
            <p:cNvPr id="54" name="Text 6">
              <a:extLst>
                <a:ext uri="{FF2B5EF4-FFF2-40B4-BE49-F238E27FC236}">
                  <a16:creationId xmlns:a16="http://schemas.microsoft.com/office/drawing/2014/main" id="{6B81C0B9-4442-9676-4EAC-4D2E29109737}"/>
                </a:ext>
              </a:extLst>
            </p:cNvPr>
            <p:cNvSpPr txBox="1"/>
            <p:nvPr/>
          </p:nvSpPr>
          <p:spPr>
            <a:xfrm>
              <a:off x="740664" y="2194560"/>
              <a:ext cx="2926080" cy="210312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80" dirty="0">
                  <a:solidFill>
                    <a:srgbClr val="15203D"/>
                  </a:solidFill>
                  <a:latin typeface="Calibri" pitchFamily="34" charset="0"/>
                  <a:ea typeface="Calibri" pitchFamily="34" charset="-122"/>
                  <a:cs typeface="Calibri" pitchFamily="34" charset="-120"/>
                </a:rPr>
                <a:t>3 x IT and messaging administrators</a:t>
              </a:r>
              <a:endParaRPr lang="en-US" sz="880" dirty="0"/>
            </a:p>
            <a:p>
              <a:pPr marL="342900" indent="-342900">
                <a:lnSpc>
                  <a:spcPct val="105000"/>
                </a:lnSpc>
                <a:spcAft>
                  <a:spcPts val="600"/>
                </a:spcAft>
                <a:buSzPct val="100000"/>
                <a:buChar char="▪"/>
              </a:pPr>
              <a:r>
                <a:rPr lang="en-US" sz="880" dirty="0">
                  <a:solidFill>
                    <a:srgbClr val="15203D"/>
                  </a:solidFill>
                  <a:latin typeface="Calibri" pitchFamily="34" charset="0"/>
                  <a:ea typeface="Calibri" pitchFamily="34" charset="-122"/>
                  <a:cs typeface="Calibri" pitchFamily="34" charset="-120"/>
                </a:rPr>
                <a:t>2 x heaviest mailboxes in the tenant (archive and hold enabled)</a:t>
              </a:r>
              <a:endParaRPr lang="en-US" sz="880" dirty="0"/>
            </a:p>
            <a:p>
              <a:pPr marL="342900" indent="-342900">
                <a:lnSpc>
                  <a:spcPct val="105000"/>
                </a:lnSpc>
                <a:spcAft>
                  <a:spcPts val="600"/>
                </a:spcAft>
                <a:buSzPct val="100000"/>
                <a:buChar char="▪"/>
              </a:pPr>
              <a:r>
                <a:rPr lang="en-US" sz="880" dirty="0">
                  <a:solidFill>
                    <a:srgbClr val="15203D"/>
                  </a:solidFill>
                  <a:latin typeface="Calibri" pitchFamily="34" charset="0"/>
                  <a:ea typeface="Calibri" pitchFamily="34" charset="-122"/>
                  <a:cs typeface="Calibri" pitchFamily="34" charset="-120"/>
                </a:rPr>
                <a:t>2 x executive assistants with full delegate chains</a:t>
              </a:r>
              <a:endParaRPr lang="en-US" sz="880" dirty="0"/>
            </a:p>
            <a:p>
              <a:pPr marL="342900" indent="-342900">
                <a:lnSpc>
                  <a:spcPct val="105000"/>
                </a:lnSpc>
                <a:spcAft>
                  <a:spcPts val="600"/>
                </a:spcAft>
                <a:buSzPct val="100000"/>
                <a:buChar char="▪"/>
              </a:pPr>
              <a:r>
                <a:rPr lang="en-US" sz="880" dirty="0">
                  <a:solidFill>
                    <a:srgbClr val="15203D"/>
                  </a:solidFill>
                  <a:latin typeface="Calibri" pitchFamily="34" charset="0"/>
                  <a:ea typeface="Calibri" pitchFamily="34" charset="-122"/>
                  <a:cs typeface="Calibri" pitchFamily="34" charset="-120"/>
                </a:rPr>
                <a:t>2 x owners of shared mailboxes</a:t>
              </a:r>
              <a:endParaRPr lang="en-US" sz="880" dirty="0"/>
            </a:p>
            <a:p>
              <a:pPr marL="342900" indent="-342900">
                <a:lnSpc>
                  <a:spcPct val="105000"/>
                </a:lnSpc>
                <a:spcAft>
                  <a:spcPts val="600"/>
                </a:spcAft>
                <a:buSzPct val="100000"/>
                <a:buChar char="▪"/>
              </a:pPr>
              <a:r>
                <a:rPr lang="en-US" sz="880" dirty="0">
                  <a:solidFill>
                    <a:srgbClr val="15203D"/>
                  </a:solidFill>
                  <a:latin typeface="Calibri" pitchFamily="34" charset="0"/>
                  <a:ea typeface="Calibri" pitchFamily="34" charset="-122"/>
                  <a:cs typeface="Calibri" pitchFamily="34" charset="-120"/>
                </a:rPr>
                <a:t>2 x SharePoint site owners with external sharing</a:t>
              </a:r>
              <a:endParaRPr lang="en-US" sz="880" dirty="0"/>
            </a:p>
            <a:p>
              <a:pPr marL="342900" indent="-342900">
                <a:lnSpc>
                  <a:spcPct val="105000"/>
                </a:lnSpc>
                <a:spcAft>
                  <a:spcPts val="600"/>
                </a:spcAft>
                <a:buSzPct val="100000"/>
                <a:buChar char="▪"/>
              </a:pPr>
              <a:r>
                <a:rPr lang="en-US" sz="880" dirty="0">
                  <a:solidFill>
                    <a:srgbClr val="15203D"/>
                  </a:solidFill>
                  <a:latin typeface="Calibri" pitchFamily="34" charset="0"/>
                  <a:ea typeface="Calibri" pitchFamily="34" charset="-122"/>
                  <a:cs typeface="Calibri" pitchFamily="34" charset="-120"/>
                </a:rPr>
                <a:t>2 x heavy Teams channel users</a:t>
              </a:r>
              <a:endParaRPr lang="en-US" sz="880" dirty="0"/>
            </a:p>
            <a:p>
              <a:pPr marL="342900" indent="-342900">
                <a:lnSpc>
                  <a:spcPct val="105000"/>
                </a:lnSpc>
                <a:spcAft>
                  <a:spcPts val="600"/>
                </a:spcAft>
                <a:buSzPct val="100000"/>
                <a:buChar char="▪"/>
              </a:pPr>
              <a:r>
                <a:rPr lang="en-US" sz="880" dirty="0">
                  <a:solidFill>
                    <a:srgbClr val="15203D"/>
                  </a:solidFill>
                  <a:latin typeface="Calibri" pitchFamily="34" charset="0"/>
                  <a:ea typeface="Calibri" pitchFamily="34" charset="-122"/>
                  <a:cs typeface="Calibri" pitchFamily="34" charset="-120"/>
                </a:rPr>
                <a:t>2 x field users with large OST and PST</a:t>
              </a:r>
              <a:endParaRPr lang="en-US" sz="880" dirty="0"/>
            </a:p>
          </p:txBody>
        </p:sp>
        <p:sp>
          <p:nvSpPr>
            <p:cNvPr id="55" name="Text 7">
              <a:extLst>
                <a:ext uri="{FF2B5EF4-FFF2-40B4-BE49-F238E27FC236}">
                  <a16:creationId xmlns:a16="http://schemas.microsoft.com/office/drawing/2014/main" id="{0A39FE79-5820-71C1-BAB2-387402A564CC}"/>
                </a:ext>
              </a:extLst>
            </p:cNvPr>
            <p:cNvSpPr txBox="1"/>
            <p:nvPr/>
          </p:nvSpPr>
          <p:spPr>
            <a:xfrm>
              <a:off x="740664" y="4352544"/>
              <a:ext cx="2926080" cy="237744"/>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Deliberately excluded</a:t>
              </a:r>
              <a:endParaRPr lang="en-US" sz="1000" dirty="0"/>
            </a:p>
          </p:txBody>
        </p:sp>
        <p:sp>
          <p:nvSpPr>
            <p:cNvPr id="56" name="Text 8">
              <a:extLst>
                <a:ext uri="{FF2B5EF4-FFF2-40B4-BE49-F238E27FC236}">
                  <a16:creationId xmlns:a16="http://schemas.microsoft.com/office/drawing/2014/main" id="{26206F7E-2A47-5C97-0EEC-D187AF872F3A}"/>
                </a:ext>
              </a:extLst>
            </p:cNvPr>
            <p:cNvSpPr txBox="1"/>
            <p:nvPr/>
          </p:nvSpPr>
          <p:spPr>
            <a:xfrm>
              <a:off x="740664" y="4626864"/>
              <a:ext cx="2926080" cy="9144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80" dirty="0">
                  <a:solidFill>
                    <a:srgbClr val="15203D"/>
                  </a:solidFill>
                  <a:latin typeface="Calibri" pitchFamily="34" charset="0"/>
                  <a:ea typeface="Calibri" pitchFamily="34" charset="-122"/>
                  <a:cs typeface="Calibri" pitchFamily="34" charset="-120"/>
                </a:rPr>
                <a:t>Mailboxes under legal hold - handled on a legal-approved path</a:t>
              </a:r>
              <a:endParaRPr lang="en-US" sz="880" dirty="0"/>
            </a:p>
            <a:p>
              <a:pPr marL="342900" indent="-342900">
                <a:lnSpc>
                  <a:spcPct val="105000"/>
                </a:lnSpc>
                <a:spcAft>
                  <a:spcPts val="500"/>
                </a:spcAft>
                <a:buSzPct val="100000"/>
                <a:buChar char="▪"/>
              </a:pPr>
              <a:r>
                <a:rPr lang="en-US" sz="880" dirty="0">
                  <a:solidFill>
                    <a:srgbClr val="15203D"/>
                  </a:solidFill>
                  <a:latin typeface="Calibri" pitchFamily="34" charset="0"/>
                  <a:ea typeface="Calibri" pitchFamily="34" charset="-122"/>
                  <a:cs typeface="Calibri" pitchFamily="34" charset="-120"/>
                </a:rPr>
                <a:t>Anyone inside a live finance close or audit window</a:t>
              </a:r>
              <a:endParaRPr lang="en-US" sz="880" dirty="0"/>
            </a:p>
            <a:p>
              <a:pPr marL="342900" indent="-342900">
                <a:lnSpc>
                  <a:spcPct val="105000"/>
                </a:lnSpc>
                <a:spcAft>
                  <a:spcPts val="500"/>
                </a:spcAft>
                <a:buSzPct val="100000"/>
                <a:buChar char="▪"/>
              </a:pPr>
              <a:r>
                <a:rPr lang="en-US" sz="880" dirty="0">
                  <a:solidFill>
                    <a:srgbClr val="15203D"/>
                  </a:solidFill>
                  <a:latin typeface="Calibri" pitchFamily="34" charset="0"/>
                  <a:ea typeface="Calibri" pitchFamily="34" charset="-122"/>
                  <a:cs typeface="Calibri" pitchFamily="34" charset="-120"/>
                </a:rPr>
                <a:t>Users already scheduled to leave the organisation</a:t>
              </a:r>
              <a:endParaRPr lang="en-US" sz="880" dirty="0"/>
            </a:p>
          </p:txBody>
        </p:sp>
        <p:sp>
          <p:nvSpPr>
            <p:cNvPr id="57" name="Text 9">
              <a:extLst>
                <a:ext uri="{FF2B5EF4-FFF2-40B4-BE49-F238E27FC236}">
                  <a16:creationId xmlns:a16="http://schemas.microsoft.com/office/drawing/2014/main" id="{38FF9194-0D63-D12A-1363-AA9B5C21A582}"/>
                </a:ext>
              </a:extLst>
            </p:cNvPr>
            <p:cNvSpPr txBox="1"/>
            <p:nvPr/>
          </p:nvSpPr>
          <p:spPr>
            <a:xfrm>
              <a:off x="740664" y="5596128"/>
              <a:ext cx="2926080" cy="548640"/>
            </a:xfrm>
            <a:prstGeom prst="rect">
              <a:avLst/>
            </a:prstGeom>
            <a:noFill/>
            <a:ln/>
          </p:spPr>
          <p:txBody>
            <a:bodyPr wrap="square" lIns="0" tIns="0" rIns="0" bIns="0" rtlCol="0" anchor="t"/>
            <a:lstStyle/>
            <a:p>
              <a:pPr marL="0" indent="0" algn="l">
                <a:lnSpc>
                  <a:spcPct val="112000"/>
                </a:lnSpc>
                <a:buNone/>
              </a:pPr>
              <a:r>
                <a:rPr lang="en-US" sz="950" i="1" dirty="0">
                  <a:solidFill>
                    <a:srgbClr val="0053EB"/>
                  </a:solidFill>
                  <a:latin typeface="Calibri" pitchFamily="34" charset="0"/>
                  <a:ea typeface="Calibri" pitchFamily="34" charset="-122"/>
                  <a:cs typeface="Calibri" pitchFamily="34" charset="-120"/>
                </a:rPr>
                <a:t>We test the edges, not the median. A POC of ordinary users proves nothing.</a:t>
              </a:r>
              <a:endParaRPr lang="en-US" sz="950" dirty="0"/>
            </a:p>
          </p:txBody>
        </p:sp>
        <p:sp>
          <p:nvSpPr>
            <p:cNvPr id="58" name="Shape 10">
              <a:extLst>
                <a:ext uri="{FF2B5EF4-FFF2-40B4-BE49-F238E27FC236}">
                  <a16:creationId xmlns:a16="http://schemas.microsoft.com/office/drawing/2014/main" id="{9698786C-24F4-7CFE-74AF-748416F96FC0}"/>
                </a:ext>
              </a:extLst>
            </p:cNvPr>
            <p:cNvSpPr/>
            <p:nvPr/>
          </p:nvSpPr>
          <p:spPr>
            <a:xfrm>
              <a:off x="4105656" y="1298448"/>
              <a:ext cx="7232904" cy="4937760"/>
            </a:xfrm>
            <a:prstGeom prst="roundRect">
              <a:avLst>
                <a:gd name="adj" fmla="val 926"/>
              </a:avLst>
            </a:prstGeom>
            <a:solidFill>
              <a:srgbClr val="FFFFFF"/>
            </a:solidFill>
            <a:ln w="12700">
              <a:solidFill>
                <a:srgbClr val="FFFFFF"/>
              </a:solidFill>
              <a:prstDash val="solid"/>
            </a:ln>
            <a:effectLst>
              <a:outerShdw blurRad="88900" dist="12700" dir="5400000" algn="bl" rotWithShape="0">
                <a:srgbClr val="000000">
                  <a:alpha val="7000"/>
                </a:srgbClr>
              </a:outerShdw>
            </a:effectLst>
          </p:spPr>
          <p:txBody>
            <a:bodyPr/>
            <a:lstStyle/>
            <a:p>
              <a:endParaRPr lang="en-IN"/>
            </a:p>
          </p:txBody>
        </p:sp>
        <p:sp>
          <p:nvSpPr>
            <p:cNvPr id="59" name="Text 11">
              <a:extLst>
                <a:ext uri="{FF2B5EF4-FFF2-40B4-BE49-F238E27FC236}">
                  <a16:creationId xmlns:a16="http://schemas.microsoft.com/office/drawing/2014/main" id="{70113BCF-8112-8167-BED3-6463D8C38931}"/>
                </a:ext>
              </a:extLst>
            </p:cNvPr>
            <p:cNvSpPr txBox="1"/>
            <p:nvPr/>
          </p:nvSpPr>
          <p:spPr>
            <a:xfrm>
              <a:off x="4343400" y="1426464"/>
              <a:ext cx="6766560" cy="274320"/>
            </a:xfrm>
            <a:prstGeom prst="rect">
              <a:avLst/>
            </a:prstGeom>
            <a:noFill/>
            <a:ln/>
          </p:spPr>
          <p:txBody>
            <a:bodyPr wrap="square" lIns="0" tIns="0" rIns="0" bIns="0" rtlCol="0" anchor="t"/>
            <a:lstStyle/>
            <a:p>
              <a:pPr marL="0" indent="0" algn="l">
                <a:lnSpc>
                  <a:spcPct val="112000"/>
                </a:lnSpc>
                <a:buNone/>
              </a:pPr>
              <a:r>
                <a:rPr lang="en-US" sz="1250" b="1" dirty="0">
                  <a:solidFill>
                    <a:srgbClr val="001D5F"/>
                  </a:solidFill>
                  <a:latin typeface="Calibri" pitchFamily="34" charset="0"/>
                  <a:ea typeface="Calibri" pitchFamily="34" charset="-122"/>
                  <a:cs typeface="Calibri" pitchFamily="34" charset="-120"/>
                </a:rPr>
                <a:t>Exit criteria - all must be evidenced, in writing</a:t>
              </a:r>
              <a:endParaRPr lang="en-US" sz="1250" dirty="0"/>
            </a:p>
          </p:txBody>
        </p:sp>
        <p:sp>
          <p:nvSpPr>
            <p:cNvPr id="60" name="Shape 12">
              <a:extLst>
                <a:ext uri="{FF2B5EF4-FFF2-40B4-BE49-F238E27FC236}">
                  <a16:creationId xmlns:a16="http://schemas.microsoft.com/office/drawing/2014/main" id="{91D22543-FB7D-2503-1E56-91A7EFEB6365}"/>
                </a:ext>
              </a:extLst>
            </p:cNvPr>
            <p:cNvSpPr/>
            <p:nvPr/>
          </p:nvSpPr>
          <p:spPr>
            <a:xfrm>
              <a:off x="4343400" y="1828800"/>
              <a:ext cx="265176" cy="265176"/>
            </a:xfrm>
            <a:prstGeom prst="ellipse">
              <a:avLst/>
            </a:prstGeom>
            <a:solidFill>
              <a:srgbClr val="0053EB"/>
            </a:solidFill>
            <a:ln w="12700">
              <a:solidFill>
                <a:srgbClr val="0053EB"/>
              </a:solidFill>
              <a:prstDash val="solid"/>
            </a:ln>
          </p:spPr>
          <p:txBody>
            <a:bodyPr/>
            <a:lstStyle/>
            <a:p>
              <a:endParaRPr lang="en-IN"/>
            </a:p>
          </p:txBody>
        </p:sp>
        <p:sp>
          <p:nvSpPr>
            <p:cNvPr id="61" name="Text 13">
              <a:extLst>
                <a:ext uri="{FF2B5EF4-FFF2-40B4-BE49-F238E27FC236}">
                  <a16:creationId xmlns:a16="http://schemas.microsoft.com/office/drawing/2014/main" id="{7042FA95-15CD-AB20-1F96-E7169CC091C2}"/>
                </a:ext>
              </a:extLst>
            </p:cNvPr>
            <p:cNvSpPr txBox="1"/>
            <p:nvPr/>
          </p:nvSpPr>
          <p:spPr>
            <a:xfrm>
              <a:off x="4343400" y="1828800"/>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62" name="Text 14">
              <a:extLst>
                <a:ext uri="{FF2B5EF4-FFF2-40B4-BE49-F238E27FC236}">
                  <a16:creationId xmlns:a16="http://schemas.microsoft.com/office/drawing/2014/main" id="{51023EF8-130A-3F1E-1638-C0555188ED01}"/>
                </a:ext>
              </a:extLst>
            </p:cNvPr>
            <p:cNvSpPr txBox="1"/>
            <p:nvPr/>
          </p:nvSpPr>
          <p:spPr>
            <a:xfrm>
              <a:off x="4727448" y="1810512"/>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Fidelity</a:t>
              </a:r>
              <a:endParaRPr lang="en-US" sz="1050" dirty="0"/>
            </a:p>
          </p:txBody>
        </p:sp>
        <p:sp>
          <p:nvSpPr>
            <p:cNvPr id="63" name="Text 15">
              <a:extLst>
                <a:ext uri="{FF2B5EF4-FFF2-40B4-BE49-F238E27FC236}">
                  <a16:creationId xmlns:a16="http://schemas.microsoft.com/office/drawing/2014/main" id="{127711D7-6B57-70A3-C92D-59566FFD3C20}"/>
                </a:ext>
              </a:extLst>
            </p:cNvPr>
            <p:cNvSpPr txBox="1"/>
            <p:nvPr/>
          </p:nvSpPr>
          <p:spPr>
            <a:xfrm>
              <a:off x="5989320" y="1810512"/>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Item-level reconciliation for every cohort mailbox and drive, with variance explained line by line - not summarised as a percentage.</a:t>
              </a:r>
              <a:endParaRPr lang="en-US" sz="870" dirty="0"/>
            </a:p>
          </p:txBody>
        </p:sp>
        <p:sp>
          <p:nvSpPr>
            <p:cNvPr id="64" name="Shape 16">
              <a:extLst>
                <a:ext uri="{FF2B5EF4-FFF2-40B4-BE49-F238E27FC236}">
                  <a16:creationId xmlns:a16="http://schemas.microsoft.com/office/drawing/2014/main" id="{3811041C-808B-0EAD-0843-691408CEC57D}"/>
                </a:ext>
              </a:extLst>
            </p:cNvPr>
            <p:cNvSpPr/>
            <p:nvPr/>
          </p:nvSpPr>
          <p:spPr>
            <a:xfrm>
              <a:off x="4343400" y="2382012"/>
              <a:ext cx="265176" cy="265176"/>
            </a:xfrm>
            <a:prstGeom prst="ellipse">
              <a:avLst/>
            </a:prstGeom>
            <a:solidFill>
              <a:srgbClr val="0053EB"/>
            </a:solidFill>
            <a:ln w="12700">
              <a:solidFill>
                <a:srgbClr val="0053EB"/>
              </a:solidFill>
              <a:prstDash val="solid"/>
            </a:ln>
          </p:spPr>
          <p:txBody>
            <a:bodyPr/>
            <a:lstStyle/>
            <a:p>
              <a:endParaRPr lang="en-IN"/>
            </a:p>
          </p:txBody>
        </p:sp>
        <p:sp>
          <p:nvSpPr>
            <p:cNvPr id="65" name="Text 17">
              <a:extLst>
                <a:ext uri="{FF2B5EF4-FFF2-40B4-BE49-F238E27FC236}">
                  <a16:creationId xmlns:a16="http://schemas.microsoft.com/office/drawing/2014/main" id="{D3EC730E-C686-E054-20E3-3D04896DC129}"/>
                </a:ext>
              </a:extLst>
            </p:cNvPr>
            <p:cNvSpPr txBox="1"/>
            <p:nvPr/>
          </p:nvSpPr>
          <p:spPr>
            <a:xfrm>
              <a:off x="4343400" y="2382012"/>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66" name="Text 18">
              <a:extLst>
                <a:ext uri="{FF2B5EF4-FFF2-40B4-BE49-F238E27FC236}">
                  <a16:creationId xmlns:a16="http://schemas.microsoft.com/office/drawing/2014/main" id="{AB5308EC-7281-E3E7-652B-115A44299614}"/>
                </a:ext>
              </a:extLst>
            </p:cNvPr>
            <p:cNvSpPr txBox="1"/>
            <p:nvPr/>
          </p:nvSpPr>
          <p:spPr>
            <a:xfrm>
              <a:off x="4727448" y="2363724"/>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Throughput</a:t>
              </a:r>
              <a:endParaRPr lang="en-US" sz="1050" dirty="0"/>
            </a:p>
          </p:txBody>
        </p:sp>
        <p:sp>
          <p:nvSpPr>
            <p:cNvPr id="67" name="Text 19">
              <a:extLst>
                <a:ext uri="{FF2B5EF4-FFF2-40B4-BE49-F238E27FC236}">
                  <a16:creationId xmlns:a16="http://schemas.microsoft.com/office/drawing/2014/main" id="{7178DD33-D86D-6979-E3FC-31BD0ADBFC02}"/>
                </a:ext>
              </a:extLst>
            </p:cNvPr>
            <p:cNvSpPr txBox="1"/>
            <p:nvPr/>
          </p:nvSpPr>
          <p:spPr>
            <a:xfrm>
              <a:off x="5989320" y="2363724"/>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Measured GB/hour per concurrent job under real tenant throttling, extrapolated to a defensible wave duration for 700 users.</a:t>
              </a:r>
              <a:endParaRPr lang="en-US" sz="870" dirty="0"/>
            </a:p>
          </p:txBody>
        </p:sp>
        <p:sp>
          <p:nvSpPr>
            <p:cNvPr id="68" name="Shape 20">
              <a:extLst>
                <a:ext uri="{FF2B5EF4-FFF2-40B4-BE49-F238E27FC236}">
                  <a16:creationId xmlns:a16="http://schemas.microsoft.com/office/drawing/2014/main" id="{1EE1AB19-65D6-9A89-5E36-B3ECB0A9C3B9}"/>
                </a:ext>
              </a:extLst>
            </p:cNvPr>
            <p:cNvSpPr/>
            <p:nvPr/>
          </p:nvSpPr>
          <p:spPr>
            <a:xfrm>
              <a:off x="4343400" y="2935224"/>
              <a:ext cx="265176" cy="265176"/>
            </a:xfrm>
            <a:prstGeom prst="ellipse">
              <a:avLst/>
            </a:prstGeom>
            <a:solidFill>
              <a:srgbClr val="0053EB"/>
            </a:solidFill>
            <a:ln w="12700">
              <a:solidFill>
                <a:srgbClr val="0053EB"/>
              </a:solidFill>
              <a:prstDash val="solid"/>
            </a:ln>
          </p:spPr>
          <p:txBody>
            <a:bodyPr/>
            <a:lstStyle/>
            <a:p>
              <a:endParaRPr lang="en-IN"/>
            </a:p>
          </p:txBody>
        </p:sp>
        <p:sp>
          <p:nvSpPr>
            <p:cNvPr id="69" name="Text 21">
              <a:extLst>
                <a:ext uri="{FF2B5EF4-FFF2-40B4-BE49-F238E27FC236}">
                  <a16:creationId xmlns:a16="http://schemas.microsoft.com/office/drawing/2014/main" id="{B57B4190-A60C-86AF-B2AA-37814AAA66CE}"/>
                </a:ext>
              </a:extLst>
            </p:cNvPr>
            <p:cNvSpPr txBox="1"/>
            <p:nvPr/>
          </p:nvSpPr>
          <p:spPr>
            <a:xfrm>
              <a:off x="4343400" y="2935224"/>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70" name="Text 22">
              <a:extLst>
                <a:ext uri="{FF2B5EF4-FFF2-40B4-BE49-F238E27FC236}">
                  <a16:creationId xmlns:a16="http://schemas.microsoft.com/office/drawing/2014/main" id="{B26EC53E-3B26-5589-D434-D0567B4E8CB1}"/>
                </a:ext>
              </a:extLst>
            </p:cNvPr>
            <p:cNvSpPr txBox="1"/>
            <p:nvPr/>
          </p:nvSpPr>
          <p:spPr>
            <a:xfrm>
              <a:off x="4727448" y="2916936"/>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Reply-ability</a:t>
              </a:r>
              <a:endParaRPr lang="en-US" sz="1050" dirty="0"/>
            </a:p>
          </p:txBody>
        </p:sp>
        <p:sp>
          <p:nvSpPr>
            <p:cNvPr id="71" name="Text 23">
              <a:extLst>
                <a:ext uri="{FF2B5EF4-FFF2-40B4-BE49-F238E27FC236}">
                  <a16:creationId xmlns:a16="http://schemas.microsoft.com/office/drawing/2014/main" id="{B5378DFF-95BF-B6F8-AC24-C8741A85805E}"/>
                </a:ext>
              </a:extLst>
            </p:cNvPr>
            <p:cNvSpPr txBox="1"/>
            <p:nvPr/>
          </p:nvSpPr>
          <p:spPr>
            <a:xfrm>
              <a:off x="5989320" y="2916936"/>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Migrated mail can be replied to. X500 / legacyExchangeDN addresses resolve and internal reply chains do not bounce.</a:t>
              </a:r>
              <a:endParaRPr lang="en-US" sz="870" dirty="0"/>
            </a:p>
          </p:txBody>
        </p:sp>
        <p:sp>
          <p:nvSpPr>
            <p:cNvPr id="72" name="Shape 24">
              <a:extLst>
                <a:ext uri="{FF2B5EF4-FFF2-40B4-BE49-F238E27FC236}">
                  <a16:creationId xmlns:a16="http://schemas.microsoft.com/office/drawing/2014/main" id="{75D20EEE-C021-5842-9C43-8E05BCFE1E3E}"/>
                </a:ext>
              </a:extLst>
            </p:cNvPr>
            <p:cNvSpPr/>
            <p:nvPr/>
          </p:nvSpPr>
          <p:spPr>
            <a:xfrm>
              <a:off x="4343400" y="3488436"/>
              <a:ext cx="265176" cy="265176"/>
            </a:xfrm>
            <a:prstGeom prst="ellipse">
              <a:avLst/>
            </a:prstGeom>
            <a:solidFill>
              <a:srgbClr val="0053EB"/>
            </a:solidFill>
            <a:ln w="12700">
              <a:solidFill>
                <a:srgbClr val="0053EB"/>
              </a:solidFill>
              <a:prstDash val="solid"/>
            </a:ln>
          </p:spPr>
          <p:txBody>
            <a:bodyPr/>
            <a:lstStyle/>
            <a:p>
              <a:endParaRPr lang="en-IN"/>
            </a:p>
          </p:txBody>
        </p:sp>
        <p:sp>
          <p:nvSpPr>
            <p:cNvPr id="73" name="Text 25">
              <a:extLst>
                <a:ext uri="{FF2B5EF4-FFF2-40B4-BE49-F238E27FC236}">
                  <a16:creationId xmlns:a16="http://schemas.microsoft.com/office/drawing/2014/main" id="{B8E1847A-A417-D6F4-219D-5C227E6C8DC3}"/>
                </a:ext>
              </a:extLst>
            </p:cNvPr>
            <p:cNvSpPr txBox="1"/>
            <p:nvPr/>
          </p:nvSpPr>
          <p:spPr>
            <a:xfrm>
              <a:off x="4343400" y="3488436"/>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74" name="Text 26">
              <a:extLst>
                <a:ext uri="{FF2B5EF4-FFF2-40B4-BE49-F238E27FC236}">
                  <a16:creationId xmlns:a16="http://schemas.microsoft.com/office/drawing/2014/main" id="{204AD4F0-7B2D-1083-8348-9DA1B386BE00}"/>
                </a:ext>
              </a:extLst>
            </p:cNvPr>
            <p:cNvSpPr txBox="1"/>
            <p:nvPr/>
          </p:nvSpPr>
          <p:spPr>
            <a:xfrm>
              <a:off x="4727448" y="3470148"/>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Authentication</a:t>
              </a:r>
              <a:endParaRPr lang="en-US" sz="1050" dirty="0"/>
            </a:p>
          </p:txBody>
        </p:sp>
        <p:sp>
          <p:nvSpPr>
            <p:cNvPr id="75" name="Text 27">
              <a:extLst>
                <a:ext uri="{FF2B5EF4-FFF2-40B4-BE49-F238E27FC236}">
                  <a16:creationId xmlns:a16="http://schemas.microsoft.com/office/drawing/2014/main" id="{D118FB18-F699-1BF3-DB4C-3AACC890BA7A}"/>
                </a:ext>
              </a:extLst>
            </p:cNvPr>
            <p:cNvSpPr txBox="1"/>
            <p:nvPr/>
          </p:nvSpPr>
          <p:spPr>
            <a:xfrm>
              <a:off x="5989320" y="3470148"/>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Federated sign-on works on every client; relay devices and Graph/EWS integrations send successfully against Workspace.</a:t>
              </a:r>
              <a:endParaRPr lang="en-US" sz="870" dirty="0"/>
            </a:p>
          </p:txBody>
        </p:sp>
        <p:sp>
          <p:nvSpPr>
            <p:cNvPr id="76" name="Shape 28">
              <a:extLst>
                <a:ext uri="{FF2B5EF4-FFF2-40B4-BE49-F238E27FC236}">
                  <a16:creationId xmlns:a16="http://schemas.microsoft.com/office/drawing/2014/main" id="{02D04452-3C18-5516-2671-2224CD700943}"/>
                </a:ext>
              </a:extLst>
            </p:cNvPr>
            <p:cNvSpPr/>
            <p:nvPr/>
          </p:nvSpPr>
          <p:spPr>
            <a:xfrm>
              <a:off x="4343400" y="4041648"/>
              <a:ext cx="265176" cy="265176"/>
            </a:xfrm>
            <a:prstGeom prst="ellipse">
              <a:avLst/>
            </a:prstGeom>
            <a:solidFill>
              <a:srgbClr val="0053EB"/>
            </a:solidFill>
            <a:ln w="12700">
              <a:solidFill>
                <a:srgbClr val="0053EB"/>
              </a:solidFill>
              <a:prstDash val="solid"/>
            </a:ln>
          </p:spPr>
          <p:txBody>
            <a:bodyPr/>
            <a:lstStyle/>
            <a:p>
              <a:endParaRPr lang="en-IN"/>
            </a:p>
          </p:txBody>
        </p:sp>
        <p:sp>
          <p:nvSpPr>
            <p:cNvPr id="77" name="Text 29">
              <a:extLst>
                <a:ext uri="{FF2B5EF4-FFF2-40B4-BE49-F238E27FC236}">
                  <a16:creationId xmlns:a16="http://schemas.microsoft.com/office/drawing/2014/main" id="{7851FC85-CDD8-F542-9D78-0835D31B6F0E}"/>
                </a:ext>
              </a:extLst>
            </p:cNvPr>
            <p:cNvSpPr txBox="1"/>
            <p:nvPr/>
          </p:nvSpPr>
          <p:spPr>
            <a:xfrm>
              <a:off x="4343400" y="4041648"/>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78" name="Text 30">
              <a:extLst>
                <a:ext uri="{FF2B5EF4-FFF2-40B4-BE49-F238E27FC236}">
                  <a16:creationId xmlns:a16="http://schemas.microsoft.com/office/drawing/2014/main" id="{A8802895-44BE-A930-E486-63D8E63BFC3E}"/>
                </a:ext>
              </a:extLst>
            </p:cNvPr>
            <p:cNvSpPr txBox="1"/>
            <p:nvPr/>
          </p:nvSpPr>
          <p:spPr>
            <a:xfrm>
              <a:off x="4727448" y="4023360"/>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Delegation</a:t>
              </a:r>
              <a:endParaRPr lang="en-US" sz="1050" dirty="0"/>
            </a:p>
          </p:txBody>
        </p:sp>
        <p:sp>
          <p:nvSpPr>
            <p:cNvPr id="79" name="Text 31">
              <a:extLst>
                <a:ext uri="{FF2B5EF4-FFF2-40B4-BE49-F238E27FC236}">
                  <a16:creationId xmlns:a16="http://schemas.microsoft.com/office/drawing/2014/main" id="{BBA01A91-8ED6-17A5-C5A3-30735A2B8A8F}"/>
                </a:ext>
              </a:extLst>
            </p:cNvPr>
            <p:cNvSpPr txBox="1"/>
            <p:nvPr/>
          </p:nvSpPr>
          <p:spPr>
            <a:xfrm>
              <a:off x="5989320" y="4023360"/>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Delegate, shared mailbox and calendar permission models reproduced and tested by the actual assistants, not by the project team.</a:t>
              </a:r>
              <a:endParaRPr lang="en-US" sz="870" dirty="0"/>
            </a:p>
          </p:txBody>
        </p:sp>
        <p:sp>
          <p:nvSpPr>
            <p:cNvPr id="80" name="Shape 32">
              <a:extLst>
                <a:ext uri="{FF2B5EF4-FFF2-40B4-BE49-F238E27FC236}">
                  <a16:creationId xmlns:a16="http://schemas.microsoft.com/office/drawing/2014/main" id="{1B1A6820-3D84-B72E-89BA-4DACF544EBF7}"/>
                </a:ext>
              </a:extLst>
            </p:cNvPr>
            <p:cNvSpPr/>
            <p:nvPr/>
          </p:nvSpPr>
          <p:spPr>
            <a:xfrm>
              <a:off x="4343400" y="4594860"/>
              <a:ext cx="265176" cy="265176"/>
            </a:xfrm>
            <a:prstGeom prst="ellipse">
              <a:avLst/>
            </a:prstGeom>
            <a:solidFill>
              <a:srgbClr val="0053EB"/>
            </a:solidFill>
            <a:ln w="12700">
              <a:solidFill>
                <a:srgbClr val="0053EB"/>
              </a:solidFill>
              <a:prstDash val="solid"/>
            </a:ln>
          </p:spPr>
          <p:txBody>
            <a:bodyPr/>
            <a:lstStyle/>
            <a:p>
              <a:endParaRPr lang="en-IN"/>
            </a:p>
          </p:txBody>
        </p:sp>
        <p:sp>
          <p:nvSpPr>
            <p:cNvPr id="81" name="Text 33">
              <a:extLst>
                <a:ext uri="{FF2B5EF4-FFF2-40B4-BE49-F238E27FC236}">
                  <a16:creationId xmlns:a16="http://schemas.microsoft.com/office/drawing/2014/main" id="{54C45C5E-4CA1-C9D4-4F06-756278438BAE}"/>
                </a:ext>
              </a:extLst>
            </p:cNvPr>
            <p:cNvSpPr txBox="1"/>
            <p:nvPr/>
          </p:nvSpPr>
          <p:spPr>
            <a:xfrm>
              <a:off x="4343400" y="4594860"/>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82" name="Text 34">
              <a:extLst>
                <a:ext uri="{FF2B5EF4-FFF2-40B4-BE49-F238E27FC236}">
                  <a16:creationId xmlns:a16="http://schemas.microsoft.com/office/drawing/2014/main" id="{46F90B3B-7E5E-BB2F-F439-D32C6BBFF299}"/>
                </a:ext>
              </a:extLst>
            </p:cNvPr>
            <p:cNvSpPr txBox="1"/>
            <p:nvPr/>
          </p:nvSpPr>
          <p:spPr>
            <a:xfrm>
              <a:off x="4727448" y="4576572"/>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Coexistence</a:t>
              </a:r>
              <a:endParaRPr lang="en-US" sz="1050" dirty="0"/>
            </a:p>
          </p:txBody>
        </p:sp>
        <p:sp>
          <p:nvSpPr>
            <p:cNvPr id="83" name="Text 35">
              <a:extLst>
                <a:ext uri="{FF2B5EF4-FFF2-40B4-BE49-F238E27FC236}">
                  <a16:creationId xmlns:a16="http://schemas.microsoft.com/office/drawing/2014/main" id="{2C77E418-75D2-520B-470D-4D73C6E3EB1A}"/>
                </a:ext>
              </a:extLst>
            </p:cNvPr>
            <p:cNvSpPr txBox="1"/>
            <p:nvPr/>
          </p:nvSpPr>
          <p:spPr>
            <a:xfrm>
              <a:off x="5989320" y="4576572"/>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Free/busy resolves both directions; mail routes correctly for migrated and un-migrated users simultaneously.</a:t>
              </a:r>
              <a:endParaRPr lang="en-US" sz="870" dirty="0"/>
            </a:p>
          </p:txBody>
        </p:sp>
        <p:sp>
          <p:nvSpPr>
            <p:cNvPr id="84" name="Shape 36">
              <a:extLst>
                <a:ext uri="{FF2B5EF4-FFF2-40B4-BE49-F238E27FC236}">
                  <a16:creationId xmlns:a16="http://schemas.microsoft.com/office/drawing/2014/main" id="{A2E3F66B-A392-742E-535D-A66DE52ED093}"/>
                </a:ext>
              </a:extLst>
            </p:cNvPr>
            <p:cNvSpPr/>
            <p:nvPr/>
          </p:nvSpPr>
          <p:spPr>
            <a:xfrm>
              <a:off x="4343400" y="5148072"/>
              <a:ext cx="265176" cy="265176"/>
            </a:xfrm>
            <a:prstGeom prst="ellipse">
              <a:avLst/>
            </a:prstGeom>
            <a:solidFill>
              <a:srgbClr val="0053EB"/>
            </a:solidFill>
            <a:ln w="12700">
              <a:solidFill>
                <a:srgbClr val="0053EB"/>
              </a:solidFill>
              <a:prstDash val="solid"/>
            </a:ln>
          </p:spPr>
          <p:txBody>
            <a:bodyPr/>
            <a:lstStyle/>
            <a:p>
              <a:endParaRPr lang="en-IN"/>
            </a:p>
          </p:txBody>
        </p:sp>
        <p:sp>
          <p:nvSpPr>
            <p:cNvPr id="85" name="Text 37">
              <a:extLst>
                <a:ext uri="{FF2B5EF4-FFF2-40B4-BE49-F238E27FC236}">
                  <a16:creationId xmlns:a16="http://schemas.microsoft.com/office/drawing/2014/main" id="{83603595-2B23-0105-14B9-A76829DCEB26}"/>
                </a:ext>
              </a:extLst>
            </p:cNvPr>
            <p:cNvSpPr txBox="1"/>
            <p:nvPr/>
          </p:nvSpPr>
          <p:spPr>
            <a:xfrm>
              <a:off x="4343400" y="5148072"/>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86" name="Text 38">
              <a:extLst>
                <a:ext uri="{FF2B5EF4-FFF2-40B4-BE49-F238E27FC236}">
                  <a16:creationId xmlns:a16="http://schemas.microsoft.com/office/drawing/2014/main" id="{077F3EAD-0F42-4B9B-244D-F13F4742E7DF}"/>
                </a:ext>
              </a:extLst>
            </p:cNvPr>
            <p:cNvSpPr txBox="1"/>
            <p:nvPr/>
          </p:nvSpPr>
          <p:spPr>
            <a:xfrm>
              <a:off x="4727448" y="5129784"/>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Rollback</a:t>
              </a:r>
              <a:endParaRPr lang="en-US" sz="1050" dirty="0"/>
            </a:p>
          </p:txBody>
        </p:sp>
        <p:sp>
          <p:nvSpPr>
            <p:cNvPr id="87" name="Text 39">
              <a:extLst>
                <a:ext uri="{FF2B5EF4-FFF2-40B4-BE49-F238E27FC236}">
                  <a16:creationId xmlns:a16="http://schemas.microsoft.com/office/drawing/2014/main" id="{6A0DB543-0EC2-6DA2-49C8-198EAF0047DE}"/>
                </a:ext>
              </a:extLst>
            </p:cNvPr>
            <p:cNvSpPr txBox="1"/>
            <p:nvPr/>
          </p:nvSpPr>
          <p:spPr>
            <a:xfrm>
              <a:off x="5989320" y="5129784"/>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One cohort user is rolled back to Exchange end-to-end and confirmed working, with the elapsed time recorded.</a:t>
              </a:r>
              <a:endParaRPr lang="en-US" sz="870" dirty="0"/>
            </a:p>
          </p:txBody>
        </p:sp>
        <p:sp>
          <p:nvSpPr>
            <p:cNvPr id="88" name="Shape 40">
              <a:extLst>
                <a:ext uri="{FF2B5EF4-FFF2-40B4-BE49-F238E27FC236}">
                  <a16:creationId xmlns:a16="http://schemas.microsoft.com/office/drawing/2014/main" id="{E89A21BD-6C5E-FBCF-5410-A1CAFBA1BA6D}"/>
                </a:ext>
              </a:extLst>
            </p:cNvPr>
            <p:cNvSpPr/>
            <p:nvPr/>
          </p:nvSpPr>
          <p:spPr>
            <a:xfrm>
              <a:off x="4343400" y="5701284"/>
              <a:ext cx="265176" cy="265176"/>
            </a:xfrm>
            <a:prstGeom prst="ellipse">
              <a:avLst/>
            </a:prstGeom>
            <a:solidFill>
              <a:srgbClr val="0053EB"/>
            </a:solidFill>
            <a:ln w="12700">
              <a:solidFill>
                <a:srgbClr val="0053EB"/>
              </a:solidFill>
              <a:prstDash val="solid"/>
            </a:ln>
          </p:spPr>
          <p:txBody>
            <a:bodyPr/>
            <a:lstStyle/>
            <a:p>
              <a:endParaRPr lang="en-IN"/>
            </a:p>
          </p:txBody>
        </p:sp>
        <p:sp>
          <p:nvSpPr>
            <p:cNvPr id="89" name="Text 41">
              <a:extLst>
                <a:ext uri="{FF2B5EF4-FFF2-40B4-BE49-F238E27FC236}">
                  <a16:creationId xmlns:a16="http://schemas.microsoft.com/office/drawing/2014/main" id="{B9904574-FC7C-FE6E-BA44-3C95407F714E}"/>
                </a:ext>
              </a:extLst>
            </p:cNvPr>
            <p:cNvSpPr txBox="1"/>
            <p:nvPr/>
          </p:nvSpPr>
          <p:spPr>
            <a:xfrm>
              <a:off x="4343400" y="5701284"/>
              <a:ext cx="265176" cy="26517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90" name="Text 42">
              <a:extLst>
                <a:ext uri="{FF2B5EF4-FFF2-40B4-BE49-F238E27FC236}">
                  <a16:creationId xmlns:a16="http://schemas.microsoft.com/office/drawing/2014/main" id="{95E36604-2825-659F-C97A-7B2309376165}"/>
                </a:ext>
              </a:extLst>
            </p:cNvPr>
            <p:cNvSpPr txBox="1"/>
            <p:nvPr/>
          </p:nvSpPr>
          <p:spPr>
            <a:xfrm>
              <a:off x="4727448" y="5682996"/>
              <a:ext cx="132588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Limitations</a:t>
              </a:r>
              <a:endParaRPr lang="en-US" sz="1050" dirty="0"/>
            </a:p>
          </p:txBody>
        </p:sp>
        <p:sp>
          <p:nvSpPr>
            <p:cNvPr id="91" name="Text 43">
              <a:extLst>
                <a:ext uri="{FF2B5EF4-FFF2-40B4-BE49-F238E27FC236}">
                  <a16:creationId xmlns:a16="http://schemas.microsoft.com/office/drawing/2014/main" id="{614288D4-80DF-EB99-306E-C00C4EC83C19}"/>
                </a:ext>
              </a:extLst>
            </p:cNvPr>
            <p:cNvSpPr txBox="1"/>
            <p:nvPr/>
          </p:nvSpPr>
          <p:spPr>
            <a:xfrm>
              <a:off x="5989320" y="5682996"/>
              <a:ext cx="5120640" cy="502920"/>
            </a:xfrm>
            <a:prstGeom prst="rect">
              <a:avLst/>
            </a:prstGeom>
            <a:noFill/>
            <a:ln/>
          </p:spPr>
          <p:txBody>
            <a:bodyPr wrap="square" lIns="0" tIns="0" rIns="0" bIns="0" rtlCol="0" anchor="t"/>
            <a:lstStyle/>
            <a:p>
              <a:pPr marL="0" indent="0" algn="l">
                <a:lnSpc>
                  <a:spcPct val="105000"/>
                </a:lnSpc>
                <a:buNone/>
              </a:pPr>
              <a:r>
                <a:rPr lang="en-US" sz="870" dirty="0">
                  <a:solidFill>
                    <a:srgbClr val="5D6B8C"/>
                  </a:solidFill>
                  <a:latin typeface="Calibri" pitchFamily="34" charset="0"/>
                  <a:ea typeface="Calibri" pitchFamily="34" charset="-122"/>
                  <a:cs typeface="Calibri" pitchFamily="34" charset="-120"/>
                </a:rPr>
                <a:t>Signed schedule of everything that did not migrate, with the agreed disposition for each item.</a:t>
              </a:r>
              <a:endParaRPr lang="en-US" sz="87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POC EXECUTION</a:t>
            </a:r>
            <a:endParaRPr lang="en-US" sz="950" dirty="0"/>
          </a:p>
        </p:txBody>
      </p:sp>
      <p:sp>
        <p:nvSpPr>
          <p:cNvPr id="24" name="AutoShape 2">
            <a:extLst>
              <a:ext uri="{FF2B5EF4-FFF2-40B4-BE49-F238E27FC236}">
                <a16:creationId xmlns:a16="http://schemas.microsoft.com/office/drawing/2014/main" id="{5EADAE3A-5449-4A73-BCD0-852438C455CE}"/>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25" name="TextBox 7">
            <a:extLst>
              <a:ext uri="{FF2B5EF4-FFF2-40B4-BE49-F238E27FC236}">
                <a16:creationId xmlns:a16="http://schemas.microsoft.com/office/drawing/2014/main" id="{300A226C-C0AC-4A5D-AA46-845C1BF140E2}"/>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6" name="TextBox 9">
            <a:extLst>
              <a:ext uri="{FF2B5EF4-FFF2-40B4-BE49-F238E27FC236}">
                <a16:creationId xmlns:a16="http://schemas.microsoft.com/office/drawing/2014/main" id="{838DEA73-9690-4598-BBF8-B17A12FBB924}"/>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7" name="TextBox 26">
            <a:extLst>
              <a:ext uri="{FF2B5EF4-FFF2-40B4-BE49-F238E27FC236}">
                <a16:creationId xmlns:a16="http://schemas.microsoft.com/office/drawing/2014/main" id="{57A6DBEE-B59A-42F5-8C58-107CDD4067B2}"/>
              </a:ext>
            </a:extLst>
          </p:cNvPr>
          <p:cNvSpPr txBox="1"/>
          <p:nvPr/>
        </p:nvSpPr>
        <p:spPr>
          <a:xfrm>
            <a:off x="5911269" y="6533202"/>
            <a:ext cx="287258" cy="215444"/>
          </a:xfrm>
          <a:prstGeom prst="rect">
            <a:avLst/>
          </a:prstGeom>
          <a:noFill/>
        </p:spPr>
        <p:txBody>
          <a:bodyPr wrap="none" rtlCol="0">
            <a:spAutoFit/>
          </a:bodyPr>
          <a:lstStyle/>
          <a:p>
            <a:r>
              <a:rPr lang="en-US" sz="800" dirty="0"/>
              <a:t>14</a:t>
            </a:r>
          </a:p>
        </p:txBody>
      </p:sp>
      <p:sp>
        <p:nvSpPr>
          <p:cNvPr id="28" name="Text 2">
            <a:extLst>
              <a:ext uri="{FF2B5EF4-FFF2-40B4-BE49-F238E27FC236}">
                <a16:creationId xmlns:a16="http://schemas.microsoft.com/office/drawing/2014/main" id="{7805DC4C-3D2B-67F5-7311-D6E86F5779C2}"/>
              </a:ext>
            </a:extLst>
          </p:cNvPr>
          <p:cNvSpPr txBox="1"/>
          <p:nvPr/>
        </p:nvSpPr>
        <p:spPr>
          <a:xfrm>
            <a:off x="562590" y="660556"/>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Four to six weeks, in four stages, ending in one decision</a:t>
            </a:r>
            <a:endParaRPr lang="en-US" sz="2800" dirty="0"/>
          </a:p>
        </p:txBody>
      </p:sp>
      <p:sp>
        <p:nvSpPr>
          <p:cNvPr id="29" name="Text 3">
            <a:extLst>
              <a:ext uri="{FF2B5EF4-FFF2-40B4-BE49-F238E27FC236}">
                <a16:creationId xmlns:a16="http://schemas.microsoft.com/office/drawing/2014/main" id="{4C5A417A-2FBF-9679-455B-75C9A803EDA6}"/>
              </a:ext>
            </a:extLst>
          </p:cNvPr>
          <p:cNvSpPr txBox="1"/>
          <p:nvPr/>
        </p:nvSpPr>
        <p:spPr>
          <a:xfrm>
            <a:off x="562590" y="1559585"/>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Four weeks is the minimum that produces defensible numbers. Six is typical where federation, application re-pointing and relay re-configuration need a soak period before the gate.</a:t>
            </a:r>
            <a:endParaRPr lang="en-US" sz="1100" dirty="0"/>
          </a:p>
        </p:txBody>
      </p:sp>
      <p:sp>
        <p:nvSpPr>
          <p:cNvPr id="30" name="Shape 4">
            <a:extLst>
              <a:ext uri="{FF2B5EF4-FFF2-40B4-BE49-F238E27FC236}">
                <a16:creationId xmlns:a16="http://schemas.microsoft.com/office/drawing/2014/main" id="{9B1315F4-8DAF-EBAD-CFE1-6C97C8E8D536}"/>
              </a:ext>
            </a:extLst>
          </p:cNvPr>
          <p:cNvSpPr/>
          <p:nvPr/>
        </p:nvSpPr>
        <p:spPr>
          <a:xfrm>
            <a:off x="562590" y="1961921"/>
            <a:ext cx="2558034" cy="3154680"/>
          </a:xfrm>
          <a:prstGeom prst="roundRect">
            <a:avLst>
              <a:gd name="adj" fmla="val 1787"/>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1" name="Shape 5">
            <a:extLst>
              <a:ext uri="{FF2B5EF4-FFF2-40B4-BE49-F238E27FC236}">
                <a16:creationId xmlns:a16="http://schemas.microsoft.com/office/drawing/2014/main" id="{DBB82DBA-2E49-55DA-E40E-225998B30984}"/>
              </a:ext>
            </a:extLst>
          </p:cNvPr>
          <p:cNvSpPr/>
          <p:nvPr/>
        </p:nvSpPr>
        <p:spPr>
          <a:xfrm>
            <a:off x="782046" y="2144801"/>
            <a:ext cx="109728" cy="109728"/>
          </a:xfrm>
          <a:prstGeom prst="rect">
            <a:avLst/>
          </a:prstGeom>
          <a:solidFill>
            <a:srgbClr val="0053EB"/>
          </a:solidFill>
          <a:ln w="12700">
            <a:solidFill>
              <a:srgbClr val="0053EB"/>
            </a:solidFill>
            <a:prstDash val="solid"/>
          </a:ln>
        </p:spPr>
        <p:txBody>
          <a:bodyPr/>
          <a:lstStyle/>
          <a:p>
            <a:endParaRPr lang="en-IN"/>
          </a:p>
        </p:txBody>
      </p:sp>
      <p:sp>
        <p:nvSpPr>
          <p:cNvPr id="32" name="Text 6">
            <a:extLst>
              <a:ext uri="{FF2B5EF4-FFF2-40B4-BE49-F238E27FC236}">
                <a16:creationId xmlns:a16="http://schemas.microsoft.com/office/drawing/2014/main" id="{D431B15C-025D-6A96-CAEF-F787D639EA6F}"/>
              </a:ext>
            </a:extLst>
          </p:cNvPr>
          <p:cNvSpPr txBox="1"/>
          <p:nvPr/>
        </p:nvSpPr>
        <p:spPr>
          <a:xfrm>
            <a:off x="983214" y="2071649"/>
            <a:ext cx="1188720" cy="256032"/>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Stage 1</a:t>
            </a:r>
            <a:endParaRPr lang="en-US" sz="1150" dirty="0"/>
          </a:p>
        </p:txBody>
      </p:sp>
      <p:sp>
        <p:nvSpPr>
          <p:cNvPr id="33" name="Text 7">
            <a:extLst>
              <a:ext uri="{FF2B5EF4-FFF2-40B4-BE49-F238E27FC236}">
                <a16:creationId xmlns:a16="http://schemas.microsoft.com/office/drawing/2014/main" id="{23A694C6-BA01-345D-6A4B-CB057C594A7D}"/>
              </a:ext>
            </a:extLst>
          </p:cNvPr>
          <p:cNvSpPr txBox="1"/>
          <p:nvPr/>
        </p:nvSpPr>
        <p:spPr>
          <a:xfrm>
            <a:off x="2043918" y="2089937"/>
            <a:ext cx="1005840" cy="237744"/>
          </a:xfrm>
          <a:prstGeom prst="rect">
            <a:avLst/>
          </a:prstGeom>
          <a:noFill/>
          <a:ln/>
        </p:spPr>
        <p:txBody>
          <a:bodyPr wrap="square" lIns="0" tIns="0" rIns="0" bIns="0" rtlCol="0" anchor="t"/>
          <a:lstStyle/>
          <a:p>
            <a:pPr marL="0" indent="0" algn="r">
              <a:lnSpc>
                <a:spcPct val="112000"/>
              </a:lnSpc>
              <a:buNone/>
            </a:pPr>
            <a:r>
              <a:rPr lang="en-US" sz="860" b="1" dirty="0">
                <a:solidFill>
                  <a:srgbClr val="5D6B8C"/>
                </a:solidFill>
                <a:latin typeface="Calibri" pitchFamily="34" charset="0"/>
                <a:ea typeface="Calibri" pitchFamily="34" charset="-122"/>
                <a:cs typeface="Calibri" pitchFamily="34" charset="-120"/>
              </a:rPr>
              <a:t>Weeks 1-2</a:t>
            </a:r>
            <a:endParaRPr lang="en-US" sz="860" dirty="0"/>
          </a:p>
        </p:txBody>
      </p:sp>
      <p:sp>
        <p:nvSpPr>
          <p:cNvPr id="34" name="Text 8">
            <a:extLst>
              <a:ext uri="{FF2B5EF4-FFF2-40B4-BE49-F238E27FC236}">
                <a16:creationId xmlns:a16="http://schemas.microsoft.com/office/drawing/2014/main" id="{F0EBC7E8-2366-1763-4225-7B07FE132F6C}"/>
              </a:ext>
            </a:extLst>
          </p:cNvPr>
          <p:cNvSpPr txBox="1"/>
          <p:nvPr/>
        </p:nvSpPr>
        <p:spPr>
          <a:xfrm>
            <a:off x="782046" y="2382545"/>
            <a:ext cx="228600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53EB"/>
                </a:solidFill>
                <a:latin typeface="Calibri" pitchFamily="34" charset="0"/>
                <a:ea typeface="Calibri" pitchFamily="34" charset="-122"/>
                <a:cs typeface="Calibri" pitchFamily="34" charset="-120"/>
              </a:rPr>
              <a:t>Build &amp; connect</a:t>
            </a:r>
            <a:endParaRPr lang="en-US" sz="1050" dirty="0"/>
          </a:p>
        </p:txBody>
      </p:sp>
      <p:sp>
        <p:nvSpPr>
          <p:cNvPr id="35" name="Text 9">
            <a:extLst>
              <a:ext uri="{FF2B5EF4-FFF2-40B4-BE49-F238E27FC236}">
                <a16:creationId xmlns:a16="http://schemas.microsoft.com/office/drawing/2014/main" id="{7CCCF547-7645-9BC6-4CA4-2A20EA6A3EE2}"/>
              </a:ext>
            </a:extLst>
          </p:cNvPr>
          <p:cNvSpPr txBox="1"/>
          <p:nvPr/>
        </p:nvSpPr>
        <p:spPr>
          <a:xfrm>
            <a:off x="782046" y="2711729"/>
            <a:ext cx="2212848" cy="28346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Workspace tenant baseline: OUs, data region policy, Vault retention, sharing defaults</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Federation to Entra ID configured and tested; provisioning connector live for the cohort</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Azure app registration with least-privilege Graph scopes plus admin consent</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Application access policy scoping, so the migration app can only reach the cohort</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Google service account, domain-wide delegation, dedicated API quota project</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Baseline extraction: item counts, sizes, ACLs, delegation map, relay source list</a:t>
            </a:r>
            <a:endParaRPr lang="en-US" sz="800" dirty="0"/>
          </a:p>
        </p:txBody>
      </p:sp>
      <p:sp>
        <p:nvSpPr>
          <p:cNvPr id="36" name="Shape 10">
            <a:extLst>
              <a:ext uri="{FF2B5EF4-FFF2-40B4-BE49-F238E27FC236}">
                <a16:creationId xmlns:a16="http://schemas.microsoft.com/office/drawing/2014/main" id="{42C481B5-1993-B49A-FB40-14EDD65C9ED9}"/>
              </a:ext>
            </a:extLst>
          </p:cNvPr>
          <p:cNvSpPr/>
          <p:nvPr/>
        </p:nvSpPr>
        <p:spPr>
          <a:xfrm>
            <a:off x="3321792" y="1961921"/>
            <a:ext cx="2558034" cy="3154680"/>
          </a:xfrm>
          <a:prstGeom prst="roundRect">
            <a:avLst>
              <a:gd name="adj" fmla="val 1787"/>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7" name="Shape 11">
            <a:extLst>
              <a:ext uri="{FF2B5EF4-FFF2-40B4-BE49-F238E27FC236}">
                <a16:creationId xmlns:a16="http://schemas.microsoft.com/office/drawing/2014/main" id="{04F426EB-AAEA-4D69-DE4D-4C9C7215C71F}"/>
              </a:ext>
            </a:extLst>
          </p:cNvPr>
          <p:cNvSpPr/>
          <p:nvPr/>
        </p:nvSpPr>
        <p:spPr>
          <a:xfrm>
            <a:off x="3541248" y="2144801"/>
            <a:ext cx="109728" cy="109728"/>
          </a:xfrm>
          <a:prstGeom prst="rect">
            <a:avLst/>
          </a:prstGeom>
          <a:solidFill>
            <a:srgbClr val="0C3EB1"/>
          </a:solidFill>
          <a:ln w="12700">
            <a:solidFill>
              <a:srgbClr val="0C3EB1"/>
            </a:solidFill>
            <a:prstDash val="solid"/>
          </a:ln>
        </p:spPr>
        <p:txBody>
          <a:bodyPr/>
          <a:lstStyle/>
          <a:p>
            <a:endParaRPr lang="en-IN"/>
          </a:p>
        </p:txBody>
      </p:sp>
      <p:sp>
        <p:nvSpPr>
          <p:cNvPr id="38" name="Text 12">
            <a:extLst>
              <a:ext uri="{FF2B5EF4-FFF2-40B4-BE49-F238E27FC236}">
                <a16:creationId xmlns:a16="http://schemas.microsoft.com/office/drawing/2014/main" id="{86EFDCA1-2954-161E-2CDC-CE3F02E7A420}"/>
              </a:ext>
            </a:extLst>
          </p:cNvPr>
          <p:cNvSpPr txBox="1"/>
          <p:nvPr/>
        </p:nvSpPr>
        <p:spPr>
          <a:xfrm>
            <a:off x="3742416" y="2071649"/>
            <a:ext cx="1188720" cy="256032"/>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Stage 2</a:t>
            </a:r>
            <a:endParaRPr lang="en-US" sz="1150" dirty="0"/>
          </a:p>
        </p:txBody>
      </p:sp>
      <p:sp>
        <p:nvSpPr>
          <p:cNvPr id="39" name="Text 13">
            <a:extLst>
              <a:ext uri="{FF2B5EF4-FFF2-40B4-BE49-F238E27FC236}">
                <a16:creationId xmlns:a16="http://schemas.microsoft.com/office/drawing/2014/main" id="{947D01A9-6FD2-090F-43EB-A58DFEA3158C}"/>
              </a:ext>
            </a:extLst>
          </p:cNvPr>
          <p:cNvSpPr txBox="1"/>
          <p:nvPr/>
        </p:nvSpPr>
        <p:spPr>
          <a:xfrm>
            <a:off x="4803120" y="2089937"/>
            <a:ext cx="1005840" cy="237744"/>
          </a:xfrm>
          <a:prstGeom prst="rect">
            <a:avLst/>
          </a:prstGeom>
          <a:noFill/>
          <a:ln/>
        </p:spPr>
        <p:txBody>
          <a:bodyPr wrap="square" lIns="0" tIns="0" rIns="0" bIns="0" rtlCol="0" anchor="t"/>
          <a:lstStyle/>
          <a:p>
            <a:pPr marL="0" indent="0" algn="r">
              <a:lnSpc>
                <a:spcPct val="112000"/>
              </a:lnSpc>
              <a:buNone/>
            </a:pPr>
            <a:r>
              <a:rPr lang="en-US" sz="860" b="1" dirty="0">
                <a:solidFill>
                  <a:srgbClr val="5D6B8C"/>
                </a:solidFill>
                <a:latin typeface="Calibri" pitchFamily="34" charset="0"/>
                <a:ea typeface="Calibri" pitchFamily="34" charset="-122"/>
                <a:cs typeface="Calibri" pitchFamily="34" charset="-120"/>
              </a:rPr>
              <a:t>Weeks 2-3</a:t>
            </a:r>
            <a:endParaRPr lang="en-US" sz="860" dirty="0"/>
          </a:p>
        </p:txBody>
      </p:sp>
      <p:sp>
        <p:nvSpPr>
          <p:cNvPr id="40" name="Text 14">
            <a:extLst>
              <a:ext uri="{FF2B5EF4-FFF2-40B4-BE49-F238E27FC236}">
                <a16:creationId xmlns:a16="http://schemas.microsoft.com/office/drawing/2014/main" id="{6BAD2298-A4CC-35F2-018F-CC247371AB83}"/>
              </a:ext>
            </a:extLst>
          </p:cNvPr>
          <p:cNvSpPr txBox="1"/>
          <p:nvPr/>
        </p:nvSpPr>
        <p:spPr>
          <a:xfrm>
            <a:off x="3541248" y="2382545"/>
            <a:ext cx="2286000" cy="256032"/>
          </a:xfrm>
          <a:prstGeom prst="rect">
            <a:avLst/>
          </a:prstGeom>
          <a:noFill/>
          <a:ln/>
        </p:spPr>
        <p:txBody>
          <a:bodyPr wrap="square" lIns="0" tIns="0" rIns="0" bIns="0" rtlCol="0" anchor="t"/>
          <a:lstStyle/>
          <a:p>
            <a:pPr marL="0" indent="0" algn="l">
              <a:lnSpc>
                <a:spcPct val="112000"/>
              </a:lnSpc>
              <a:buNone/>
            </a:pPr>
            <a:r>
              <a:rPr lang="en-US" sz="1050" b="1" dirty="0">
                <a:solidFill>
                  <a:srgbClr val="0C3EB1"/>
                </a:solidFill>
                <a:latin typeface="Calibri" pitchFamily="34" charset="0"/>
                <a:ea typeface="Calibri" pitchFamily="34" charset="-122"/>
                <a:cs typeface="Calibri" pitchFamily="34" charset="-120"/>
              </a:rPr>
              <a:t>Migrate &amp; measure</a:t>
            </a:r>
            <a:endParaRPr lang="en-US" sz="1050" dirty="0"/>
          </a:p>
        </p:txBody>
      </p:sp>
      <p:sp>
        <p:nvSpPr>
          <p:cNvPr id="41" name="Text 15">
            <a:extLst>
              <a:ext uri="{FF2B5EF4-FFF2-40B4-BE49-F238E27FC236}">
                <a16:creationId xmlns:a16="http://schemas.microsoft.com/office/drawing/2014/main" id="{1840E12D-6635-71E9-7081-EBD90243AF84}"/>
              </a:ext>
            </a:extLst>
          </p:cNvPr>
          <p:cNvSpPr txBox="1"/>
          <p:nvPr/>
        </p:nvSpPr>
        <p:spPr>
          <a:xfrm>
            <a:off x="3541248" y="2711729"/>
            <a:ext cx="2212848" cy="28346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Full pre-stage pass across the fifteen cohort mailboxes and drives</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Throughput instrumented: GB/hr, items/hr, throttling events (429/503), retry behaviour</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Delta pass executed and timed - this number sets the cutover window</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Coexistence stood up: Calendar Interop, GAL sync, split mail routing</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Representative relay device and Graph or EWS integration re-pointed and tested</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Fidelity reconciliation run, with every variance investigated to root cause</a:t>
            </a:r>
            <a:endParaRPr lang="en-US" sz="800" dirty="0"/>
          </a:p>
        </p:txBody>
      </p:sp>
      <p:sp>
        <p:nvSpPr>
          <p:cNvPr id="42" name="Shape 16">
            <a:extLst>
              <a:ext uri="{FF2B5EF4-FFF2-40B4-BE49-F238E27FC236}">
                <a16:creationId xmlns:a16="http://schemas.microsoft.com/office/drawing/2014/main" id="{0746B386-C77D-F093-7185-1BCF9792BA27}"/>
              </a:ext>
            </a:extLst>
          </p:cNvPr>
          <p:cNvSpPr/>
          <p:nvPr/>
        </p:nvSpPr>
        <p:spPr>
          <a:xfrm>
            <a:off x="6080994" y="1961921"/>
            <a:ext cx="2558034" cy="3154680"/>
          </a:xfrm>
          <a:prstGeom prst="roundRect">
            <a:avLst>
              <a:gd name="adj" fmla="val 1787"/>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3" name="Shape 17">
            <a:extLst>
              <a:ext uri="{FF2B5EF4-FFF2-40B4-BE49-F238E27FC236}">
                <a16:creationId xmlns:a16="http://schemas.microsoft.com/office/drawing/2014/main" id="{F84915D7-DD6D-F88C-650A-079B6E014A3B}"/>
              </a:ext>
            </a:extLst>
          </p:cNvPr>
          <p:cNvSpPr/>
          <p:nvPr/>
        </p:nvSpPr>
        <p:spPr>
          <a:xfrm>
            <a:off x="6300450" y="2144801"/>
            <a:ext cx="109728" cy="109728"/>
          </a:xfrm>
          <a:prstGeom prst="rect">
            <a:avLst/>
          </a:prstGeom>
          <a:solidFill>
            <a:srgbClr val="0053EB"/>
          </a:solidFill>
          <a:ln w="12700">
            <a:solidFill>
              <a:srgbClr val="0053EB"/>
            </a:solidFill>
            <a:prstDash val="solid"/>
          </a:ln>
        </p:spPr>
        <p:txBody>
          <a:bodyPr/>
          <a:lstStyle/>
          <a:p>
            <a:endParaRPr lang="en-IN"/>
          </a:p>
        </p:txBody>
      </p:sp>
      <p:sp>
        <p:nvSpPr>
          <p:cNvPr id="44" name="Text 18">
            <a:extLst>
              <a:ext uri="{FF2B5EF4-FFF2-40B4-BE49-F238E27FC236}">
                <a16:creationId xmlns:a16="http://schemas.microsoft.com/office/drawing/2014/main" id="{57ABCAAA-DCDE-939F-FE72-3D5DCEB636D6}"/>
              </a:ext>
            </a:extLst>
          </p:cNvPr>
          <p:cNvSpPr txBox="1"/>
          <p:nvPr/>
        </p:nvSpPr>
        <p:spPr>
          <a:xfrm>
            <a:off x="6501618" y="2071649"/>
            <a:ext cx="1188720" cy="256032"/>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Stage 3</a:t>
            </a:r>
            <a:endParaRPr lang="en-US" sz="1150" dirty="0"/>
          </a:p>
        </p:txBody>
      </p:sp>
      <p:sp>
        <p:nvSpPr>
          <p:cNvPr id="45" name="Text 19">
            <a:extLst>
              <a:ext uri="{FF2B5EF4-FFF2-40B4-BE49-F238E27FC236}">
                <a16:creationId xmlns:a16="http://schemas.microsoft.com/office/drawing/2014/main" id="{45B584C9-032D-ACE8-5B47-47C1696C27F0}"/>
              </a:ext>
            </a:extLst>
          </p:cNvPr>
          <p:cNvSpPr txBox="1"/>
          <p:nvPr/>
        </p:nvSpPr>
        <p:spPr>
          <a:xfrm>
            <a:off x="7562322" y="2089937"/>
            <a:ext cx="1005840" cy="237744"/>
          </a:xfrm>
          <a:prstGeom prst="rect">
            <a:avLst/>
          </a:prstGeom>
          <a:noFill/>
          <a:ln/>
        </p:spPr>
        <p:txBody>
          <a:bodyPr wrap="square" lIns="0" tIns="0" rIns="0" bIns="0" rtlCol="0" anchor="t"/>
          <a:lstStyle/>
          <a:p>
            <a:pPr marL="0" indent="0" algn="r">
              <a:lnSpc>
                <a:spcPct val="112000"/>
              </a:lnSpc>
              <a:buNone/>
            </a:pPr>
            <a:r>
              <a:rPr lang="en-US" sz="860" b="1" dirty="0">
                <a:solidFill>
                  <a:srgbClr val="5D6B8C"/>
                </a:solidFill>
                <a:latin typeface="Calibri" pitchFamily="34" charset="0"/>
                <a:ea typeface="Calibri" pitchFamily="34" charset="-122"/>
                <a:cs typeface="Calibri" pitchFamily="34" charset="-120"/>
              </a:rPr>
              <a:t>Weeks 3-5</a:t>
            </a:r>
            <a:endParaRPr lang="en-US" sz="860" dirty="0"/>
          </a:p>
        </p:txBody>
      </p:sp>
      <p:sp>
        <p:nvSpPr>
          <p:cNvPr id="46" name="Text 20">
            <a:extLst>
              <a:ext uri="{FF2B5EF4-FFF2-40B4-BE49-F238E27FC236}">
                <a16:creationId xmlns:a16="http://schemas.microsoft.com/office/drawing/2014/main" id="{96D57981-E677-14D0-1C7D-1C24E9335BAE}"/>
              </a:ext>
            </a:extLst>
          </p:cNvPr>
          <p:cNvSpPr txBox="1"/>
          <p:nvPr/>
        </p:nvSpPr>
        <p:spPr>
          <a:xfrm>
            <a:off x="6300450" y="2382545"/>
            <a:ext cx="2286000" cy="256032"/>
          </a:xfrm>
          <a:prstGeom prst="rect">
            <a:avLst/>
          </a:prstGeom>
          <a:noFill/>
          <a:ln/>
        </p:spPr>
        <p:txBody>
          <a:bodyPr wrap="square" lIns="0" tIns="0" rIns="0" bIns="0" rtlCol="0" anchor="t"/>
          <a:lstStyle/>
          <a:p>
            <a:pPr marL="0" indent="0" algn="l">
              <a:lnSpc>
                <a:spcPct val="112000"/>
              </a:lnSpc>
              <a:buNone/>
            </a:pPr>
            <a:r>
              <a:rPr lang="en-US" sz="1050" b="1" dirty="0">
                <a:solidFill>
                  <a:srgbClr val="0053EB"/>
                </a:solidFill>
                <a:latin typeface="Calibri" pitchFamily="34" charset="0"/>
                <a:ea typeface="Calibri" pitchFamily="34" charset="-122"/>
                <a:cs typeface="Calibri" pitchFamily="34" charset="-120"/>
              </a:rPr>
              <a:t>Break &amp; prove</a:t>
            </a:r>
            <a:endParaRPr lang="en-US" sz="1050" dirty="0"/>
          </a:p>
        </p:txBody>
      </p:sp>
      <p:sp>
        <p:nvSpPr>
          <p:cNvPr id="47" name="Text 21">
            <a:extLst>
              <a:ext uri="{FF2B5EF4-FFF2-40B4-BE49-F238E27FC236}">
                <a16:creationId xmlns:a16="http://schemas.microsoft.com/office/drawing/2014/main" id="{030C2E00-9394-D562-660E-0B384246AFC1}"/>
              </a:ext>
            </a:extLst>
          </p:cNvPr>
          <p:cNvSpPr txBox="1"/>
          <p:nvPr/>
        </p:nvSpPr>
        <p:spPr>
          <a:xfrm>
            <a:off x="6300450" y="2711729"/>
            <a:ext cx="2212848" cy="28346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Cutover rehearsal for the cohort, including the DNS and routing change</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Rollback rehearsal: one user returned to Exchange, elapsed time recorded</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Delegation, shared mailbox and room booking tested by real business users</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Sign-on tested across web, mobile and desktop clients, including MFA behaviour</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Soak period: the cohort works normally on Workspace while issues surface</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LMS content and the day-one card drafted from real cohort questions</a:t>
            </a:r>
            <a:endParaRPr lang="en-US" sz="800" dirty="0"/>
          </a:p>
        </p:txBody>
      </p:sp>
      <p:sp>
        <p:nvSpPr>
          <p:cNvPr id="48" name="Shape 22">
            <a:extLst>
              <a:ext uri="{FF2B5EF4-FFF2-40B4-BE49-F238E27FC236}">
                <a16:creationId xmlns:a16="http://schemas.microsoft.com/office/drawing/2014/main" id="{4506B254-FB64-C241-7FAD-27BDED0E8E95}"/>
              </a:ext>
            </a:extLst>
          </p:cNvPr>
          <p:cNvSpPr/>
          <p:nvPr/>
        </p:nvSpPr>
        <p:spPr>
          <a:xfrm>
            <a:off x="8840196" y="1961921"/>
            <a:ext cx="2558034" cy="3154680"/>
          </a:xfrm>
          <a:prstGeom prst="roundRect">
            <a:avLst>
              <a:gd name="adj" fmla="val 1787"/>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49" name="Shape 23">
            <a:extLst>
              <a:ext uri="{FF2B5EF4-FFF2-40B4-BE49-F238E27FC236}">
                <a16:creationId xmlns:a16="http://schemas.microsoft.com/office/drawing/2014/main" id="{3A964C1C-8F23-8E8F-B10A-16E067E3494A}"/>
              </a:ext>
            </a:extLst>
          </p:cNvPr>
          <p:cNvSpPr/>
          <p:nvPr/>
        </p:nvSpPr>
        <p:spPr>
          <a:xfrm>
            <a:off x="9059652" y="2144801"/>
            <a:ext cx="109728" cy="109728"/>
          </a:xfrm>
          <a:prstGeom prst="rect">
            <a:avLst/>
          </a:prstGeom>
          <a:solidFill>
            <a:srgbClr val="0C3EB1"/>
          </a:solidFill>
          <a:ln w="12700">
            <a:solidFill>
              <a:srgbClr val="0C3EB1"/>
            </a:solidFill>
            <a:prstDash val="solid"/>
          </a:ln>
        </p:spPr>
        <p:txBody>
          <a:bodyPr/>
          <a:lstStyle/>
          <a:p>
            <a:endParaRPr lang="en-IN"/>
          </a:p>
        </p:txBody>
      </p:sp>
      <p:sp>
        <p:nvSpPr>
          <p:cNvPr id="50" name="Text 24">
            <a:extLst>
              <a:ext uri="{FF2B5EF4-FFF2-40B4-BE49-F238E27FC236}">
                <a16:creationId xmlns:a16="http://schemas.microsoft.com/office/drawing/2014/main" id="{EDD441E3-B0B6-58B1-5EEB-B8DFED70343C}"/>
              </a:ext>
            </a:extLst>
          </p:cNvPr>
          <p:cNvSpPr txBox="1"/>
          <p:nvPr/>
        </p:nvSpPr>
        <p:spPr>
          <a:xfrm>
            <a:off x="9260820" y="2071649"/>
            <a:ext cx="1188720" cy="256032"/>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Stage 4</a:t>
            </a:r>
            <a:endParaRPr lang="en-US" sz="1150" dirty="0"/>
          </a:p>
        </p:txBody>
      </p:sp>
      <p:sp>
        <p:nvSpPr>
          <p:cNvPr id="51" name="Text 25">
            <a:extLst>
              <a:ext uri="{FF2B5EF4-FFF2-40B4-BE49-F238E27FC236}">
                <a16:creationId xmlns:a16="http://schemas.microsoft.com/office/drawing/2014/main" id="{18D9BD2C-910C-770A-2484-301DD7D99F1F}"/>
              </a:ext>
            </a:extLst>
          </p:cNvPr>
          <p:cNvSpPr txBox="1"/>
          <p:nvPr/>
        </p:nvSpPr>
        <p:spPr>
          <a:xfrm>
            <a:off x="10321524" y="2089937"/>
            <a:ext cx="1005840" cy="237744"/>
          </a:xfrm>
          <a:prstGeom prst="rect">
            <a:avLst/>
          </a:prstGeom>
          <a:noFill/>
          <a:ln/>
        </p:spPr>
        <p:txBody>
          <a:bodyPr wrap="square" lIns="0" tIns="0" rIns="0" bIns="0" rtlCol="0" anchor="t"/>
          <a:lstStyle/>
          <a:p>
            <a:pPr marL="0" indent="0" algn="r">
              <a:lnSpc>
                <a:spcPct val="112000"/>
              </a:lnSpc>
              <a:buNone/>
            </a:pPr>
            <a:r>
              <a:rPr lang="en-US" sz="860" b="1" dirty="0">
                <a:solidFill>
                  <a:srgbClr val="5D6B8C"/>
                </a:solidFill>
                <a:latin typeface="Calibri" pitchFamily="34" charset="0"/>
                <a:ea typeface="Calibri" pitchFamily="34" charset="-122"/>
                <a:cs typeface="Calibri" pitchFamily="34" charset="-120"/>
              </a:rPr>
              <a:t>Weeks 5-6</a:t>
            </a:r>
            <a:endParaRPr lang="en-US" sz="860" dirty="0"/>
          </a:p>
        </p:txBody>
      </p:sp>
      <p:sp>
        <p:nvSpPr>
          <p:cNvPr id="52" name="Text 26">
            <a:extLst>
              <a:ext uri="{FF2B5EF4-FFF2-40B4-BE49-F238E27FC236}">
                <a16:creationId xmlns:a16="http://schemas.microsoft.com/office/drawing/2014/main" id="{67ACA84A-A5EE-B387-9CC7-C7FECE0B9E55}"/>
              </a:ext>
            </a:extLst>
          </p:cNvPr>
          <p:cNvSpPr txBox="1"/>
          <p:nvPr/>
        </p:nvSpPr>
        <p:spPr>
          <a:xfrm>
            <a:off x="9059652" y="2382545"/>
            <a:ext cx="2286000" cy="256032"/>
          </a:xfrm>
          <a:prstGeom prst="rect">
            <a:avLst/>
          </a:prstGeom>
          <a:noFill/>
          <a:ln/>
        </p:spPr>
        <p:txBody>
          <a:bodyPr wrap="square" lIns="0" tIns="0" rIns="0" bIns="0" rtlCol="0" anchor="t"/>
          <a:lstStyle/>
          <a:p>
            <a:pPr marL="0" indent="0" algn="l">
              <a:lnSpc>
                <a:spcPct val="112000"/>
              </a:lnSpc>
              <a:buNone/>
            </a:pPr>
            <a:r>
              <a:rPr lang="en-US" sz="1050" b="1" dirty="0">
                <a:solidFill>
                  <a:srgbClr val="0C3EB1"/>
                </a:solidFill>
                <a:latin typeface="Calibri" pitchFamily="34" charset="0"/>
                <a:ea typeface="Calibri" pitchFamily="34" charset="-122"/>
                <a:cs typeface="Calibri" pitchFamily="34" charset="-120"/>
              </a:rPr>
              <a:t>Gate &amp; decide</a:t>
            </a:r>
            <a:endParaRPr lang="en-US" sz="1050" dirty="0"/>
          </a:p>
        </p:txBody>
      </p:sp>
      <p:sp>
        <p:nvSpPr>
          <p:cNvPr id="53" name="Text 27">
            <a:extLst>
              <a:ext uri="{FF2B5EF4-FFF2-40B4-BE49-F238E27FC236}">
                <a16:creationId xmlns:a16="http://schemas.microsoft.com/office/drawing/2014/main" id="{39D8A380-1F0B-419C-50F8-C0676FE83AE4}"/>
              </a:ext>
            </a:extLst>
          </p:cNvPr>
          <p:cNvSpPr txBox="1"/>
          <p:nvPr/>
        </p:nvSpPr>
        <p:spPr>
          <a:xfrm>
            <a:off x="9059652" y="2711729"/>
            <a:ext cx="2212848" cy="28346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Fidelity, throughput and authentication evidence compiled into one POC report</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Limitation register finalised, with an agreed disposition against every item</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Wave duration, wave count and wave sizing derived from measured throughput</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Tooling decision confirmed against measured results, not vendor claims</a:t>
            </a:r>
            <a:endParaRPr lang="en-US" sz="800" dirty="0"/>
          </a:p>
          <a:p>
            <a:pPr marL="342900" indent="-342900">
              <a:lnSpc>
                <a:spcPct val="105000"/>
              </a:lnSpc>
              <a:spcAft>
                <a:spcPts val="500"/>
              </a:spcAft>
              <a:buSzPct val="100000"/>
              <a:buChar char="▪"/>
            </a:pPr>
            <a:r>
              <a:rPr lang="en-US" sz="800" dirty="0">
                <a:solidFill>
                  <a:srgbClr val="15203D"/>
                </a:solidFill>
                <a:latin typeface="Calibri" pitchFamily="34" charset="0"/>
                <a:ea typeface="Calibri" pitchFamily="34" charset="-122"/>
                <a:cs typeface="Calibri" pitchFamily="34" charset="-120"/>
              </a:rPr>
              <a:t>Exit gate with the steering committee: proceed, remediate, or re-scope</a:t>
            </a:r>
            <a:endParaRPr lang="en-US" sz="800" dirty="0"/>
          </a:p>
        </p:txBody>
      </p:sp>
      <p:sp>
        <p:nvSpPr>
          <p:cNvPr id="54" name="Shape 28">
            <a:extLst>
              <a:ext uri="{FF2B5EF4-FFF2-40B4-BE49-F238E27FC236}">
                <a16:creationId xmlns:a16="http://schemas.microsoft.com/office/drawing/2014/main" id="{61D44C4B-9EF9-8CCC-93A2-16632F05CC72}"/>
              </a:ext>
            </a:extLst>
          </p:cNvPr>
          <p:cNvSpPr/>
          <p:nvPr/>
        </p:nvSpPr>
        <p:spPr>
          <a:xfrm>
            <a:off x="562590" y="5326913"/>
            <a:ext cx="10835640" cy="731520"/>
          </a:xfrm>
          <a:prstGeom prst="roundRect">
            <a:avLst>
              <a:gd name="adj" fmla="val 6250"/>
            </a:avLst>
          </a:prstGeom>
          <a:solidFill>
            <a:srgbClr val="001D5F"/>
          </a:solidFill>
          <a:ln w="12700">
            <a:solidFill>
              <a:srgbClr val="001D5F"/>
            </a:solidFill>
            <a:prstDash val="solid"/>
          </a:ln>
          <a:effectLst>
            <a:outerShdw blurRad="88900" dist="12700" dir="5400000" algn="bl" rotWithShape="0">
              <a:srgbClr val="000000">
                <a:alpha val="7000"/>
              </a:srgbClr>
            </a:outerShdw>
          </a:effectLst>
        </p:spPr>
        <p:txBody>
          <a:bodyPr/>
          <a:lstStyle/>
          <a:p>
            <a:endParaRPr lang="en-IN"/>
          </a:p>
        </p:txBody>
      </p:sp>
      <p:sp>
        <p:nvSpPr>
          <p:cNvPr id="55" name="Text 29">
            <a:extLst>
              <a:ext uri="{FF2B5EF4-FFF2-40B4-BE49-F238E27FC236}">
                <a16:creationId xmlns:a16="http://schemas.microsoft.com/office/drawing/2014/main" id="{BD8FC9F3-E0F6-F4EB-5BF0-97C2D40FD4D8}"/>
              </a:ext>
            </a:extLst>
          </p:cNvPr>
          <p:cNvSpPr txBox="1"/>
          <p:nvPr/>
        </p:nvSpPr>
        <p:spPr>
          <a:xfrm>
            <a:off x="818622" y="5491505"/>
            <a:ext cx="1600200" cy="274320"/>
          </a:xfrm>
          <a:prstGeom prst="rect">
            <a:avLst/>
          </a:prstGeom>
          <a:noFill/>
          <a:ln/>
        </p:spPr>
        <p:txBody>
          <a:bodyPr wrap="square" lIns="0" tIns="0" rIns="0" bIns="0" rtlCol="0" anchor="t"/>
          <a:lstStyle/>
          <a:p>
            <a:pPr marL="0" indent="0" algn="l">
              <a:lnSpc>
                <a:spcPct val="112000"/>
              </a:lnSpc>
              <a:buNone/>
            </a:pPr>
            <a:r>
              <a:rPr lang="en-US" sz="1100" b="1" dirty="0">
                <a:solidFill>
                  <a:srgbClr val="78A8FF"/>
                </a:solidFill>
                <a:latin typeface="Calibri" pitchFamily="34" charset="0"/>
                <a:ea typeface="Calibri" pitchFamily="34" charset="-122"/>
                <a:cs typeface="Calibri" pitchFamily="34" charset="-120"/>
              </a:rPr>
              <a:t>Gate output:</a:t>
            </a:r>
            <a:endParaRPr lang="en-US" sz="1100" dirty="0"/>
          </a:p>
        </p:txBody>
      </p:sp>
      <p:sp>
        <p:nvSpPr>
          <p:cNvPr id="56" name="Text 30">
            <a:extLst>
              <a:ext uri="{FF2B5EF4-FFF2-40B4-BE49-F238E27FC236}">
                <a16:creationId xmlns:a16="http://schemas.microsoft.com/office/drawing/2014/main" id="{13EA9BFD-609D-6274-00CA-6BEAFE6FC89A}"/>
              </a:ext>
            </a:extLst>
          </p:cNvPr>
          <p:cNvSpPr txBox="1"/>
          <p:nvPr/>
        </p:nvSpPr>
        <p:spPr>
          <a:xfrm>
            <a:off x="2482830" y="5491505"/>
            <a:ext cx="8686800" cy="457200"/>
          </a:xfrm>
          <a:prstGeom prst="rect">
            <a:avLst/>
          </a:prstGeom>
          <a:noFill/>
          <a:ln/>
        </p:spPr>
        <p:txBody>
          <a:bodyPr wrap="square" lIns="0" tIns="0" rIns="0" bIns="0" rtlCol="0" anchor="t"/>
          <a:lstStyle/>
          <a:p>
            <a:pPr marL="0" indent="0" algn="l">
              <a:lnSpc>
                <a:spcPct val="112000"/>
              </a:lnSpc>
              <a:buNone/>
            </a:pPr>
            <a:r>
              <a:rPr lang="en-US" sz="1050" dirty="0">
                <a:solidFill>
                  <a:srgbClr val="C6D5F0"/>
                </a:solidFill>
                <a:latin typeface="Calibri" pitchFamily="34" charset="0"/>
                <a:ea typeface="Calibri" pitchFamily="34" charset="-122"/>
                <a:cs typeface="Calibri" pitchFamily="34" charset="-120"/>
              </a:rPr>
              <a:t>a defensible wave duration, a proven rollback time, a tested authentication design, a signed limitation register, and a tooling decision backed by measured throughput on your own tenant - not on a vendor datasheet.</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POC VALIDATION</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The test matrix - what we deliberately try to break</a:t>
            </a:r>
            <a:endParaRPr lang="en-US" sz="2800" dirty="0"/>
          </a:p>
        </p:txBody>
      </p:sp>
      <p:sp>
        <p:nvSpPr>
          <p:cNvPr id="8" name="TextBox 7">
            <a:extLst>
              <a:ext uri="{FF2B5EF4-FFF2-40B4-BE49-F238E27FC236}">
                <a16:creationId xmlns:a16="http://schemas.microsoft.com/office/drawing/2014/main" id="{8C79D902-BA92-4991-9DDD-43D42B047C91}"/>
              </a:ext>
            </a:extLst>
          </p:cNvPr>
          <p:cNvSpPr txBox="1"/>
          <p:nvPr/>
        </p:nvSpPr>
        <p:spPr>
          <a:xfrm>
            <a:off x="5911269" y="6533202"/>
            <a:ext cx="287258" cy="215444"/>
          </a:xfrm>
          <a:prstGeom prst="rect">
            <a:avLst/>
          </a:prstGeom>
          <a:noFill/>
        </p:spPr>
        <p:txBody>
          <a:bodyPr wrap="none" rtlCol="0">
            <a:spAutoFit/>
          </a:bodyPr>
          <a:lstStyle/>
          <a:p>
            <a:r>
              <a:rPr lang="en-US" sz="800" dirty="0"/>
              <a:t>15</a:t>
            </a:r>
          </a:p>
        </p:txBody>
      </p:sp>
      <p:sp>
        <p:nvSpPr>
          <p:cNvPr id="9" name="AutoShape 2">
            <a:extLst>
              <a:ext uri="{FF2B5EF4-FFF2-40B4-BE49-F238E27FC236}">
                <a16:creationId xmlns:a16="http://schemas.microsoft.com/office/drawing/2014/main" id="{F632113A-4E63-48E9-8298-AF02F848A6CC}"/>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0" name="TextBox 7">
            <a:extLst>
              <a:ext uri="{FF2B5EF4-FFF2-40B4-BE49-F238E27FC236}">
                <a16:creationId xmlns:a16="http://schemas.microsoft.com/office/drawing/2014/main" id="{A259594F-D547-45B7-8E25-0D648803057D}"/>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1" name="TextBox 9">
            <a:extLst>
              <a:ext uri="{FF2B5EF4-FFF2-40B4-BE49-F238E27FC236}">
                <a16:creationId xmlns:a16="http://schemas.microsoft.com/office/drawing/2014/main" id="{C161974A-DCF1-4750-B64C-9406FB92648B}"/>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7" name="Text 3">
            <a:extLst>
              <a:ext uri="{FF2B5EF4-FFF2-40B4-BE49-F238E27FC236}">
                <a16:creationId xmlns:a16="http://schemas.microsoft.com/office/drawing/2014/main" id="{2F366740-876B-2009-ABC6-778DD01D2536}"/>
              </a:ext>
            </a:extLst>
          </p:cNvPr>
          <p:cNvSpPr txBox="1"/>
          <p:nvPr/>
        </p:nvSpPr>
        <p:spPr>
          <a:xfrm>
            <a:off x="502920" y="1261872"/>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These are the scenarios that fail quietly in production migrations. Each is executed, evidenced and signed off before the POC exit gate.</a:t>
            </a:r>
            <a:endParaRPr lang="en-US" sz="1100" dirty="0"/>
          </a:p>
        </p:txBody>
      </p:sp>
      <p:graphicFrame>
        <p:nvGraphicFramePr>
          <p:cNvPr id="14" name="Table 0">
            <a:extLst>
              <a:ext uri="{FF2B5EF4-FFF2-40B4-BE49-F238E27FC236}">
                <a16:creationId xmlns:a16="http://schemas.microsoft.com/office/drawing/2014/main" id="{E1E59283-6BCC-38E8-F1D9-CB8AA1378E31}"/>
              </a:ext>
            </a:extLst>
          </p:cNvPr>
          <p:cNvGraphicFramePr>
            <a:graphicFrameLocks noGrp="1"/>
          </p:cNvGraphicFramePr>
          <p:nvPr>
            <p:extLst>
              <p:ext uri="{D42A27DB-BD31-4B8C-83A1-F6EECF244321}">
                <p14:modId xmlns:p14="http://schemas.microsoft.com/office/powerpoint/2010/main" val="2153333872"/>
              </p:ext>
            </p:extLst>
          </p:nvPr>
        </p:nvGraphicFramePr>
        <p:xfrm>
          <a:off x="502920" y="1572768"/>
          <a:ext cx="10835640" cy="4224528"/>
        </p:xfrm>
        <a:graphic>
          <a:graphicData uri="http://schemas.openxmlformats.org/drawingml/2006/table">
            <a:tbl>
              <a:tblPr/>
              <a:tblGrid>
                <a:gridCol w="4114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352044">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Scenario</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Why it matters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Evidence produced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Reply to a migrated internal email thread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Exchange stores internal recipients as X500 / legacyExchangeDN. Unmapped, replies to migrated mail bounce - usually found by an executive on day one.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Successful reply to 5 historic internal threads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T2</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Recurring meeting with no end date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Imports with an end date of 31 Dec 2099; series edits and exceptions then behave differently.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Series integrity report; exception instances verified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T3</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Delegate sends on behalf of an executive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Send-on-behalf and send-as are distinct models on both platforms and do not map one-to-one.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Assistant-executed send test, headers verified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T4</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Federated sign-on across every client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Web, mobile, Drive for Desktop and MFA behave differently under federation; a working browser login proves nothing about the rest.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Per-client sign-in evidence including MFA prompts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T5</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Printer and application SMTP relay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Scan-to-mail and application alerts silently stop when the Exchange relay path is removed - often noticed days later.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Synthetic send from each relay class, delivery confirmed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T6</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Integration holding Graph or EWS permissions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Backup, archiving and signature tools authenticate to Exchange directly and have no automatic Google path.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Equivalent Google API access proven, or retirement agreed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T7</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Room booking across the coexistence boundary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migrated user booking an un-migrated room (and the reverse) is the most common wave-window complaint.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Bi-directional booking test with conflict detection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T8</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SharePoint library above the shared-drive ceiling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shared drives cap at 500,000 items and 100 nesting levels. Large libraries must be split by design, not by failure.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Split design validated on the largest real library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T9</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Mailbox under litigation hold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Holds do not transfer. Disposition must be decided before, not after, the source mailbox is decommissioned.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Documented hold disposition signed by legal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T10</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Sustained throughput under throttling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Drive API defaults to 20,000 calls per 100s and about 3 sustained writes/sec per account; the 750 GB per-user 24h cap is a hard ceiling.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Measured GB/hr curve with throttling events logged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0"/>
                  </a:ext>
                </a:extLst>
              </a:tr>
              <a:tr h="35204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T11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Per-user rollback</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 rollback that has never been rehearsed is not a rollback.</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One user returned to Exchange, elapsed time recorded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16FF-06DD-2D7B-7B49-E7D7838889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004FE7-D41A-401B-A40B-0425BEE4466B}"/>
              </a:ext>
            </a:extLst>
          </p:cNvPr>
          <p:cNvGrpSpPr/>
          <p:nvPr/>
        </p:nvGrpSpPr>
        <p:grpSpPr>
          <a:xfrm>
            <a:off x="10142683" y="5566065"/>
            <a:ext cx="229316" cy="229316"/>
            <a:chOff x="0" y="0"/>
            <a:chExt cx="812800" cy="812800"/>
          </a:xfrm>
        </p:grpSpPr>
        <p:sp>
          <p:nvSpPr>
            <p:cNvPr id="3" name="Freeform 3">
              <a:extLst>
                <a:ext uri="{FF2B5EF4-FFF2-40B4-BE49-F238E27FC236}">
                  <a16:creationId xmlns:a16="http://schemas.microsoft.com/office/drawing/2014/main" id="{56817DF6-DDA3-71D4-0F71-7AA6C0F3CA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 name="TextBox 4">
              <a:extLst>
                <a:ext uri="{FF2B5EF4-FFF2-40B4-BE49-F238E27FC236}">
                  <a16:creationId xmlns:a16="http://schemas.microsoft.com/office/drawing/2014/main" id="{5CDAFD9F-EC95-8FBA-8539-1336095C8205}"/>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5" name="Group 5">
            <a:extLst>
              <a:ext uri="{FF2B5EF4-FFF2-40B4-BE49-F238E27FC236}">
                <a16:creationId xmlns:a16="http://schemas.microsoft.com/office/drawing/2014/main" id="{9BC62E8F-53AE-6F25-7F71-36398AB1C999}"/>
              </a:ext>
            </a:extLst>
          </p:cNvPr>
          <p:cNvGrpSpPr/>
          <p:nvPr/>
        </p:nvGrpSpPr>
        <p:grpSpPr>
          <a:xfrm>
            <a:off x="10396683" y="5566065"/>
            <a:ext cx="229316" cy="229316"/>
            <a:chOff x="0" y="0"/>
            <a:chExt cx="812800" cy="812800"/>
          </a:xfrm>
        </p:grpSpPr>
        <p:sp>
          <p:nvSpPr>
            <p:cNvPr id="6" name="Freeform 6">
              <a:extLst>
                <a:ext uri="{FF2B5EF4-FFF2-40B4-BE49-F238E27FC236}">
                  <a16:creationId xmlns:a16="http://schemas.microsoft.com/office/drawing/2014/main" id="{C3024B66-0E7D-A813-6E1C-718F9EBC3D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7" name="TextBox 7">
              <a:extLst>
                <a:ext uri="{FF2B5EF4-FFF2-40B4-BE49-F238E27FC236}">
                  <a16:creationId xmlns:a16="http://schemas.microsoft.com/office/drawing/2014/main" id="{3C068469-CD5E-9646-7333-D7676CF448A3}"/>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8" name="Group 8">
            <a:extLst>
              <a:ext uri="{FF2B5EF4-FFF2-40B4-BE49-F238E27FC236}">
                <a16:creationId xmlns:a16="http://schemas.microsoft.com/office/drawing/2014/main" id="{BE4106E7-897E-D04B-0C07-D4A4BD30C270}"/>
              </a:ext>
            </a:extLst>
          </p:cNvPr>
          <p:cNvGrpSpPr/>
          <p:nvPr/>
        </p:nvGrpSpPr>
        <p:grpSpPr>
          <a:xfrm>
            <a:off x="10650683" y="5566065"/>
            <a:ext cx="229316" cy="229316"/>
            <a:chOff x="0" y="0"/>
            <a:chExt cx="812800" cy="812800"/>
          </a:xfrm>
        </p:grpSpPr>
        <p:sp>
          <p:nvSpPr>
            <p:cNvPr id="9" name="Freeform 9">
              <a:extLst>
                <a:ext uri="{FF2B5EF4-FFF2-40B4-BE49-F238E27FC236}">
                  <a16:creationId xmlns:a16="http://schemas.microsoft.com/office/drawing/2014/main" id="{A33A8CC3-899F-1FD7-E302-36A0C9DF64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10" name="TextBox 10">
              <a:extLst>
                <a:ext uri="{FF2B5EF4-FFF2-40B4-BE49-F238E27FC236}">
                  <a16:creationId xmlns:a16="http://schemas.microsoft.com/office/drawing/2014/main" id="{8E4434E9-5E55-520D-7AF7-E5A18CE60B1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17" name="Group 17">
            <a:extLst>
              <a:ext uri="{FF2B5EF4-FFF2-40B4-BE49-F238E27FC236}">
                <a16:creationId xmlns:a16="http://schemas.microsoft.com/office/drawing/2014/main" id="{43977719-F523-A315-B5FD-F5B76FE7984E}"/>
              </a:ext>
            </a:extLst>
          </p:cNvPr>
          <p:cNvGrpSpPr/>
          <p:nvPr/>
        </p:nvGrpSpPr>
        <p:grpSpPr>
          <a:xfrm>
            <a:off x="9099427" y="916663"/>
            <a:ext cx="1924173" cy="1991191"/>
            <a:chOff x="0" y="0"/>
            <a:chExt cx="3848347" cy="3982382"/>
          </a:xfrm>
        </p:grpSpPr>
        <p:sp>
          <p:nvSpPr>
            <p:cNvPr id="18" name="Freeform 18">
              <a:extLst>
                <a:ext uri="{FF2B5EF4-FFF2-40B4-BE49-F238E27FC236}">
                  <a16:creationId xmlns:a16="http://schemas.microsoft.com/office/drawing/2014/main" id="{60F460AF-0C64-96D5-100C-3E23CBB3B67F}"/>
                </a:ext>
              </a:extLst>
            </p:cNvPr>
            <p:cNvSpPr/>
            <p:nvPr/>
          </p:nvSpPr>
          <p:spPr>
            <a:xfrm>
              <a:off x="0" y="0"/>
              <a:ext cx="3848347" cy="3245137"/>
            </a:xfrm>
            <a:custGeom>
              <a:avLst/>
              <a:gdLst/>
              <a:ahLst/>
              <a:cxnLst/>
              <a:rect l="l" t="t" r="r" b="b"/>
              <a:pathLst>
                <a:path w="3848347" h="3245137">
                  <a:moveTo>
                    <a:pt x="0" y="0"/>
                  </a:moveTo>
                  <a:lnTo>
                    <a:pt x="3848347" y="0"/>
                  </a:lnTo>
                  <a:lnTo>
                    <a:pt x="3848347" y="3245137"/>
                  </a:lnTo>
                  <a:lnTo>
                    <a:pt x="0" y="3245137"/>
                  </a:lnTo>
                  <a:lnTo>
                    <a:pt x="0" y="0"/>
                  </a:lnTo>
                  <a:close/>
                </a:path>
              </a:pathLst>
            </a:custGeom>
            <a:blipFill>
              <a:blip r:embed="rId2"/>
              <a:stretch>
                <a:fillRect t="-47826" b="-108579"/>
              </a:stretch>
            </a:blipFill>
          </p:spPr>
          <p:txBody>
            <a:bodyPr/>
            <a:lstStyle/>
            <a:p>
              <a:endParaRPr lang="en-US" sz="1200"/>
            </a:p>
          </p:txBody>
        </p:sp>
        <p:sp>
          <p:nvSpPr>
            <p:cNvPr id="19" name="TextBox 19">
              <a:extLst>
                <a:ext uri="{FF2B5EF4-FFF2-40B4-BE49-F238E27FC236}">
                  <a16:creationId xmlns:a16="http://schemas.microsoft.com/office/drawing/2014/main" id="{ECDAD030-0DBF-543A-79AE-5D338191B9C3}"/>
                </a:ext>
              </a:extLst>
            </p:cNvPr>
            <p:cNvSpPr txBox="1"/>
            <p:nvPr/>
          </p:nvSpPr>
          <p:spPr>
            <a:xfrm>
              <a:off x="150790" y="3311812"/>
              <a:ext cx="3697557" cy="670570"/>
            </a:xfrm>
            <a:prstGeom prst="rect">
              <a:avLst/>
            </a:prstGeom>
          </p:spPr>
          <p:txBody>
            <a:bodyPr lIns="0" tIns="0" rIns="0" bIns="0" rtlCol="0" anchor="t">
              <a:spAutoFit/>
            </a:bodyPr>
            <a:lstStyle/>
            <a:p>
              <a:pPr>
                <a:lnSpc>
                  <a:spcPts val="2598"/>
                </a:lnSpc>
              </a:pPr>
              <a:r>
                <a:rPr lang="en-US" sz="2919" spc="-169" dirty="0">
                  <a:solidFill>
                    <a:srgbClr val="090A3C"/>
                  </a:solidFill>
                  <a:latin typeface="Codec Pro"/>
                  <a:ea typeface="Codec Pro"/>
                  <a:cs typeface="Codec Pro"/>
                  <a:sym typeface="Codec Pro"/>
                </a:rPr>
                <a:t>virtuous</a:t>
              </a:r>
              <a:r>
                <a:rPr lang="en-US" sz="2919" spc="-169" dirty="0">
                  <a:solidFill>
                    <a:srgbClr val="0053EB"/>
                  </a:solidFill>
                  <a:latin typeface="Codec Pro"/>
                  <a:ea typeface="Codec Pro"/>
                  <a:cs typeface="Codec Pro"/>
                  <a:sym typeface="Codec Pro"/>
                </a:rPr>
                <a:t>info</a:t>
              </a:r>
            </a:p>
          </p:txBody>
        </p:sp>
      </p:grpSp>
      <p:sp>
        <p:nvSpPr>
          <p:cNvPr id="13" name="TextBox 19">
            <a:extLst>
              <a:ext uri="{FF2B5EF4-FFF2-40B4-BE49-F238E27FC236}">
                <a16:creationId xmlns:a16="http://schemas.microsoft.com/office/drawing/2014/main" id="{FCC95918-99F1-6C67-9D98-26A8C9305C53}"/>
              </a:ext>
            </a:extLst>
          </p:cNvPr>
          <p:cNvSpPr txBox="1"/>
          <p:nvPr/>
        </p:nvSpPr>
        <p:spPr>
          <a:xfrm>
            <a:off x="685800" y="5254067"/>
            <a:ext cx="10001216" cy="677365"/>
          </a:xfrm>
          <a:prstGeom prst="rect">
            <a:avLst/>
          </a:prstGeom>
        </p:spPr>
        <p:txBody>
          <a:bodyPr wrap="square" lIns="0" tIns="0" rIns="0" bIns="0" rtlCol="0" anchor="t">
            <a:spAutoFit/>
          </a:bodyPr>
          <a:lstStyle/>
          <a:p>
            <a:pPr algn="just">
              <a:lnSpc>
                <a:spcPts val="1680"/>
              </a:lnSpc>
              <a:spcBef>
                <a:spcPct val="0"/>
              </a:spcBef>
            </a:pPr>
            <a:r>
              <a:rPr lang="en-US" sz="1600" b="1" dirty="0">
                <a:solidFill>
                  <a:schemeClr val="tx2">
                    <a:lumMod val="75000"/>
                  </a:schemeClr>
                </a:solidFill>
                <a:latin typeface="Codec Pro" panose="020B0604020202020204" charset="0"/>
                <a:sym typeface="Codec Pro"/>
              </a:rPr>
              <a:t>Turning Business Challenges into</a:t>
            </a:r>
          </a:p>
          <a:p>
            <a:pPr algn="just">
              <a:lnSpc>
                <a:spcPts val="1680"/>
              </a:lnSpc>
              <a:spcBef>
                <a:spcPct val="0"/>
              </a:spcBef>
            </a:pPr>
            <a:endParaRPr lang="en-US" sz="1600" b="1" dirty="0">
              <a:solidFill>
                <a:srgbClr val="0066FF"/>
              </a:solidFill>
              <a:latin typeface="Codec Pro" panose="020B0604020202020204" charset="0"/>
              <a:sym typeface="Codec Pro"/>
            </a:endParaRPr>
          </a:p>
          <a:p>
            <a:pPr algn="just">
              <a:lnSpc>
                <a:spcPts val="1680"/>
              </a:lnSpc>
              <a:spcBef>
                <a:spcPct val="0"/>
              </a:spcBef>
            </a:pPr>
            <a:r>
              <a:rPr lang="en-US" sz="1600" b="1" dirty="0">
                <a:solidFill>
                  <a:srgbClr val="0066FF"/>
                </a:solidFill>
                <a:latin typeface="Codec Pro" panose="020B0604020202020204" charset="0"/>
                <a:sym typeface="Codec Pro"/>
              </a:rPr>
              <a:t>Intelligent Solutions</a:t>
            </a:r>
          </a:p>
        </p:txBody>
      </p:sp>
      <p:sp>
        <p:nvSpPr>
          <p:cNvPr id="11" name="AutoShape 2">
            <a:extLst>
              <a:ext uri="{FF2B5EF4-FFF2-40B4-BE49-F238E27FC236}">
                <a16:creationId xmlns:a16="http://schemas.microsoft.com/office/drawing/2014/main" id="{AAED68A2-0EA4-F22B-7F20-CF35B0115759}"/>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61D2CADF-AAFC-DEDF-5372-54E23A9F185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86B80329-E9EB-A7C0-5237-D348EFF42A50}"/>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0" name="Text 2">
            <a:extLst>
              <a:ext uri="{FF2B5EF4-FFF2-40B4-BE49-F238E27FC236}">
                <a16:creationId xmlns:a16="http://schemas.microsoft.com/office/drawing/2014/main" id="{F2C0C80C-D454-430F-9864-8C7B0046FBBF}"/>
              </a:ext>
            </a:extLst>
          </p:cNvPr>
          <p:cNvSpPr txBox="1"/>
          <p:nvPr/>
        </p:nvSpPr>
        <p:spPr>
          <a:xfrm>
            <a:off x="679567" y="1847503"/>
            <a:ext cx="1828800" cy="914400"/>
          </a:xfrm>
          <a:prstGeom prst="rect">
            <a:avLst/>
          </a:prstGeom>
          <a:noFill/>
          <a:ln/>
        </p:spPr>
        <p:txBody>
          <a:bodyPr wrap="square" lIns="0" tIns="0" rIns="0" bIns="0" rtlCol="0" anchor="ctr"/>
          <a:lstStyle/>
          <a:p>
            <a:pPr marL="0" indent="0">
              <a:buNone/>
            </a:pPr>
            <a:r>
              <a:rPr lang="en-US" sz="5000" b="1" dirty="0">
                <a:solidFill>
                  <a:srgbClr val="0066FF"/>
                </a:solidFill>
                <a:latin typeface="Codec Pro" panose="020B0604020202020204" charset="0"/>
                <a:ea typeface="Calibri" pitchFamily="34" charset="-122"/>
                <a:cs typeface="Calibri" pitchFamily="34" charset="-120"/>
              </a:rPr>
              <a:t>02</a:t>
            </a:r>
            <a:endParaRPr lang="en-US" sz="5000" dirty="0">
              <a:solidFill>
                <a:srgbClr val="0066FF"/>
              </a:solidFill>
              <a:latin typeface="Codec Pro" panose="020B0604020202020204" charset="0"/>
            </a:endParaRPr>
          </a:p>
        </p:txBody>
      </p:sp>
      <p:sp>
        <p:nvSpPr>
          <p:cNvPr id="23" name="Text 3">
            <a:extLst>
              <a:ext uri="{FF2B5EF4-FFF2-40B4-BE49-F238E27FC236}">
                <a16:creationId xmlns:a16="http://schemas.microsoft.com/office/drawing/2014/main" id="{C5DD5B7B-04A8-48BD-B31C-2C7B1A821424}"/>
              </a:ext>
            </a:extLst>
          </p:cNvPr>
          <p:cNvSpPr txBox="1"/>
          <p:nvPr/>
        </p:nvSpPr>
        <p:spPr>
          <a:xfrm>
            <a:off x="679567" y="2788920"/>
            <a:ext cx="7772400" cy="731520"/>
          </a:xfrm>
          <a:prstGeom prst="rect">
            <a:avLst/>
          </a:prstGeom>
          <a:noFill/>
          <a:ln/>
        </p:spPr>
        <p:txBody>
          <a:bodyPr wrap="square" lIns="0" tIns="0" rIns="0" bIns="0" rtlCol="0" anchor="ctr"/>
          <a:lstStyle/>
          <a:p>
            <a:pPr marL="0" indent="0">
              <a:buNone/>
            </a:pPr>
            <a:r>
              <a:rPr lang="en-US" sz="3400" b="1" dirty="0">
                <a:solidFill>
                  <a:srgbClr val="002060"/>
                </a:solidFill>
                <a:latin typeface="Codec Pro" panose="020B0604020202020204" charset="0"/>
                <a:ea typeface="Calibri" pitchFamily="34" charset="-122"/>
                <a:cs typeface="Calibri" pitchFamily="34" charset="-120"/>
              </a:rPr>
              <a:t>Migration Approach</a:t>
            </a:r>
            <a:endParaRPr lang="en-US" sz="3400" dirty="0">
              <a:solidFill>
                <a:srgbClr val="002060"/>
              </a:solidFill>
              <a:latin typeface="Codec Pro" panose="020B0604020202020204" charset="0"/>
            </a:endParaRPr>
          </a:p>
        </p:txBody>
      </p:sp>
      <p:sp>
        <p:nvSpPr>
          <p:cNvPr id="24" name="Text 4">
            <a:extLst>
              <a:ext uri="{FF2B5EF4-FFF2-40B4-BE49-F238E27FC236}">
                <a16:creationId xmlns:a16="http://schemas.microsoft.com/office/drawing/2014/main" id="{9D439EF8-9CDC-4DC5-BE3F-62A0D2E5FA1A}"/>
              </a:ext>
            </a:extLst>
          </p:cNvPr>
          <p:cNvSpPr txBox="1"/>
          <p:nvPr/>
        </p:nvSpPr>
        <p:spPr>
          <a:xfrm>
            <a:off x="700349" y="3695008"/>
            <a:ext cx="7680960" cy="822960"/>
          </a:xfrm>
          <a:prstGeom prst="rect">
            <a:avLst/>
          </a:prstGeom>
          <a:noFill/>
          <a:ln/>
        </p:spPr>
        <p:txBody>
          <a:bodyPr wrap="square" lIns="0" tIns="0" rIns="0" bIns="0" rtlCol="0" anchor="t"/>
          <a:lstStyle/>
          <a:p>
            <a:pPr marL="0" indent="0" algn="l">
              <a:lnSpc>
                <a:spcPct val="130000"/>
              </a:lnSpc>
              <a:buNone/>
            </a:pPr>
            <a:r>
              <a:rPr lang="en-US" sz="1400" dirty="0">
                <a:solidFill>
                  <a:schemeClr val="tx2">
                    <a:lumMod val="50000"/>
                  </a:schemeClr>
                </a:solidFill>
                <a:latin typeface="Codec Pro" panose="020B0604020202020204" charset="0"/>
                <a:ea typeface="Calibri" pitchFamily="34" charset="-122"/>
                <a:cs typeface="Calibri" pitchFamily="34" charset="-120"/>
              </a:rPr>
              <a:t> A phased, gated method built on Google's published deployment model for large organizations,</a:t>
            </a:r>
            <a:endParaRPr lang="en-US" sz="1400" dirty="0">
              <a:solidFill>
                <a:schemeClr val="tx2">
                  <a:lumMod val="50000"/>
                </a:schemeClr>
              </a:solidFill>
              <a:latin typeface="Codec Pro" panose="020B0604020202020204" charset="0"/>
            </a:endParaRPr>
          </a:p>
          <a:p>
            <a:pPr marL="0" indent="0" algn="l">
              <a:lnSpc>
                <a:spcPct val="130000"/>
              </a:lnSpc>
              <a:buNone/>
            </a:pPr>
            <a:r>
              <a:rPr lang="en-US" sz="1400" dirty="0">
                <a:solidFill>
                  <a:schemeClr val="tx2">
                    <a:lumMod val="50000"/>
                  </a:schemeClr>
                </a:solidFill>
                <a:latin typeface="Codec Pro" panose="020B0604020202020204" charset="0"/>
                <a:ea typeface="Calibri" pitchFamily="34" charset="-122"/>
                <a:cs typeface="Calibri" pitchFamily="34" charset="-120"/>
              </a:rPr>
              <a:t>extended for a regulated environment and a multi-wave programme.</a:t>
            </a:r>
            <a:endParaRPr lang="en-US" sz="1400" dirty="0">
              <a:solidFill>
                <a:schemeClr val="tx2">
                  <a:lumMod val="50000"/>
                </a:schemeClr>
              </a:solidFill>
              <a:latin typeface="Codec Pro" panose="020B0604020202020204" charset="0"/>
            </a:endParaRPr>
          </a:p>
          <a:p>
            <a:pPr marL="0" indent="0" algn="l">
              <a:lnSpc>
                <a:spcPct val="130000"/>
              </a:lnSpc>
              <a:buNone/>
            </a:pPr>
            <a:endParaRPr lang="en-US" sz="1400" dirty="0">
              <a:solidFill>
                <a:schemeClr val="tx2">
                  <a:lumMod val="50000"/>
                </a:schemeClr>
              </a:solidFill>
              <a:latin typeface="Codec Pro" panose="020B0604020202020204" charset="0"/>
            </a:endParaRPr>
          </a:p>
        </p:txBody>
      </p:sp>
    </p:spTree>
    <p:extLst>
      <p:ext uri="{BB962C8B-B14F-4D97-AF65-F5344CB8AC3E}">
        <p14:creationId xmlns:p14="http://schemas.microsoft.com/office/powerpoint/2010/main" val="3299501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METHODOLOGY</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Five gated phases, anchored on Google's deployment model</a:t>
            </a:r>
            <a:endParaRPr lang="en-US" sz="2800" dirty="0"/>
          </a:p>
        </p:txBody>
      </p:sp>
      <p:sp>
        <p:nvSpPr>
          <p:cNvPr id="39" name="AutoShape 2">
            <a:extLst>
              <a:ext uri="{FF2B5EF4-FFF2-40B4-BE49-F238E27FC236}">
                <a16:creationId xmlns:a16="http://schemas.microsoft.com/office/drawing/2014/main" id="{11E62A3F-EFDF-4757-AFB3-351795C6ADFE}"/>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40" name="TextBox 7">
            <a:extLst>
              <a:ext uri="{FF2B5EF4-FFF2-40B4-BE49-F238E27FC236}">
                <a16:creationId xmlns:a16="http://schemas.microsoft.com/office/drawing/2014/main" id="{9E4E55D2-67DB-41EB-8C1F-982AB02577F1}"/>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41" name="TextBox 9">
            <a:extLst>
              <a:ext uri="{FF2B5EF4-FFF2-40B4-BE49-F238E27FC236}">
                <a16:creationId xmlns:a16="http://schemas.microsoft.com/office/drawing/2014/main" id="{5BB6F25A-4AE5-4367-9816-6D3A65FF56D1}"/>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42" name="TextBox 41">
            <a:extLst>
              <a:ext uri="{FF2B5EF4-FFF2-40B4-BE49-F238E27FC236}">
                <a16:creationId xmlns:a16="http://schemas.microsoft.com/office/drawing/2014/main" id="{D7C02A06-FDEB-450E-BC47-6392148B3617}"/>
              </a:ext>
            </a:extLst>
          </p:cNvPr>
          <p:cNvSpPr txBox="1"/>
          <p:nvPr/>
        </p:nvSpPr>
        <p:spPr>
          <a:xfrm>
            <a:off x="5911269" y="6533202"/>
            <a:ext cx="287258" cy="215444"/>
          </a:xfrm>
          <a:prstGeom prst="rect">
            <a:avLst/>
          </a:prstGeom>
          <a:noFill/>
        </p:spPr>
        <p:txBody>
          <a:bodyPr wrap="none" rtlCol="0">
            <a:spAutoFit/>
          </a:bodyPr>
          <a:lstStyle/>
          <a:p>
            <a:r>
              <a:rPr lang="en-US" sz="800" dirty="0"/>
              <a:t>16</a:t>
            </a:r>
          </a:p>
        </p:txBody>
      </p:sp>
      <p:grpSp>
        <p:nvGrpSpPr>
          <p:cNvPr id="3" name="Group 2">
            <a:extLst>
              <a:ext uri="{FF2B5EF4-FFF2-40B4-BE49-F238E27FC236}">
                <a16:creationId xmlns:a16="http://schemas.microsoft.com/office/drawing/2014/main" id="{60A6AC73-4FC0-97C9-E6E5-C4A972864B7E}"/>
              </a:ext>
            </a:extLst>
          </p:cNvPr>
          <p:cNvGrpSpPr/>
          <p:nvPr/>
        </p:nvGrpSpPr>
        <p:grpSpPr>
          <a:xfrm>
            <a:off x="502920" y="1280160"/>
            <a:ext cx="10835640" cy="5122326"/>
            <a:chOff x="502920" y="1280160"/>
            <a:chExt cx="10835640" cy="5122326"/>
          </a:xfrm>
        </p:grpSpPr>
        <p:sp>
          <p:nvSpPr>
            <p:cNvPr id="43" name="Text 3">
              <a:extLst>
                <a:ext uri="{FF2B5EF4-FFF2-40B4-BE49-F238E27FC236}">
                  <a16:creationId xmlns:a16="http://schemas.microsoft.com/office/drawing/2014/main" id="{4080F476-CEC6-1E55-8C72-B5FC4B781F06}"/>
                </a:ext>
              </a:extLst>
            </p:cNvPr>
            <p:cNvSpPr txBox="1"/>
            <p:nvPr/>
          </p:nvSpPr>
          <p:spPr>
            <a:xfrm>
              <a:off x="502920" y="1280160"/>
              <a:ext cx="10424160" cy="457200"/>
            </a:xfrm>
            <a:prstGeom prst="rect">
              <a:avLst/>
            </a:prstGeom>
            <a:noFill/>
            <a:ln/>
          </p:spPr>
          <p:txBody>
            <a:bodyPr wrap="square" lIns="0" tIns="0" rIns="0" bIns="0" rtlCol="0" anchor="t"/>
            <a:lstStyle/>
            <a:p>
              <a:pPr marL="0" indent="0" algn="l">
                <a:lnSpc>
                  <a:spcPct val="115000"/>
                </a:lnSpc>
                <a:buNone/>
              </a:pPr>
              <a:r>
                <a:rPr lang="en-US" sz="1100" dirty="0">
                  <a:solidFill>
                    <a:srgbClr val="5D6B8C"/>
                  </a:solidFill>
                  <a:latin typeface="Calibri" pitchFamily="34" charset="0"/>
                  <a:ea typeface="Calibri" pitchFamily="34" charset="-122"/>
                  <a:cs typeface="Calibri" pitchFamily="34" charset="-120"/>
                </a:rPr>
                <a:t>Five gated phases. The middle three are Google's published onboarding sequence for large deployments, used unchanged. The first and last are the engagement phases Google wraps around it - made explicit here because a regulated estate cannot skip either.</a:t>
              </a:r>
              <a:endParaRPr lang="en-US" sz="1100" dirty="0"/>
            </a:p>
          </p:txBody>
        </p:sp>
        <p:sp>
          <p:nvSpPr>
            <p:cNvPr id="44" name="Shape 4">
              <a:extLst>
                <a:ext uri="{FF2B5EF4-FFF2-40B4-BE49-F238E27FC236}">
                  <a16:creationId xmlns:a16="http://schemas.microsoft.com/office/drawing/2014/main" id="{070AFDA7-3025-EC25-02F7-1E489AB4A097}"/>
                </a:ext>
              </a:extLst>
            </p:cNvPr>
            <p:cNvSpPr/>
            <p:nvPr/>
          </p:nvSpPr>
          <p:spPr>
            <a:xfrm>
              <a:off x="502920" y="1883664"/>
              <a:ext cx="2035454" cy="2743200"/>
            </a:xfrm>
            <a:prstGeom prst="roundRect">
              <a:avLst>
                <a:gd name="adj" fmla="val 2246"/>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5" name="Shape 5">
              <a:extLst>
                <a:ext uri="{FF2B5EF4-FFF2-40B4-BE49-F238E27FC236}">
                  <a16:creationId xmlns:a16="http://schemas.microsoft.com/office/drawing/2014/main" id="{106EFA0F-8E4B-CF0A-DF26-D3E2068D94DD}"/>
                </a:ext>
              </a:extLst>
            </p:cNvPr>
            <p:cNvSpPr/>
            <p:nvPr/>
          </p:nvSpPr>
          <p:spPr>
            <a:xfrm>
              <a:off x="704088" y="2066544"/>
              <a:ext cx="384048" cy="384048"/>
            </a:xfrm>
            <a:prstGeom prst="ellipse">
              <a:avLst/>
            </a:prstGeom>
            <a:solidFill>
              <a:srgbClr val="0053EB"/>
            </a:solidFill>
            <a:ln w="12700">
              <a:solidFill>
                <a:srgbClr val="0053EB"/>
              </a:solidFill>
              <a:prstDash val="solid"/>
            </a:ln>
          </p:spPr>
          <p:txBody>
            <a:bodyPr/>
            <a:lstStyle/>
            <a:p>
              <a:endParaRPr lang="en-IN"/>
            </a:p>
          </p:txBody>
        </p:sp>
        <p:sp>
          <p:nvSpPr>
            <p:cNvPr id="46" name="Text 6">
              <a:extLst>
                <a:ext uri="{FF2B5EF4-FFF2-40B4-BE49-F238E27FC236}">
                  <a16:creationId xmlns:a16="http://schemas.microsoft.com/office/drawing/2014/main" id="{D04695A8-891A-AF54-DC00-59DF785884AD}"/>
                </a:ext>
              </a:extLst>
            </p:cNvPr>
            <p:cNvSpPr txBox="1"/>
            <p:nvPr/>
          </p:nvSpPr>
          <p:spPr>
            <a:xfrm>
              <a:off x="704088" y="2066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47" name="Text 7">
              <a:extLst>
                <a:ext uri="{FF2B5EF4-FFF2-40B4-BE49-F238E27FC236}">
                  <a16:creationId xmlns:a16="http://schemas.microsoft.com/office/drawing/2014/main" id="{8BF6AAD4-769F-60F6-D5C8-68FB58D0346D}"/>
                </a:ext>
              </a:extLst>
            </p:cNvPr>
            <p:cNvSpPr txBox="1"/>
            <p:nvPr/>
          </p:nvSpPr>
          <p:spPr>
            <a:xfrm>
              <a:off x="704088" y="2596896"/>
              <a:ext cx="1700784" cy="685800"/>
            </a:xfrm>
            <a:prstGeom prst="rect">
              <a:avLst/>
            </a:prstGeom>
            <a:noFill/>
            <a:ln/>
          </p:spPr>
          <p:txBody>
            <a:bodyPr wrap="square" lIns="0" tIns="0" rIns="0" bIns="0" rtlCol="0" anchor="t"/>
            <a:lstStyle/>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Discovery</a:t>
              </a:r>
              <a:endParaRPr lang="en-US" sz="1200" dirty="0"/>
            </a:p>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&amp; design</a:t>
              </a:r>
              <a:endParaRPr lang="en-US" sz="1200" dirty="0"/>
            </a:p>
          </p:txBody>
        </p:sp>
        <p:sp>
          <p:nvSpPr>
            <p:cNvPr id="48" name="Text 8">
              <a:extLst>
                <a:ext uri="{FF2B5EF4-FFF2-40B4-BE49-F238E27FC236}">
                  <a16:creationId xmlns:a16="http://schemas.microsoft.com/office/drawing/2014/main" id="{3CC43815-3830-BD21-9560-CAEE82077CE7}"/>
                </a:ext>
              </a:extLst>
            </p:cNvPr>
            <p:cNvSpPr txBox="1"/>
            <p:nvPr/>
          </p:nvSpPr>
          <p:spPr>
            <a:xfrm>
              <a:off x="704088" y="3346704"/>
              <a:ext cx="1645920" cy="1234440"/>
            </a:xfrm>
            <a:prstGeom prst="rect">
              <a:avLst/>
            </a:prstGeom>
            <a:noFill/>
            <a:ln/>
          </p:spPr>
          <p:txBody>
            <a:bodyPr wrap="square" lIns="0" tIns="0" rIns="0" bIns="0" rtlCol="0" anchor="t"/>
            <a:lstStyle/>
            <a:p>
              <a:pPr marL="0" indent="0" algn="l">
                <a:lnSpc>
                  <a:spcPct val="108000"/>
                </a:lnSpc>
                <a:buNone/>
              </a:pPr>
              <a:r>
                <a:rPr lang="en-US" sz="840" dirty="0">
                  <a:solidFill>
                    <a:srgbClr val="5D6B8C"/>
                  </a:solidFill>
                  <a:latin typeface="Calibri" pitchFamily="34" charset="0"/>
                  <a:ea typeface="Calibri" pitchFamily="34" charset="-122"/>
                  <a:cs typeface="Calibri" pitchFamily="34" charset="-120"/>
                </a:rPr>
                <a:t>Telemetry-based assessment, target architecture, authentication design, data-region and retention design, wave model, limitation register v1</a:t>
              </a:r>
              <a:endParaRPr lang="en-US" sz="840" dirty="0"/>
            </a:p>
          </p:txBody>
        </p:sp>
        <p:sp>
          <p:nvSpPr>
            <p:cNvPr id="49" name="Text 9">
              <a:extLst>
                <a:ext uri="{FF2B5EF4-FFF2-40B4-BE49-F238E27FC236}">
                  <a16:creationId xmlns:a16="http://schemas.microsoft.com/office/drawing/2014/main" id="{CCBA380E-FACA-1A24-23F6-8A239F9BAC58}"/>
                </a:ext>
              </a:extLst>
            </p:cNvPr>
            <p:cNvSpPr txBox="1"/>
            <p:nvPr/>
          </p:nvSpPr>
          <p:spPr>
            <a:xfrm>
              <a:off x="2538374" y="3108960"/>
              <a:ext cx="164592" cy="256032"/>
            </a:xfrm>
            <a:prstGeom prst="rect">
              <a:avLst/>
            </a:prstGeom>
            <a:noFill/>
            <a:ln/>
          </p:spPr>
          <p:txBody>
            <a:bodyPr wrap="square" lIns="0" tIns="0" rIns="0" bIns="0" rtlCol="0" anchor="ctr"/>
            <a:lstStyle/>
            <a:p>
              <a:pPr marL="0" indent="0" algn="ctr">
                <a:buNone/>
              </a:pPr>
              <a:r>
                <a:rPr lang="en-US" sz="1300" b="1" dirty="0">
                  <a:solidFill>
                    <a:srgbClr val="AFC1E4"/>
                  </a:solidFill>
                  <a:latin typeface="Calibri" pitchFamily="34" charset="0"/>
                  <a:ea typeface="Calibri" pitchFamily="34" charset="-122"/>
                  <a:cs typeface="Calibri" pitchFamily="34" charset="-120"/>
                </a:rPr>
                <a:t>&gt;</a:t>
              </a:r>
              <a:endParaRPr lang="en-US" sz="1300" dirty="0"/>
            </a:p>
          </p:txBody>
        </p:sp>
        <p:sp>
          <p:nvSpPr>
            <p:cNvPr id="50" name="Shape 10">
              <a:extLst>
                <a:ext uri="{FF2B5EF4-FFF2-40B4-BE49-F238E27FC236}">
                  <a16:creationId xmlns:a16="http://schemas.microsoft.com/office/drawing/2014/main" id="{363DF309-FD17-1FF5-A93F-E0D65F456C8B}"/>
                </a:ext>
              </a:extLst>
            </p:cNvPr>
            <p:cNvSpPr/>
            <p:nvPr/>
          </p:nvSpPr>
          <p:spPr>
            <a:xfrm>
              <a:off x="2702966" y="1883664"/>
              <a:ext cx="2035454" cy="2743200"/>
            </a:xfrm>
            <a:prstGeom prst="roundRect">
              <a:avLst>
                <a:gd name="adj" fmla="val 2246"/>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51" name="Shape 11">
              <a:extLst>
                <a:ext uri="{FF2B5EF4-FFF2-40B4-BE49-F238E27FC236}">
                  <a16:creationId xmlns:a16="http://schemas.microsoft.com/office/drawing/2014/main" id="{4E0B1479-8A71-5B4C-5C0A-4F4AA875A5E7}"/>
                </a:ext>
              </a:extLst>
            </p:cNvPr>
            <p:cNvSpPr/>
            <p:nvPr/>
          </p:nvSpPr>
          <p:spPr>
            <a:xfrm>
              <a:off x="2904134" y="2066544"/>
              <a:ext cx="384048" cy="384048"/>
            </a:xfrm>
            <a:prstGeom prst="ellipse">
              <a:avLst/>
            </a:prstGeom>
            <a:solidFill>
              <a:srgbClr val="0C3EB1"/>
            </a:solidFill>
            <a:ln w="12700">
              <a:solidFill>
                <a:srgbClr val="0C3EB1"/>
              </a:solidFill>
              <a:prstDash val="solid"/>
            </a:ln>
          </p:spPr>
          <p:txBody>
            <a:bodyPr/>
            <a:lstStyle/>
            <a:p>
              <a:endParaRPr lang="en-IN"/>
            </a:p>
          </p:txBody>
        </p:sp>
        <p:sp>
          <p:nvSpPr>
            <p:cNvPr id="52" name="Text 12">
              <a:extLst>
                <a:ext uri="{FF2B5EF4-FFF2-40B4-BE49-F238E27FC236}">
                  <a16:creationId xmlns:a16="http://schemas.microsoft.com/office/drawing/2014/main" id="{5CEE94D1-3375-7DE4-46AE-34EDF2E4872C}"/>
                </a:ext>
              </a:extLst>
            </p:cNvPr>
            <p:cNvSpPr txBox="1"/>
            <p:nvPr/>
          </p:nvSpPr>
          <p:spPr>
            <a:xfrm>
              <a:off x="2904134" y="2066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3" name="Text 13">
              <a:extLst>
                <a:ext uri="{FF2B5EF4-FFF2-40B4-BE49-F238E27FC236}">
                  <a16:creationId xmlns:a16="http://schemas.microsoft.com/office/drawing/2014/main" id="{2F16DD95-5CEA-201B-7630-7D79EF4D9DB3}"/>
                </a:ext>
              </a:extLst>
            </p:cNvPr>
            <p:cNvSpPr txBox="1"/>
            <p:nvPr/>
          </p:nvSpPr>
          <p:spPr>
            <a:xfrm>
              <a:off x="2904134" y="2596896"/>
              <a:ext cx="1700784" cy="685800"/>
            </a:xfrm>
            <a:prstGeom prst="rect">
              <a:avLst/>
            </a:prstGeom>
            <a:noFill/>
            <a:ln/>
          </p:spPr>
          <p:txBody>
            <a:bodyPr wrap="square" lIns="0" tIns="0" rIns="0" bIns="0" rtlCol="0" anchor="t"/>
            <a:lstStyle/>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Core IT</a:t>
              </a:r>
              <a:endParaRPr lang="en-US" sz="1200" dirty="0"/>
            </a:p>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(POC)</a:t>
              </a:r>
              <a:endParaRPr lang="en-US" sz="1200" dirty="0"/>
            </a:p>
          </p:txBody>
        </p:sp>
        <p:sp>
          <p:nvSpPr>
            <p:cNvPr id="54" name="Text 14">
              <a:extLst>
                <a:ext uri="{FF2B5EF4-FFF2-40B4-BE49-F238E27FC236}">
                  <a16:creationId xmlns:a16="http://schemas.microsoft.com/office/drawing/2014/main" id="{CE2E5590-2075-ED4C-6F24-0E6B28A65E96}"/>
                </a:ext>
              </a:extLst>
            </p:cNvPr>
            <p:cNvSpPr txBox="1"/>
            <p:nvPr/>
          </p:nvSpPr>
          <p:spPr>
            <a:xfrm>
              <a:off x="2904134" y="3346704"/>
              <a:ext cx="1645920" cy="1234440"/>
            </a:xfrm>
            <a:prstGeom prst="rect">
              <a:avLst/>
            </a:prstGeom>
            <a:noFill/>
            <a:ln/>
          </p:spPr>
          <p:txBody>
            <a:bodyPr wrap="square" lIns="0" tIns="0" rIns="0" bIns="0" rtlCol="0" anchor="t"/>
            <a:lstStyle/>
            <a:p>
              <a:pPr marL="0" indent="0" algn="l">
                <a:lnSpc>
                  <a:spcPct val="108000"/>
                </a:lnSpc>
                <a:buNone/>
              </a:pPr>
              <a:r>
                <a:rPr lang="en-US" sz="840" dirty="0">
                  <a:solidFill>
                    <a:srgbClr val="5D6B8C"/>
                  </a:solidFill>
                  <a:latin typeface="Calibri" pitchFamily="34" charset="0"/>
                  <a:ea typeface="Calibri" pitchFamily="34" charset="-122"/>
                  <a:cs typeface="Calibri" pitchFamily="34" charset="-120"/>
                </a:rPr>
                <a:t>4-6 weeks, 15 users. Fidelity, throughput, authentication, coexistence and rollback proven. Exit gate signed before any wave</a:t>
              </a:r>
              <a:endParaRPr lang="en-US" sz="840" dirty="0"/>
            </a:p>
          </p:txBody>
        </p:sp>
        <p:sp>
          <p:nvSpPr>
            <p:cNvPr id="55" name="Text 15">
              <a:extLst>
                <a:ext uri="{FF2B5EF4-FFF2-40B4-BE49-F238E27FC236}">
                  <a16:creationId xmlns:a16="http://schemas.microsoft.com/office/drawing/2014/main" id="{FC05B871-6FF9-EA16-F62F-D440E9DFDDE4}"/>
                </a:ext>
              </a:extLst>
            </p:cNvPr>
            <p:cNvSpPr txBox="1"/>
            <p:nvPr/>
          </p:nvSpPr>
          <p:spPr>
            <a:xfrm>
              <a:off x="4738421" y="3108960"/>
              <a:ext cx="164592" cy="256032"/>
            </a:xfrm>
            <a:prstGeom prst="rect">
              <a:avLst/>
            </a:prstGeom>
            <a:noFill/>
            <a:ln/>
          </p:spPr>
          <p:txBody>
            <a:bodyPr wrap="square" lIns="0" tIns="0" rIns="0" bIns="0" rtlCol="0" anchor="ctr"/>
            <a:lstStyle/>
            <a:p>
              <a:pPr marL="0" indent="0" algn="ctr">
                <a:buNone/>
              </a:pPr>
              <a:r>
                <a:rPr lang="en-US" sz="1300" b="1" dirty="0">
                  <a:solidFill>
                    <a:srgbClr val="AFC1E4"/>
                  </a:solidFill>
                  <a:latin typeface="Calibri" pitchFamily="34" charset="0"/>
                  <a:ea typeface="Calibri" pitchFamily="34" charset="-122"/>
                  <a:cs typeface="Calibri" pitchFamily="34" charset="-120"/>
                </a:rPr>
                <a:t>&gt;</a:t>
              </a:r>
              <a:endParaRPr lang="en-US" sz="1300" dirty="0"/>
            </a:p>
          </p:txBody>
        </p:sp>
        <p:sp>
          <p:nvSpPr>
            <p:cNvPr id="56" name="Shape 16">
              <a:extLst>
                <a:ext uri="{FF2B5EF4-FFF2-40B4-BE49-F238E27FC236}">
                  <a16:creationId xmlns:a16="http://schemas.microsoft.com/office/drawing/2014/main" id="{1D56338E-CDDA-690E-00DD-B804F180D8AC}"/>
                </a:ext>
              </a:extLst>
            </p:cNvPr>
            <p:cNvSpPr/>
            <p:nvPr/>
          </p:nvSpPr>
          <p:spPr>
            <a:xfrm>
              <a:off x="4903013" y="1883664"/>
              <a:ext cx="2035454" cy="2743200"/>
            </a:xfrm>
            <a:prstGeom prst="roundRect">
              <a:avLst>
                <a:gd name="adj" fmla="val 2246"/>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7" name="Shape 17">
              <a:extLst>
                <a:ext uri="{FF2B5EF4-FFF2-40B4-BE49-F238E27FC236}">
                  <a16:creationId xmlns:a16="http://schemas.microsoft.com/office/drawing/2014/main" id="{6CDC2036-BA3B-7E41-A1E8-45B4C6B6E1F8}"/>
                </a:ext>
              </a:extLst>
            </p:cNvPr>
            <p:cNvSpPr/>
            <p:nvPr/>
          </p:nvSpPr>
          <p:spPr>
            <a:xfrm>
              <a:off x="5104181" y="2066544"/>
              <a:ext cx="384048" cy="384048"/>
            </a:xfrm>
            <a:prstGeom prst="ellipse">
              <a:avLst/>
            </a:prstGeom>
            <a:solidFill>
              <a:srgbClr val="0053EB"/>
            </a:solidFill>
            <a:ln w="12700">
              <a:solidFill>
                <a:srgbClr val="0053EB"/>
              </a:solidFill>
              <a:prstDash val="solid"/>
            </a:ln>
          </p:spPr>
          <p:txBody>
            <a:bodyPr/>
            <a:lstStyle/>
            <a:p>
              <a:endParaRPr lang="en-IN"/>
            </a:p>
          </p:txBody>
        </p:sp>
        <p:sp>
          <p:nvSpPr>
            <p:cNvPr id="58" name="Text 18">
              <a:extLst>
                <a:ext uri="{FF2B5EF4-FFF2-40B4-BE49-F238E27FC236}">
                  <a16:creationId xmlns:a16="http://schemas.microsoft.com/office/drawing/2014/main" id="{17ECE300-C5A9-863B-BECC-5990009E9DF0}"/>
                </a:ext>
              </a:extLst>
            </p:cNvPr>
            <p:cNvSpPr txBox="1"/>
            <p:nvPr/>
          </p:nvSpPr>
          <p:spPr>
            <a:xfrm>
              <a:off x="5104181" y="2066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59" name="Text 19">
              <a:extLst>
                <a:ext uri="{FF2B5EF4-FFF2-40B4-BE49-F238E27FC236}">
                  <a16:creationId xmlns:a16="http://schemas.microsoft.com/office/drawing/2014/main" id="{DFF35512-1AC8-C267-7AAE-71DB50C402D7}"/>
                </a:ext>
              </a:extLst>
            </p:cNvPr>
            <p:cNvSpPr txBox="1"/>
            <p:nvPr/>
          </p:nvSpPr>
          <p:spPr>
            <a:xfrm>
              <a:off x="5104181" y="2596896"/>
              <a:ext cx="1700784" cy="685800"/>
            </a:xfrm>
            <a:prstGeom prst="rect">
              <a:avLst/>
            </a:prstGeom>
            <a:noFill/>
            <a:ln/>
          </p:spPr>
          <p:txBody>
            <a:bodyPr wrap="square" lIns="0" tIns="0" rIns="0" bIns="0" rtlCol="0" anchor="t"/>
            <a:lstStyle/>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Early adopters</a:t>
              </a:r>
              <a:endParaRPr lang="en-US" sz="1200" dirty="0"/>
            </a:p>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&amp; foundation</a:t>
              </a:r>
              <a:endParaRPr lang="en-US" sz="1200" dirty="0"/>
            </a:p>
          </p:txBody>
        </p:sp>
        <p:sp>
          <p:nvSpPr>
            <p:cNvPr id="60" name="Text 20">
              <a:extLst>
                <a:ext uri="{FF2B5EF4-FFF2-40B4-BE49-F238E27FC236}">
                  <a16:creationId xmlns:a16="http://schemas.microsoft.com/office/drawing/2014/main" id="{1E1B7459-C77A-82F1-2948-13F19659CA3A}"/>
                </a:ext>
              </a:extLst>
            </p:cNvPr>
            <p:cNvSpPr txBox="1"/>
            <p:nvPr/>
          </p:nvSpPr>
          <p:spPr>
            <a:xfrm>
              <a:off x="5104181" y="3346704"/>
              <a:ext cx="1645920" cy="1234440"/>
            </a:xfrm>
            <a:prstGeom prst="rect">
              <a:avLst/>
            </a:prstGeom>
            <a:noFill/>
            <a:ln/>
          </p:spPr>
          <p:txBody>
            <a:bodyPr wrap="square" lIns="0" tIns="0" rIns="0" bIns="0" rtlCol="0" anchor="t"/>
            <a:lstStyle/>
            <a:p>
              <a:pPr marL="0" indent="0" algn="l">
                <a:lnSpc>
                  <a:spcPct val="108000"/>
                </a:lnSpc>
                <a:buNone/>
              </a:pPr>
              <a:r>
                <a:rPr lang="en-US" sz="840" dirty="0">
                  <a:solidFill>
                    <a:srgbClr val="5D6B8C"/>
                  </a:solidFill>
                  <a:latin typeface="Calibri" pitchFamily="34" charset="0"/>
                  <a:ea typeface="Calibri" pitchFamily="34" charset="-122"/>
                  <a:cs typeface="Calibri" pitchFamily="34" charset="-120"/>
                </a:rPr>
                <a:t>About 5% of users. Tenant hardening, relay and integration re-pointing rehearsed, helpdesk runbooks live, comms campaign starts</a:t>
              </a:r>
              <a:endParaRPr lang="en-US" sz="840" dirty="0"/>
            </a:p>
          </p:txBody>
        </p:sp>
        <p:sp>
          <p:nvSpPr>
            <p:cNvPr id="61" name="Text 21">
              <a:extLst>
                <a:ext uri="{FF2B5EF4-FFF2-40B4-BE49-F238E27FC236}">
                  <a16:creationId xmlns:a16="http://schemas.microsoft.com/office/drawing/2014/main" id="{6B19E405-3FC8-288A-8527-68C7DBE6DE53}"/>
                </a:ext>
              </a:extLst>
            </p:cNvPr>
            <p:cNvSpPr txBox="1"/>
            <p:nvPr/>
          </p:nvSpPr>
          <p:spPr>
            <a:xfrm>
              <a:off x="6938467" y="3108960"/>
              <a:ext cx="164592" cy="256032"/>
            </a:xfrm>
            <a:prstGeom prst="rect">
              <a:avLst/>
            </a:prstGeom>
            <a:noFill/>
            <a:ln/>
          </p:spPr>
          <p:txBody>
            <a:bodyPr wrap="square" lIns="0" tIns="0" rIns="0" bIns="0" rtlCol="0" anchor="ctr"/>
            <a:lstStyle/>
            <a:p>
              <a:pPr marL="0" indent="0" algn="ctr">
                <a:buNone/>
              </a:pPr>
              <a:r>
                <a:rPr lang="en-US" sz="1300" b="1" dirty="0">
                  <a:solidFill>
                    <a:srgbClr val="AFC1E4"/>
                  </a:solidFill>
                  <a:latin typeface="Calibri" pitchFamily="34" charset="0"/>
                  <a:ea typeface="Calibri" pitchFamily="34" charset="-122"/>
                  <a:cs typeface="Calibri" pitchFamily="34" charset="-120"/>
                </a:rPr>
                <a:t>&gt;</a:t>
              </a:r>
              <a:endParaRPr lang="en-US" sz="1300" dirty="0"/>
            </a:p>
          </p:txBody>
        </p:sp>
        <p:sp>
          <p:nvSpPr>
            <p:cNvPr id="62" name="Shape 22">
              <a:extLst>
                <a:ext uri="{FF2B5EF4-FFF2-40B4-BE49-F238E27FC236}">
                  <a16:creationId xmlns:a16="http://schemas.microsoft.com/office/drawing/2014/main" id="{CB4D7826-8DCF-EBF9-7753-5B1D1698E434}"/>
                </a:ext>
              </a:extLst>
            </p:cNvPr>
            <p:cNvSpPr/>
            <p:nvPr/>
          </p:nvSpPr>
          <p:spPr>
            <a:xfrm>
              <a:off x="7103059" y="1883664"/>
              <a:ext cx="2035454" cy="2743200"/>
            </a:xfrm>
            <a:prstGeom prst="roundRect">
              <a:avLst>
                <a:gd name="adj" fmla="val 2246"/>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63" name="Shape 23">
              <a:extLst>
                <a:ext uri="{FF2B5EF4-FFF2-40B4-BE49-F238E27FC236}">
                  <a16:creationId xmlns:a16="http://schemas.microsoft.com/office/drawing/2014/main" id="{EF2646F3-CE76-8512-F8F3-7F794A01708A}"/>
                </a:ext>
              </a:extLst>
            </p:cNvPr>
            <p:cNvSpPr/>
            <p:nvPr/>
          </p:nvSpPr>
          <p:spPr>
            <a:xfrm>
              <a:off x="7304227" y="2066544"/>
              <a:ext cx="384048" cy="384048"/>
            </a:xfrm>
            <a:prstGeom prst="ellipse">
              <a:avLst/>
            </a:prstGeom>
            <a:solidFill>
              <a:srgbClr val="0C3EB1"/>
            </a:solidFill>
            <a:ln w="12700">
              <a:solidFill>
                <a:srgbClr val="0C3EB1"/>
              </a:solidFill>
              <a:prstDash val="solid"/>
            </a:ln>
          </p:spPr>
          <p:txBody>
            <a:bodyPr/>
            <a:lstStyle/>
            <a:p>
              <a:endParaRPr lang="en-IN"/>
            </a:p>
          </p:txBody>
        </p:sp>
        <p:sp>
          <p:nvSpPr>
            <p:cNvPr id="64" name="Text 24">
              <a:extLst>
                <a:ext uri="{FF2B5EF4-FFF2-40B4-BE49-F238E27FC236}">
                  <a16:creationId xmlns:a16="http://schemas.microsoft.com/office/drawing/2014/main" id="{84DB39A1-A67F-4DF2-9C20-32F94C1CC1A1}"/>
                </a:ext>
              </a:extLst>
            </p:cNvPr>
            <p:cNvSpPr txBox="1"/>
            <p:nvPr/>
          </p:nvSpPr>
          <p:spPr>
            <a:xfrm>
              <a:off x="7304227" y="2066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65" name="Text 25">
              <a:extLst>
                <a:ext uri="{FF2B5EF4-FFF2-40B4-BE49-F238E27FC236}">
                  <a16:creationId xmlns:a16="http://schemas.microsoft.com/office/drawing/2014/main" id="{E5410A50-C508-85B7-08B8-A53554F68EAF}"/>
                </a:ext>
              </a:extLst>
            </p:cNvPr>
            <p:cNvSpPr txBox="1"/>
            <p:nvPr/>
          </p:nvSpPr>
          <p:spPr>
            <a:xfrm>
              <a:off x="7304227" y="2596896"/>
              <a:ext cx="1700784" cy="685800"/>
            </a:xfrm>
            <a:prstGeom prst="rect">
              <a:avLst/>
            </a:prstGeom>
            <a:noFill/>
            <a:ln/>
          </p:spPr>
          <p:txBody>
            <a:bodyPr wrap="square" lIns="0" tIns="0" rIns="0" bIns="0" rtlCol="0" anchor="t"/>
            <a:lstStyle/>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Production</a:t>
              </a:r>
              <a:endParaRPr lang="en-US" sz="1200" dirty="0"/>
            </a:p>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waves</a:t>
              </a:r>
              <a:endParaRPr lang="en-US" sz="1200" dirty="0"/>
            </a:p>
          </p:txBody>
        </p:sp>
        <p:sp>
          <p:nvSpPr>
            <p:cNvPr id="66" name="Text 26">
              <a:extLst>
                <a:ext uri="{FF2B5EF4-FFF2-40B4-BE49-F238E27FC236}">
                  <a16:creationId xmlns:a16="http://schemas.microsoft.com/office/drawing/2014/main" id="{7221EBC6-512E-853E-D26E-9B7145BA96AE}"/>
                </a:ext>
              </a:extLst>
            </p:cNvPr>
            <p:cNvSpPr txBox="1"/>
            <p:nvPr/>
          </p:nvSpPr>
          <p:spPr>
            <a:xfrm>
              <a:off x="7304227" y="3346704"/>
              <a:ext cx="1645920" cy="1234440"/>
            </a:xfrm>
            <a:prstGeom prst="rect">
              <a:avLst/>
            </a:prstGeom>
            <a:noFill/>
            <a:ln/>
          </p:spPr>
          <p:txBody>
            <a:bodyPr wrap="square" lIns="0" tIns="0" rIns="0" bIns="0" rtlCol="0" anchor="t"/>
            <a:lstStyle/>
            <a:p>
              <a:pPr marL="0" indent="0" algn="l">
                <a:lnSpc>
                  <a:spcPct val="108000"/>
                </a:lnSpc>
                <a:buNone/>
              </a:pPr>
              <a:r>
                <a:rPr lang="en-US" sz="840" dirty="0">
                  <a:solidFill>
                    <a:srgbClr val="5D6B8C"/>
                  </a:solidFill>
                  <a:latin typeface="Calibri" pitchFamily="34" charset="0"/>
                  <a:ea typeface="Calibri" pitchFamily="34" charset="-122"/>
                  <a:cs typeface="Calibri" pitchFamily="34" charset="-120"/>
                </a:rPr>
                <a:t>The remaining population in equal waves. Pre-stage, delta, cutover, reconcile, sign off - repeated identically each time</a:t>
              </a:r>
              <a:endParaRPr lang="en-US" sz="840" dirty="0"/>
            </a:p>
          </p:txBody>
        </p:sp>
        <p:sp>
          <p:nvSpPr>
            <p:cNvPr id="67" name="Text 27">
              <a:extLst>
                <a:ext uri="{FF2B5EF4-FFF2-40B4-BE49-F238E27FC236}">
                  <a16:creationId xmlns:a16="http://schemas.microsoft.com/office/drawing/2014/main" id="{70E1FB52-52FC-E8CB-0255-6C4EDDF6A81B}"/>
                </a:ext>
              </a:extLst>
            </p:cNvPr>
            <p:cNvSpPr txBox="1"/>
            <p:nvPr/>
          </p:nvSpPr>
          <p:spPr>
            <a:xfrm>
              <a:off x="9138514" y="3108960"/>
              <a:ext cx="164592" cy="256032"/>
            </a:xfrm>
            <a:prstGeom prst="rect">
              <a:avLst/>
            </a:prstGeom>
            <a:noFill/>
            <a:ln/>
          </p:spPr>
          <p:txBody>
            <a:bodyPr wrap="square" lIns="0" tIns="0" rIns="0" bIns="0" rtlCol="0" anchor="ctr"/>
            <a:lstStyle/>
            <a:p>
              <a:pPr marL="0" indent="0" algn="ctr">
                <a:buNone/>
              </a:pPr>
              <a:r>
                <a:rPr lang="en-US" sz="1300" b="1" dirty="0">
                  <a:solidFill>
                    <a:srgbClr val="AFC1E4"/>
                  </a:solidFill>
                  <a:latin typeface="Calibri" pitchFamily="34" charset="0"/>
                  <a:ea typeface="Calibri" pitchFamily="34" charset="-122"/>
                  <a:cs typeface="Calibri" pitchFamily="34" charset="-120"/>
                </a:rPr>
                <a:t>&gt;</a:t>
              </a:r>
              <a:endParaRPr lang="en-US" sz="1300" dirty="0"/>
            </a:p>
          </p:txBody>
        </p:sp>
        <p:sp>
          <p:nvSpPr>
            <p:cNvPr id="68" name="Shape 28">
              <a:extLst>
                <a:ext uri="{FF2B5EF4-FFF2-40B4-BE49-F238E27FC236}">
                  <a16:creationId xmlns:a16="http://schemas.microsoft.com/office/drawing/2014/main" id="{7A3C0721-39AA-5C3A-29DE-2EE078E6C8B0}"/>
                </a:ext>
              </a:extLst>
            </p:cNvPr>
            <p:cNvSpPr/>
            <p:nvPr/>
          </p:nvSpPr>
          <p:spPr>
            <a:xfrm>
              <a:off x="9303106" y="1883664"/>
              <a:ext cx="2035454" cy="2743200"/>
            </a:xfrm>
            <a:prstGeom prst="roundRect">
              <a:avLst>
                <a:gd name="adj" fmla="val 2246"/>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69" name="Shape 29">
              <a:extLst>
                <a:ext uri="{FF2B5EF4-FFF2-40B4-BE49-F238E27FC236}">
                  <a16:creationId xmlns:a16="http://schemas.microsoft.com/office/drawing/2014/main" id="{410CF557-8E19-CD2B-36BF-6824F8D2561A}"/>
                </a:ext>
              </a:extLst>
            </p:cNvPr>
            <p:cNvSpPr/>
            <p:nvPr/>
          </p:nvSpPr>
          <p:spPr>
            <a:xfrm>
              <a:off x="9504274" y="2066544"/>
              <a:ext cx="384048" cy="384048"/>
            </a:xfrm>
            <a:prstGeom prst="ellipse">
              <a:avLst/>
            </a:prstGeom>
            <a:solidFill>
              <a:srgbClr val="0053EB"/>
            </a:solidFill>
            <a:ln w="12700">
              <a:solidFill>
                <a:srgbClr val="0053EB"/>
              </a:solidFill>
              <a:prstDash val="solid"/>
            </a:ln>
          </p:spPr>
          <p:txBody>
            <a:bodyPr/>
            <a:lstStyle/>
            <a:p>
              <a:endParaRPr lang="en-IN"/>
            </a:p>
          </p:txBody>
        </p:sp>
        <p:sp>
          <p:nvSpPr>
            <p:cNvPr id="70" name="Text 30">
              <a:extLst>
                <a:ext uri="{FF2B5EF4-FFF2-40B4-BE49-F238E27FC236}">
                  <a16:creationId xmlns:a16="http://schemas.microsoft.com/office/drawing/2014/main" id="{3AED6BA7-B557-B7F0-9D95-97C1EEAC9ED6}"/>
                </a:ext>
              </a:extLst>
            </p:cNvPr>
            <p:cNvSpPr txBox="1"/>
            <p:nvPr/>
          </p:nvSpPr>
          <p:spPr>
            <a:xfrm>
              <a:off x="9504274" y="206654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71" name="Text 31">
              <a:extLst>
                <a:ext uri="{FF2B5EF4-FFF2-40B4-BE49-F238E27FC236}">
                  <a16:creationId xmlns:a16="http://schemas.microsoft.com/office/drawing/2014/main" id="{A81D1767-8B80-CFA1-F1D5-B358D1B623D3}"/>
                </a:ext>
              </a:extLst>
            </p:cNvPr>
            <p:cNvSpPr txBox="1"/>
            <p:nvPr/>
          </p:nvSpPr>
          <p:spPr>
            <a:xfrm>
              <a:off x="9504274" y="2596896"/>
              <a:ext cx="1700784" cy="685800"/>
            </a:xfrm>
            <a:prstGeom prst="rect">
              <a:avLst/>
            </a:prstGeom>
            <a:noFill/>
            <a:ln/>
          </p:spPr>
          <p:txBody>
            <a:bodyPr wrap="square" lIns="0" tIns="0" rIns="0" bIns="0" rtlCol="0" anchor="t"/>
            <a:lstStyle/>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Hypercare, then</a:t>
              </a:r>
              <a:endParaRPr lang="en-US" sz="1200" dirty="0"/>
            </a:p>
            <a:p>
              <a:pPr marL="0" indent="0" algn="l">
                <a:lnSpc>
                  <a:spcPct val="95000"/>
                </a:lnSpc>
                <a:buNone/>
              </a:pPr>
              <a:r>
                <a:rPr lang="en-US" sz="1200" b="1" dirty="0">
                  <a:solidFill>
                    <a:srgbClr val="001D5F"/>
                  </a:solidFill>
                  <a:latin typeface="Calibri" pitchFamily="34" charset="0"/>
                  <a:ea typeface="Calibri" pitchFamily="34" charset="-122"/>
                  <a:cs typeface="Calibri" pitchFamily="34" charset="-120"/>
                </a:rPr>
                <a:t>release 2</a:t>
              </a:r>
              <a:endParaRPr lang="en-US" sz="1200" dirty="0"/>
            </a:p>
          </p:txBody>
        </p:sp>
        <p:sp>
          <p:nvSpPr>
            <p:cNvPr id="72" name="Text 32">
              <a:extLst>
                <a:ext uri="{FF2B5EF4-FFF2-40B4-BE49-F238E27FC236}">
                  <a16:creationId xmlns:a16="http://schemas.microsoft.com/office/drawing/2014/main" id="{9745834C-A1F2-511C-1E1F-E6402B11C142}"/>
                </a:ext>
              </a:extLst>
            </p:cNvPr>
            <p:cNvSpPr txBox="1"/>
            <p:nvPr/>
          </p:nvSpPr>
          <p:spPr>
            <a:xfrm>
              <a:off x="9504274" y="3346704"/>
              <a:ext cx="1645920" cy="1234440"/>
            </a:xfrm>
            <a:prstGeom prst="rect">
              <a:avLst/>
            </a:prstGeom>
            <a:noFill/>
            <a:ln/>
          </p:spPr>
          <p:txBody>
            <a:bodyPr wrap="square" lIns="0" tIns="0" rIns="0" bIns="0" rtlCol="0" anchor="t"/>
            <a:lstStyle/>
            <a:p>
              <a:pPr marL="0" indent="0" algn="l">
                <a:lnSpc>
                  <a:spcPct val="108000"/>
                </a:lnSpc>
                <a:buNone/>
              </a:pPr>
              <a:r>
                <a:rPr lang="en-US" sz="840" dirty="0">
                  <a:solidFill>
                    <a:srgbClr val="5D6B8C"/>
                  </a:solidFill>
                  <a:latin typeface="Calibri" pitchFamily="34" charset="0"/>
                  <a:ea typeface="Calibri" pitchFamily="34" charset="-122"/>
                  <a:cs typeface="Calibri" pitchFamily="34" charset="-120"/>
                </a:rPr>
                <a:t>Hypercare and exception remediation, source data disposition, administrator handover - then identity ownership and endpoint re-management</a:t>
              </a:r>
              <a:endParaRPr lang="en-US" sz="840" dirty="0"/>
            </a:p>
          </p:txBody>
        </p:sp>
        <p:sp>
          <p:nvSpPr>
            <p:cNvPr id="73" name="Shape 33">
              <a:extLst>
                <a:ext uri="{FF2B5EF4-FFF2-40B4-BE49-F238E27FC236}">
                  <a16:creationId xmlns:a16="http://schemas.microsoft.com/office/drawing/2014/main" id="{13611CC4-CD8F-6783-B8B8-46D4DCBEA181}"/>
                </a:ext>
              </a:extLst>
            </p:cNvPr>
            <p:cNvSpPr/>
            <p:nvPr/>
          </p:nvSpPr>
          <p:spPr>
            <a:xfrm>
              <a:off x="502920" y="4809744"/>
              <a:ext cx="10835640" cy="1170432"/>
            </a:xfrm>
            <a:prstGeom prst="roundRect">
              <a:avLst>
                <a:gd name="adj" fmla="val 3906"/>
              </a:avLst>
            </a:prstGeom>
            <a:solidFill>
              <a:srgbClr val="001D5F"/>
            </a:solidFill>
            <a:ln w="12700">
              <a:solidFill>
                <a:srgbClr val="001D5F"/>
              </a:solidFill>
              <a:prstDash val="solid"/>
            </a:ln>
            <a:effectLst>
              <a:outerShdw blurRad="88900" dist="12700" dir="5400000" algn="bl" rotWithShape="0">
                <a:srgbClr val="000000">
                  <a:alpha val="7000"/>
                </a:srgbClr>
              </a:outerShdw>
            </a:effectLst>
          </p:spPr>
          <p:txBody>
            <a:bodyPr/>
            <a:lstStyle/>
            <a:p>
              <a:endParaRPr lang="en-IN"/>
            </a:p>
          </p:txBody>
        </p:sp>
        <p:sp>
          <p:nvSpPr>
            <p:cNvPr id="74" name="Text 34">
              <a:extLst>
                <a:ext uri="{FF2B5EF4-FFF2-40B4-BE49-F238E27FC236}">
                  <a16:creationId xmlns:a16="http://schemas.microsoft.com/office/drawing/2014/main" id="{5AAEFC6D-FFC5-FCB4-F620-23F2EE3993C2}"/>
                </a:ext>
              </a:extLst>
            </p:cNvPr>
            <p:cNvSpPr txBox="1"/>
            <p:nvPr/>
          </p:nvSpPr>
          <p:spPr>
            <a:xfrm>
              <a:off x="758952" y="4937760"/>
              <a:ext cx="10241280" cy="274320"/>
            </a:xfrm>
            <a:prstGeom prst="rect">
              <a:avLst/>
            </a:prstGeom>
            <a:noFill/>
            <a:ln/>
          </p:spPr>
          <p:txBody>
            <a:bodyPr wrap="square" lIns="0" tIns="0" rIns="0" bIns="0" rtlCol="0" anchor="t"/>
            <a:lstStyle/>
            <a:p>
              <a:pPr marL="0" indent="0" algn="l">
                <a:lnSpc>
                  <a:spcPct val="112000"/>
                </a:lnSpc>
                <a:buNone/>
              </a:pPr>
              <a:r>
                <a:rPr lang="en-US" sz="1100" b="1" dirty="0">
                  <a:solidFill>
                    <a:srgbClr val="78A8FF"/>
                  </a:solidFill>
                  <a:latin typeface="Calibri" pitchFamily="34" charset="0"/>
                  <a:ea typeface="Calibri" pitchFamily="34" charset="-122"/>
                  <a:cs typeface="Calibri" pitchFamily="34" charset="-120"/>
                </a:rPr>
                <a:t>How this maps to Google's published model</a:t>
              </a:r>
              <a:endParaRPr lang="en-US" sz="1100" dirty="0"/>
            </a:p>
          </p:txBody>
        </p:sp>
        <p:sp>
          <p:nvSpPr>
            <p:cNvPr id="75" name="Text 35">
              <a:extLst>
                <a:ext uri="{FF2B5EF4-FFF2-40B4-BE49-F238E27FC236}">
                  <a16:creationId xmlns:a16="http://schemas.microsoft.com/office/drawing/2014/main" id="{D06FCA9E-4030-16D5-1AED-BC9D4ABA4917}"/>
                </a:ext>
              </a:extLst>
            </p:cNvPr>
            <p:cNvSpPr txBox="1"/>
            <p:nvPr/>
          </p:nvSpPr>
          <p:spPr>
            <a:xfrm>
              <a:off x="758952" y="5248656"/>
              <a:ext cx="10241280" cy="640080"/>
            </a:xfrm>
            <a:prstGeom prst="rect">
              <a:avLst/>
            </a:prstGeom>
            <a:noFill/>
            <a:ln/>
          </p:spPr>
          <p:txBody>
            <a:bodyPr wrap="square" lIns="0" tIns="0" rIns="0" bIns="0" rtlCol="0" anchor="t"/>
            <a:lstStyle/>
            <a:p>
              <a:pPr marL="0" indent="0" algn="l">
                <a:lnSpc>
                  <a:spcPct val="112000"/>
                </a:lnSpc>
                <a:buNone/>
              </a:pPr>
              <a:r>
                <a:rPr lang="en-US" sz="1000" dirty="0">
                  <a:solidFill>
                    <a:srgbClr val="C6D5F0"/>
                  </a:solidFill>
                  <a:latin typeface="Calibri" pitchFamily="34" charset="0"/>
                  <a:ea typeface="Calibri" pitchFamily="34" charset="-122"/>
                  <a:cs typeface="Calibri" pitchFamily="34" charset="-120"/>
                </a:rPr>
                <a:t>Google's enterprise migration guidance defines four engagement phases - define goals, prepare data and teams, go live, and create sustainable new ways of working - wrapped around a three-stage user onboarding sequence of Core IT, Early Adopters and Global Go-Live. Phases 1 to 3 above are that onboarding sequence, unchanged. Phase 0 and Phase 4 are Google's surrounding engagement phases, made explicit and gated because a regulated estate cannot skip either. Every phase boundary has named approvers; no wave proceeds on a verbal "we think it's fine".</a:t>
              </a:r>
              <a:endParaRPr lang="en-US" sz="1000" dirty="0"/>
            </a:p>
          </p:txBody>
        </p:sp>
        <p:sp>
          <p:nvSpPr>
            <p:cNvPr id="76" name="Text 36">
              <a:extLst>
                <a:ext uri="{FF2B5EF4-FFF2-40B4-BE49-F238E27FC236}">
                  <a16:creationId xmlns:a16="http://schemas.microsoft.com/office/drawing/2014/main" id="{C5C9089C-C02D-E6CB-EBDE-2C8199B8B7AA}"/>
                </a:ext>
              </a:extLst>
            </p:cNvPr>
            <p:cNvSpPr txBox="1"/>
            <p:nvPr/>
          </p:nvSpPr>
          <p:spPr>
            <a:xfrm>
              <a:off x="502920" y="6146454"/>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References: Google Workspace enterprise migration guidance (four engagement phases) and the Google Workspace deployment guide for large organisations (Core IT, Early Adopters, Global Go-Live for 300+ user deployments).</a:t>
              </a:r>
              <a:endParaRPr lang="en-US" sz="80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INDICATIVE SEQUENCE</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How the work is ordered - durations are agreed with you</a:t>
            </a:r>
            <a:endParaRPr lang="en-US" sz="2800" dirty="0"/>
          </a:p>
        </p:txBody>
      </p:sp>
      <p:sp>
        <p:nvSpPr>
          <p:cNvPr id="59" name="AutoShape 2">
            <a:extLst>
              <a:ext uri="{FF2B5EF4-FFF2-40B4-BE49-F238E27FC236}">
                <a16:creationId xmlns:a16="http://schemas.microsoft.com/office/drawing/2014/main" id="{0743B5F0-C64C-411A-A419-F4EB31D13330}"/>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60" name="TextBox 7">
            <a:extLst>
              <a:ext uri="{FF2B5EF4-FFF2-40B4-BE49-F238E27FC236}">
                <a16:creationId xmlns:a16="http://schemas.microsoft.com/office/drawing/2014/main" id="{BDC92E77-AC52-4E9E-A551-8EE33801817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61" name="TextBox 9">
            <a:extLst>
              <a:ext uri="{FF2B5EF4-FFF2-40B4-BE49-F238E27FC236}">
                <a16:creationId xmlns:a16="http://schemas.microsoft.com/office/drawing/2014/main" id="{152F6908-1C8E-4287-A629-F647C1F75707}"/>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62" name="TextBox 61">
            <a:extLst>
              <a:ext uri="{FF2B5EF4-FFF2-40B4-BE49-F238E27FC236}">
                <a16:creationId xmlns:a16="http://schemas.microsoft.com/office/drawing/2014/main" id="{D912CB74-9317-41C9-B0BD-DDFE26FA2DEB}"/>
              </a:ext>
            </a:extLst>
          </p:cNvPr>
          <p:cNvSpPr txBox="1"/>
          <p:nvPr/>
        </p:nvSpPr>
        <p:spPr>
          <a:xfrm>
            <a:off x="5911269" y="6533202"/>
            <a:ext cx="287258" cy="215444"/>
          </a:xfrm>
          <a:prstGeom prst="rect">
            <a:avLst/>
          </a:prstGeom>
          <a:noFill/>
        </p:spPr>
        <p:txBody>
          <a:bodyPr wrap="none" rtlCol="0">
            <a:spAutoFit/>
          </a:bodyPr>
          <a:lstStyle/>
          <a:p>
            <a:r>
              <a:rPr lang="en-US" sz="800" dirty="0"/>
              <a:t>17</a:t>
            </a:r>
          </a:p>
        </p:txBody>
      </p:sp>
      <p:grpSp>
        <p:nvGrpSpPr>
          <p:cNvPr id="3" name="Group 2">
            <a:extLst>
              <a:ext uri="{FF2B5EF4-FFF2-40B4-BE49-F238E27FC236}">
                <a16:creationId xmlns:a16="http://schemas.microsoft.com/office/drawing/2014/main" id="{9B595C5A-05C7-BE05-0B5A-956865952788}"/>
              </a:ext>
            </a:extLst>
          </p:cNvPr>
          <p:cNvGrpSpPr/>
          <p:nvPr/>
        </p:nvGrpSpPr>
        <p:grpSpPr>
          <a:xfrm>
            <a:off x="502920" y="1170432"/>
            <a:ext cx="10835640" cy="5324625"/>
            <a:chOff x="502920" y="1170432"/>
            <a:chExt cx="10835640" cy="5324625"/>
          </a:xfrm>
        </p:grpSpPr>
        <p:sp>
          <p:nvSpPr>
            <p:cNvPr id="63" name="Shape 3">
              <a:extLst>
                <a:ext uri="{FF2B5EF4-FFF2-40B4-BE49-F238E27FC236}">
                  <a16:creationId xmlns:a16="http://schemas.microsoft.com/office/drawing/2014/main" id="{DF1F5D03-1BF3-4D21-2F3D-B08E0E9F5F18}"/>
                </a:ext>
              </a:extLst>
            </p:cNvPr>
            <p:cNvSpPr/>
            <p:nvPr/>
          </p:nvSpPr>
          <p:spPr>
            <a:xfrm>
              <a:off x="502920" y="1170432"/>
              <a:ext cx="10835640" cy="603504"/>
            </a:xfrm>
            <a:prstGeom prst="roundRect">
              <a:avLst>
                <a:gd name="adj" fmla="val 7576"/>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64" name="Text 4">
              <a:extLst>
                <a:ext uri="{FF2B5EF4-FFF2-40B4-BE49-F238E27FC236}">
                  <a16:creationId xmlns:a16="http://schemas.microsoft.com/office/drawing/2014/main" id="{5AA832D9-E23C-19E9-640B-D157ED3CBD32}"/>
                </a:ext>
              </a:extLst>
            </p:cNvPr>
            <p:cNvSpPr txBox="1"/>
            <p:nvPr/>
          </p:nvSpPr>
          <p:spPr>
            <a:xfrm>
              <a:off x="758952" y="1316736"/>
              <a:ext cx="342900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This is our approach, not a quotation of elapsed time.</a:t>
              </a:r>
              <a:endParaRPr lang="en-US" sz="1050" dirty="0"/>
            </a:p>
          </p:txBody>
        </p:sp>
        <p:sp>
          <p:nvSpPr>
            <p:cNvPr id="65" name="Text 5">
              <a:extLst>
                <a:ext uri="{FF2B5EF4-FFF2-40B4-BE49-F238E27FC236}">
                  <a16:creationId xmlns:a16="http://schemas.microsoft.com/office/drawing/2014/main" id="{DC7D3E0E-500A-5FF1-1FA4-751B7F99E882}"/>
                </a:ext>
              </a:extLst>
            </p:cNvPr>
            <p:cNvSpPr txBox="1"/>
            <p:nvPr/>
          </p:nvSpPr>
          <p:spPr>
            <a:xfrm>
              <a:off x="4206240" y="1298448"/>
              <a:ext cx="6903720" cy="384048"/>
            </a:xfrm>
            <a:prstGeom prst="rect">
              <a:avLst/>
            </a:prstGeom>
            <a:noFill/>
            <a:ln/>
          </p:spPr>
          <p:txBody>
            <a:bodyPr wrap="square" lIns="0" tIns="0" rIns="0" bIns="0" rtlCol="0" anchor="t"/>
            <a:lstStyle/>
            <a:p>
              <a:pPr marL="0" indent="0" algn="l">
                <a:lnSpc>
                  <a:spcPct val="110000"/>
                </a:lnSpc>
                <a:buNone/>
              </a:pPr>
              <a:r>
                <a:rPr lang="en-US" sz="950" dirty="0">
                  <a:solidFill>
                    <a:srgbClr val="15203D"/>
                  </a:solidFill>
                  <a:latin typeface="Calibri" pitchFamily="34" charset="0"/>
                  <a:ea typeface="Calibri" pitchFamily="34" charset="-122"/>
                  <a:cs typeface="Calibri" pitchFamily="34" charset="-120"/>
                </a:rPr>
                <a:t>Phase durations, wave count and wave size are set with you in discovery and driven by measured POC throughput and your business calendar.</a:t>
              </a:r>
              <a:endParaRPr lang="en-US" sz="950" dirty="0"/>
            </a:p>
          </p:txBody>
        </p:sp>
        <p:sp>
          <p:nvSpPr>
            <p:cNvPr id="66" name="Text 6">
              <a:extLst>
                <a:ext uri="{FF2B5EF4-FFF2-40B4-BE49-F238E27FC236}">
                  <a16:creationId xmlns:a16="http://schemas.microsoft.com/office/drawing/2014/main" id="{94ED58AA-E3DB-5371-39F1-EA3685750083}"/>
                </a:ext>
              </a:extLst>
            </p:cNvPr>
            <p:cNvSpPr txBox="1"/>
            <p:nvPr/>
          </p:nvSpPr>
          <p:spPr>
            <a:xfrm>
              <a:off x="3017520"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P1</a:t>
              </a:r>
              <a:endParaRPr lang="en-US" sz="750" dirty="0"/>
            </a:p>
          </p:txBody>
        </p:sp>
        <p:sp>
          <p:nvSpPr>
            <p:cNvPr id="67" name="Shape 7">
              <a:extLst>
                <a:ext uri="{FF2B5EF4-FFF2-40B4-BE49-F238E27FC236}">
                  <a16:creationId xmlns:a16="http://schemas.microsoft.com/office/drawing/2014/main" id="{28B04456-62EC-B170-0EA4-818281B30431}"/>
                </a:ext>
              </a:extLst>
            </p:cNvPr>
            <p:cNvSpPr/>
            <p:nvPr/>
          </p:nvSpPr>
          <p:spPr>
            <a:xfrm>
              <a:off x="3017520" y="1993392"/>
              <a:ext cx="586522" cy="3986784"/>
            </a:xfrm>
            <a:prstGeom prst="rect">
              <a:avLst/>
            </a:prstGeom>
            <a:solidFill>
              <a:srgbClr val="F6F9FE"/>
            </a:solidFill>
            <a:ln w="12700">
              <a:solidFill>
                <a:srgbClr val="F6F9FE"/>
              </a:solidFill>
              <a:prstDash val="solid"/>
            </a:ln>
          </p:spPr>
          <p:txBody>
            <a:bodyPr/>
            <a:lstStyle/>
            <a:p>
              <a:endParaRPr lang="en-IN"/>
            </a:p>
          </p:txBody>
        </p:sp>
        <p:sp>
          <p:nvSpPr>
            <p:cNvPr id="68" name="Text 8">
              <a:extLst>
                <a:ext uri="{FF2B5EF4-FFF2-40B4-BE49-F238E27FC236}">
                  <a16:creationId xmlns:a16="http://schemas.microsoft.com/office/drawing/2014/main" id="{94B5B2EE-2B2C-608D-CEA4-BD41DB5B2F97}"/>
                </a:ext>
              </a:extLst>
            </p:cNvPr>
            <p:cNvSpPr txBox="1"/>
            <p:nvPr/>
          </p:nvSpPr>
          <p:spPr>
            <a:xfrm>
              <a:off x="3604042"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P2</a:t>
              </a:r>
              <a:endParaRPr lang="en-US" sz="750" dirty="0"/>
            </a:p>
          </p:txBody>
        </p:sp>
        <p:sp>
          <p:nvSpPr>
            <p:cNvPr id="69" name="Text 9">
              <a:extLst>
                <a:ext uri="{FF2B5EF4-FFF2-40B4-BE49-F238E27FC236}">
                  <a16:creationId xmlns:a16="http://schemas.microsoft.com/office/drawing/2014/main" id="{896A1EF7-5895-1C1E-E288-DD2089913249}"/>
                </a:ext>
              </a:extLst>
            </p:cNvPr>
            <p:cNvSpPr txBox="1"/>
            <p:nvPr/>
          </p:nvSpPr>
          <p:spPr>
            <a:xfrm>
              <a:off x="4190565"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P3</a:t>
              </a:r>
              <a:endParaRPr lang="en-US" sz="750" dirty="0"/>
            </a:p>
          </p:txBody>
        </p:sp>
        <p:sp>
          <p:nvSpPr>
            <p:cNvPr id="70" name="Shape 10">
              <a:extLst>
                <a:ext uri="{FF2B5EF4-FFF2-40B4-BE49-F238E27FC236}">
                  <a16:creationId xmlns:a16="http://schemas.microsoft.com/office/drawing/2014/main" id="{46D44B43-65C9-0B10-71D5-251B7FBA7AB0}"/>
                </a:ext>
              </a:extLst>
            </p:cNvPr>
            <p:cNvSpPr/>
            <p:nvPr/>
          </p:nvSpPr>
          <p:spPr>
            <a:xfrm>
              <a:off x="4190565" y="1993392"/>
              <a:ext cx="586522" cy="3986784"/>
            </a:xfrm>
            <a:prstGeom prst="rect">
              <a:avLst/>
            </a:prstGeom>
            <a:solidFill>
              <a:srgbClr val="F6F9FE"/>
            </a:solidFill>
            <a:ln w="12700">
              <a:solidFill>
                <a:srgbClr val="F6F9FE"/>
              </a:solidFill>
              <a:prstDash val="solid"/>
            </a:ln>
          </p:spPr>
          <p:txBody>
            <a:bodyPr/>
            <a:lstStyle/>
            <a:p>
              <a:endParaRPr lang="en-IN"/>
            </a:p>
          </p:txBody>
        </p:sp>
        <p:sp>
          <p:nvSpPr>
            <p:cNvPr id="71" name="Text 11">
              <a:extLst>
                <a:ext uri="{FF2B5EF4-FFF2-40B4-BE49-F238E27FC236}">
                  <a16:creationId xmlns:a16="http://schemas.microsoft.com/office/drawing/2014/main" id="{EB1F284D-6D1F-9DDF-4600-A388458E3C32}"/>
                </a:ext>
              </a:extLst>
            </p:cNvPr>
            <p:cNvSpPr txBox="1"/>
            <p:nvPr/>
          </p:nvSpPr>
          <p:spPr>
            <a:xfrm>
              <a:off x="4777087"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P4</a:t>
              </a:r>
              <a:endParaRPr lang="en-US" sz="750" dirty="0"/>
            </a:p>
          </p:txBody>
        </p:sp>
        <p:sp>
          <p:nvSpPr>
            <p:cNvPr id="72" name="Text 12">
              <a:extLst>
                <a:ext uri="{FF2B5EF4-FFF2-40B4-BE49-F238E27FC236}">
                  <a16:creationId xmlns:a16="http://schemas.microsoft.com/office/drawing/2014/main" id="{3EB7EC16-613D-A94A-9727-54D7530A8DDC}"/>
                </a:ext>
              </a:extLst>
            </p:cNvPr>
            <p:cNvSpPr txBox="1"/>
            <p:nvPr/>
          </p:nvSpPr>
          <p:spPr>
            <a:xfrm>
              <a:off x="5363609"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P5</a:t>
              </a:r>
              <a:endParaRPr lang="en-US" sz="750" dirty="0"/>
            </a:p>
          </p:txBody>
        </p:sp>
        <p:sp>
          <p:nvSpPr>
            <p:cNvPr id="73" name="Shape 13">
              <a:extLst>
                <a:ext uri="{FF2B5EF4-FFF2-40B4-BE49-F238E27FC236}">
                  <a16:creationId xmlns:a16="http://schemas.microsoft.com/office/drawing/2014/main" id="{2F0B6FC4-2B0C-84B0-55DD-BAA678AA998F}"/>
                </a:ext>
              </a:extLst>
            </p:cNvPr>
            <p:cNvSpPr/>
            <p:nvPr/>
          </p:nvSpPr>
          <p:spPr>
            <a:xfrm>
              <a:off x="5363609" y="1993392"/>
              <a:ext cx="586522" cy="3986784"/>
            </a:xfrm>
            <a:prstGeom prst="rect">
              <a:avLst/>
            </a:prstGeom>
            <a:solidFill>
              <a:srgbClr val="F6F9FE"/>
            </a:solidFill>
            <a:ln w="12700">
              <a:solidFill>
                <a:srgbClr val="F6F9FE"/>
              </a:solidFill>
              <a:prstDash val="solid"/>
            </a:ln>
          </p:spPr>
          <p:txBody>
            <a:bodyPr/>
            <a:lstStyle/>
            <a:p>
              <a:endParaRPr lang="en-IN"/>
            </a:p>
          </p:txBody>
        </p:sp>
        <p:sp>
          <p:nvSpPr>
            <p:cNvPr id="74" name="Text 14">
              <a:extLst>
                <a:ext uri="{FF2B5EF4-FFF2-40B4-BE49-F238E27FC236}">
                  <a16:creationId xmlns:a16="http://schemas.microsoft.com/office/drawing/2014/main" id="{1677251E-2FED-C6EF-A1CC-A6928049FA68}"/>
                </a:ext>
              </a:extLst>
            </p:cNvPr>
            <p:cNvSpPr txBox="1"/>
            <p:nvPr/>
          </p:nvSpPr>
          <p:spPr>
            <a:xfrm>
              <a:off x="5950131"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P6</a:t>
              </a:r>
              <a:endParaRPr lang="en-US" sz="750" dirty="0"/>
            </a:p>
          </p:txBody>
        </p:sp>
        <p:sp>
          <p:nvSpPr>
            <p:cNvPr id="75" name="Text 15">
              <a:extLst>
                <a:ext uri="{FF2B5EF4-FFF2-40B4-BE49-F238E27FC236}">
                  <a16:creationId xmlns:a16="http://schemas.microsoft.com/office/drawing/2014/main" id="{5029FA2B-EA90-0425-A759-46A4CF82A941}"/>
                </a:ext>
              </a:extLst>
            </p:cNvPr>
            <p:cNvSpPr txBox="1"/>
            <p:nvPr/>
          </p:nvSpPr>
          <p:spPr>
            <a:xfrm>
              <a:off x="6536654"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P7</a:t>
              </a:r>
              <a:endParaRPr lang="en-US" sz="750" dirty="0"/>
            </a:p>
          </p:txBody>
        </p:sp>
        <p:sp>
          <p:nvSpPr>
            <p:cNvPr id="76" name="Shape 16">
              <a:extLst>
                <a:ext uri="{FF2B5EF4-FFF2-40B4-BE49-F238E27FC236}">
                  <a16:creationId xmlns:a16="http://schemas.microsoft.com/office/drawing/2014/main" id="{D334A278-B9FD-856C-8796-68A57293D414}"/>
                </a:ext>
              </a:extLst>
            </p:cNvPr>
            <p:cNvSpPr/>
            <p:nvPr/>
          </p:nvSpPr>
          <p:spPr>
            <a:xfrm>
              <a:off x="6536654" y="1993392"/>
              <a:ext cx="586522" cy="3986784"/>
            </a:xfrm>
            <a:prstGeom prst="rect">
              <a:avLst/>
            </a:prstGeom>
            <a:solidFill>
              <a:srgbClr val="F6F9FE"/>
            </a:solidFill>
            <a:ln w="12700">
              <a:solidFill>
                <a:srgbClr val="F6F9FE"/>
              </a:solidFill>
              <a:prstDash val="solid"/>
            </a:ln>
          </p:spPr>
          <p:txBody>
            <a:bodyPr/>
            <a:lstStyle/>
            <a:p>
              <a:endParaRPr lang="en-IN"/>
            </a:p>
          </p:txBody>
        </p:sp>
        <p:sp>
          <p:nvSpPr>
            <p:cNvPr id="77" name="Text 17">
              <a:extLst>
                <a:ext uri="{FF2B5EF4-FFF2-40B4-BE49-F238E27FC236}">
                  <a16:creationId xmlns:a16="http://schemas.microsoft.com/office/drawing/2014/main" id="{7D291E0D-6D30-F721-515E-2B2786D57DC4}"/>
                </a:ext>
              </a:extLst>
            </p:cNvPr>
            <p:cNvSpPr txBox="1"/>
            <p:nvPr/>
          </p:nvSpPr>
          <p:spPr>
            <a:xfrm>
              <a:off x="7123176"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P8</a:t>
              </a:r>
              <a:endParaRPr lang="en-US" sz="750" dirty="0"/>
            </a:p>
          </p:txBody>
        </p:sp>
        <p:sp>
          <p:nvSpPr>
            <p:cNvPr id="78" name="Text 18">
              <a:extLst>
                <a:ext uri="{FF2B5EF4-FFF2-40B4-BE49-F238E27FC236}">
                  <a16:creationId xmlns:a16="http://schemas.microsoft.com/office/drawing/2014/main" id="{60EA60E8-5416-CFD5-19DC-73A60EED6CE7}"/>
                </a:ext>
              </a:extLst>
            </p:cNvPr>
            <p:cNvSpPr txBox="1"/>
            <p:nvPr/>
          </p:nvSpPr>
          <p:spPr>
            <a:xfrm>
              <a:off x="7709698"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P9</a:t>
              </a:r>
              <a:endParaRPr lang="en-US" sz="750" dirty="0"/>
            </a:p>
          </p:txBody>
        </p:sp>
        <p:sp>
          <p:nvSpPr>
            <p:cNvPr id="79" name="Shape 19">
              <a:extLst>
                <a:ext uri="{FF2B5EF4-FFF2-40B4-BE49-F238E27FC236}">
                  <a16:creationId xmlns:a16="http://schemas.microsoft.com/office/drawing/2014/main" id="{D0169E6C-B5B6-9590-ADDC-93675E1016BA}"/>
                </a:ext>
              </a:extLst>
            </p:cNvPr>
            <p:cNvSpPr/>
            <p:nvPr/>
          </p:nvSpPr>
          <p:spPr>
            <a:xfrm>
              <a:off x="7709698" y="1993392"/>
              <a:ext cx="586522" cy="3986784"/>
            </a:xfrm>
            <a:prstGeom prst="rect">
              <a:avLst/>
            </a:prstGeom>
            <a:solidFill>
              <a:srgbClr val="F6F9FE"/>
            </a:solidFill>
            <a:ln w="12700">
              <a:solidFill>
                <a:srgbClr val="F6F9FE"/>
              </a:solidFill>
              <a:prstDash val="solid"/>
            </a:ln>
          </p:spPr>
          <p:txBody>
            <a:bodyPr/>
            <a:lstStyle/>
            <a:p>
              <a:endParaRPr lang="en-IN"/>
            </a:p>
          </p:txBody>
        </p:sp>
        <p:sp>
          <p:nvSpPr>
            <p:cNvPr id="80" name="Text 20">
              <a:extLst>
                <a:ext uri="{FF2B5EF4-FFF2-40B4-BE49-F238E27FC236}">
                  <a16:creationId xmlns:a16="http://schemas.microsoft.com/office/drawing/2014/main" id="{96F4DF54-9E05-C849-5B2B-B3449230F62A}"/>
                </a:ext>
              </a:extLst>
            </p:cNvPr>
            <p:cNvSpPr txBox="1"/>
            <p:nvPr/>
          </p:nvSpPr>
          <p:spPr>
            <a:xfrm>
              <a:off x="8296221"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P10</a:t>
              </a:r>
              <a:endParaRPr lang="en-US" sz="750" dirty="0"/>
            </a:p>
          </p:txBody>
        </p:sp>
        <p:sp>
          <p:nvSpPr>
            <p:cNvPr id="81" name="Text 21">
              <a:extLst>
                <a:ext uri="{FF2B5EF4-FFF2-40B4-BE49-F238E27FC236}">
                  <a16:creationId xmlns:a16="http://schemas.microsoft.com/office/drawing/2014/main" id="{67EDEF3D-F0B1-7552-2202-F7109E6AA788}"/>
                </a:ext>
              </a:extLst>
            </p:cNvPr>
            <p:cNvSpPr txBox="1"/>
            <p:nvPr/>
          </p:nvSpPr>
          <p:spPr>
            <a:xfrm>
              <a:off x="8882743"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P11</a:t>
              </a:r>
              <a:endParaRPr lang="en-US" sz="750" dirty="0"/>
            </a:p>
          </p:txBody>
        </p:sp>
        <p:sp>
          <p:nvSpPr>
            <p:cNvPr id="82" name="Shape 22">
              <a:extLst>
                <a:ext uri="{FF2B5EF4-FFF2-40B4-BE49-F238E27FC236}">
                  <a16:creationId xmlns:a16="http://schemas.microsoft.com/office/drawing/2014/main" id="{1AF62760-CB1E-3DF4-A9EF-CDDE65201E55}"/>
                </a:ext>
              </a:extLst>
            </p:cNvPr>
            <p:cNvSpPr/>
            <p:nvPr/>
          </p:nvSpPr>
          <p:spPr>
            <a:xfrm>
              <a:off x="8882743" y="1993392"/>
              <a:ext cx="586522" cy="3986784"/>
            </a:xfrm>
            <a:prstGeom prst="rect">
              <a:avLst/>
            </a:prstGeom>
            <a:solidFill>
              <a:srgbClr val="F6F9FE"/>
            </a:solidFill>
            <a:ln w="12700">
              <a:solidFill>
                <a:srgbClr val="F6F9FE"/>
              </a:solidFill>
              <a:prstDash val="solid"/>
            </a:ln>
          </p:spPr>
          <p:txBody>
            <a:bodyPr/>
            <a:lstStyle/>
            <a:p>
              <a:endParaRPr lang="en-IN"/>
            </a:p>
          </p:txBody>
        </p:sp>
        <p:sp>
          <p:nvSpPr>
            <p:cNvPr id="83" name="Text 23">
              <a:extLst>
                <a:ext uri="{FF2B5EF4-FFF2-40B4-BE49-F238E27FC236}">
                  <a16:creationId xmlns:a16="http://schemas.microsoft.com/office/drawing/2014/main" id="{BBBA98DE-FCEC-9835-A65F-3FAF3553A554}"/>
                </a:ext>
              </a:extLst>
            </p:cNvPr>
            <p:cNvSpPr txBox="1"/>
            <p:nvPr/>
          </p:nvSpPr>
          <p:spPr>
            <a:xfrm>
              <a:off x="9469265"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P12</a:t>
              </a:r>
              <a:endParaRPr lang="en-US" sz="750" dirty="0"/>
            </a:p>
          </p:txBody>
        </p:sp>
        <p:sp>
          <p:nvSpPr>
            <p:cNvPr id="84" name="Text 24">
              <a:extLst>
                <a:ext uri="{FF2B5EF4-FFF2-40B4-BE49-F238E27FC236}">
                  <a16:creationId xmlns:a16="http://schemas.microsoft.com/office/drawing/2014/main" id="{FFDD7651-4487-2B1C-3713-CF339322D904}"/>
                </a:ext>
              </a:extLst>
            </p:cNvPr>
            <p:cNvSpPr txBox="1"/>
            <p:nvPr/>
          </p:nvSpPr>
          <p:spPr>
            <a:xfrm>
              <a:off x="10055787"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P13</a:t>
              </a:r>
              <a:endParaRPr lang="en-US" sz="750" dirty="0"/>
            </a:p>
          </p:txBody>
        </p:sp>
        <p:sp>
          <p:nvSpPr>
            <p:cNvPr id="85" name="Shape 25">
              <a:extLst>
                <a:ext uri="{FF2B5EF4-FFF2-40B4-BE49-F238E27FC236}">
                  <a16:creationId xmlns:a16="http://schemas.microsoft.com/office/drawing/2014/main" id="{CD3DEB27-D194-72EB-5DB2-36B2E2E38517}"/>
                </a:ext>
              </a:extLst>
            </p:cNvPr>
            <p:cNvSpPr/>
            <p:nvPr/>
          </p:nvSpPr>
          <p:spPr>
            <a:xfrm>
              <a:off x="10055787" y="1993392"/>
              <a:ext cx="586522" cy="3986784"/>
            </a:xfrm>
            <a:prstGeom prst="rect">
              <a:avLst/>
            </a:prstGeom>
            <a:solidFill>
              <a:srgbClr val="F6F9FE"/>
            </a:solidFill>
            <a:ln w="12700">
              <a:solidFill>
                <a:srgbClr val="F6F9FE"/>
              </a:solidFill>
              <a:prstDash val="solid"/>
            </a:ln>
          </p:spPr>
          <p:txBody>
            <a:bodyPr/>
            <a:lstStyle/>
            <a:p>
              <a:endParaRPr lang="en-IN"/>
            </a:p>
          </p:txBody>
        </p:sp>
        <p:sp>
          <p:nvSpPr>
            <p:cNvPr id="86" name="Text 26">
              <a:extLst>
                <a:ext uri="{FF2B5EF4-FFF2-40B4-BE49-F238E27FC236}">
                  <a16:creationId xmlns:a16="http://schemas.microsoft.com/office/drawing/2014/main" id="{82FEAD74-FA09-9E2D-FBAA-9E8E44118157}"/>
                </a:ext>
              </a:extLst>
            </p:cNvPr>
            <p:cNvSpPr txBox="1"/>
            <p:nvPr/>
          </p:nvSpPr>
          <p:spPr>
            <a:xfrm>
              <a:off x="10642310" y="1792224"/>
              <a:ext cx="586522" cy="182880"/>
            </a:xfrm>
            <a:prstGeom prst="rect">
              <a:avLst/>
            </a:prstGeom>
            <a:noFill/>
            <a:ln/>
          </p:spPr>
          <p:txBody>
            <a:bodyPr wrap="square" lIns="0" tIns="0" rIns="0" bIns="0" rtlCol="0" anchor="ctr"/>
            <a:lstStyle/>
            <a:p>
              <a:pPr marL="0" indent="0" algn="ctr">
                <a:buNone/>
              </a:pPr>
              <a:r>
                <a:rPr lang="en-US" sz="750" dirty="0">
                  <a:solidFill>
                    <a:srgbClr val="5D6B8C"/>
                  </a:solidFill>
                  <a:latin typeface="Calibri" pitchFamily="34" charset="0"/>
                  <a:ea typeface="Calibri" pitchFamily="34" charset="-122"/>
                  <a:cs typeface="Calibri" pitchFamily="34" charset="-120"/>
                </a:rPr>
                <a:t>P14</a:t>
              </a:r>
              <a:endParaRPr lang="en-US" sz="750" dirty="0"/>
            </a:p>
          </p:txBody>
        </p:sp>
        <p:sp>
          <p:nvSpPr>
            <p:cNvPr id="87" name="Text 27">
              <a:extLst>
                <a:ext uri="{FF2B5EF4-FFF2-40B4-BE49-F238E27FC236}">
                  <a16:creationId xmlns:a16="http://schemas.microsoft.com/office/drawing/2014/main" id="{9A7FB329-3385-11AC-8379-F2AD4463083F}"/>
                </a:ext>
              </a:extLst>
            </p:cNvPr>
            <p:cNvSpPr txBox="1"/>
            <p:nvPr/>
          </p:nvSpPr>
          <p:spPr>
            <a:xfrm>
              <a:off x="502920" y="2034540"/>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Discovery &amp; assessment</a:t>
              </a:r>
              <a:endParaRPr lang="en-US" sz="780" dirty="0"/>
            </a:p>
          </p:txBody>
        </p:sp>
        <p:sp>
          <p:nvSpPr>
            <p:cNvPr id="88" name="Shape 28">
              <a:extLst>
                <a:ext uri="{FF2B5EF4-FFF2-40B4-BE49-F238E27FC236}">
                  <a16:creationId xmlns:a16="http://schemas.microsoft.com/office/drawing/2014/main" id="{3AA72554-73BD-D167-BA37-5E969E576C0C}"/>
                </a:ext>
              </a:extLst>
            </p:cNvPr>
            <p:cNvSpPr/>
            <p:nvPr/>
          </p:nvSpPr>
          <p:spPr>
            <a:xfrm>
              <a:off x="3017520" y="2057400"/>
              <a:ext cx="1173045" cy="150876"/>
            </a:xfrm>
            <a:prstGeom prst="roundRect">
              <a:avLst>
                <a:gd name="adj" fmla="val 18182"/>
              </a:avLst>
            </a:prstGeom>
            <a:solidFill>
              <a:srgbClr val="0053EB"/>
            </a:solidFill>
            <a:ln w="12700">
              <a:solidFill>
                <a:srgbClr val="0053EB"/>
              </a:solidFill>
              <a:prstDash val="solid"/>
            </a:ln>
          </p:spPr>
          <p:txBody>
            <a:bodyPr/>
            <a:lstStyle/>
            <a:p>
              <a:endParaRPr lang="en-IN"/>
            </a:p>
          </p:txBody>
        </p:sp>
        <p:sp>
          <p:nvSpPr>
            <p:cNvPr id="89" name="Text 29">
              <a:extLst>
                <a:ext uri="{FF2B5EF4-FFF2-40B4-BE49-F238E27FC236}">
                  <a16:creationId xmlns:a16="http://schemas.microsoft.com/office/drawing/2014/main" id="{3DE703FC-F097-CB70-89AC-189C56CA7DA0}"/>
                </a:ext>
              </a:extLst>
            </p:cNvPr>
            <p:cNvSpPr txBox="1"/>
            <p:nvPr/>
          </p:nvSpPr>
          <p:spPr>
            <a:xfrm>
              <a:off x="502920" y="2251253"/>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Target architecture &amp; authentication design</a:t>
              </a:r>
              <a:endParaRPr lang="en-US" sz="780" dirty="0"/>
            </a:p>
          </p:txBody>
        </p:sp>
        <p:sp>
          <p:nvSpPr>
            <p:cNvPr id="90" name="Shape 30">
              <a:extLst>
                <a:ext uri="{FF2B5EF4-FFF2-40B4-BE49-F238E27FC236}">
                  <a16:creationId xmlns:a16="http://schemas.microsoft.com/office/drawing/2014/main" id="{8B5B01E4-4E83-7B83-F028-3A79AE0DB5DF}"/>
                </a:ext>
              </a:extLst>
            </p:cNvPr>
            <p:cNvSpPr/>
            <p:nvPr/>
          </p:nvSpPr>
          <p:spPr>
            <a:xfrm>
              <a:off x="3604042" y="2274113"/>
              <a:ext cx="879783" cy="150876"/>
            </a:xfrm>
            <a:prstGeom prst="roundRect">
              <a:avLst>
                <a:gd name="adj" fmla="val 18182"/>
              </a:avLst>
            </a:prstGeom>
            <a:solidFill>
              <a:srgbClr val="0053EB"/>
            </a:solidFill>
            <a:ln w="12700">
              <a:solidFill>
                <a:srgbClr val="0053EB"/>
              </a:solidFill>
              <a:prstDash val="solid"/>
            </a:ln>
          </p:spPr>
          <p:txBody>
            <a:bodyPr/>
            <a:lstStyle/>
            <a:p>
              <a:endParaRPr lang="en-IN"/>
            </a:p>
          </p:txBody>
        </p:sp>
        <p:sp>
          <p:nvSpPr>
            <p:cNvPr id="91" name="Text 31">
              <a:extLst>
                <a:ext uri="{FF2B5EF4-FFF2-40B4-BE49-F238E27FC236}">
                  <a16:creationId xmlns:a16="http://schemas.microsoft.com/office/drawing/2014/main" id="{A5DF4006-4FA6-413C-1C6A-F138C47F952C}"/>
                </a:ext>
              </a:extLst>
            </p:cNvPr>
            <p:cNvSpPr txBox="1"/>
            <p:nvPr/>
          </p:nvSpPr>
          <p:spPr>
            <a:xfrm>
              <a:off x="502920" y="2467966"/>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Workspace tenant build &amp; hardening</a:t>
              </a:r>
              <a:endParaRPr lang="en-US" sz="780" dirty="0"/>
            </a:p>
          </p:txBody>
        </p:sp>
        <p:sp>
          <p:nvSpPr>
            <p:cNvPr id="92" name="Shape 32">
              <a:extLst>
                <a:ext uri="{FF2B5EF4-FFF2-40B4-BE49-F238E27FC236}">
                  <a16:creationId xmlns:a16="http://schemas.microsoft.com/office/drawing/2014/main" id="{18A9DA41-FD28-B13D-9457-104DA82646C1}"/>
                </a:ext>
              </a:extLst>
            </p:cNvPr>
            <p:cNvSpPr/>
            <p:nvPr/>
          </p:nvSpPr>
          <p:spPr>
            <a:xfrm>
              <a:off x="3897303" y="2490826"/>
              <a:ext cx="879783" cy="150876"/>
            </a:xfrm>
            <a:prstGeom prst="roundRect">
              <a:avLst>
                <a:gd name="adj" fmla="val 18182"/>
              </a:avLst>
            </a:prstGeom>
            <a:solidFill>
              <a:srgbClr val="0C3EB1"/>
            </a:solidFill>
            <a:ln w="12700">
              <a:solidFill>
                <a:srgbClr val="0C3EB1"/>
              </a:solidFill>
              <a:prstDash val="solid"/>
            </a:ln>
          </p:spPr>
          <p:txBody>
            <a:bodyPr/>
            <a:lstStyle/>
            <a:p>
              <a:endParaRPr lang="en-IN"/>
            </a:p>
          </p:txBody>
        </p:sp>
        <p:sp>
          <p:nvSpPr>
            <p:cNvPr id="93" name="Text 33">
              <a:extLst>
                <a:ext uri="{FF2B5EF4-FFF2-40B4-BE49-F238E27FC236}">
                  <a16:creationId xmlns:a16="http://schemas.microsoft.com/office/drawing/2014/main" id="{0F03B21E-E510-24F7-2563-BE07F46DB7E5}"/>
                </a:ext>
              </a:extLst>
            </p:cNvPr>
            <p:cNvSpPr txBox="1"/>
            <p:nvPr/>
          </p:nvSpPr>
          <p:spPr>
            <a:xfrm>
              <a:off x="502920" y="2684678"/>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Proof of Concept - Core IT cohort (4-6 wks)</a:t>
              </a:r>
              <a:endParaRPr lang="en-US" sz="780" dirty="0"/>
            </a:p>
          </p:txBody>
        </p:sp>
        <p:sp>
          <p:nvSpPr>
            <p:cNvPr id="94" name="Shape 34">
              <a:extLst>
                <a:ext uri="{FF2B5EF4-FFF2-40B4-BE49-F238E27FC236}">
                  <a16:creationId xmlns:a16="http://schemas.microsoft.com/office/drawing/2014/main" id="{59C674B1-4C9C-E090-AC64-953DAA968E4C}"/>
                </a:ext>
              </a:extLst>
            </p:cNvPr>
            <p:cNvSpPr/>
            <p:nvPr/>
          </p:nvSpPr>
          <p:spPr>
            <a:xfrm>
              <a:off x="4190565" y="2707538"/>
              <a:ext cx="1466306" cy="150876"/>
            </a:xfrm>
            <a:prstGeom prst="roundRect">
              <a:avLst>
                <a:gd name="adj" fmla="val 18182"/>
              </a:avLst>
            </a:prstGeom>
            <a:solidFill>
              <a:srgbClr val="3A76F0"/>
            </a:solidFill>
            <a:ln w="12700">
              <a:solidFill>
                <a:srgbClr val="3A76F0"/>
              </a:solidFill>
              <a:prstDash val="solid"/>
            </a:ln>
          </p:spPr>
          <p:txBody>
            <a:bodyPr/>
            <a:lstStyle/>
            <a:p>
              <a:endParaRPr lang="en-IN"/>
            </a:p>
          </p:txBody>
        </p:sp>
        <p:sp>
          <p:nvSpPr>
            <p:cNvPr id="95" name="Text 35">
              <a:extLst>
                <a:ext uri="{FF2B5EF4-FFF2-40B4-BE49-F238E27FC236}">
                  <a16:creationId xmlns:a16="http://schemas.microsoft.com/office/drawing/2014/main" id="{889B094C-04A8-5D72-CA92-33AF9AB7DB61}"/>
                </a:ext>
              </a:extLst>
            </p:cNvPr>
            <p:cNvSpPr txBox="1"/>
            <p:nvPr/>
          </p:nvSpPr>
          <p:spPr>
            <a:xfrm>
              <a:off x="502920" y="2901391"/>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POC exit gate</a:t>
              </a:r>
              <a:endParaRPr lang="en-US" sz="780" dirty="0"/>
            </a:p>
          </p:txBody>
        </p:sp>
        <p:sp>
          <p:nvSpPr>
            <p:cNvPr id="96" name="Shape 36">
              <a:extLst>
                <a:ext uri="{FF2B5EF4-FFF2-40B4-BE49-F238E27FC236}">
                  <a16:creationId xmlns:a16="http://schemas.microsoft.com/office/drawing/2014/main" id="{2E2BAE2F-B65B-7E47-4299-915507BC04E8}"/>
                </a:ext>
              </a:extLst>
            </p:cNvPr>
            <p:cNvSpPr/>
            <p:nvPr/>
          </p:nvSpPr>
          <p:spPr>
            <a:xfrm>
              <a:off x="5656870" y="2924251"/>
              <a:ext cx="164226" cy="150876"/>
            </a:xfrm>
            <a:prstGeom prst="roundRect">
              <a:avLst>
                <a:gd name="adj" fmla="val 18182"/>
              </a:avLst>
            </a:prstGeom>
            <a:solidFill>
              <a:srgbClr val="B3392B"/>
            </a:solidFill>
            <a:ln w="12700">
              <a:solidFill>
                <a:srgbClr val="B3392B"/>
              </a:solidFill>
              <a:prstDash val="solid"/>
            </a:ln>
          </p:spPr>
          <p:txBody>
            <a:bodyPr/>
            <a:lstStyle/>
            <a:p>
              <a:endParaRPr lang="en-IN"/>
            </a:p>
          </p:txBody>
        </p:sp>
        <p:sp>
          <p:nvSpPr>
            <p:cNvPr id="97" name="Text 37">
              <a:extLst>
                <a:ext uri="{FF2B5EF4-FFF2-40B4-BE49-F238E27FC236}">
                  <a16:creationId xmlns:a16="http://schemas.microsoft.com/office/drawing/2014/main" id="{468495C5-7AF7-8FF0-FC25-AEF1B699A840}"/>
                </a:ext>
              </a:extLst>
            </p:cNvPr>
            <p:cNvSpPr txBox="1"/>
            <p:nvPr/>
          </p:nvSpPr>
          <p:spPr>
            <a:xfrm>
              <a:off x="502920" y="3118104"/>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Coexistence: interop, GAL sync, mail routing</a:t>
              </a:r>
              <a:endParaRPr lang="en-US" sz="780" dirty="0"/>
            </a:p>
          </p:txBody>
        </p:sp>
        <p:sp>
          <p:nvSpPr>
            <p:cNvPr id="98" name="Shape 38">
              <a:extLst>
                <a:ext uri="{FF2B5EF4-FFF2-40B4-BE49-F238E27FC236}">
                  <a16:creationId xmlns:a16="http://schemas.microsoft.com/office/drawing/2014/main" id="{75591BBC-0B8C-18F1-8B59-D2EAC5B946BB}"/>
                </a:ext>
              </a:extLst>
            </p:cNvPr>
            <p:cNvSpPr/>
            <p:nvPr/>
          </p:nvSpPr>
          <p:spPr>
            <a:xfrm>
              <a:off x="5246305" y="3140964"/>
              <a:ext cx="1173045" cy="150876"/>
            </a:xfrm>
            <a:prstGeom prst="roundRect">
              <a:avLst>
                <a:gd name="adj" fmla="val 18182"/>
              </a:avLst>
            </a:prstGeom>
            <a:solidFill>
              <a:srgbClr val="0C3EB1"/>
            </a:solidFill>
            <a:ln w="12700">
              <a:solidFill>
                <a:srgbClr val="0C3EB1"/>
              </a:solidFill>
              <a:prstDash val="solid"/>
            </a:ln>
          </p:spPr>
          <p:txBody>
            <a:bodyPr/>
            <a:lstStyle/>
            <a:p>
              <a:endParaRPr lang="en-IN"/>
            </a:p>
          </p:txBody>
        </p:sp>
        <p:sp>
          <p:nvSpPr>
            <p:cNvPr id="99" name="Text 39">
              <a:extLst>
                <a:ext uri="{FF2B5EF4-FFF2-40B4-BE49-F238E27FC236}">
                  <a16:creationId xmlns:a16="http://schemas.microsoft.com/office/drawing/2014/main" id="{F00BEE1F-40D8-B138-2223-80A4187F3EBC}"/>
                </a:ext>
              </a:extLst>
            </p:cNvPr>
            <p:cNvSpPr txBox="1"/>
            <p:nvPr/>
          </p:nvSpPr>
          <p:spPr>
            <a:xfrm>
              <a:off x="502920" y="3334817"/>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Relay, integration &amp; app authentication cutover</a:t>
              </a:r>
              <a:endParaRPr lang="en-US" sz="780" dirty="0"/>
            </a:p>
          </p:txBody>
        </p:sp>
        <p:sp>
          <p:nvSpPr>
            <p:cNvPr id="100" name="Shape 40">
              <a:extLst>
                <a:ext uri="{FF2B5EF4-FFF2-40B4-BE49-F238E27FC236}">
                  <a16:creationId xmlns:a16="http://schemas.microsoft.com/office/drawing/2014/main" id="{7BF87060-C42A-EA3A-4421-2605B57736AF}"/>
                </a:ext>
              </a:extLst>
            </p:cNvPr>
            <p:cNvSpPr/>
            <p:nvPr/>
          </p:nvSpPr>
          <p:spPr>
            <a:xfrm>
              <a:off x="5656870" y="3357677"/>
              <a:ext cx="879783" cy="150876"/>
            </a:xfrm>
            <a:prstGeom prst="roundRect">
              <a:avLst>
                <a:gd name="adj" fmla="val 18182"/>
              </a:avLst>
            </a:prstGeom>
            <a:solidFill>
              <a:srgbClr val="0C3EB1"/>
            </a:solidFill>
            <a:ln w="12700">
              <a:solidFill>
                <a:srgbClr val="0C3EB1"/>
              </a:solidFill>
              <a:prstDash val="solid"/>
            </a:ln>
          </p:spPr>
          <p:txBody>
            <a:bodyPr/>
            <a:lstStyle/>
            <a:p>
              <a:endParaRPr lang="en-IN"/>
            </a:p>
          </p:txBody>
        </p:sp>
        <p:sp>
          <p:nvSpPr>
            <p:cNvPr id="101" name="Text 41">
              <a:extLst>
                <a:ext uri="{FF2B5EF4-FFF2-40B4-BE49-F238E27FC236}">
                  <a16:creationId xmlns:a16="http://schemas.microsoft.com/office/drawing/2014/main" id="{C6E2852B-BF5D-FDD3-3D93-653F9E2C78EF}"/>
                </a:ext>
              </a:extLst>
            </p:cNvPr>
            <p:cNvSpPr txBox="1"/>
            <p:nvPr/>
          </p:nvSpPr>
          <p:spPr>
            <a:xfrm>
              <a:off x="502920" y="3551530"/>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Early adopters</a:t>
              </a:r>
              <a:endParaRPr lang="en-US" sz="780" dirty="0"/>
            </a:p>
          </p:txBody>
        </p:sp>
        <p:sp>
          <p:nvSpPr>
            <p:cNvPr id="102" name="Shape 42">
              <a:extLst>
                <a:ext uri="{FF2B5EF4-FFF2-40B4-BE49-F238E27FC236}">
                  <a16:creationId xmlns:a16="http://schemas.microsoft.com/office/drawing/2014/main" id="{F3AC9DC9-2428-39A3-BFA0-3FDC98A988D7}"/>
                </a:ext>
              </a:extLst>
            </p:cNvPr>
            <p:cNvSpPr/>
            <p:nvPr/>
          </p:nvSpPr>
          <p:spPr>
            <a:xfrm>
              <a:off x="5656870" y="3574390"/>
              <a:ext cx="586522" cy="150876"/>
            </a:xfrm>
            <a:prstGeom prst="roundRect">
              <a:avLst>
                <a:gd name="adj" fmla="val 18182"/>
              </a:avLst>
            </a:prstGeom>
            <a:solidFill>
              <a:srgbClr val="0C3EB1"/>
            </a:solidFill>
            <a:ln w="12700">
              <a:solidFill>
                <a:srgbClr val="0C3EB1"/>
              </a:solidFill>
              <a:prstDash val="solid"/>
            </a:ln>
          </p:spPr>
          <p:txBody>
            <a:bodyPr/>
            <a:lstStyle/>
            <a:p>
              <a:endParaRPr lang="en-IN"/>
            </a:p>
          </p:txBody>
        </p:sp>
        <p:sp>
          <p:nvSpPr>
            <p:cNvPr id="103" name="Text 43">
              <a:extLst>
                <a:ext uri="{FF2B5EF4-FFF2-40B4-BE49-F238E27FC236}">
                  <a16:creationId xmlns:a16="http://schemas.microsoft.com/office/drawing/2014/main" id="{64ADB127-05DC-1114-B8B0-22BF16FCFE79}"/>
                </a:ext>
              </a:extLst>
            </p:cNvPr>
            <p:cNvSpPr txBox="1"/>
            <p:nvPr/>
          </p:nvSpPr>
          <p:spPr>
            <a:xfrm>
              <a:off x="502920" y="3768242"/>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Adoption, comms &amp; Google Guides</a:t>
              </a:r>
              <a:endParaRPr lang="en-US" sz="780" dirty="0"/>
            </a:p>
          </p:txBody>
        </p:sp>
        <p:sp>
          <p:nvSpPr>
            <p:cNvPr id="104" name="Shape 44">
              <a:extLst>
                <a:ext uri="{FF2B5EF4-FFF2-40B4-BE49-F238E27FC236}">
                  <a16:creationId xmlns:a16="http://schemas.microsoft.com/office/drawing/2014/main" id="{CDA6FC5B-A282-E1F1-47A3-871649A3A56B}"/>
                </a:ext>
              </a:extLst>
            </p:cNvPr>
            <p:cNvSpPr/>
            <p:nvPr/>
          </p:nvSpPr>
          <p:spPr>
            <a:xfrm>
              <a:off x="5363609" y="3791102"/>
              <a:ext cx="3519134" cy="150876"/>
            </a:xfrm>
            <a:prstGeom prst="roundRect">
              <a:avLst>
                <a:gd name="adj" fmla="val 18182"/>
              </a:avLst>
            </a:prstGeom>
            <a:solidFill>
              <a:srgbClr val="90A6D4"/>
            </a:solidFill>
            <a:ln w="12700">
              <a:solidFill>
                <a:srgbClr val="90A6D4"/>
              </a:solidFill>
              <a:prstDash val="solid"/>
            </a:ln>
          </p:spPr>
          <p:txBody>
            <a:bodyPr/>
            <a:lstStyle/>
            <a:p>
              <a:endParaRPr lang="en-IN"/>
            </a:p>
          </p:txBody>
        </p:sp>
        <p:sp>
          <p:nvSpPr>
            <p:cNvPr id="105" name="Text 45">
              <a:extLst>
                <a:ext uri="{FF2B5EF4-FFF2-40B4-BE49-F238E27FC236}">
                  <a16:creationId xmlns:a16="http://schemas.microsoft.com/office/drawing/2014/main" id="{785F0C23-1268-8CBB-F244-7C2E830864BE}"/>
                </a:ext>
              </a:extLst>
            </p:cNvPr>
            <p:cNvSpPr txBox="1"/>
            <p:nvPr/>
          </p:nvSpPr>
          <p:spPr>
            <a:xfrm>
              <a:off x="502920" y="3984955"/>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Production wave A</a:t>
              </a:r>
              <a:endParaRPr lang="en-US" sz="780" dirty="0"/>
            </a:p>
          </p:txBody>
        </p:sp>
        <p:sp>
          <p:nvSpPr>
            <p:cNvPr id="106" name="Shape 46">
              <a:extLst>
                <a:ext uri="{FF2B5EF4-FFF2-40B4-BE49-F238E27FC236}">
                  <a16:creationId xmlns:a16="http://schemas.microsoft.com/office/drawing/2014/main" id="{E83F06DD-49A1-58D8-9A88-A031031DF5A2}"/>
                </a:ext>
              </a:extLst>
            </p:cNvPr>
            <p:cNvSpPr/>
            <p:nvPr/>
          </p:nvSpPr>
          <p:spPr>
            <a:xfrm>
              <a:off x="6536654" y="4007815"/>
              <a:ext cx="586522" cy="150876"/>
            </a:xfrm>
            <a:prstGeom prst="roundRect">
              <a:avLst>
                <a:gd name="adj" fmla="val 18182"/>
              </a:avLst>
            </a:prstGeom>
            <a:solidFill>
              <a:srgbClr val="0053EB"/>
            </a:solidFill>
            <a:ln w="12700">
              <a:solidFill>
                <a:srgbClr val="0053EB"/>
              </a:solidFill>
              <a:prstDash val="solid"/>
            </a:ln>
          </p:spPr>
          <p:txBody>
            <a:bodyPr/>
            <a:lstStyle/>
            <a:p>
              <a:endParaRPr lang="en-IN"/>
            </a:p>
          </p:txBody>
        </p:sp>
        <p:sp>
          <p:nvSpPr>
            <p:cNvPr id="107" name="Text 47">
              <a:extLst>
                <a:ext uri="{FF2B5EF4-FFF2-40B4-BE49-F238E27FC236}">
                  <a16:creationId xmlns:a16="http://schemas.microsoft.com/office/drawing/2014/main" id="{CA5DED0A-92C5-1FA1-B526-53A3ACA7051C}"/>
                </a:ext>
              </a:extLst>
            </p:cNvPr>
            <p:cNvSpPr txBox="1"/>
            <p:nvPr/>
          </p:nvSpPr>
          <p:spPr>
            <a:xfrm>
              <a:off x="502920" y="4201668"/>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Production wave B</a:t>
              </a:r>
              <a:endParaRPr lang="en-US" sz="780" dirty="0"/>
            </a:p>
          </p:txBody>
        </p:sp>
        <p:sp>
          <p:nvSpPr>
            <p:cNvPr id="108" name="Shape 48">
              <a:extLst>
                <a:ext uri="{FF2B5EF4-FFF2-40B4-BE49-F238E27FC236}">
                  <a16:creationId xmlns:a16="http://schemas.microsoft.com/office/drawing/2014/main" id="{13407902-0443-0F5A-22FA-D8DECE297B42}"/>
                </a:ext>
              </a:extLst>
            </p:cNvPr>
            <p:cNvSpPr/>
            <p:nvPr/>
          </p:nvSpPr>
          <p:spPr>
            <a:xfrm>
              <a:off x="7123176" y="4224528"/>
              <a:ext cx="586522" cy="150876"/>
            </a:xfrm>
            <a:prstGeom prst="roundRect">
              <a:avLst>
                <a:gd name="adj" fmla="val 18182"/>
              </a:avLst>
            </a:prstGeom>
            <a:solidFill>
              <a:srgbClr val="0053EB"/>
            </a:solidFill>
            <a:ln w="12700">
              <a:solidFill>
                <a:srgbClr val="0053EB"/>
              </a:solidFill>
              <a:prstDash val="solid"/>
            </a:ln>
          </p:spPr>
          <p:txBody>
            <a:bodyPr/>
            <a:lstStyle/>
            <a:p>
              <a:endParaRPr lang="en-IN"/>
            </a:p>
          </p:txBody>
        </p:sp>
        <p:sp>
          <p:nvSpPr>
            <p:cNvPr id="109" name="Text 49">
              <a:extLst>
                <a:ext uri="{FF2B5EF4-FFF2-40B4-BE49-F238E27FC236}">
                  <a16:creationId xmlns:a16="http://schemas.microsoft.com/office/drawing/2014/main" id="{45A81B9E-87E9-ABE7-8EB9-E98A3FDB7342}"/>
                </a:ext>
              </a:extLst>
            </p:cNvPr>
            <p:cNvSpPr txBox="1"/>
            <p:nvPr/>
          </p:nvSpPr>
          <p:spPr>
            <a:xfrm>
              <a:off x="502920" y="4418381"/>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Production wave C</a:t>
              </a:r>
              <a:endParaRPr lang="en-US" sz="780" dirty="0"/>
            </a:p>
          </p:txBody>
        </p:sp>
        <p:sp>
          <p:nvSpPr>
            <p:cNvPr id="110" name="Shape 50">
              <a:extLst>
                <a:ext uri="{FF2B5EF4-FFF2-40B4-BE49-F238E27FC236}">
                  <a16:creationId xmlns:a16="http://schemas.microsoft.com/office/drawing/2014/main" id="{AD9A150B-FB80-89CF-BE31-9A1FD4478F1F}"/>
                </a:ext>
              </a:extLst>
            </p:cNvPr>
            <p:cNvSpPr/>
            <p:nvPr/>
          </p:nvSpPr>
          <p:spPr>
            <a:xfrm>
              <a:off x="7709698" y="4441241"/>
              <a:ext cx="586522" cy="150876"/>
            </a:xfrm>
            <a:prstGeom prst="roundRect">
              <a:avLst>
                <a:gd name="adj" fmla="val 18182"/>
              </a:avLst>
            </a:prstGeom>
            <a:solidFill>
              <a:srgbClr val="0053EB"/>
            </a:solidFill>
            <a:ln w="12700">
              <a:solidFill>
                <a:srgbClr val="0053EB"/>
              </a:solidFill>
              <a:prstDash val="solid"/>
            </a:ln>
          </p:spPr>
          <p:txBody>
            <a:bodyPr/>
            <a:lstStyle/>
            <a:p>
              <a:endParaRPr lang="en-IN"/>
            </a:p>
          </p:txBody>
        </p:sp>
        <p:sp>
          <p:nvSpPr>
            <p:cNvPr id="111" name="Text 51">
              <a:extLst>
                <a:ext uri="{FF2B5EF4-FFF2-40B4-BE49-F238E27FC236}">
                  <a16:creationId xmlns:a16="http://schemas.microsoft.com/office/drawing/2014/main" id="{C6247A69-9D05-6EEE-B372-40B54CBC3347}"/>
                </a:ext>
              </a:extLst>
            </p:cNvPr>
            <p:cNvSpPr txBox="1"/>
            <p:nvPr/>
          </p:nvSpPr>
          <p:spPr>
            <a:xfrm>
              <a:off x="502920" y="4635094"/>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Production wave D (deferrals &amp; exceptions)</a:t>
              </a:r>
              <a:endParaRPr lang="en-US" sz="780" dirty="0"/>
            </a:p>
          </p:txBody>
        </p:sp>
        <p:sp>
          <p:nvSpPr>
            <p:cNvPr id="112" name="Shape 52">
              <a:extLst>
                <a:ext uri="{FF2B5EF4-FFF2-40B4-BE49-F238E27FC236}">
                  <a16:creationId xmlns:a16="http://schemas.microsoft.com/office/drawing/2014/main" id="{67593C94-B9A0-1D6F-2C94-0A054AF1236D}"/>
                </a:ext>
              </a:extLst>
            </p:cNvPr>
            <p:cNvSpPr/>
            <p:nvPr/>
          </p:nvSpPr>
          <p:spPr>
            <a:xfrm>
              <a:off x="8296221" y="4657954"/>
              <a:ext cx="586522" cy="150876"/>
            </a:xfrm>
            <a:prstGeom prst="roundRect">
              <a:avLst>
                <a:gd name="adj" fmla="val 18182"/>
              </a:avLst>
            </a:prstGeom>
            <a:solidFill>
              <a:srgbClr val="0053EB"/>
            </a:solidFill>
            <a:ln w="12700">
              <a:solidFill>
                <a:srgbClr val="0053EB"/>
              </a:solidFill>
              <a:prstDash val="solid"/>
            </a:ln>
          </p:spPr>
          <p:txBody>
            <a:bodyPr/>
            <a:lstStyle/>
            <a:p>
              <a:endParaRPr lang="en-IN"/>
            </a:p>
          </p:txBody>
        </p:sp>
        <p:sp>
          <p:nvSpPr>
            <p:cNvPr id="113" name="Text 53">
              <a:extLst>
                <a:ext uri="{FF2B5EF4-FFF2-40B4-BE49-F238E27FC236}">
                  <a16:creationId xmlns:a16="http://schemas.microsoft.com/office/drawing/2014/main" id="{2AC676AC-79F7-CC9F-91CC-275BA0D9F8F2}"/>
                </a:ext>
              </a:extLst>
            </p:cNvPr>
            <p:cNvSpPr txBox="1"/>
            <p:nvPr/>
          </p:nvSpPr>
          <p:spPr>
            <a:xfrm>
              <a:off x="502920" y="4851806"/>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Hypercare &amp; exception remediation</a:t>
              </a:r>
              <a:endParaRPr lang="en-US" sz="780" dirty="0"/>
            </a:p>
          </p:txBody>
        </p:sp>
        <p:sp>
          <p:nvSpPr>
            <p:cNvPr id="114" name="Shape 54">
              <a:extLst>
                <a:ext uri="{FF2B5EF4-FFF2-40B4-BE49-F238E27FC236}">
                  <a16:creationId xmlns:a16="http://schemas.microsoft.com/office/drawing/2014/main" id="{D3BB9B91-0951-E583-197F-9323CEA8DEEA}"/>
                </a:ext>
              </a:extLst>
            </p:cNvPr>
            <p:cNvSpPr/>
            <p:nvPr/>
          </p:nvSpPr>
          <p:spPr>
            <a:xfrm>
              <a:off x="8002959" y="4874666"/>
              <a:ext cx="1466306" cy="150876"/>
            </a:xfrm>
            <a:prstGeom prst="roundRect">
              <a:avLst>
                <a:gd name="adj" fmla="val 18182"/>
              </a:avLst>
            </a:prstGeom>
            <a:solidFill>
              <a:srgbClr val="0C3EB1"/>
            </a:solidFill>
            <a:ln w="12700">
              <a:solidFill>
                <a:srgbClr val="0C3EB1"/>
              </a:solidFill>
              <a:prstDash val="solid"/>
            </a:ln>
          </p:spPr>
          <p:txBody>
            <a:bodyPr/>
            <a:lstStyle/>
            <a:p>
              <a:endParaRPr lang="en-IN"/>
            </a:p>
          </p:txBody>
        </p:sp>
        <p:sp>
          <p:nvSpPr>
            <p:cNvPr id="115" name="Text 55">
              <a:extLst>
                <a:ext uri="{FF2B5EF4-FFF2-40B4-BE49-F238E27FC236}">
                  <a16:creationId xmlns:a16="http://schemas.microsoft.com/office/drawing/2014/main" id="{18C10360-BF03-757D-A3EA-A340BB91DC16}"/>
                </a:ext>
              </a:extLst>
            </p:cNvPr>
            <p:cNvSpPr txBox="1"/>
            <p:nvPr/>
          </p:nvSpPr>
          <p:spPr>
            <a:xfrm>
              <a:off x="502920" y="5068519"/>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Data disposition &amp; administrator handover</a:t>
              </a:r>
              <a:endParaRPr lang="en-US" sz="780" dirty="0"/>
            </a:p>
          </p:txBody>
        </p:sp>
        <p:sp>
          <p:nvSpPr>
            <p:cNvPr id="116" name="Shape 56">
              <a:extLst>
                <a:ext uri="{FF2B5EF4-FFF2-40B4-BE49-F238E27FC236}">
                  <a16:creationId xmlns:a16="http://schemas.microsoft.com/office/drawing/2014/main" id="{29B2E708-4AB3-16E1-3A06-A7FB75F73028}"/>
                </a:ext>
              </a:extLst>
            </p:cNvPr>
            <p:cNvSpPr/>
            <p:nvPr/>
          </p:nvSpPr>
          <p:spPr>
            <a:xfrm>
              <a:off x="8882743" y="5091379"/>
              <a:ext cx="586522" cy="150876"/>
            </a:xfrm>
            <a:prstGeom prst="roundRect">
              <a:avLst>
                <a:gd name="adj" fmla="val 18182"/>
              </a:avLst>
            </a:prstGeom>
            <a:solidFill>
              <a:srgbClr val="0C3EB1"/>
            </a:solidFill>
            <a:ln w="12700">
              <a:solidFill>
                <a:srgbClr val="0C3EB1"/>
              </a:solidFill>
              <a:prstDash val="solid"/>
            </a:ln>
          </p:spPr>
          <p:txBody>
            <a:bodyPr/>
            <a:lstStyle/>
            <a:p>
              <a:endParaRPr lang="en-IN"/>
            </a:p>
          </p:txBody>
        </p:sp>
        <p:sp>
          <p:nvSpPr>
            <p:cNvPr id="117" name="Text 57">
              <a:extLst>
                <a:ext uri="{FF2B5EF4-FFF2-40B4-BE49-F238E27FC236}">
                  <a16:creationId xmlns:a16="http://schemas.microsoft.com/office/drawing/2014/main" id="{CEEA94F6-ED21-EAE7-90FF-24160648FA2E}"/>
                </a:ext>
              </a:extLst>
            </p:cNvPr>
            <p:cNvSpPr txBox="1"/>
            <p:nvPr/>
          </p:nvSpPr>
          <p:spPr>
            <a:xfrm>
              <a:off x="502920" y="5285232"/>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Release 2: identity ownership &amp; re-federation</a:t>
              </a:r>
              <a:endParaRPr lang="en-US" sz="780" dirty="0"/>
            </a:p>
          </p:txBody>
        </p:sp>
        <p:sp>
          <p:nvSpPr>
            <p:cNvPr id="118" name="Shape 58">
              <a:extLst>
                <a:ext uri="{FF2B5EF4-FFF2-40B4-BE49-F238E27FC236}">
                  <a16:creationId xmlns:a16="http://schemas.microsoft.com/office/drawing/2014/main" id="{C751659D-1EF4-9B61-C4AE-80A8B0643BD7}"/>
                </a:ext>
              </a:extLst>
            </p:cNvPr>
            <p:cNvSpPr/>
            <p:nvPr/>
          </p:nvSpPr>
          <p:spPr>
            <a:xfrm>
              <a:off x="9469265" y="5308092"/>
              <a:ext cx="1173045" cy="150876"/>
            </a:xfrm>
            <a:prstGeom prst="roundRect">
              <a:avLst>
                <a:gd name="adj" fmla="val 18182"/>
              </a:avLst>
            </a:prstGeom>
            <a:solidFill>
              <a:srgbClr val="3A76F0"/>
            </a:solidFill>
            <a:ln w="12700">
              <a:solidFill>
                <a:srgbClr val="3A76F0"/>
              </a:solidFill>
              <a:prstDash val="solid"/>
            </a:ln>
          </p:spPr>
          <p:txBody>
            <a:bodyPr/>
            <a:lstStyle/>
            <a:p>
              <a:endParaRPr lang="en-IN"/>
            </a:p>
          </p:txBody>
        </p:sp>
        <p:sp>
          <p:nvSpPr>
            <p:cNvPr id="119" name="Text 59">
              <a:extLst>
                <a:ext uri="{FF2B5EF4-FFF2-40B4-BE49-F238E27FC236}">
                  <a16:creationId xmlns:a16="http://schemas.microsoft.com/office/drawing/2014/main" id="{A155EB63-D8E8-31A2-5A47-9B543689BC96}"/>
                </a:ext>
              </a:extLst>
            </p:cNvPr>
            <p:cNvSpPr txBox="1"/>
            <p:nvPr/>
          </p:nvSpPr>
          <p:spPr>
            <a:xfrm>
              <a:off x="502920" y="5501945"/>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Release 2: endpoint re-management</a:t>
              </a:r>
              <a:endParaRPr lang="en-US" sz="780" dirty="0"/>
            </a:p>
          </p:txBody>
        </p:sp>
        <p:sp>
          <p:nvSpPr>
            <p:cNvPr id="120" name="Shape 60">
              <a:extLst>
                <a:ext uri="{FF2B5EF4-FFF2-40B4-BE49-F238E27FC236}">
                  <a16:creationId xmlns:a16="http://schemas.microsoft.com/office/drawing/2014/main" id="{FF8CA5DE-5C15-03F3-87B1-165C7EC48DB4}"/>
                </a:ext>
              </a:extLst>
            </p:cNvPr>
            <p:cNvSpPr/>
            <p:nvPr/>
          </p:nvSpPr>
          <p:spPr>
            <a:xfrm>
              <a:off x="10055787" y="5524805"/>
              <a:ext cx="1173045" cy="150876"/>
            </a:xfrm>
            <a:prstGeom prst="roundRect">
              <a:avLst>
                <a:gd name="adj" fmla="val 18182"/>
              </a:avLst>
            </a:prstGeom>
            <a:solidFill>
              <a:srgbClr val="3A76F0"/>
            </a:solidFill>
            <a:ln w="12700">
              <a:solidFill>
                <a:srgbClr val="3A76F0"/>
              </a:solidFill>
              <a:prstDash val="solid"/>
            </a:ln>
          </p:spPr>
          <p:txBody>
            <a:bodyPr/>
            <a:lstStyle/>
            <a:p>
              <a:endParaRPr lang="en-IN"/>
            </a:p>
          </p:txBody>
        </p:sp>
        <p:sp>
          <p:nvSpPr>
            <p:cNvPr id="121" name="Text 61">
              <a:extLst>
                <a:ext uri="{FF2B5EF4-FFF2-40B4-BE49-F238E27FC236}">
                  <a16:creationId xmlns:a16="http://schemas.microsoft.com/office/drawing/2014/main" id="{27A769AC-724D-CD70-294C-6CA699D476B4}"/>
                </a:ext>
              </a:extLst>
            </p:cNvPr>
            <p:cNvSpPr txBox="1"/>
            <p:nvPr/>
          </p:nvSpPr>
          <p:spPr>
            <a:xfrm>
              <a:off x="502920" y="5718658"/>
              <a:ext cx="2423160" cy="219456"/>
            </a:xfrm>
            <a:prstGeom prst="rect">
              <a:avLst/>
            </a:prstGeom>
            <a:noFill/>
            <a:ln/>
          </p:spPr>
          <p:txBody>
            <a:bodyPr wrap="square" lIns="0" tIns="0" rIns="0" bIns="0" rtlCol="0" anchor="t"/>
            <a:lstStyle/>
            <a:p>
              <a:pPr marL="0" indent="0" algn="l">
                <a:lnSpc>
                  <a:spcPct val="112000"/>
                </a:lnSpc>
                <a:buNone/>
              </a:pPr>
              <a:r>
                <a:rPr lang="en-US" sz="780" dirty="0">
                  <a:solidFill>
                    <a:srgbClr val="15203D"/>
                  </a:solidFill>
                  <a:latin typeface="Calibri" pitchFamily="34" charset="0"/>
                  <a:ea typeface="Calibri" pitchFamily="34" charset="-122"/>
                  <a:cs typeface="Calibri" pitchFamily="34" charset="-120"/>
                </a:rPr>
                <a:t>Microsoft estate exit &amp; licence release</a:t>
              </a:r>
              <a:endParaRPr lang="en-US" sz="780" dirty="0"/>
            </a:p>
          </p:txBody>
        </p:sp>
        <p:sp>
          <p:nvSpPr>
            <p:cNvPr id="122" name="Shape 62">
              <a:extLst>
                <a:ext uri="{FF2B5EF4-FFF2-40B4-BE49-F238E27FC236}">
                  <a16:creationId xmlns:a16="http://schemas.microsoft.com/office/drawing/2014/main" id="{B7804A55-F773-1F3F-D093-81713F4220F3}"/>
                </a:ext>
              </a:extLst>
            </p:cNvPr>
            <p:cNvSpPr/>
            <p:nvPr/>
          </p:nvSpPr>
          <p:spPr>
            <a:xfrm>
              <a:off x="10876919" y="5741518"/>
              <a:ext cx="351913" cy="150876"/>
            </a:xfrm>
            <a:prstGeom prst="roundRect">
              <a:avLst>
                <a:gd name="adj" fmla="val 18182"/>
              </a:avLst>
            </a:prstGeom>
            <a:solidFill>
              <a:srgbClr val="B3392B"/>
            </a:solidFill>
            <a:ln w="12700">
              <a:solidFill>
                <a:srgbClr val="B3392B"/>
              </a:solidFill>
              <a:prstDash val="solid"/>
            </a:ln>
          </p:spPr>
          <p:txBody>
            <a:bodyPr/>
            <a:lstStyle/>
            <a:p>
              <a:endParaRPr lang="en-IN"/>
            </a:p>
          </p:txBody>
        </p:sp>
        <p:sp>
          <p:nvSpPr>
            <p:cNvPr id="123" name="Shape 63">
              <a:extLst>
                <a:ext uri="{FF2B5EF4-FFF2-40B4-BE49-F238E27FC236}">
                  <a16:creationId xmlns:a16="http://schemas.microsoft.com/office/drawing/2014/main" id="{5A94E0CD-E025-3AE5-46FF-DD8F7324BE1C}"/>
                </a:ext>
              </a:extLst>
            </p:cNvPr>
            <p:cNvSpPr/>
            <p:nvPr/>
          </p:nvSpPr>
          <p:spPr>
            <a:xfrm>
              <a:off x="502920" y="6062472"/>
              <a:ext cx="182880" cy="118872"/>
            </a:xfrm>
            <a:prstGeom prst="roundRect">
              <a:avLst>
                <a:gd name="adj" fmla="val 15385"/>
              </a:avLst>
            </a:prstGeom>
            <a:solidFill>
              <a:srgbClr val="0053EB"/>
            </a:solidFill>
            <a:ln w="12700">
              <a:solidFill>
                <a:srgbClr val="0053EB"/>
              </a:solidFill>
              <a:prstDash val="solid"/>
            </a:ln>
          </p:spPr>
          <p:txBody>
            <a:bodyPr/>
            <a:lstStyle/>
            <a:p>
              <a:endParaRPr lang="en-IN"/>
            </a:p>
          </p:txBody>
        </p:sp>
        <p:sp>
          <p:nvSpPr>
            <p:cNvPr id="124" name="Text 64">
              <a:extLst>
                <a:ext uri="{FF2B5EF4-FFF2-40B4-BE49-F238E27FC236}">
                  <a16:creationId xmlns:a16="http://schemas.microsoft.com/office/drawing/2014/main" id="{7BD8BCD4-2AB1-D30C-91CE-CB66D099C8C6}"/>
                </a:ext>
              </a:extLst>
            </p:cNvPr>
            <p:cNvSpPr txBox="1"/>
            <p:nvPr/>
          </p:nvSpPr>
          <p:spPr>
            <a:xfrm>
              <a:off x="777240" y="6016752"/>
              <a:ext cx="1828800" cy="237744"/>
            </a:xfrm>
            <a:prstGeom prst="rect">
              <a:avLst/>
            </a:prstGeom>
            <a:noFill/>
            <a:ln/>
          </p:spPr>
          <p:txBody>
            <a:bodyPr wrap="square" lIns="0" tIns="0" rIns="0" bIns="0" rtlCol="0" anchor="t"/>
            <a:lstStyle/>
            <a:p>
              <a:pPr marL="0" indent="0" algn="l">
                <a:lnSpc>
                  <a:spcPct val="112000"/>
                </a:lnSpc>
                <a:buNone/>
              </a:pPr>
              <a:r>
                <a:rPr lang="en-US" sz="760" dirty="0">
                  <a:solidFill>
                    <a:srgbClr val="5D6B8C"/>
                  </a:solidFill>
                  <a:latin typeface="Calibri" pitchFamily="34" charset="0"/>
                  <a:ea typeface="Calibri" pitchFamily="34" charset="-122"/>
                  <a:cs typeface="Calibri" pitchFamily="34" charset="-120"/>
                </a:rPr>
                <a:t>Design, build and production waves</a:t>
              </a:r>
              <a:endParaRPr lang="en-US" sz="760" dirty="0"/>
            </a:p>
          </p:txBody>
        </p:sp>
        <p:sp>
          <p:nvSpPr>
            <p:cNvPr id="125" name="Shape 65">
              <a:extLst>
                <a:ext uri="{FF2B5EF4-FFF2-40B4-BE49-F238E27FC236}">
                  <a16:creationId xmlns:a16="http://schemas.microsoft.com/office/drawing/2014/main" id="{581652A8-7896-7DD8-7744-5F7BDFFE500C}"/>
                </a:ext>
              </a:extLst>
            </p:cNvPr>
            <p:cNvSpPr/>
            <p:nvPr/>
          </p:nvSpPr>
          <p:spPr>
            <a:xfrm>
              <a:off x="2670048" y="6062472"/>
              <a:ext cx="182880" cy="118872"/>
            </a:xfrm>
            <a:prstGeom prst="roundRect">
              <a:avLst>
                <a:gd name="adj" fmla="val 15385"/>
              </a:avLst>
            </a:prstGeom>
            <a:solidFill>
              <a:srgbClr val="0C3EB1"/>
            </a:solidFill>
            <a:ln w="12700">
              <a:solidFill>
                <a:srgbClr val="0C3EB1"/>
              </a:solidFill>
              <a:prstDash val="solid"/>
            </a:ln>
          </p:spPr>
          <p:txBody>
            <a:bodyPr/>
            <a:lstStyle/>
            <a:p>
              <a:endParaRPr lang="en-IN"/>
            </a:p>
          </p:txBody>
        </p:sp>
        <p:sp>
          <p:nvSpPr>
            <p:cNvPr id="126" name="Text 66">
              <a:extLst>
                <a:ext uri="{FF2B5EF4-FFF2-40B4-BE49-F238E27FC236}">
                  <a16:creationId xmlns:a16="http://schemas.microsoft.com/office/drawing/2014/main" id="{4B671A51-6B29-BD71-63DC-E5A59921951D}"/>
                </a:ext>
              </a:extLst>
            </p:cNvPr>
            <p:cNvSpPr txBox="1"/>
            <p:nvPr/>
          </p:nvSpPr>
          <p:spPr>
            <a:xfrm>
              <a:off x="2944368" y="6016752"/>
              <a:ext cx="1828800" cy="237744"/>
            </a:xfrm>
            <a:prstGeom prst="rect">
              <a:avLst/>
            </a:prstGeom>
            <a:noFill/>
            <a:ln/>
          </p:spPr>
          <p:txBody>
            <a:bodyPr wrap="square" lIns="0" tIns="0" rIns="0" bIns="0" rtlCol="0" anchor="t"/>
            <a:lstStyle/>
            <a:p>
              <a:pPr marL="0" indent="0" algn="l">
                <a:lnSpc>
                  <a:spcPct val="112000"/>
                </a:lnSpc>
                <a:buNone/>
              </a:pPr>
              <a:r>
                <a:rPr lang="en-US" sz="760" dirty="0">
                  <a:solidFill>
                    <a:srgbClr val="5D6B8C"/>
                  </a:solidFill>
                  <a:latin typeface="Calibri" pitchFamily="34" charset="0"/>
                  <a:ea typeface="Calibri" pitchFamily="34" charset="-122"/>
                  <a:cs typeface="Calibri" pitchFamily="34" charset="-120"/>
                </a:rPr>
                <a:t>Coexistence, authentication, hypercare</a:t>
              </a:r>
              <a:endParaRPr lang="en-US" sz="760" dirty="0"/>
            </a:p>
          </p:txBody>
        </p:sp>
        <p:sp>
          <p:nvSpPr>
            <p:cNvPr id="127" name="Shape 67">
              <a:extLst>
                <a:ext uri="{FF2B5EF4-FFF2-40B4-BE49-F238E27FC236}">
                  <a16:creationId xmlns:a16="http://schemas.microsoft.com/office/drawing/2014/main" id="{FACE128E-04A9-6F0A-983E-DF8C6FB1B191}"/>
                </a:ext>
              </a:extLst>
            </p:cNvPr>
            <p:cNvSpPr/>
            <p:nvPr/>
          </p:nvSpPr>
          <p:spPr>
            <a:xfrm>
              <a:off x="4837176" y="6062472"/>
              <a:ext cx="182880" cy="118872"/>
            </a:xfrm>
            <a:prstGeom prst="roundRect">
              <a:avLst>
                <a:gd name="adj" fmla="val 15385"/>
              </a:avLst>
            </a:prstGeom>
            <a:solidFill>
              <a:srgbClr val="3A76F0"/>
            </a:solidFill>
            <a:ln w="12700">
              <a:solidFill>
                <a:srgbClr val="3A76F0"/>
              </a:solidFill>
              <a:prstDash val="solid"/>
            </a:ln>
          </p:spPr>
          <p:txBody>
            <a:bodyPr/>
            <a:lstStyle/>
            <a:p>
              <a:endParaRPr lang="en-IN"/>
            </a:p>
          </p:txBody>
        </p:sp>
        <p:sp>
          <p:nvSpPr>
            <p:cNvPr id="128" name="Text 68">
              <a:extLst>
                <a:ext uri="{FF2B5EF4-FFF2-40B4-BE49-F238E27FC236}">
                  <a16:creationId xmlns:a16="http://schemas.microsoft.com/office/drawing/2014/main" id="{D5AFA893-2EE6-CFAE-03A9-CE3FA4B50FDA}"/>
                </a:ext>
              </a:extLst>
            </p:cNvPr>
            <p:cNvSpPr txBox="1"/>
            <p:nvPr/>
          </p:nvSpPr>
          <p:spPr>
            <a:xfrm>
              <a:off x="5111496" y="6016752"/>
              <a:ext cx="1828800" cy="237744"/>
            </a:xfrm>
            <a:prstGeom prst="rect">
              <a:avLst/>
            </a:prstGeom>
            <a:noFill/>
            <a:ln/>
          </p:spPr>
          <p:txBody>
            <a:bodyPr wrap="square" lIns="0" tIns="0" rIns="0" bIns="0" rtlCol="0" anchor="t"/>
            <a:lstStyle/>
            <a:p>
              <a:pPr marL="0" indent="0" algn="l">
                <a:lnSpc>
                  <a:spcPct val="112000"/>
                </a:lnSpc>
                <a:buNone/>
              </a:pPr>
              <a:r>
                <a:rPr lang="en-US" sz="760" dirty="0">
                  <a:solidFill>
                    <a:srgbClr val="5D6B8C"/>
                  </a:solidFill>
                  <a:latin typeface="Calibri" pitchFamily="34" charset="0"/>
                  <a:ea typeface="Calibri" pitchFamily="34" charset="-122"/>
                  <a:cs typeface="Calibri" pitchFamily="34" charset="-120"/>
                </a:rPr>
                <a:t>Proof of Concept and release 2</a:t>
              </a:r>
              <a:endParaRPr lang="en-US" sz="760" dirty="0"/>
            </a:p>
          </p:txBody>
        </p:sp>
        <p:sp>
          <p:nvSpPr>
            <p:cNvPr id="129" name="Shape 69">
              <a:extLst>
                <a:ext uri="{FF2B5EF4-FFF2-40B4-BE49-F238E27FC236}">
                  <a16:creationId xmlns:a16="http://schemas.microsoft.com/office/drawing/2014/main" id="{F0DA3546-9F7F-8862-38C8-0957D3E97FF3}"/>
                </a:ext>
              </a:extLst>
            </p:cNvPr>
            <p:cNvSpPr/>
            <p:nvPr/>
          </p:nvSpPr>
          <p:spPr>
            <a:xfrm>
              <a:off x="7004304" y="6062472"/>
              <a:ext cx="182880" cy="118872"/>
            </a:xfrm>
            <a:prstGeom prst="roundRect">
              <a:avLst>
                <a:gd name="adj" fmla="val 15385"/>
              </a:avLst>
            </a:prstGeom>
            <a:solidFill>
              <a:srgbClr val="90A6D4"/>
            </a:solidFill>
            <a:ln w="12700">
              <a:solidFill>
                <a:srgbClr val="90A6D4"/>
              </a:solidFill>
              <a:prstDash val="solid"/>
            </a:ln>
          </p:spPr>
          <p:txBody>
            <a:bodyPr/>
            <a:lstStyle/>
            <a:p>
              <a:endParaRPr lang="en-IN"/>
            </a:p>
          </p:txBody>
        </p:sp>
        <p:sp>
          <p:nvSpPr>
            <p:cNvPr id="130" name="Text 70">
              <a:extLst>
                <a:ext uri="{FF2B5EF4-FFF2-40B4-BE49-F238E27FC236}">
                  <a16:creationId xmlns:a16="http://schemas.microsoft.com/office/drawing/2014/main" id="{3AADE95E-CE15-037E-A48C-54E160A69B61}"/>
                </a:ext>
              </a:extLst>
            </p:cNvPr>
            <p:cNvSpPr txBox="1"/>
            <p:nvPr/>
          </p:nvSpPr>
          <p:spPr>
            <a:xfrm>
              <a:off x="7278624" y="6016752"/>
              <a:ext cx="1828800" cy="237744"/>
            </a:xfrm>
            <a:prstGeom prst="rect">
              <a:avLst/>
            </a:prstGeom>
            <a:noFill/>
            <a:ln/>
          </p:spPr>
          <p:txBody>
            <a:bodyPr wrap="square" lIns="0" tIns="0" rIns="0" bIns="0" rtlCol="0" anchor="t"/>
            <a:lstStyle/>
            <a:p>
              <a:pPr marL="0" indent="0" algn="l">
                <a:lnSpc>
                  <a:spcPct val="112000"/>
                </a:lnSpc>
                <a:buNone/>
              </a:pPr>
              <a:r>
                <a:rPr lang="en-US" sz="760" dirty="0">
                  <a:solidFill>
                    <a:srgbClr val="5D6B8C"/>
                  </a:solidFill>
                  <a:latin typeface="Calibri" pitchFamily="34" charset="0"/>
                  <a:ea typeface="Calibri" pitchFamily="34" charset="-122"/>
                  <a:cs typeface="Calibri" pitchFamily="34" charset="-120"/>
                </a:rPr>
                <a:t>Continuous workstream</a:t>
              </a:r>
              <a:endParaRPr lang="en-US" sz="760" dirty="0"/>
            </a:p>
          </p:txBody>
        </p:sp>
        <p:sp>
          <p:nvSpPr>
            <p:cNvPr id="131" name="Shape 71">
              <a:extLst>
                <a:ext uri="{FF2B5EF4-FFF2-40B4-BE49-F238E27FC236}">
                  <a16:creationId xmlns:a16="http://schemas.microsoft.com/office/drawing/2014/main" id="{ED09FD3A-9CC6-A827-0FA9-69A2AE13D660}"/>
                </a:ext>
              </a:extLst>
            </p:cNvPr>
            <p:cNvSpPr/>
            <p:nvPr/>
          </p:nvSpPr>
          <p:spPr>
            <a:xfrm>
              <a:off x="9171432" y="6062472"/>
              <a:ext cx="182880" cy="118872"/>
            </a:xfrm>
            <a:prstGeom prst="roundRect">
              <a:avLst>
                <a:gd name="adj" fmla="val 15385"/>
              </a:avLst>
            </a:prstGeom>
            <a:solidFill>
              <a:srgbClr val="B3392B"/>
            </a:solidFill>
            <a:ln w="12700">
              <a:solidFill>
                <a:srgbClr val="B3392B"/>
              </a:solidFill>
              <a:prstDash val="solid"/>
            </a:ln>
          </p:spPr>
          <p:txBody>
            <a:bodyPr/>
            <a:lstStyle/>
            <a:p>
              <a:endParaRPr lang="en-IN"/>
            </a:p>
          </p:txBody>
        </p:sp>
        <p:sp>
          <p:nvSpPr>
            <p:cNvPr id="132" name="Text 72">
              <a:extLst>
                <a:ext uri="{FF2B5EF4-FFF2-40B4-BE49-F238E27FC236}">
                  <a16:creationId xmlns:a16="http://schemas.microsoft.com/office/drawing/2014/main" id="{5ED89689-1F03-87A1-30E5-89A7A45A9DD4}"/>
                </a:ext>
              </a:extLst>
            </p:cNvPr>
            <p:cNvSpPr txBox="1"/>
            <p:nvPr/>
          </p:nvSpPr>
          <p:spPr>
            <a:xfrm>
              <a:off x="9445752" y="6016752"/>
              <a:ext cx="1828800" cy="237744"/>
            </a:xfrm>
            <a:prstGeom prst="rect">
              <a:avLst/>
            </a:prstGeom>
            <a:noFill/>
            <a:ln/>
          </p:spPr>
          <p:txBody>
            <a:bodyPr wrap="square" lIns="0" tIns="0" rIns="0" bIns="0" rtlCol="0" anchor="t"/>
            <a:lstStyle/>
            <a:p>
              <a:pPr marL="0" indent="0" algn="l">
                <a:lnSpc>
                  <a:spcPct val="112000"/>
                </a:lnSpc>
                <a:buNone/>
              </a:pPr>
              <a:r>
                <a:rPr lang="en-US" sz="760" dirty="0">
                  <a:solidFill>
                    <a:srgbClr val="5D6B8C"/>
                  </a:solidFill>
                  <a:latin typeface="Calibri" pitchFamily="34" charset="0"/>
                  <a:ea typeface="Calibri" pitchFamily="34" charset="-122"/>
                  <a:cs typeface="Calibri" pitchFamily="34" charset="-120"/>
                </a:rPr>
                <a:t>Gate or milestone</a:t>
              </a:r>
              <a:endParaRPr lang="en-US" sz="760" dirty="0"/>
            </a:p>
          </p:txBody>
        </p:sp>
        <p:sp>
          <p:nvSpPr>
            <p:cNvPr id="133" name="Text 73">
              <a:extLst>
                <a:ext uri="{FF2B5EF4-FFF2-40B4-BE49-F238E27FC236}">
                  <a16:creationId xmlns:a16="http://schemas.microsoft.com/office/drawing/2014/main" id="{E8884CF3-4BDA-CE2A-DB1E-91DA2E25D03D}"/>
                </a:ext>
              </a:extLst>
            </p:cNvPr>
            <p:cNvSpPr txBox="1"/>
            <p:nvPr/>
          </p:nvSpPr>
          <p:spPr>
            <a:xfrm>
              <a:off x="502920" y="6239025"/>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P1-P14 are relative periods, not calendar weeks. Each wave runs the same rhythm: pre-stage early in the week, delta mid-week, evening cutover, reconcile and sign off the next day. Wave count and size follow from the throughput measured in the POC, not from a number chosen before the tenant was examined.</a:t>
              </a:r>
              <a:endParaRPr lang="en-US" sz="800" dirty="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WAVE STRATEGY</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How 700 users are grouped - and why grouping decides success</a:t>
            </a:r>
            <a:endParaRPr lang="en-US" sz="2800" dirty="0"/>
          </a:p>
        </p:txBody>
      </p:sp>
      <p:sp>
        <p:nvSpPr>
          <p:cNvPr id="26" name="AutoShape 2">
            <a:extLst>
              <a:ext uri="{FF2B5EF4-FFF2-40B4-BE49-F238E27FC236}">
                <a16:creationId xmlns:a16="http://schemas.microsoft.com/office/drawing/2014/main" id="{1D370194-5388-40EA-AB09-7DD5CB909C7A}"/>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27" name="TextBox 7">
            <a:extLst>
              <a:ext uri="{FF2B5EF4-FFF2-40B4-BE49-F238E27FC236}">
                <a16:creationId xmlns:a16="http://schemas.microsoft.com/office/drawing/2014/main" id="{04E5FC02-03EE-46B5-BB09-0B593EF6DA96}"/>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8" name="TextBox 9">
            <a:extLst>
              <a:ext uri="{FF2B5EF4-FFF2-40B4-BE49-F238E27FC236}">
                <a16:creationId xmlns:a16="http://schemas.microsoft.com/office/drawing/2014/main" id="{9ED5F9FA-9559-4D06-98F9-41A7AE57A7EF}"/>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9" name="TextBox 28">
            <a:extLst>
              <a:ext uri="{FF2B5EF4-FFF2-40B4-BE49-F238E27FC236}">
                <a16:creationId xmlns:a16="http://schemas.microsoft.com/office/drawing/2014/main" id="{52B395DE-44A1-46AD-86BD-C292B531AD3C}"/>
              </a:ext>
            </a:extLst>
          </p:cNvPr>
          <p:cNvSpPr txBox="1"/>
          <p:nvPr/>
        </p:nvSpPr>
        <p:spPr>
          <a:xfrm>
            <a:off x="5866965" y="6533202"/>
            <a:ext cx="287258" cy="215444"/>
          </a:xfrm>
          <a:prstGeom prst="rect">
            <a:avLst/>
          </a:prstGeom>
          <a:noFill/>
        </p:spPr>
        <p:txBody>
          <a:bodyPr wrap="none" rtlCol="0">
            <a:spAutoFit/>
          </a:bodyPr>
          <a:lstStyle/>
          <a:p>
            <a:r>
              <a:rPr lang="en-US" sz="800" dirty="0"/>
              <a:t>18</a:t>
            </a:r>
          </a:p>
        </p:txBody>
      </p:sp>
      <p:grpSp>
        <p:nvGrpSpPr>
          <p:cNvPr id="3" name="Group 2">
            <a:extLst>
              <a:ext uri="{FF2B5EF4-FFF2-40B4-BE49-F238E27FC236}">
                <a16:creationId xmlns:a16="http://schemas.microsoft.com/office/drawing/2014/main" id="{74F54FD5-A8A0-1050-69D2-5A5F2262F701}"/>
              </a:ext>
            </a:extLst>
          </p:cNvPr>
          <p:cNvGrpSpPr/>
          <p:nvPr/>
        </p:nvGrpSpPr>
        <p:grpSpPr>
          <a:xfrm>
            <a:off x="502920" y="1298448"/>
            <a:ext cx="10835640" cy="4782312"/>
            <a:chOff x="502920" y="1298448"/>
            <a:chExt cx="10835640" cy="4782312"/>
          </a:xfrm>
        </p:grpSpPr>
        <p:sp>
          <p:nvSpPr>
            <p:cNvPr id="30" name="Shape 3">
              <a:extLst>
                <a:ext uri="{FF2B5EF4-FFF2-40B4-BE49-F238E27FC236}">
                  <a16:creationId xmlns:a16="http://schemas.microsoft.com/office/drawing/2014/main" id="{28DD4BCE-B61D-EA89-F1F5-C076629B9984}"/>
                </a:ext>
              </a:extLst>
            </p:cNvPr>
            <p:cNvSpPr/>
            <p:nvPr/>
          </p:nvSpPr>
          <p:spPr>
            <a:xfrm>
              <a:off x="502920" y="1298448"/>
              <a:ext cx="5257800" cy="2194560"/>
            </a:xfrm>
            <a:prstGeom prst="roundRect">
              <a:avLst>
                <a:gd name="adj" fmla="val 2083"/>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1" name="Text 4">
              <a:extLst>
                <a:ext uri="{FF2B5EF4-FFF2-40B4-BE49-F238E27FC236}">
                  <a16:creationId xmlns:a16="http://schemas.microsoft.com/office/drawing/2014/main" id="{6B334827-3CFD-9C19-ADCD-E55EB4401030}"/>
                </a:ext>
              </a:extLst>
            </p:cNvPr>
            <p:cNvSpPr txBox="1"/>
            <p:nvPr/>
          </p:nvSpPr>
          <p:spPr>
            <a:xfrm>
              <a:off x="740664" y="1444752"/>
              <a:ext cx="475488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Grouping rules, in priority order</a:t>
              </a:r>
              <a:endParaRPr lang="en-US" sz="1200" dirty="0"/>
            </a:p>
          </p:txBody>
        </p:sp>
        <p:sp>
          <p:nvSpPr>
            <p:cNvPr id="32" name="Text 5">
              <a:extLst>
                <a:ext uri="{FF2B5EF4-FFF2-40B4-BE49-F238E27FC236}">
                  <a16:creationId xmlns:a16="http://schemas.microsoft.com/office/drawing/2014/main" id="{877B57DE-85ED-FD25-431A-74C2A554FB50}"/>
                </a:ext>
              </a:extLst>
            </p:cNvPr>
            <p:cNvSpPr txBox="1"/>
            <p:nvPr/>
          </p:nvSpPr>
          <p:spPr>
            <a:xfrm>
              <a:off x="740664" y="1792224"/>
              <a:ext cx="4800600" cy="16002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Collaboration graph first: people who meet and share with each other move together. Splitting a team across waves creates the free/busy and file-access complaints that dominate helpdesk volume</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Then delegation chains: executive and assistant always in the same wave</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Then shared mailbox and shared drive membership</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Then site or department, only as a tie-breaker</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Never by alphabet, employee ID or mailbox size</a:t>
              </a:r>
              <a:endParaRPr lang="en-US" sz="870" dirty="0"/>
            </a:p>
          </p:txBody>
        </p:sp>
        <p:sp>
          <p:nvSpPr>
            <p:cNvPr id="33" name="Shape 6">
              <a:extLst>
                <a:ext uri="{FF2B5EF4-FFF2-40B4-BE49-F238E27FC236}">
                  <a16:creationId xmlns:a16="http://schemas.microsoft.com/office/drawing/2014/main" id="{4A16E9BA-4FCD-7063-FAEF-057C4471E1E8}"/>
                </a:ext>
              </a:extLst>
            </p:cNvPr>
            <p:cNvSpPr/>
            <p:nvPr/>
          </p:nvSpPr>
          <p:spPr>
            <a:xfrm>
              <a:off x="6080760" y="1298448"/>
              <a:ext cx="5257800" cy="2194560"/>
            </a:xfrm>
            <a:prstGeom prst="roundRect">
              <a:avLst>
                <a:gd name="adj" fmla="val 2083"/>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34" name="Text 7">
              <a:extLst>
                <a:ext uri="{FF2B5EF4-FFF2-40B4-BE49-F238E27FC236}">
                  <a16:creationId xmlns:a16="http://schemas.microsoft.com/office/drawing/2014/main" id="{957B51EE-DB44-8A00-69EF-C06E2C999CB3}"/>
                </a:ext>
              </a:extLst>
            </p:cNvPr>
            <p:cNvSpPr txBox="1"/>
            <p:nvPr/>
          </p:nvSpPr>
          <p:spPr>
            <a:xfrm>
              <a:off x="6318504" y="1444752"/>
              <a:ext cx="475488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Sequencing the hard cases</a:t>
              </a:r>
              <a:endParaRPr lang="en-US" sz="1200" dirty="0"/>
            </a:p>
          </p:txBody>
        </p:sp>
        <p:sp>
          <p:nvSpPr>
            <p:cNvPr id="35" name="Text 8">
              <a:extLst>
                <a:ext uri="{FF2B5EF4-FFF2-40B4-BE49-F238E27FC236}">
                  <a16:creationId xmlns:a16="http://schemas.microsoft.com/office/drawing/2014/main" id="{A07199C7-81AC-3BB4-5F68-E67CF5CB882A}"/>
                </a:ext>
              </a:extLst>
            </p:cNvPr>
            <p:cNvSpPr txBox="1"/>
            <p:nvPr/>
          </p:nvSpPr>
          <p:spPr>
            <a:xfrm>
              <a:off x="6318504" y="1792224"/>
              <a:ext cx="4800600" cy="16002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Largest mailboxes and archive-enabled users go early, not late - they set the true throughput ceiling while there is still schedule left to react</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Hold-bound and legal-flagged mailboxes are handled outside the wave cadence, on a legal-approved path</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Shared mailboxes, resources and relay-dependent applications migrate ahead of the users who depend on them</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The final wave is deliberately the smallest, reserved for deferrals and exceptions</a:t>
              </a:r>
              <a:endParaRPr lang="en-US" sz="870" dirty="0"/>
            </a:p>
          </p:txBody>
        </p:sp>
        <p:graphicFrame>
          <p:nvGraphicFramePr>
            <p:cNvPr id="36" name="Chart 0">
              <a:extLst>
                <a:ext uri="{FF2B5EF4-FFF2-40B4-BE49-F238E27FC236}">
                  <a16:creationId xmlns:a16="http://schemas.microsoft.com/office/drawing/2014/main" id="{037589A0-3C67-6B28-D749-6633FCBF36FA}"/>
                </a:ext>
              </a:extLst>
            </p:cNvPr>
            <p:cNvGraphicFramePr/>
            <p:nvPr>
              <p:extLst>
                <p:ext uri="{D42A27DB-BD31-4B8C-83A1-F6EECF244321}">
                  <p14:modId xmlns:p14="http://schemas.microsoft.com/office/powerpoint/2010/main" val="789689707"/>
                </p:ext>
              </p:extLst>
            </p:nvPr>
          </p:nvGraphicFramePr>
          <p:xfrm>
            <a:off x="502920" y="3703320"/>
            <a:ext cx="525780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37" name="Shape 9">
              <a:extLst>
                <a:ext uri="{FF2B5EF4-FFF2-40B4-BE49-F238E27FC236}">
                  <a16:creationId xmlns:a16="http://schemas.microsoft.com/office/drawing/2014/main" id="{850CEEFE-6EE1-E146-0E4F-29509AC35A11}"/>
                </a:ext>
              </a:extLst>
            </p:cNvPr>
            <p:cNvSpPr/>
            <p:nvPr/>
          </p:nvSpPr>
          <p:spPr>
            <a:xfrm>
              <a:off x="6080760" y="3703320"/>
              <a:ext cx="5257800" cy="2377440"/>
            </a:xfrm>
            <a:prstGeom prst="roundRect">
              <a:avLst>
                <a:gd name="adj" fmla="val 1923"/>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8" name="Text 10">
              <a:extLst>
                <a:ext uri="{FF2B5EF4-FFF2-40B4-BE49-F238E27FC236}">
                  <a16:creationId xmlns:a16="http://schemas.microsoft.com/office/drawing/2014/main" id="{AE4191E7-BDD2-6AD1-6B52-984750824C72}"/>
                </a:ext>
              </a:extLst>
            </p:cNvPr>
            <p:cNvSpPr txBox="1"/>
            <p:nvPr/>
          </p:nvSpPr>
          <p:spPr>
            <a:xfrm>
              <a:off x="6318504" y="3840480"/>
              <a:ext cx="356616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Wave mechanics</a:t>
              </a:r>
              <a:endParaRPr lang="en-US" sz="1200" dirty="0"/>
            </a:p>
          </p:txBody>
        </p:sp>
        <p:sp>
          <p:nvSpPr>
            <p:cNvPr id="39" name="Text 11">
              <a:extLst>
                <a:ext uri="{FF2B5EF4-FFF2-40B4-BE49-F238E27FC236}">
                  <a16:creationId xmlns:a16="http://schemas.microsoft.com/office/drawing/2014/main" id="{FB1950BA-F56C-D15F-F252-1782774167A2}"/>
                </a:ext>
              </a:extLst>
            </p:cNvPr>
            <p:cNvSpPr txBox="1"/>
            <p:nvPr/>
          </p:nvSpPr>
          <p:spPr>
            <a:xfrm>
              <a:off x="6318504" y="4206240"/>
              <a:ext cx="1874520" cy="274320"/>
            </a:xfrm>
            <a:prstGeom prst="rect">
              <a:avLst/>
            </a:prstGeom>
            <a:noFill/>
            <a:ln/>
          </p:spPr>
          <p:txBody>
            <a:bodyPr wrap="square" lIns="0" tIns="0" rIns="0" bIns="0" rtlCol="0" anchor="t"/>
            <a:lstStyle/>
            <a:p>
              <a:pPr marL="0" indent="0" algn="l">
                <a:lnSpc>
                  <a:spcPct val="112000"/>
                </a:lnSpc>
                <a:buNone/>
              </a:pPr>
              <a:r>
                <a:rPr lang="en-US" sz="860" b="1" dirty="0">
                  <a:solidFill>
                    <a:srgbClr val="0053EB"/>
                  </a:solidFill>
                  <a:latin typeface="Calibri" pitchFamily="34" charset="0"/>
                  <a:ea typeface="Calibri" pitchFamily="34" charset="-122"/>
                  <a:cs typeface="Calibri" pitchFamily="34" charset="-120"/>
                </a:rPr>
                <a:t>Cutover window</a:t>
              </a:r>
              <a:endParaRPr lang="en-US" sz="860" dirty="0"/>
            </a:p>
          </p:txBody>
        </p:sp>
        <p:sp>
          <p:nvSpPr>
            <p:cNvPr id="40" name="Text 12">
              <a:extLst>
                <a:ext uri="{FF2B5EF4-FFF2-40B4-BE49-F238E27FC236}">
                  <a16:creationId xmlns:a16="http://schemas.microsoft.com/office/drawing/2014/main" id="{2DB6A0CC-9674-3940-4592-B8D26889C137}"/>
                </a:ext>
              </a:extLst>
            </p:cNvPr>
            <p:cNvSpPr txBox="1"/>
            <p:nvPr/>
          </p:nvSpPr>
          <p:spPr>
            <a:xfrm>
              <a:off x="8193024" y="4206240"/>
              <a:ext cx="2880360" cy="329184"/>
            </a:xfrm>
            <a:prstGeom prst="rect">
              <a:avLst/>
            </a:prstGeom>
            <a:noFill/>
            <a:ln/>
          </p:spPr>
          <p:txBody>
            <a:bodyPr wrap="square" lIns="0" tIns="0" rIns="0" bIns="0" rtlCol="0" anchor="t"/>
            <a:lstStyle/>
            <a:p>
              <a:pPr marL="0" indent="0" algn="l">
                <a:lnSpc>
                  <a:spcPct val="100000"/>
                </a:lnSpc>
                <a:buNone/>
              </a:pPr>
              <a:r>
                <a:rPr lang="en-US" sz="860" dirty="0">
                  <a:solidFill>
                    <a:srgbClr val="15203D"/>
                  </a:solidFill>
                  <a:latin typeface="Calibri" pitchFamily="34" charset="0"/>
                  <a:ea typeface="Calibri" pitchFamily="34" charset="-122"/>
                  <a:cs typeface="Calibri" pitchFamily="34" charset="-120"/>
                </a:rPr>
                <a:t>Evening into the following morning</a:t>
              </a:r>
              <a:endParaRPr lang="en-US" sz="860" dirty="0"/>
            </a:p>
          </p:txBody>
        </p:sp>
        <p:sp>
          <p:nvSpPr>
            <p:cNvPr id="41" name="Text 13">
              <a:extLst>
                <a:ext uri="{FF2B5EF4-FFF2-40B4-BE49-F238E27FC236}">
                  <a16:creationId xmlns:a16="http://schemas.microsoft.com/office/drawing/2014/main" id="{21C579BA-39E4-D8F2-549F-946B299412B9}"/>
                </a:ext>
              </a:extLst>
            </p:cNvPr>
            <p:cNvSpPr txBox="1"/>
            <p:nvPr/>
          </p:nvSpPr>
          <p:spPr>
            <a:xfrm>
              <a:off x="6318504" y="4562856"/>
              <a:ext cx="1874520" cy="274320"/>
            </a:xfrm>
            <a:prstGeom prst="rect">
              <a:avLst/>
            </a:prstGeom>
            <a:noFill/>
            <a:ln/>
          </p:spPr>
          <p:txBody>
            <a:bodyPr wrap="square" lIns="0" tIns="0" rIns="0" bIns="0" rtlCol="0" anchor="t"/>
            <a:lstStyle/>
            <a:p>
              <a:pPr marL="0" indent="0" algn="l">
                <a:lnSpc>
                  <a:spcPct val="112000"/>
                </a:lnSpc>
                <a:buNone/>
              </a:pPr>
              <a:r>
                <a:rPr lang="en-US" sz="860" b="1" dirty="0">
                  <a:solidFill>
                    <a:srgbClr val="0053EB"/>
                  </a:solidFill>
                  <a:latin typeface="Calibri" pitchFamily="34" charset="0"/>
                  <a:ea typeface="Calibri" pitchFamily="34" charset="-122"/>
                  <a:cs typeface="Calibri" pitchFamily="34" charset="-120"/>
                </a:rPr>
                <a:t>Delta pass duration</a:t>
              </a:r>
              <a:endParaRPr lang="en-US" sz="860" dirty="0"/>
            </a:p>
          </p:txBody>
        </p:sp>
        <p:sp>
          <p:nvSpPr>
            <p:cNvPr id="42" name="Text 14">
              <a:extLst>
                <a:ext uri="{FF2B5EF4-FFF2-40B4-BE49-F238E27FC236}">
                  <a16:creationId xmlns:a16="http://schemas.microsoft.com/office/drawing/2014/main" id="{BFEB4B22-A28A-F93A-641A-32277CAF3EED}"/>
                </a:ext>
              </a:extLst>
            </p:cNvPr>
            <p:cNvSpPr txBox="1"/>
            <p:nvPr/>
          </p:nvSpPr>
          <p:spPr>
            <a:xfrm>
              <a:off x="8193024" y="4562856"/>
              <a:ext cx="2880360" cy="329184"/>
            </a:xfrm>
            <a:prstGeom prst="rect">
              <a:avLst/>
            </a:prstGeom>
            <a:noFill/>
            <a:ln/>
          </p:spPr>
          <p:txBody>
            <a:bodyPr wrap="square" lIns="0" tIns="0" rIns="0" bIns="0" rtlCol="0" anchor="t"/>
            <a:lstStyle/>
            <a:p>
              <a:pPr marL="0" indent="0" algn="l">
                <a:lnSpc>
                  <a:spcPct val="100000"/>
                </a:lnSpc>
                <a:buNone/>
              </a:pPr>
              <a:r>
                <a:rPr lang="en-US" sz="860" dirty="0">
                  <a:solidFill>
                    <a:srgbClr val="15203D"/>
                  </a:solidFill>
                  <a:latin typeface="Calibri" pitchFamily="34" charset="0"/>
                  <a:ea typeface="Calibri" pitchFamily="34" charset="-122"/>
                  <a:cs typeface="Calibri" pitchFamily="34" charset="-120"/>
                </a:rPr>
                <a:t>Set by POC measurement, not estimate</a:t>
              </a:r>
              <a:endParaRPr lang="en-US" sz="860" dirty="0"/>
            </a:p>
          </p:txBody>
        </p:sp>
        <p:sp>
          <p:nvSpPr>
            <p:cNvPr id="43" name="Text 15">
              <a:extLst>
                <a:ext uri="{FF2B5EF4-FFF2-40B4-BE49-F238E27FC236}">
                  <a16:creationId xmlns:a16="http://schemas.microsoft.com/office/drawing/2014/main" id="{78B8AB47-30D6-8010-16A8-1D916A56DE9B}"/>
                </a:ext>
              </a:extLst>
            </p:cNvPr>
            <p:cNvSpPr txBox="1"/>
            <p:nvPr/>
          </p:nvSpPr>
          <p:spPr>
            <a:xfrm>
              <a:off x="6318504" y="4919472"/>
              <a:ext cx="1874520" cy="274320"/>
            </a:xfrm>
            <a:prstGeom prst="rect">
              <a:avLst/>
            </a:prstGeom>
            <a:noFill/>
            <a:ln/>
          </p:spPr>
          <p:txBody>
            <a:bodyPr wrap="square" lIns="0" tIns="0" rIns="0" bIns="0" rtlCol="0" anchor="t"/>
            <a:lstStyle/>
            <a:p>
              <a:pPr marL="0" indent="0" algn="l">
                <a:lnSpc>
                  <a:spcPct val="112000"/>
                </a:lnSpc>
                <a:buNone/>
              </a:pPr>
              <a:r>
                <a:rPr lang="en-US" sz="860" b="1" dirty="0">
                  <a:solidFill>
                    <a:srgbClr val="0053EB"/>
                  </a:solidFill>
                  <a:latin typeface="Calibri" pitchFamily="34" charset="0"/>
                  <a:ea typeface="Calibri" pitchFamily="34" charset="-122"/>
                  <a:cs typeface="Calibri" pitchFamily="34" charset="-120"/>
                </a:rPr>
                <a:t>Concurrency</a:t>
              </a:r>
              <a:endParaRPr lang="en-US" sz="860" dirty="0"/>
            </a:p>
          </p:txBody>
        </p:sp>
        <p:sp>
          <p:nvSpPr>
            <p:cNvPr id="44" name="Text 16">
              <a:extLst>
                <a:ext uri="{FF2B5EF4-FFF2-40B4-BE49-F238E27FC236}">
                  <a16:creationId xmlns:a16="http://schemas.microsoft.com/office/drawing/2014/main" id="{B4AC4C87-7042-B8EE-B400-AEF5694C1CA9}"/>
                </a:ext>
              </a:extLst>
            </p:cNvPr>
            <p:cNvSpPr txBox="1"/>
            <p:nvPr/>
          </p:nvSpPr>
          <p:spPr>
            <a:xfrm>
              <a:off x="8193024" y="4919472"/>
              <a:ext cx="2880360" cy="329184"/>
            </a:xfrm>
            <a:prstGeom prst="rect">
              <a:avLst/>
            </a:prstGeom>
            <a:noFill/>
            <a:ln/>
          </p:spPr>
          <p:txBody>
            <a:bodyPr wrap="square" lIns="0" tIns="0" rIns="0" bIns="0" rtlCol="0" anchor="t"/>
            <a:lstStyle/>
            <a:p>
              <a:pPr marL="0" indent="0" algn="l">
                <a:lnSpc>
                  <a:spcPct val="100000"/>
                </a:lnSpc>
                <a:buNone/>
              </a:pPr>
              <a:r>
                <a:rPr lang="en-US" sz="860" dirty="0">
                  <a:solidFill>
                    <a:srgbClr val="15203D"/>
                  </a:solidFill>
                  <a:latin typeface="Calibri" pitchFamily="34" charset="0"/>
                  <a:ea typeface="Calibri" pitchFamily="34" charset="-122"/>
                  <a:cs typeface="Calibri" pitchFamily="34" charset="-120"/>
                </a:rPr>
                <a:t>Capped to stay inside tenant throttling</a:t>
              </a:r>
              <a:endParaRPr lang="en-US" sz="860" dirty="0"/>
            </a:p>
          </p:txBody>
        </p:sp>
        <p:sp>
          <p:nvSpPr>
            <p:cNvPr id="45" name="Text 17">
              <a:extLst>
                <a:ext uri="{FF2B5EF4-FFF2-40B4-BE49-F238E27FC236}">
                  <a16:creationId xmlns:a16="http://schemas.microsoft.com/office/drawing/2014/main" id="{280D7838-BC28-884A-0F55-51F7B4346599}"/>
                </a:ext>
              </a:extLst>
            </p:cNvPr>
            <p:cNvSpPr txBox="1"/>
            <p:nvPr/>
          </p:nvSpPr>
          <p:spPr>
            <a:xfrm>
              <a:off x="6318504" y="5276088"/>
              <a:ext cx="1874520" cy="274320"/>
            </a:xfrm>
            <a:prstGeom prst="rect">
              <a:avLst/>
            </a:prstGeom>
            <a:noFill/>
            <a:ln/>
          </p:spPr>
          <p:txBody>
            <a:bodyPr wrap="square" lIns="0" tIns="0" rIns="0" bIns="0" rtlCol="0" anchor="t"/>
            <a:lstStyle/>
            <a:p>
              <a:pPr marL="0" indent="0" algn="l">
                <a:lnSpc>
                  <a:spcPct val="112000"/>
                </a:lnSpc>
                <a:buNone/>
              </a:pPr>
              <a:r>
                <a:rPr lang="en-US" sz="860" b="1" dirty="0">
                  <a:solidFill>
                    <a:srgbClr val="0053EB"/>
                  </a:solidFill>
                  <a:latin typeface="Calibri" pitchFamily="34" charset="0"/>
                  <a:ea typeface="Calibri" pitchFamily="34" charset="-122"/>
                  <a:cs typeface="Calibri" pitchFamily="34" charset="-120"/>
                </a:rPr>
                <a:t>Floorwalker ratio</a:t>
              </a:r>
              <a:endParaRPr lang="en-US" sz="860" dirty="0"/>
            </a:p>
          </p:txBody>
        </p:sp>
        <p:sp>
          <p:nvSpPr>
            <p:cNvPr id="46" name="Text 18">
              <a:extLst>
                <a:ext uri="{FF2B5EF4-FFF2-40B4-BE49-F238E27FC236}">
                  <a16:creationId xmlns:a16="http://schemas.microsoft.com/office/drawing/2014/main" id="{CEC387BF-CE92-0748-8652-046CF229B983}"/>
                </a:ext>
              </a:extLst>
            </p:cNvPr>
            <p:cNvSpPr txBox="1"/>
            <p:nvPr/>
          </p:nvSpPr>
          <p:spPr>
            <a:xfrm>
              <a:off x="8193024" y="5276088"/>
              <a:ext cx="2880360" cy="329184"/>
            </a:xfrm>
            <a:prstGeom prst="rect">
              <a:avLst/>
            </a:prstGeom>
            <a:noFill/>
            <a:ln/>
          </p:spPr>
          <p:txBody>
            <a:bodyPr wrap="square" lIns="0" tIns="0" rIns="0" bIns="0" rtlCol="0" anchor="t"/>
            <a:lstStyle/>
            <a:p>
              <a:pPr marL="0" indent="0" algn="l">
                <a:lnSpc>
                  <a:spcPct val="100000"/>
                </a:lnSpc>
                <a:buNone/>
              </a:pPr>
              <a:r>
                <a:rPr lang="en-US" sz="860" dirty="0">
                  <a:solidFill>
                    <a:srgbClr val="15203D"/>
                  </a:solidFill>
                  <a:latin typeface="Calibri" pitchFamily="34" charset="0"/>
                  <a:ea typeface="Calibri" pitchFamily="34" charset="-122"/>
                  <a:cs typeface="Calibri" pitchFamily="34" charset="-120"/>
                </a:rPr>
                <a:t>1 per 40 migrated users, first two days</a:t>
              </a:r>
              <a:endParaRPr lang="en-US" sz="860" dirty="0"/>
            </a:p>
          </p:txBody>
        </p:sp>
        <p:sp>
          <p:nvSpPr>
            <p:cNvPr id="47" name="Text 19">
              <a:extLst>
                <a:ext uri="{FF2B5EF4-FFF2-40B4-BE49-F238E27FC236}">
                  <a16:creationId xmlns:a16="http://schemas.microsoft.com/office/drawing/2014/main" id="{28A31CC8-6975-194F-0931-BA0071926A4F}"/>
                </a:ext>
              </a:extLst>
            </p:cNvPr>
            <p:cNvSpPr txBox="1"/>
            <p:nvPr/>
          </p:nvSpPr>
          <p:spPr>
            <a:xfrm>
              <a:off x="6318504" y="5632704"/>
              <a:ext cx="1874520" cy="274320"/>
            </a:xfrm>
            <a:prstGeom prst="rect">
              <a:avLst/>
            </a:prstGeom>
            <a:noFill/>
            <a:ln/>
          </p:spPr>
          <p:txBody>
            <a:bodyPr wrap="square" lIns="0" tIns="0" rIns="0" bIns="0" rtlCol="0" anchor="t"/>
            <a:lstStyle/>
            <a:p>
              <a:pPr marL="0" indent="0" algn="l">
                <a:lnSpc>
                  <a:spcPct val="112000"/>
                </a:lnSpc>
                <a:buNone/>
              </a:pPr>
              <a:r>
                <a:rPr lang="en-US" sz="860" b="1" dirty="0">
                  <a:solidFill>
                    <a:srgbClr val="0053EB"/>
                  </a:solidFill>
                  <a:latin typeface="Calibri" pitchFamily="34" charset="0"/>
                  <a:ea typeface="Calibri" pitchFamily="34" charset="-122"/>
                  <a:cs typeface="Calibri" pitchFamily="34" charset="-120"/>
                </a:rPr>
                <a:t>Go / no-go</a:t>
              </a:r>
              <a:endParaRPr lang="en-US" sz="860" dirty="0"/>
            </a:p>
          </p:txBody>
        </p:sp>
        <p:sp>
          <p:nvSpPr>
            <p:cNvPr id="48" name="Text 20">
              <a:extLst>
                <a:ext uri="{FF2B5EF4-FFF2-40B4-BE49-F238E27FC236}">
                  <a16:creationId xmlns:a16="http://schemas.microsoft.com/office/drawing/2014/main" id="{C5F251A7-DBAA-9495-232B-B38E2F1CD675}"/>
                </a:ext>
              </a:extLst>
            </p:cNvPr>
            <p:cNvSpPr txBox="1"/>
            <p:nvPr/>
          </p:nvSpPr>
          <p:spPr>
            <a:xfrm>
              <a:off x="8193024" y="5632704"/>
              <a:ext cx="2880360" cy="329184"/>
            </a:xfrm>
            <a:prstGeom prst="rect">
              <a:avLst/>
            </a:prstGeom>
            <a:noFill/>
            <a:ln/>
          </p:spPr>
          <p:txBody>
            <a:bodyPr wrap="square" lIns="0" tIns="0" rIns="0" bIns="0" rtlCol="0" anchor="t"/>
            <a:lstStyle/>
            <a:p>
              <a:pPr marL="0" indent="0" algn="l">
                <a:lnSpc>
                  <a:spcPct val="100000"/>
                </a:lnSpc>
                <a:buNone/>
              </a:pPr>
              <a:r>
                <a:rPr lang="en-US" sz="860" dirty="0">
                  <a:solidFill>
                    <a:srgbClr val="15203D"/>
                  </a:solidFill>
                  <a:latin typeface="Calibri" pitchFamily="34" charset="0"/>
                  <a:ea typeface="Calibri" pitchFamily="34" charset="-122"/>
                  <a:cs typeface="Calibri" pitchFamily="34" charset="-120"/>
                </a:rPr>
                <a:t>Held the day before, on delta completion</a:t>
              </a:r>
              <a:endParaRPr lang="en-US" sz="860" dirty="0"/>
            </a:p>
          </p:txBody>
        </p:sp>
      </p:grpSp>
      <p:sp>
        <p:nvSpPr>
          <p:cNvPr id="50" name="Text 21">
            <a:extLst>
              <a:ext uri="{FF2B5EF4-FFF2-40B4-BE49-F238E27FC236}">
                <a16:creationId xmlns:a16="http://schemas.microsoft.com/office/drawing/2014/main" id="{08EAC290-AC18-8FCA-FDFE-FA5A018A98BC}"/>
              </a:ext>
            </a:extLst>
          </p:cNvPr>
          <p:cNvSpPr txBox="1"/>
          <p:nvPr/>
        </p:nvSpPr>
        <p:spPr>
          <a:xfrm>
            <a:off x="502920" y="6163056"/>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Wave count and size shown are illustrative of the shape, not a commitment. Both are set from measured POC throughput and agreed with you before mobilisation.</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COEXISTENCE</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r>
              <a:rPr lang="en-US" sz="2800" b="1" dirty="0">
                <a:solidFill>
                  <a:srgbClr val="001D5F"/>
                </a:solidFill>
                <a:latin typeface="Calibri" pitchFamily="34" charset="0"/>
                <a:ea typeface="Calibri" pitchFamily="34" charset="-122"/>
                <a:cs typeface="Calibri" pitchFamily="34" charset="-120"/>
              </a:rPr>
              <a:t>Keeping 700 people working while two platforms run in parallel</a:t>
            </a:r>
            <a:endParaRPr lang="en-US" sz="2800" dirty="0"/>
          </a:p>
        </p:txBody>
      </p:sp>
      <p:sp>
        <p:nvSpPr>
          <p:cNvPr id="21" name="AutoShape 2">
            <a:extLst>
              <a:ext uri="{FF2B5EF4-FFF2-40B4-BE49-F238E27FC236}">
                <a16:creationId xmlns:a16="http://schemas.microsoft.com/office/drawing/2014/main" id="{A6D6B6A0-4949-4E5B-B906-16FF4D3EAB8B}"/>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22" name="TextBox 7">
            <a:extLst>
              <a:ext uri="{FF2B5EF4-FFF2-40B4-BE49-F238E27FC236}">
                <a16:creationId xmlns:a16="http://schemas.microsoft.com/office/drawing/2014/main" id="{BEE3CCF5-6F20-4B6E-89C1-D23490E13D77}"/>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3" name="TextBox 9">
            <a:extLst>
              <a:ext uri="{FF2B5EF4-FFF2-40B4-BE49-F238E27FC236}">
                <a16:creationId xmlns:a16="http://schemas.microsoft.com/office/drawing/2014/main" id="{05F1A9EE-2A50-4C2F-A009-52936E87C639}"/>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4" name="TextBox 23">
            <a:extLst>
              <a:ext uri="{FF2B5EF4-FFF2-40B4-BE49-F238E27FC236}">
                <a16:creationId xmlns:a16="http://schemas.microsoft.com/office/drawing/2014/main" id="{9B57DC4C-94FF-4CF9-AC47-8BCBFB837004}"/>
              </a:ext>
            </a:extLst>
          </p:cNvPr>
          <p:cNvSpPr txBox="1"/>
          <p:nvPr/>
        </p:nvSpPr>
        <p:spPr>
          <a:xfrm>
            <a:off x="5911269" y="6533202"/>
            <a:ext cx="287258" cy="215444"/>
          </a:xfrm>
          <a:prstGeom prst="rect">
            <a:avLst/>
          </a:prstGeom>
          <a:noFill/>
        </p:spPr>
        <p:txBody>
          <a:bodyPr wrap="none" rtlCol="0">
            <a:spAutoFit/>
          </a:bodyPr>
          <a:lstStyle/>
          <a:p>
            <a:r>
              <a:rPr lang="en-US" sz="800" dirty="0"/>
              <a:t>19</a:t>
            </a:r>
          </a:p>
        </p:txBody>
      </p:sp>
      <p:grpSp>
        <p:nvGrpSpPr>
          <p:cNvPr id="3" name="Group 2">
            <a:extLst>
              <a:ext uri="{FF2B5EF4-FFF2-40B4-BE49-F238E27FC236}">
                <a16:creationId xmlns:a16="http://schemas.microsoft.com/office/drawing/2014/main" id="{230C6225-70B8-E1C4-8CD1-029494B53694}"/>
              </a:ext>
            </a:extLst>
          </p:cNvPr>
          <p:cNvGrpSpPr/>
          <p:nvPr/>
        </p:nvGrpSpPr>
        <p:grpSpPr>
          <a:xfrm>
            <a:off x="502920" y="1280160"/>
            <a:ext cx="10835731" cy="4453128"/>
            <a:chOff x="502920" y="1280160"/>
            <a:chExt cx="10835731" cy="4453128"/>
          </a:xfrm>
        </p:grpSpPr>
        <p:sp>
          <p:nvSpPr>
            <p:cNvPr id="25" name="Text 3">
              <a:extLst>
                <a:ext uri="{FF2B5EF4-FFF2-40B4-BE49-F238E27FC236}">
                  <a16:creationId xmlns:a16="http://schemas.microsoft.com/office/drawing/2014/main" id="{878DEDCD-7F4A-C65D-68D1-D49E405BBE34}"/>
                </a:ext>
              </a:extLst>
            </p:cNvPr>
            <p:cNvSpPr txBox="1"/>
            <p:nvPr/>
          </p:nvSpPr>
          <p:spPr>
            <a:xfrm>
              <a:off x="502920" y="1280160"/>
              <a:ext cx="10424160" cy="292608"/>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Through the wave window, migrated and un-migrated users must appear to each other as one organisation. This is the workstream that gets under-planned and generates the most executive noise.</a:t>
              </a:r>
              <a:endParaRPr lang="en-US" sz="1100" dirty="0"/>
            </a:p>
          </p:txBody>
        </p:sp>
        <p:sp>
          <p:nvSpPr>
            <p:cNvPr id="26" name="Shape 4">
              <a:extLst>
                <a:ext uri="{FF2B5EF4-FFF2-40B4-BE49-F238E27FC236}">
                  <a16:creationId xmlns:a16="http://schemas.microsoft.com/office/drawing/2014/main" id="{FE3A4432-22FD-B7DF-0DD4-93DC30D93A87}"/>
                </a:ext>
              </a:extLst>
            </p:cNvPr>
            <p:cNvSpPr/>
            <p:nvPr/>
          </p:nvSpPr>
          <p:spPr>
            <a:xfrm>
              <a:off x="502920" y="1755648"/>
              <a:ext cx="3453414" cy="3310128"/>
            </a:xfrm>
            <a:prstGeom prst="roundRect">
              <a:avLst>
                <a:gd name="adj" fmla="val 138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7" name="Shape 5">
              <a:extLst>
                <a:ext uri="{FF2B5EF4-FFF2-40B4-BE49-F238E27FC236}">
                  <a16:creationId xmlns:a16="http://schemas.microsoft.com/office/drawing/2014/main" id="{3D8D0BD7-984F-08E5-C1AF-3586076D1202}"/>
                </a:ext>
              </a:extLst>
            </p:cNvPr>
            <p:cNvSpPr/>
            <p:nvPr/>
          </p:nvSpPr>
          <p:spPr>
            <a:xfrm>
              <a:off x="740664" y="1947672"/>
              <a:ext cx="109728" cy="109728"/>
            </a:xfrm>
            <a:prstGeom prst="rect">
              <a:avLst/>
            </a:prstGeom>
            <a:solidFill>
              <a:srgbClr val="0053EB"/>
            </a:solidFill>
            <a:ln w="12700">
              <a:solidFill>
                <a:srgbClr val="0053EB"/>
              </a:solidFill>
              <a:prstDash val="solid"/>
            </a:ln>
          </p:spPr>
          <p:txBody>
            <a:bodyPr/>
            <a:lstStyle/>
            <a:p>
              <a:endParaRPr lang="en-IN"/>
            </a:p>
          </p:txBody>
        </p:sp>
        <p:sp>
          <p:nvSpPr>
            <p:cNvPr id="28" name="Text 6">
              <a:extLst>
                <a:ext uri="{FF2B5EF4-FFF2-40B4-BE49-F238E27FC236}">
                  <a16:creationId xmlns:a16="http://schemas.microsoft.com/office/drawing/2014/main" id="{11D0AEEC-C224-B00B-8048-0168DA074C4A}"/>
                </a:ext>
              </a:extLst>
            </p:cNvPr>
            <p:cNvSpPr txBox="1"/>
            <p:nvPr/>
          </p:nvSpPr>
          <p:spPr>
            <a:xfrm>
              <a:off x="960120" y="1874520"/>
              <a:ext cx="283464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Mail routing</a:t>
              </a:r>
              <a:endParaRPr lang="en-US" sz="1200" dirty="0"/>
            </a:p>
          </p:txBody>
        </p:sp>
        <p:sp>
          <p:nvSpPr>
            <p:cNvPr id="29" name="Text 7">
              <a:extLst>
                <a:ext uri="{FF2B5EF4-FFF2-40B4-BE49-F238E27FC236}">
                  <a16:creationId xmlns:a16="http://schemas.microsoft.com/office/drawing/2014/main" id="{98EC4706-DF33-36E2-6398-EEE8FCC75D50}"/>
                </a:ext>
              </a:extLst>
            </p:cNvPr>
            <p:cNvSpPr txBox="1"/>
            <p:nvPr/>
          </p:nvSpPr>
          <p:spPr>
            <a:xfrm>
              <a:off x="740664" y="2286000"/>
              <a:ext cx="3017520" cy="30175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Google becomes the authoritative MX at the start of the wave window</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Split delivery: a routing rule forwards un-migrated recipients to Exchange Online</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DNS TTLs dropped to 300s a week before the change</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SPF, DKIM (2048-bit) and DMARC re-published and monitored through the transition</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Gateway (Mimecast / Proofpoint) re-pointed with both platforms as valid downstreams</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SMTP relay sources re-pointed at the routing change, not per user</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A single named owner for the routing rule, and a revert that has been tested rather than merely written</a:t>
              </a:r>
              <a:endParaRPr lang="en-US" sz="850" dirty="0"/>
            </a:p>
          </p:txBody>
        </p:sp>
        <p:sp>
          <p:nvSpPr>
            <p:cNvPr id="30" name="Shape 8">
              <a:extLst>
                <a:ext uri="{FF2B5EF4-FFF2-40B4-BE49-F238E27FC236}">
                  <a16:creationId xmlns:a16="http://schemas.microsoft.com/office/drawing/2014/main" id="{E4E1E8FA-3D72-79AE-337A-DE101B3D07B8}"/>
                </a:ext>
              </a:extLst>
            </p:cNvPr>
            <p:cNvSpPr/>
            <p:nvPr/>
          </p:nvSpPr>
          <p:spPr>
            <a:xfrm>
              <a:off x="4194078" y="1755648"/>
              <a:ext cx="3453414" cy="3310128"/>
            </a:xfrm>
            <a:prstGeom prst="roundRect">
              <a:avLst>
                <a:gd name="adj" fmla="val 138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1" name="Shape 9">
              <a:extLst>
                <a:ext uri="{FF2B5EF4-FFF2-40B4-BE49-F238E27FC236}">
                  <a16:creationId xmlns:a16="http://schemas.microsoft.com/office/drawing/2014/main" id="{AFA0C40D-51B5-3DEC-05EE-14419A134FDD}"/>
                </a:ext>
              </a:extLst>
            </p:cNvPr>
            <p:cNvSpPr/>
            <p:nvPr/>
          </p:nvSpPr>
          <p:spPr>
            <a:xfrm>
              <a:off x="4431822" y="1947672"/>
              <a:ext cx="109728" cy="109728"/>
            </a:xfrm>
            <a:prstGeom prst="rect">
              <a:avLst/>
            </a:prstGeom>
            <a:solidFill>
              <a:srgbClr val="0C3EB1"/>
            </a:solidFill>
            <a:ln w="12700">
              <a:solidFill>
                <a:srgbClr val="0C3EB1"/>
              </a:solidFill>
              <a:prstDash val="solid"/>
            </a:ln>
          </p:spPr>
          <p:txBody>
            <a:bodyPr/>
            <a:lstStyle/>
            <a:p>
              <a:endParaRPr lang="en-IN"/>
            </a:p>
          </p:txBody>
        </p:sp>
        <p:sp>
          <p:nvSpPr>
            <p:cNvPr id="32" name="Text 10">
              <a:extLst>
                <a:ext uri="{FF2B5EF4-FFF2-40B4-BE49-F238E27FC236}">
                  <a16:creationId xmlns:a16="http://schemas.microsoft.com/office/drawing/2014/main" id="{382FE49C-3324-525A-A537-D22548EFBA3C}"/>
                </a:ext>
              </a:extLst>
            </p:cNvPr>
            <p:cNvSpPr txBox="1"/>
            <p:nvPr/>
          </p:nvSpPr>
          <p:spPr>
            <a:xfrm>
              <a:off x="4651278" y="1874520"/>
              <a:ext cx="283464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Calendar &amp; directory</a:t>
              </a:r>
              <a:endParaRPr lang="en-US" sz="1200" dirty="0"/>
            </a:p>
          </p:txBody>
        </p:sp>
        <p:sp>
          <p:nvSpPr>
            <p:cNvPr id="33" name="Text 11">
              <a:extLst>
                <a:ext uri="{FF2B5EF4-FFF2-40B4-BE49-F238E27FC236}">
                  <a16:creationId xmlns:a16="http://schemas.microsoft.com/office/drawing/2014/main" id="{0A725F8E-96DF-9430-76A5-5D3623462A4E}"/>
                </a:ext>
              </a:extLst>
            </p:cNvPr>
            <p:cNvSpPr txBox="1"/>
            <p:nvPr/>
          </p:nvSpPr>
          <p:spPr>
            <a:xfrm>
              <a:off x="4431822" y="2286000"/>
              <a:ext cx="3017520" cy="30175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Google Calendar Interop for bi-directional free/busy with Exchange Online</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Dedicated interop role account, monitored with a synthetic lookup every 15 minutes</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GAL sync so both directories resolve every colleague, migrated or not</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Resource calendars published to both platforms during the window</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Meeting-invite behaviour tested across the boundary before the first wave</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Delegate and shared-calendar access verified across the boundary, not only free/busy</a:t>
              </a:r>
              <a:endParaRPr lang="en-US" sz="850" dirty="0"/>
            </a:p>
          </p:txBody>
        </p:sp>
        <p:sp>
          <p:nvSpPr>
            <p:cNvPr id="34" name="Shape 12">
              <a:extLst>
                <a:ext uri="{FF2B5EF4-FFF2-40B4-BE49-F238E27FC236}">
                  <a16:creationId xmlns:a16="http://schemas.microsoft.com/office/drawing/2014/main" id="{EA000B7A-60ED-1F35-7BD3-F726ABA08D15}"/>
                </a:ext>
              </a:extLst>
            </p:cNvPr>
            <p:cNvSpPr/>
            <p:nvPr/>
          </p:nvSpPr>
          <p:spPr>
            <a:xfrm>
              <a:off x="7885237" y="1755648"/>
              <a:ext cx="3453414" cy="3310128"/>
            </a:xfrm>
            <a:prstGeom prst="roundRect">
              <a:avLst>
                <a:gd name="adj" fmla="val 138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5" name="Shape 13">
              <a:extLst>
                <a:ext uri="{FF2B5EF4-FFF2-40B4-BE49-F238E27FC236}">
                  <a16:creationId xmlns:a16="http://schemas.microsoft.com/office/drawing/2014/main" id="{DAB16509-2D7E-83A3-7DF7-5084848A35D1}"/>
                </a:ext>
              </a:extLst>
            </p:cNvPr>
            <p:cNvSpPr/>
            <p:nvPr/>
          </p:nvSpPr>
          <p:spPr>
            <a:xfrm>
              <a:off x="8122981" y="1947672"/>
              <a:ext cx="109728" cy="109728"/>
            </a:xfrm>
            <a:prstGeom prst="rect">
              <a:avLst/>
            </a:prstGeom>
            <a:solidFill>
              <a:srgbClr val="0053EB"/>
            </a:solidFill>
            <a:ln w="12700">
              <a:solidFill>
                <a:srgbClr val="0053EB"/>
              </a:solidFill>
              <a:prstDash val="solid"/>
            </a:ln>
          </p:spPr>
          <p:txBody>
            <a:bodyPr/>
            <a:lstStyle/>
            <a:p>
              <a:endParaRPr lang="en-IN"/>
            </a:p>
          </p:txBody>
        </p:sp>
        <p:sp>
          <p:nvSpPr>
            <p:cNvPr id="36" name="Text 14">
              <a:extLst>
                <a:ext uri="{FF2B5EF4-FFF2-40B4-BE49-F238E27FC236}">
                  <a16:creationId xmlns:a16="http://schemas.microsoft.com/office/drawing/2014/main" id="{E8DE0C6D-176A-37E1-3986-9DCD6ADD6030}"/>
                </a:ext>
              </a:extLst>
            </p:cNvPr>
            <p:cNvSpPr txBox="1"/>
            <p:nvPr/>
          </p:nvSpPr>
          <p:spPr>
            <a:xfrm>
              <a:off x="8342437" y="1874520"/>
              <a:ext cx="283464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Chat, meetings &amp; sign-on</a:t>
              </a:r>
              <a:endParaRPr lang="en-US" sz="1200" dirty="0"/>
            </a:p>
          </p:txBody>
        </p:sp>
        <p:sp>
          <p:nvSpPr>
            <p:cNvPr id="37" name="Text 15">
              <a:extLst>
                <a:ext uri="{FF2B5EF4-FFF2-40B4-BE49-F238E27FC236}">
                  <a16:creationId xmlns:a16="http://schemas.microsoft.com/office/drawing/2014/main" id="{B7472179-75D9-04BB-569D-804205120281}"/>
                </a:ext>
              </a:extLst>
            </p:cNvPr>
            <p:cNvSpPr txBox="1"/>
            <p:nvPr/>
          </p:nvSpPr>
          <p:spPr>
            <a:xfrm>
              <a:off x="8122981" y="2286000"/>
              <a:ext cx="3017520" cy="30175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Google Chat to Microsoft Teams federation is generally available via NextPlane OpenHub (May 2026)</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Meet and Teams meeting interoperability for room and desktop joins</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Existing Teams meeting links inside migrated calendar events remain clickable</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Federated sign-on means one credential across both estates for the whole window</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Clear guidance on which tool to use - ambiguity, not technology, breaks adoption</a:t>
              </a:r>
              <a:endParaRPr lang="en-US" sz="850" dirty="0"/>
            </a:p>
            <a:p>
              <a:pPr marL="342900" indent="-342900">
                <a:lnSpc>
                  <a:spcPct val="105000"/>
                </a:lnSpc>
                <a:spcAft>
                  <a:spcPts val="500"/>
                </a:spcAft>
                <a:buSzPct val="100000"/>
                <a:buChar char="▪"/>
              </a:pPr>
              <a:r>
                <a:rPr lang="en-US" sz="850" dirty="0">
                  <a:solidFill>
                    <a:srgbClr val="15203D"/>
                  </a:solidFill>
                  <a:latin typeface="Calibri" pitchFamily="34" charset="0"/>
                  <a:ea typeface="Calibri" pitchFamily="34" charset="-122"/>
                  <a:cs typeface="Calibri" pitchFamily="34" charset="-120"/>
                </a:rPr>
                <a:t>A dated end to coexistence agreed up front - an open-ended parallel run is where cost quietly leaks</a:t>
              </a:r>
              <a:endParaRPr lang="en-US" sz="850" dirty="0"/>
            </a:p>
          </p:txBody>
        </p:sp>
        <p:sp>
          <p:nvSpPr>
            <p:cNvPr id="38" name="Shape 16">
              <a:extLst>
                <a:ext uri="{FF2B5EF4-FFF2-40B4-BE49-F238E27FC236}">
                  <a16:creationId xmlns:a16="http://schemas.microsoft.com/office/drawing/2014/main" id="{3C986031-7A4B-7AE4-27C3-236345518D53}"/>
                </a:ext>
              </a:extLst>
            </p:cNvPr>
            <p:cNvSpPr/>
            <p:nvPr/>
          </p:nvSpPr>
          <p:spPr>
            <a:xfrm>
              <a:off x="502920" y="5230368"/>
              <a:ext cx="10835640" cy="502920"/>
            </a:xfrm>
            <a:prstGeom prst="roundRect">
              <a:avLst>
                <a:gd name="adj" fmla="val 9091"/>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39" name="Text 17">
              <a:extLst>
                <a:ext uri="{FF2B5EF4-FFF2-40B4-BE49-F238E27FC236}">
                  <a16:creationId xmlns:a16="http://schemas.microsoft.com/office/drawing/2014/main" id="{AEC2C31A-BE71-AF04-97C8-E1AED0240037}"/>
                </a:ext>
              </a:extLst>
            </p:cNvPr>
            <p:cNvSpPr txBox="1"/>
            <p:nvPr/>
          </p:nvSpPr>
          <p:spPr>
            <a:xfrm>
              <a:off x="758952" y="5349240"/>
              <a:ext cx="10241280" cy="292608"/>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Design rule: coexistence is stood up and proven during the POC, not on the eve of the first wave. It is a prerequisite, not a parallel activity.</a:t>
              </a:r>
              <a:endParaRPr lang="en-US" sz="1000" dirty="0"/>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CUTOVER RUNBOOK</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The same rehearsed sequence, every wave</a:t>
            </a:r>
            <a:endParaRPr lang="en-US" sz="2800" dirty="0"/>
          </a:p>
        </p:txBody>
      </p:sp>
      <p:sp>
        <p:nvSpPr>
          <p:cNvPr id="46" name="Text 43"/>
          <p:cNvSpPr txBox="1"/>
          <p:nvPr/>
        </p:nvSpPr>
        <p:spPr>
          <a:xfrm>
            <a:off x="544484" y="6165548"/>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Source mailboxes are retained read-only for an agreed period after each wave - the cheapest possible insurance against a fidelity dispute.</a:t>
            </a:r>
            <a:endParaRPr lang="en-US" sz="800" dirty="0"/>
          </a:p>
        </p:txBody>
      </p:sp>
      <p:sp>
        <p:nvSpPr>
          <p:cNvPr id="47" name="AutoShape 2">
            <a:extLst>
              <a:ext uri="{FF2B5EF4-FFF2-40B4-BE49-F238E27FC236}">
                <a16:creationId xmlns:a16="http://schemas.microsoft.com/office/drawing/2014/main" id="{05A8A0DA-7E8D-42E5-981F-6A2C94E0B07B}"/>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48" name="TextBox 7">
            <a:extLst>
              <a:ext uri="{FF2B5EF4-FFF2-40B4-BE49-F238E27FC236}">
                <a16:creationId xmlns:a16="http://schemas.microsoft.com/office/drawing/2014/main" id="{9E125DCF-F14E-4535-81AD-63173A16B254}"/>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49" name="TextBox 9">
            <a:extLst>
              <a:ext uri="{FF2B5EF4-FFF2-40B4-BE49-F238E27FC236}">
                <a16:creationId xmlns:a16="http://schemas.microsoft.com/office/drawing/2014/main" id="{EAFF3D86-3E22-4F6F-B5EA-DE27AA0B86B7}"/>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50" name="TextBox 49">
            <a:extLst>
              <a:ext uri="{FF2B5EF4-FFF2-40B4-BE49-F238E27FC236}">
                <a16:creationId xmlns:a16="http://schemas.microsoft.com/office/drawing/2014/main" id="{703F02C1-EE14-4A56-8279-D548F5B527D0}"/>
              </a:ext>
            </a:extLst>
          </p:cNvPr>
          <p:cNvSpPr txBox="1"/>
          <p:nvPr/>
        </p:nvSpPr>
        <p:spPr>
          <a:xfrm>
            <a:off x="5911269" y="6533202"/>
            <a:ext cx="287258" cy="215444"/>
          </a:xfrm>
          <a:prstGeom prst="rect">
            <a:avLst/>
          </a:prstGeom>
          <a:noFill/>
        </p:spPr>
        <p:txBody>
          <a:bodyPr wrap="none" rtlCol="0">
            <a:spAutoFit/>
          </a:bodyPr>
          <a:lstStyle/>
          <a:p>
            <a:r>
              <a:rPr lang="en-US" sz="800" dirty="0"/>
              <a:t>20</a:t>
            </a:r>
          </a:p>
        </p:txBody>
      </p:sp>
      <p:grpSp>
        <p:nvGrpSpPr>
          <p:cNvPr id="3" name="Group 2">
            <a:extLst>
              <a:ext uri="{FF2B5EF4-FFF2-40B4-BE49-F238E27FC236}">
                <a16:creationId xmlns:a16="http://schemas.microsoft.com/office/drawing/2014/main" id="{157182FA-753B-DDBA-83DA-A3D363EB2159}"/>
              </a:ext>
            </a:extLst>
          </p:cNvPr>
          <p:cNvGrpSpPr/>
          <p:nvPr/>
        </p:nvGrpSpPr>
        <p:grpSpPr>
          <a:xfrm>
            <a:off x="502920" y="1325880"/>
            <a:ext cx="10835640" cy="4754880"/>
            <a:chOff x="502920" y="1325880"/>
            <a:chExt cx="10835640" cy="4754880"/>
          </a:xfrm>
        </p:grpSpPr>
        <p:sp>
          <p:nvSpPr>
            <p:cNvPr id="51" name="Shape 3">
              <a:extLst>
                <a:ext uri="{FF2B5EF4-FFF2-40B4-BE49-F238E27FC236}">
                  <a16:creationId xmlns:a16="http://schemas.microsoft.com/office/drawing/2014/main" id="{D65912BB-549A-ACA9-2663-6C4D86E87DA4}"/>
                </a:ext>
              </a:extLst>
            </p:cNvPr>
            <p:cNvSpPr/>
            <p:nvPr/>
          </p:nvSpPr>
          <p:spPr>
            <a:xfrm>
              <a:off x="502920" y="1325880"/>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2" name="Text 4">
              <a:extLst>
                <a:ext uri="{FF2B5EF4-FFF2-40B4-BE49-F238E27FC236}">
                  <a16:creationId xmlns:a16="http://schemas.microsoft.com/office/drawing/2014/main" id="{85F122FE-603C-3F26-9C63-84825510B1BF}"/>
                </a:ext>
              </a:extLst>
            </p:cNvPr>
            <p:cNvSpPr txBox="1"/>
            <p:nvPr/>
          </p:nvSpPr>
          <p:spPr>
            <a:xfrm>
              <a:off x="704088" y="1453896"/>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T-7d</a:t>
              </a:r>
              <a:endParaRPr lang="en-US" sz="950" dirty="0"/>
            </a:p>
          </p:txBody>
        </p:sp>
        <p:sp>
          <p:nvSpPr>
            <p:cNvPr id="53" name="Text 5">
              <a:extLst>
                <a:ext uri="{FF2B5EF4-FFF2-40B4-BE49-F238E27FC236}">
                  <a16:creationId xmlns:a16="http://schemas.microsoft.com/office/drawing/2014/main" id="{7596FD9E-83CF-6198-65E0-0DFDBF5D5DDA}"/>
                </a:ext>
              </a:extLst>
            </p:cNvPr>
            <p:cNvSpPr txBox="1"/>
            <p:nvPr/>
          </p:nvSpPr>
          <p:spPr>
            <a:xfrm>
              <a:off x="1801368" y="1435608"/>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Wave confirmed</a:t>
              </a:r>
              <a:endParaRPr lang="en-US" sz="1050" dirty="0"/>
            </a:p>
          </p:txBody>
        </p:sp>
        <p:sp>
          <p:nvSpPr>
            <p:cNvPr id="54" name="Text 6">
              <a:extLst>
                <a:ext uri="{FF2B5EF4-FFF2-40B4-BE49-F238E27FC236}">
                  <a16:creationId xmlns:a16="http://schemas.microsoft.com/office/drawing/2014/main" id="{3C407CD1-C50B-9ECB-679E-75F231B884C3}"/>
                </a:ext>
              </a:extLst>
            </p:cNvPr>
            <p:cNvSpPr txBox="1"/>
            <p:nvPr/>
          </p:nvSpPr>
          <p:spPr>
            <a:xfrm>
              <a:off x="1801368" y="1700784"/>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Cohort frozen; DNS TTL reduced to 300s; user comms 1 of 3 issued; PSTs collected from cohort endpoints</a:t>
              </a:r>
              <a:endParaRPr lang="en-US" sz="840" dirty="0"/>
            </a:p>
          </p:txBody>
        </p:sp>
        <p:sp>
          <p:nvSpPr>
            <p:cNvPr id="55" name="Shape 7">
              <a:extLst>
                <a:ext uri="{FF2B5EF4-FFF2-40B4-BE49-F238E27FC236}">
                  <a16:creationId xmlns:a16="http://schemas.microsoft.com/office/drawing/2014/main" id="{F436AEE8-5F22-C98E-D9F0-723B9614DCA6}"/>
                </a:ext>
              </a:extLst>
            </p:cNvPr>
            <p:cNvSpPr/>
            <p:nvPr/>
          </p:nvSpPr>
          <p:spPr>
            <a:xfrm>
              <a:off x="502920" y="2295144"/>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6" name="Text 8">
              <a:extLst>
                <a:ext uri="{FF2B5EF4-FFF2-40B4-BE49-F238E27FC236}">
                  <a16:creationId xmlns:a16="http://schemas.microsoft.com/office/drawing/2014/main" id="{3B6D68BF-80D5-1712-AF76-62140BF7927E}"/>
                </a:ext>
              </a:extLst>
            </p:cNvPr>
            <p:cNvSpPr txBox="1"/>
            <p:nvPr/>
          </p:nvSpPr>
          <p:spPr>
            <a:xfrm>
              <a:off x="704088" y="2423160"/>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T-4d</a:t>
              </a:r>
              <a:endParaRPr lang="en-US" sz="950" dirty="0"/>
            </a:p>
          </p:txBody>
        </p:sp>
        <p:sp>
          <p:nvSpPr>
            <p:cNvPr id="57" name="Text 9">
              <a:extLst>
                <a:ext uri="{FF2B5EF4-FFF2-40B4-BE49-F238E27FC236}">
                  <a16:creationId xmlns:a16="http://schemas.microsoft.com/office/drawing/2014/main" id="{A0B74EE5-9625-9A1C-F465-239A3BEB0E86}"/>
                </a:ext>
              </a:extLst>
            </p:cNvPr>
            <p:cNvSpPr txBox="1"/>
            <p:nvPr/>
          </p:nvSpPr>
          <p:spPr>
            <a:xfrm>
              <a:off x="1801368" y="2404872"/>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Pre-stage begins</a:t>
              </a:r>
              <a:endParaRPr lang="en-US" sz="1050" dirty="0"/>
            </a:p>
          </p:txBody>
        </p:sp>
        <p:sp>
          <p:nvSpPr>
            <p:cNvPr id="58" name="Text 10">
              <a:extLst>
                <a:ext uri="{FF2B5EF4-FFF2-40B4-BE49-F238E27FC236}">
                  <a16:creationId xmlns:a16="http://schemas.microsoft.com/office/drawing/2014/main" id="{EA2CA640-A8AE-BFF7-6C50-02C481854194}"/>
                </a:ext>
              </a:extLst>
            </p:cNvPr>
            <p:cNvSpPr txBox="1"/>
            <p:nvPr/>
          </p:nvSpPr>
          <p:spPr>
            <a:xfrm>
              <a:off x="1801368" y="2670048"/>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Bulk pass of mail, drive and collaboration data. Users remain fully on Microsoft 365 and are unaffected</a:t>
              </a:r>
              <a:endParaRPr lang="en-US" sz="840" dirty="0"/>
            </a:p>
          </p:txBody>
        </p:sp>
        <p:sp>
          <p:nvSpPr>
            <p:cNvPr id="59" name="Shape 11">
              <a:extLst>
                <a:ext uri="{FF2B5EF4-FFF2-40B4-BE49-F238E27FC236}">
                  <a16:creationId xmlns:a16="http://schemas.microsoft.com/office/drawing/2014/main" id="{E3AD9991-6D2A-6267-9F2D-A261CC9E6303}"/>
                </a:ext>
              </a:extLst>
            </p:cNvPr>
            <p:cNvSpPr/>
            <p:nvPr/>
          </p:nvSpPr>
          <p:spPr>
            <a:xfrm>
              <a:off x="502920" y="3264408"/>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60" name="Text 12">
              <a:extLst>
                <a:ext uri="{FF2B5EF4-FFF2-40B4-BE49-F238E27FC236}">
                  <a16:creationId xmlns:a16="http://schemas.microsoft.com/office/drawing/2014/main" id="{76CF2A7A-C1BF-A536-76D1-F7D2837471FA}"/>
                </a:ext>
              </a:extLst>
            </p:cNvPr>
            <p:cNvSpPr txBox="1"/>
            <p:nvPr/>
          </p:nvSpPr>
          <p:spPr>
            <a:xfrm>
              <a:off x="704088" y="3392424"/>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T-2d</a:t>
              </a:r>
              <a:endParaRPr lang="en-US" sz="950" dirty="0"/>
            </a:p>
          </p:txBody>
        </p:sp>
        <p:sp>
          <p:nvSpPr>
            <p:cNvPr id="61" name="Text 13">
              <a:extLst>
                <a:ext uri="{FF2B5EF4-FFF2-40B4-BE49-F238E27FC236}">
                  <a16:creationId xmlns:a16="http://schemas.microsoft.com/office/drawing/2014/main" id="{2D9F0C17-BB1E-6992-1253-C51EAC6D6E74}"/>
                </a:ext>
              </a:extLst>
            </p:cNvPr>
            <p:cNvSpPr txBox="1"/>
            <p:nvPr/>
          </p:nvSpPr>
          <p:spPr>
            <a:xfrm>
              <a:off x="1801368" y="3374136"/>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Reconciliation 1</a:t>
              </a:r>
              <a:endParaRPr lang="en-US" sz="1050" dirty="0"/>
            </a:p>
          </p:txBody>
        </p:sp>
        <p:sp>
          <p:nvSpPr>
            <p:cNvPr id="62" name="Text 14">
              <a:extLst>
                <a:ext uri="{FF2B5EF4-FFF2-40B4-BE49-F238E27FC236}">
                  <a16:creationId xmlns:a16="http://schemas.microsoft.com/office/drawing/2014/main" id="{E64F92FE-39D7-DDAE-EB2E-5B2DD3D32B30}"/>
                </a:ext>
              </a:extLst>
            </p:cNvPr>
            <p:cNvSpPr txBox="1"/>
            <p:nvPr/>
          </p:nvSpPr>
          <p:spPr>
            <a:xfrm>
              <a:off x="1801368" y="3639312"/>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Item counts and ACL diff compared against the discovery baseline; exceptions triaged and re-queued</a:t>
              </a:r>
              <a:endParaRPr lang="en-US" sz="840" dirty="0"/>
            </a:p>
          </p:txBody>
        </p:sp>
        <p:sp>
          <p:nvSpPr>
            <p:cNvPr id="63" name="Shape 15">
              <a:extLst>
                <a:ext uri="{FF2B5EF4-FFF2-40B4-BE49-F238E27FC236}">
                  <a16:creationId xmlns:a16="http://schemas.microsoft.com/office/drawing/2014/main" id="{5B09ECD3-F40B-32DF-53F1-14E7B5A0DDCC}"/>
                </a:ext>
              </a:extLst>
            </p:cNvPr>
            <p:cNvSpPr/>
            <p:nvPr/>
          </p:nvSpPr>
          <p:spPr>
            <a:xfrm>
              <a:off x="502920" y="4233672"/>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64" name="Text 16">
              <a:extLst>
                <a:ext uri="{FF2B5EF4-FFF2-40B4-BE49-F238E27FC236}">
                  <a16:creationId xmlns:a16="http://schemas.microsoft.com/office/drawing/2014/main" id="{FBD46C5F-1B83-7F4D-335A-3EA39995C50D}"/>
                </a:ext>
              </a:extLst>
            </p:cNvPr>
            <p:cNvSpPr txBox="1"/>
            <p:nvPr/>
          </p:nvSpPr>
          <p:spPr>
            <a:xfrm>
              <a:off x="704088" y="4361688"/>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T-1d</a:t>
              </a:r>
              <a:endParaRPr lang="en-US" sz="950" dirty="0"/>
            </a:p>
          </p:txBody>
        </p:sp>
        <p:sp>
          <p:nvSpPr>
            <p:cNvPr id="65" name="Text 17">
              <a:extLst>
                <a:ext uri="{FF2B5EF4-FFF2-40B4-BE49-F238E27FC236}">
                  <a16:creationId xmlns:a16="http://schemas.microsoft.com/office/drawing/2014/main" id="{03CCEC77-D5DA-2B3B-83E3-AE0A873A2701}"/>
                </a:ext>
              </a:extLst>
            </p:cNvPr>
            <p:cNvSpPr txBox="1"/>
            <p:nvPr/>
          </p:nvSpPr>
          <p:spPr>
            <a:xfrm>
              <a:off x="1801368" y="4343400"/>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Go / no-go</a:t>
              </a:r>
              <a:endParaRPr lang="en-US" sz="1050" dirty="0"/>
            </a:p>
          </p:txBody>
        </p:sp>
        <p:sp>
          <p:nvSpPr>
            <p:cNvPr id="66" name="Text 18">
              <a:extLst>
                <a:ext uri="{FF2B5EF4-FFF2-40B4-BE49-F238E27FC236}">
                  <a16:creationId xmlns:a16="http://schemas.microsoft.com/office/drawing/2014/main" id="{51D24FD3-4A9D-A861-BD60-A642480E36B8}"/>
                </a:ext>
              </a:extLst>
            </p:cNvPr>
            <p:cNvSpPr txBox="1"/>
            <p:nvPr/>
          </p:nvSpPr>
          <p:spPr>
            <a:xfrm>
              <a:off x="1801368" y="4608576"/>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Delta duration measured, exception count under threshold, rollback staged, floorwalkers rostered</a:t>
              </a:r>
              <a:endParaRPr lang="en-US" sz="840" dirty="0"/>
            </a:p>
          </p:txBody>
        </p:sp>
        <p:sp>
          <p:nvSpPr>
            <p:cNvPr id="67" name="Shape 19">
              <a:extLst>
                <a:ext uri="{FF2B5EF4-FFF2-40B4-BE49-F238E27FC236}">
                  <a16:creationId xmlns:a16="http://schemas.microsoft.com/office/drawing/2014/main" id="{FE66D95C-F997-1932-CDD5-2686AD6E6658}"/>
                </a:ext>
              </a:extLst>
            </p:cNvPr>
            <p:cNvSpPr/>
            <p:nvPr/>
          </p:nvSpPr>
          <p:spPr>
            <a:xfrm>
              <a:off x="502920" y="5202936"/>
              <a:ext cx="5257800" cy="877824"/>
            </a:xfrm>
            <a:prstGeom prst="roundRect">
              <a:avLst>
                <a:gd name="adj" fmla="val 5208"/>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68" name="Text 20">
              <a:extLst>
                <a:ext uri="{FF2B5EF4-FFF2-40B4-BE49-F238E27FC236}">
                  <a16:creationId xmlns:a16="http://schemas.microsoft.com/office/drawing/2014/main" id="{CB8AF87F-C23E-B22C-B209-EE166589E7A7}"/>
                </a:ext>
              </a:extLst>
            </p:cNvPr>
            <p:cNvSpPr txBox="1"/>
            <p:nvPr/>
          </p:nvSpPr>
          <p:spPr>
            <a:xfrm>
              <a:off x="704088" y="5330952"/>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1D5F"/>
                  </a:solidFill>
                  <a:latin typeface="Calibri" pitchFamily="34" charset="0"/>
                  <a:ea typeface="Calibri" pitchFamily="34" charset="-122"/>
                  <a:cs typeface="Calibri" pitchFamily="34" charset="-120"/>
                </a:rPr>
                <a:t>T-0 evening</a:t>
              </a:r>
              <a:endParaRPr lang="en-US" sz="950" dirty="0"/>
            </a:p>
          </p:txBody>
        </p:sp>
        <p:sp>
          <p:nvSpPr>
            <p:cNvPr id="69" name="Text 21">
              <a:extLst>
                <a:ext uri="{FF2B5EF4-FFF2-40B4-BE49-F238E27FC236}">
                  <a16:creationId xmlns:a16="http://schemas.microsoft.com/office/drawing/2014/main" id="{A2103C28-06C3-E544-8041-0CF655C2B56A}"/>
                </a:ext>
              </a:extLst>
            </p:cNvPr>
            <p:cNvSpPr txBox="1"/>
            <p:nvPr/>
          </p:nvSpPr>
          <p:spPr>
            <a:xfrm>
              <a:off x="1801368" y="5312664"/>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Cutover window opens</a:t>
              </a:r>
              <a:endParaRPr lang="en-US" sz="1050" dirty="0"/>
            </a:p>
          </p:txBody>
        </p:sp>
        <p:sp>
          <p:nvSpPr>
            <p:cNvPr id="70" name="Text 22">
              <a:extLst>
                <a:ext uri="{FF2B5EF4-FFF2-40B4-BE49-F238E27FC236}">
                  <a16:creationId xmlns:a16="http://schemas.microsoft.com/office/drawing/2014/main" id="{CD6C5B02-2FB0-7952-B0FB-EA9AA0647C95}"/>
                </a:ext>
              </a:extLst>
            </p:cNvPr>
            <p:cNvSpPr txBox="1"/>
            <p:nvPr/>
          </p:nvSpPr>
          <p:spPr>
            <a:xfrm>
              <a:off x="1801368" y="5577840"/>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Final delta pass; source mailboxes set to forward; routing rule updated; relay sources re-pointed; accounts enabled</a:t>
              </a:r>
              <a:endParaRPr lang="en-US" sz="840" dirty="0"/>
            </a:p>
          </p:txBody>
        </p:sp>
        <p:sp>
          <p:nvSpPr>
            <p:cNvPr id="71" name="Shape 23">
              <a:extLst>
                <a:ext uri="{FF2B5EF4-FFF2-40B4-BE49-F238E27FC236}">
                  <a16:creationId xmlns:a16="http://schemas.microsoft.com/office/drawing/2014/main" id="{9095E887-7DFB-01A8-7E67-FFF21020BC59}"/>
                </a:ext>
              </a:extLst>
            </p:cNvPr>
            <p:cNvSpPr/>
            <p:nvPr/>
          </p:nvSpPr>
          <p:spPr>
            <a:xfrm>
              <a:off x="6080760" y="1325880"/>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72" name="Text 24">
              <a:extLst>
                <a:ext uri="{FF2B5EF4-FFF2-40B4-BE49-F238E27FC236}">
                  <a16:creationId xmlns:a16="http://schemas.microsoft.com/office/drawing/2014/main" id="{226F9014-8EFE-2F08-D779-4812972F8AF8}"/>
                </a:ext>
              </a:extLst>
            </p:cNvPr>
            <p:cNvSpPr txBox="1"/>
            <p:nvPr/>
          </p:nvSpPr>
          <p:spPr>
            <a:xfrm>
              <a:off x="6281928" y="1453896"/>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T-0 late</a:t>
              </a:r>
              <a:endParaRPr lang="en-US" sz="950" dirty="0"/>
            </a:p>
          </p:txBody>
        </p:sp>
        <p:sp>
          <p:nvSpPr>
            <p:cNvPr id="73" name="Text 25">
              <a:extLst>
                <a:ext uri="{FF2B5EF4-FFF2-40B4-BE49-F238E27FC236}">
                  <a16:creationId xmlns:a16="http://schemas.microsoft.com/office/drawing/2014/main" id="{F0A2820D-9B14-AA1D-C57D-8F10E7AFA75B}"/>
                </a:ext>
              </a:extLst>
            </p:cNvPr>
            <p:cNvSpPr txBox="1"/>
            <p:nvPr/>
          </p:nvSpPr>
          <p:spPr>
            <a:xfrm>
              <a:off x="7379208" y="1435608"/>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Client transition</a:t>
              </a:r>
              <a:endParaRPr lang="en-US" sz="1050" dirty="0"/>
            </a:p>
          </p:txBody>
        </p:sp>
        <p:sp>
          <p:nvSpPr>
            <p:cNvPr id="74" name="Text 26">
              <a:extLst>
                <a:ext uri="{FF2B5EF4-FFF2-40B4-BE49-F238E27FC236}">
                  <a16:creationId xmlns:a16="http://schemas.microsoft.com/office/drawing/2014/main" id="{EF166195-035F-73B7-7DF7-49A8BD02D55C}"/>
                </a:ext>
              </a:extLst>
            </p:cNvPr>
            <p:cNvSpPr txBox="1"/>
            <p:nvPr/>
          </p:nvSpPr>
          <p:spPr>
            <a:xfrm>
              <a:off x="7379208" y="1700784"/>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Outlook profiles retired or re-pointed; mobile re-enrolled; browser and Drive for Desktop deployed</a:t>
              </a:r>
              <a:endParaRPr lang="en-US" sz="840" dirty="0"/>
            </a:p>
          </p:txBody>
        </p:sp>
        <p:sp>
          <p:nvSpPr>
            <p:cNvPr id="75" name="Shape 27">
              <a:extLst>
                <a:ext uri="{FF2B5EF4-FFF2-40B4-BE49-F238E27FC236}">
                  <a16:creationId xmlns:a16="http://schemas.microsoft.com/office/drawing/2014/main" id="{FEFC2781-E5C2-EFDD-349A-B47FB38B3F2F}"/>
                </a:ext>
              </a:extLst>
            </p:cNvPr>
            <p:cNvSpPr/>
            <p:nvPr/>
          </p:nvSpPr>
          <p:spPr>
            <a:xfrm>
              <a:off x="6080760" y="2295144"/>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76" name="Text 28">
              <a:extLst>
                <a:ext uri="{FF2B5EF4-FFF2-40B4-BE49-F238E27FC236}">
                  <a16:creationId xmlns:a16="http://schemas.microsoft.com/office/drawing/2014/main" id="{04CB893C-CF49-1322-82C3-4B2E112923D9}"/>
                </a:ext>
              </a:extLst>
            </p:cNvPr>
            <p:cNvSpPr txBox="1"/>
            <p:nvPr/>
          </p:nvSpPr>
          <p:spPr>
            <a:xfrm>
              <a:off x="6281928" y="2423160"/>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T+1 early</a:t>
              </a:r>
              <a:endParaRPr lang="en-US" sz="950" dirty="0"/>
            </a:p>
          </p:txBody>
        </p:sp>
        <p:sp>
          <p:nvSpPr>
            <p:cNvPr id="77" name="Text 29">
              <a:extLst>
                <a:ext uri="{FF2B5EF4-FFF2-40B4-BE49-F238E27FC236}">
                  <a16:creationId xmlns:a16="http://schemas.microsoft.com/office/drawing/2014/main" id="{06F2D303-1B95-9AD1-D7CE-4D2E14780774}"/>
                </a:ext>
              </a:extLst>
            </p:cNvPr>
            <p:cNvSpPr txBox="1"/>
            <p:nvPr/>
          </p:nvSpPr>
          <p:spPr>
            <a:xfrm>
              <a:off x="7379208" y="2404872"/>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Reconciliation 2</a:t>
              </a:r>
              <a:endParaRPr lang="en-US" sz="1050" dirty="0"/>
            </a:p>
          </p:txBody>
        </p:sp>
        <p:sp>
          <p:nvSpPr>
            <p:cNvPr id="78" name="Text 30">
              <a:extLst>
                <a:ext uri="{FF2B5EF4-FFF2-40B4-BE49-F238E27FC236}">
                  <a16:creationId xmlns:a16="http://schemas.microsoft.com/office/drawing/2014/main" id="{F901BB28-C019-896A-E5AA-E2FD26545348}"/>
                </a:ext>
              </a:extLst>
            </p:cNvPr>
            <p:cNvSpPr txBox="1"/>
            <p:nvPr/>
          </p:nvSpPr>
          <p:spPr>
            <a:xfrm>
              <a:off x="7379208" y="2670048"/>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Final item and permission reconciliation; variance report published before users log on</a:t>
              </a:r>
              <a:endParaRPr lang="en-US" sz="840" dirty="0"/>
            </a:p>
          </p:txBody>
        </p:sp>
        <p:sp>
          <p:nvSpPr>
            <p:cNvPr id="79" name="Shape 31">
              <a:extLst>
                <a:ext uri="{FF2B5EF4-FFF2-40B4-BE49-F238E27FC236}">
                  <a16:creationId xmlns:a16="http://schemas.microsoft.com/office/drawing/2014/main" id="{5C6DB01D-DB87-1A4A-972D-D5149B7DEA73}"/>
                </a:ext>
              </a:extLst>
            </p:cNvPr>
            <p:cNvSpPr/>
            <p:nvPr/>
          </p:nvSpPr>
          <p:spPr>
            <a:xfrm>
              <a:off x="6080760" y="3264408"/>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80" name="Text 32">
              <a:extLst>
                <a:ext uri="{FF2B5EF4-FFF2-40B4-BE49-F238E27FC236}">
                  <a16:creationId xmlns:a16="http://schemas.microsoft.com/office/drawing/2014/main" id="{A959CF09-DAF0-4540-F08D-547F0DF897DF}"/>
                </a:ext>
              </a:extLst>
            </p:cNvPr>
            <p:cNvSpPr txBox="1"/>
            <p:nvPr/>
          </p:nvSpPr>
          <p:spPr>
            <a:xfrm>
              <a:off x="6281928" y="3392424"/>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T+1 09:00</a:t>
              </a:r>
              <a:endParaRPr lang="en-US" sz="950" dirty="0"/>
            </a:p>
          </p:txBody>
        </p:sp>
        <p:sp>
          <p:nvSpPr>
            <p:cNvPr id="81" name="Text 33">
              <a:extLst>
                <a:ext uri="{FF2B5EF4-FFF2-40B4-BE49-F238E27FC236}">
                  <a16:creationId xmlns:a16="http://schemas.microsoft.com/office/drawing/2014/main" id="{404DCE1A-77E3-7960-0036-1E123C418359}"/>
                </a:ext>
              </a:extLst>
            </p:cNvPr>
            <p:cNvSpPr txBox="1"/>
            <p:nvPr/>
          </p:nvSpPr>
          <p:spPr>
            <a:xfrm>
              <a:off x="7379208" y="3374136"/>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Hypercare on site</a:t>
              </a:r>
              <a:endParaRPr lang="en-US" sz="1050" dirty="0"/>
            </a:p>
          </p:txBody>
        </p:sp>
        <p:sp>
          <p:nvSpPr>
            <p:cNvPr id="82" name="Text 34">
              <a:extLst>
                <a:ext uri="{FF2B5EF4-FFF2-40B4-BE49-F238E27FC236}">
                  <a16:creationId xmlns:a16="http://schemas.microsoft.com/office/drawing/2014/main" id="{175F4779-5AAC-7F9C-B43D-CAB0D8703464}"/>
                </a:ext>
              </a:extLst>
            </p:cNvPr>
            <p:cNvSpPr txBox="1"/>
            <p:nvPr/>
          </p:nvSpPr>
          <p:spPr>
            <a:xfrm>
              <a:off x="7379208" y="3639312"/>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Floorwalkers at 1:40; dedicated helpdesk queue; hourly triage with the client service desk</a:t>
              </a:r>
              <a:endParaRPr lang="en-US" sz="840" dirty="0"/>
            </a:p>
          </p:txBody>
        </p:sp>
        <p:sp>
          <p:nvSpPr>
            <p:cNvPr id="83" name="Shape 35">
              <a:extLst>
                <a:ext uri="{FF2B5EF4-FFF2-40B4-BE49-F238E27FC236}">
                  <a16:creationId xmlns:a16="http://schemas.microsoft.com/office/drawing/2014/main" id="{EC7D60F7-DC6E-4D9C-5971-D97B15565446}"/>
                </a:ext>
              </a:extLst>
            </p:cNvPr>
            <p:cNvSpPr/>
            <p:nvPr/>
          </p:nvSpPr>
          <p:spPr>
            <a:xfrm>
              <a:off x="6080760" y="4233672"/>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84" name="Text 36">
              <a:extLst>
                <a:ext uri="{FF2B5EF4-FFF2-40B4-BE49-F238E27FC236}">
                  <a16:creationId xmlns:a16="http://schemas.microsoft.com/office/drawing/2014/main" id="{84395ABC-96A5-6E7F-7B34-5FCC48053E02}"/>
                </a:ext>
              </a:extLst>
            </p:cNvPr>
            <p:cNvSpPr txBox="1"/>
            <p:nvPr/>
          </p:nvSpPr>
          <p:spPr>
            <a:xfrm>
              <a:off x="6281928" y="4361688"/>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T+3</a:t>
              </a:r>
              <a:endParaRPr lang="en-US" sz="950" dirty="0"/>
            </a:p>
          </p:txBody>
        </p:sp>
        <p:sp>
          <p:nvSpPr>
            <p:cNvPr id="85" name="Text 37">
              <a:extLst>
                <a:ext uri="{FF2B5EF4-FFF2-40B4-BE49-F238E27FC236}">
                  <a16:creationId xmlns:a16="http://schemas.microsoft.com/office/drawing/2014/main" id="{33233712-3F53-15C1-09F4-02B9454D4147}"/>
                </a:ext>
              </a:extLst>
            </p:cNvPr>
            <p:cNvSpPr txBox="1"/>
            <p:nvPr/>
          </p:nvSpPr>
          <p:spPr>
            <a:xfrm>
              <a:off x="7379208" y="4343400"/>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Wave sign-off</a:t>
              </a:r>
              <a:endParaRPr lang="en-US" sz="1050" dirty="0"/>
            </a:p>
          </p:txBody>
        </p:sp>
        <p:sp>
          <p:nvSpPr>
            <p:cNvPr id="86" name="Text 38">
              <a:extLst>
                <a:ext uri="{FF2B5EF4-FFF2-40B4-BE49-F238E27FC236}">
                  <a16:creationId xmlns:a16="http://schemas.microsoft.com/office/drawing/2014/main" id="{DD407C62-9F7D-1010-B743-CC9556794822}"/>
                </a:ext>
              </a:extLst>
            </p:cNvPr>
            <p:cNvSpPr txBox="1"/>
            <p:nvPr/>
          </p:nvSpPr>
          <p:spPr>
            <a:xfrm>
              <a:off x="7379208" y="4608576"/>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Acceptance against the service objectives; retrospective feeds the next wave; source mailbox retained read-only</a:t>
              </a:r>
              <a:endParaRPr lang="en-US" sz="840" dirty="0"/>
            </a:p>
          </p:txBody>
        </p:sp>
        <p:sp>
          <p:nvSpPr>
            <p:cNvPr id="87" name="Shape 39">
              <a:extLst>
                <a:ext uri="{FF2B5EF4-FFF2-40B4-BE49-F238E27FC236}">
                  <a16:creationId xmlns:a16="http://schemas.microsoft.com/office/drawing/2014/main" id="{076E2648-640A-6860-B821-06BC59514306}"/>
                </a:ext>
              </a:extLst>
            </p:cNvPr>
            <p:cNvSpPr/>
            <p:nvPr/>
          </p:nvSpPr>
          <p:spPr>
            <a:xfrm>
              <a:off x="6080760" y="5202936"/>
              <a:ext cx="5257800" cy="877824"/>
            </a:xfrm>
            <a:prstGeom prst="roundRect">
              <a:avLst>
                <a:gd name="adj" fmla="val 5208"/>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88" name="Text 40">
              <a:extLst>
                <a:ext uri="{FF2B5EF4-FFF2-40B4-BE49-F238E27FC236}">
                  <a16:creationId xmlns:a16="http://schemas.microsoft.com/office/drawing/2014/main" id="{F8AAA431-8F92-3A14-C9D9-2496E98378FE}"/>
                </a:ext>
              </a:extLst>
            </p:cNvPr>
            <p:cNvSpPr txBox="1"/>
            <p:nvPr/>
          </p:nvSpPr>
          <p:spPr>
            <a:xfrm>
              <a:off x="6281928" y="5330952"/>
              <a:ext cx="1051560" cy="274320"/>
            </a:xfrm>
            <a:prstGeom prst="rect">
              <a:avLst/>
            </a:prstGeom>
            <a:noFill/>
            <a:ln/>
          </p:spPr>
          <p:txBody>
            <a:bodyPr wrap="square" lIns="0" tIns="0" rIns="0" bIns="0" rtlCol="0" anchor="t"/>
            <a:lstStyle/>
            <a:p>
              <a:pPr marL="0" indent="0" algn="l">
                <a:lnSpc>
                  <a:spcPct val="112000"/>
                </a:lnSpc>
                <a:buNone/>
              </a:pPr>
              <a:r>
                <a:rPr lang="en-US" sz="950" b="1" dirty="0">
                  <a:solidFill>
                    <a:srgbClr val="0053EB"/>
                  </a:solidFill>
                  <a:latin typeface="Calibri" pitchFamily="34" charset="0"/>
                  <a:ea typeface="Calibri" pitchFamily="34" charset="-122"/>
                  <a:cs typeface="Calibri" pitchFamily="34" charset="-120"/>
                </a:rPr>
                <a:t>T+7</a:t>
              </a:r>
              <a:endParaRPr lang="en-US" sz="950" dirty="0"/>
            </a:p>
          </p:txBody>
        </p:sp>
        <p:sp>
          <p:nvSpPr>
            <p:cNvPr id="89" name="Text 41">
              <a:extLst>
                <a:ext uri="{FF2B5EF4-FFF2-40B4-BE49-F238E27FC236}">
                  <a16:creationId xmlns:a16="http://schemas.microsoft.com/office/drawing/2014/main" id="{36618974-28B7-2C4F-7D4C-513A1084F82B}"/>
                </a:ext>
              </a:extLst>
            </p:cNvPr>
            <p:cNvSpPr txBox="1"/>
            <p:nvPr/>
          </p:nvSpPr>
          <p:spPr>
            <a:xfrm>
              <a:off x="7379208" y="5312664"/>
              <a:ext cx="374904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Wave closure</a:t>
              </a:r>
              <a:endParaRPr lang="en-US" sz="1050" dirty="0"/>
            </a:p>
          </p:txBody>
        </p:sp>
        <p:sp>
          <p:nvSpPr>
            <p:cNvPr id="90" name="Text 42">
              <a:extLst>
                <a:ext uri="{FF2B5EF4-FFF2-40B4-BE49-F238E27FC236}">
                  <a16:creationId xmlns:a16="http://schemas.microsoft.com/office/drawing/2014/main" id="{0216B65B-91B7-C38F-5957-DC2B9DE1DEB4}"/>
                </a:ext>
              </a:extLst>
            </p:cNvPr>
            <p:cNvSpPr txBox="1"/>
            <p:nvPr/>
          </p:nvSpPr>
          <p:spPr>
            <a:xfrm>
              <a:off x="7379208" y="5577840"/>
              <a:ext cx="3794760" cy="411480"/>
            </a:xfrm>
            <a:prstGeom prst="rect">
              <a:avLst/>
            </a:prstGeom>
            <a:noFill/>
            <a:ln/>
          </p:spPr>
          <p:txBody>
            <a:bodyPr wrap="square" lIns="0" tIns="0" rIns="0" bIns="0" rtlCol="0" anchor="t"/>
            <a:lstStyle/>
            <a:p>
              <a:pPr marL="0" indent="0" algn="l">
                <a:lnSpc>
                  <a:spcPct val="105000"/>
                </a:lnSpc>
                <a:buNone/>
              </a:pPr>
              <a:r>
                <a:rPr lang="en-US" sz="840" dirty="0">
                  <a:solidFill>
                    <a:srgbClr val="5D6B8C"/>
                  </a:solidFill>
                  <a:latin typeface="Calibri" pitchFamily="34" charset="0"/>
                  <a:ea typeface="Calibri" pitchFamily="34" charset="-122"/>
                  <a:cs typeface="Calibri" pitchFamily="34" charset="-120"/>
                </a:rPr>
                <a:t>Residual tickets closed or transferred to business as usual; wave evidence pack filed for audit; next wave cohort confirmed</a:t>
              </a:r>
              <a:endParaRPr lang="en-US" sz="840" dirty="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REGULATED ENVIRONMENT</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Data residency, retention and evidentiary continuity</a:t>
            </a:r>
            <a:endParaRPr lang="en-US" sz="2800" dirty="0"/>
          </a:p>
        </p:txBody>
      </p:sp>
      <p:sp>
        <p:nvSpPr>
          <p:cNvPr id="8" name="AutoShape 2">
            <a:extLst>
              <a:ext uri="{FF2B5EF4-FFF2-40B4-BE49-F238E27FC236}">
                <a16:creationId xmlns:a16="http://schemas.microsoft.com/office/drawing/2014/main" id="{7AC8320F-0839-4C19-8435-14BCC45F1A89}"/>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9" name="TextBox 7">
            <a:extLst>
              <a:ext uri="{FF2B5EF4-FFF2-40B4-BE49-F238E27FC236}">
                <a16:creationId xmlns:a16="http://schemas.microsoft.com/office/drawing/2014/main" id="{8C28F276-CDEC-47BF-8348-9EA6FDDADCAF}"/>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0" name="TextBox 9">
            <a:extLst>
              <a:ext uri="{FF2B5EF4-FFF2-40B4-BE49-F238E27FC236}">
                <a16:creationId xmlns:a16="http://schemas.microsoft.com/office/drawing/2014/main" id="{61D4A524-23C4-4141-B0D0-67615A33A850}"/>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1" name="TextBox 10">
            <a:extLst>
              <a:ext uri="{FF2B5EF4-FFF2-40B4-BE49-F238E27FC236}">
                <a16:creationId xmlns:a16="http://schemas.microsoft.com/office/drawing/2014/main" id="{60DE32CD-3F1C-4123-B2F0-FC408D9C4A80}"/>
              </a:ext>
            </a:extLst>
          </p:cNvPr>
          <p:cNvSpPr txBox="1"/>
          <p:nvPr/>
        </p:nvSpPr>
        <p:spPr>
          <a:xfrm>
            <a:off x="5911269" y="6533202"/>
            <a:ext cx="287258" cy="215444"/>
          </a:xfrm>
          <a:prstGeom prst="rect">
            <a:avLst/>
          </a:prstGeom>
          <a:noFill/>
        </p:spPr>
        <p:txBody>
          <a:bodyPr wrap="none" rtlCol="0">
            <a:spAutoFit/>
          </a:bodyPr>
          <a:lstStyle/>
          <a:p>
            <a:r>
              <a:rPr lang="en-US" sz="800" dirty="0"/>
              <a:t>21</a:t>
            </a:r>
          </a:p>
        </p:txBody>
      </p:sp>
      <p:sp>
        <p:nvSpPr>
          <p:cNvPr id="7" name="Text 3">
            <a:extLst>
              <a:ext uri="{FF2B5EF4-FFF2-40B4-BE49-F238E27FC236}">
                <a16:creationId xmlns:a16="http://schemas.microsoft.com/office/drawing/2014/main" id="{67A52641-D2BC-D21B-931C-F8C4542D75BB}"/>
              </a:ext>
            </a:extLst>
          </p:cNvPr>
          <p:cNvSpPr txBox="1"/>
          <p:nvPr/>
        </p:nvSpPr>
        <p:spPr>
          <a:xfrm>
            <a:off x="502920" y="1261872"/>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In a regulated estate the migration itself is an auditable event. These controls are designed up front and evidenced through every wave.</a:t>
            </a:r>
            <a:endParaRPr lang="en-US" sz="1100" dirty="0"/>
          </a:p>
        </p:txBody>
      </p:sp>
      <p:graphicFrame>
        <p:nvGraphicFramePr>
          <p:cNvPr id="13" name="Table 0">
            <a:extLst>
              <a:ext uri="{FF2B5EF4-FFF2-40B4-BE49-F238E27FC236}">
                <a16:creationId xmlns:a16="http://schemas.microsoft.com/office/drawing/2014/main" id="{5E418EBB-0F98-8960-5C72-AE1B521B6C83}"/>
              </a:ext>
            </a:extLst>
          </p:cNvPr>
          <p:cNvGraphicFramePr>
            <a:graphicFrameLocks noGrp="1"/>
          </p:cNvGraphicFramePr>
          <p:nvPr>
            <p:extLst>
              <p:ext uri="{D42A27DB-BD31-4B8C-83A1-F6EECF244321}">
                <p14:modId xmlns:p14="http://schemas.microsoft.com/office/powerpoint/2010/main" val="1868831876"/>
              </p:ext>
            </p:extLst>
          </p:nvPr>
        </p:nvGraphicFramePr>
        <p:xfrm>
          <a:off x="502920" y="1664208"/>
          <a:ext cx="10835640" cy="4096512"/>
        </p:xfrm>
        <a:graphic>
          <a:graphicData uri="http://schemas.openxmlformats.org/drawingml/2006/table">
            <a:tbl>
              <a:tblPr/>
              <a:tblGrid>
                <a:gridCol w="187452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5166360">
                  <a:extLst>
                    <a:ext uri="{9D8B030D-6E8A-4147-A177-3AD203B41FA5}">
                      <a16:colId xmlns:a16="http://schemas.microsoft.com/office/drawing/2014/main" val="20002"/>
                    </a:ext>
                  </a:extLst>
                </a:gridCol>
              </a:tblGrid>
              <a:tr h="512064">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Control area</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Design decision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Practitioner note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51206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Data residency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Data region policy applied per organisational unit or group, set before the first byte lands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Enterprise-tier data region controls allow per-OU policy. Users on an unsupported edition are NOT covered even if the policy is applied to their OU - an edition audit is mandatory before the first wave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Data processing transparency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Assured Controls / Assured Controls Plus add-on where processing-region evidence is required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Provides reporting on data processing by region and service, and support-personnel access controls. Priced as an add-on - confirm before assuming it in the compliance narrative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51206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Retention &amp; eDiscovery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Vault retention rules authored and applied ahead of user provisioning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Vault retention must exist before data arrives. Retro-fitting retention after a wave does not recover what was already purged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Legal holds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Holds do not migrate. Source mailboxes under hold are retained in place under a legal-approved disposition plan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The single most common compliance failure in these programmes. Decommissioning a held mailbox is a reportable event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51206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Journaling &amp; archiving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Existing archive or journal vendor re-pointed to Workspace, or replaced by Vault, with an agreed continuity date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Two archives with a gap between them is worse than one. The join must be explicit and documented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Sensitivity labels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Purview labels do not translate. Mapped to Workspace DLP rules and client-side encryption where required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Label metadata is lost at migration - the protection must be re-expressed, not assumed to travel with the file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512064">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Audit evidence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Reconciliation reports, gate approvals and exception registers retained as the migration evidence pack</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Auditors ask what moved, what did not, and who signed. We produce that pack as a deliverable, not on request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16FF-06DD-2D7B-7B49-E7D7838889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F004FE7-D41A-401B-A40B-0425BEE4466B}"/>
              </a:ext>
            </a:extLst>
          </p:cNvPr>
          <p:cNvGrpSpPr/>
          <p:nvPr/>
        </p:nvGrpSpPr>
        <p:grpSpPr>
          <a:xfrm>
            <a:off x="10142683" y="5566065"/>
            <a:ext cx="229316" cy="229316"/>
            <a:chOff x="0" y="0"/>
            <a:chExt cx="812800" cy="812800"/>
          </a:xfrm>
        </p:grpSpPr>
        <p:sp>
          <p:nvSpPr>
            <p:cNvPr id="3" name="Freeform 3">
              <a:extLst>
                <a:ext uri="{FF2B5EF4-FFF2-40B4-BE49-F238E27FC236}">
                  <a16:creationId xmlns:a16="http://schemas.microsoft.com/office/drawing/2014/main" id="{56817DF6-DDA3-71D4-0F71-7AA6C0F3CA6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 name="TextBox 4">
              <a:extLst>
                <a:ext uri="{FF2B5EF4-FFF2-40B4-BE49-F238E27FC236}">
                  <a16:creationId xmlns:a16="http://schemas.microsoft.com/office/drawing/2014/main" id="{5CDAFD9F-EC95-8FBA-8539-1336095C8205}"/>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5" name="Group 5">
            <a:extLst>
              <a:ext uri="{FF2B5EF4-FFF2-40B4-BE49-F238E27FC236}">
                <a16:creationId xmlns:a16="http://schemas.microsoft.com/office/drawing/2014/main" id="{9BC62E8F-53AE-6F25-7F71-36398AB1C999}"/>
              </a:ext>
            </a:extLst>
          </p:cNvPr>
          <p:cNvGrpSpPr/>
          <p:nvPr/>
        </p:nvGrpSpPr>
        <p:grpSpPr>
          <a:xfrm>
            <a:off x="10396683" y="5566065"/>
            <a:ext cx="229316" cy="229316"/>
            <a:chOff x="0" y="0"/>
            <a:chExt cx="812800" cy="812800"/>
          </a:xfrm>
        </p:grpSpPr>
        <p:sp>
          <p:nvSpPr>
            <p:cNvPr id="6" name="Freeform 6">
              <a:extLst>
                <a:ext uri="{FF2B5EF4-FFF2-40B4-BE49-F238E27FC236}">
                  <a16:creationId xmlns:a16="http://schemas.microsoft.com/office/drawing/2014/main" id="{C3024B66-0E7D-A813-6E1C-718F9EBC3D7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7" name="TextBox 7">
              <a:extLst>
                <a:ext uri="{FF2B5EF4-FFF2-40B4-BE49-F238E27FC236}">
                  <a16:creationId xmlns:a16="http://schemas.microsoft.com/office/drawing/2014/main" id="{3C068469-CD5E-9646-7333-D7676CF448A3}"/>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8" name="Group 8">
            <a:extLst>
              <a:ext uri="{FF2B5EF4-FFF2-40B4-BE49-F238E27FC236}">
                <a16:creationId xmlns:a16="http://schemas.microsoft.com/office/drawing/2014/main" id="{BE4106E7-897E-D04B-0C07-D4A4BD30C270}"/>
              </a:ext>
            </a:extLst>
          </p:cNvPr>
          <p:cNvGrpSpPr/>
          <p:nvPr/>
        </p:nvGrpSpPr>
        <p:grpSpPr>
          <a:xfrm>
            <a:off x="10650683" y="5566065"/>
            <a:ext cx="229316" cy="229316"/>
            <a:chOff x="0" y="0"/>
            <a:chExt cx="812800" cy="812800"/>
          </a:xfrm>
        </p:grpSpPr>
        <p:sp>
          <p:nvSpPr>
            <p:cNvPr id="9" name="Freeform 9">
              <a:extLst>
                <a:ext uri="{FF2B5EF4-FFF2-40B4-BE49-F238E27FC236}">
                  <a16:creationId xmlns:a16="http://schemas.microsoft.com/office/drawing/2014/main" id="{A33A8CC3-899F-1FD7-E302-36A0C9DF643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10" name="TextBox 10">
              <a:extLst>
                <a:ext uri="{FF2B5EF4-FFF2-40B4-BE49-F238E27FC236}">
                  <a16:creationId xmlns:a16="http://schemas.microsoft.com/office/drawing/2014/main" id="{8E4434E9-5E55-520D-7AF7-E5A18CE60B1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17" name="Group 17">
            <a:extLst>
              <a:ext uri="{FF2B5EF4-FFF2-40B4-BE49-F238E27FC236}">
                <a16:creationId xmlns:a16="http://schemas.microsoft.com/office/drawing/2014/main" id="{43977719-F523-A315-B5FD-F5B76FE7984E}"/>
              </a:ext>
            </a:extLst>
          </p:cNvPr>
          <p:cNvGrpSpPr/>
          <p:nvPr/>
        </p:nvGrpSpPr>
        <p:grpSpPr>
          <a:xfrm>
            <a:off x="9099427" y="916663"/>
            <a:ext cx="1924173" cy="1991191"/>
            <a:chOff x="0" y="0"/>
            <a:chExt cx="3848347" cy="3982382"/>
          </a:xfrm>
        </p:grpSpPr>
        <p:sp>
          <p:nvSpPr>
            <p:cNvPr id="18" name="Freeform 18">
              <a:extLst>
                <a:ext uri="{FF2B5EF4-FFF2-40B4-BE49-F238E27FC236}">
                  <a16:creationId xmlns:a16="http://schemas.microsoft.com/office/drawing/2014/main" id="{60F460AF-0C64-96D5-100C-3E23CBB3B67F}"/>
                </a:ext>
              </a:extLst>
            </p:cNvPr>
            <p:cNvSpPr/>
            <p:nvPr/>
          </p:nvSpPr>
          <p:spPr>
            <a:xfrm>
              <a:off x="0" y="0"/>
              <a:ext cx="3848347" cy="3245137"/>
            </a:xfrm>
            <a:custGeom>
              <a:avLst/>
              <a:gdLst/>
              <a:ahLst/>
              <a:cxnLst/>
              <a:rect l="l" t="t" r="r" b="b"/>
              <a:pathLst>
                <a:path w="3848347" h="3245137">
                  <a:moveTo>
                    <a:pt x="0" y="0"/>
                  </a:moveTo>
                  <a:lnTo>
                    <a:pt x="3848347" y="0"/>
                  </a:lnTo>
                  <a:lnTo>
                    <a:pt x="3848347" y="3245137"/>
                  </a:lnTo>
                  <a:lnTo>
                    <a:pt x="0" y="3245137"/>
                  </a:lnTo>
                  <a:lnTo>
                    <a:pt x="0" y="0"/>
                  </a:lnTo>
                  <a:close/>
                </a:path>
              </a:pathLst>
            </a:custGeom>
            <a:blipFill>
              <a:blip r:embed="rId2"/>
              <a:stretch>
                <a:fillRect t="-47826" b="-108579"/>
              </a:stretch>
            </a:blipFill>
          </p:spPr>
          <p:txBody>
            <a:bodyPr/>
            <a:lstStyle/>
            <a:p>
              <a:endParaRPr lang="en-US" sz="1200"/>
            </a:p>
          </p:txBody>
        </p:sp>
        <p:sp>
          <p:nvSpPr>
            <p:cNvPr id="19" name="TextBox 19">
              <a:extLst>
                <a:ext uri="{FF2B5EF4-FFF2-40B4-BE49-F238E27FC236}">
                  <a16:creationId xmlns:a16="http://schemas.microsoft.com/office/drawing/2014/main" id="{ECDAD030-0DBF-543A-79AE-5D338191B9C3}"/>
                </a:ext>
              </a:extLst>
            </p:cNvPr>
            <p:cNvSpPr txBox="1"/>
            <p:nvPr/>
          </p:nvSpPr>
          <p:spPr>
            <a:xfrm>
              <a:off x="150790" y="3311812"/>
              <a:ext cx="3697557" cy="670570"/>
            </a:xfrm>
            <a:prstGeom prst="rect">
              <a:avLst/>
            </a:prstGeom>
          </p:spPr>
          <p:txBody>
            <a:bodyPr lIns="0" tIns="0" rIns="0" bIns="0" rtlCol="0" anchor="t">
              <a:spAutoFit/>
            </a:bodyPr>
            <a:lstStyle/>
            <a:p>
              <a:pPr>
                <a:lnSpc>
                  <a:spcPts val="2598"/>
                </a:lnSpc>
              </a:pPr>
              <a:r>
                <a:rPr lang="en-US" sz="2919" spc="-169" dirty="0">
                  <a:solidFill>
                    <a:srgbClr val="090A3C"/>
                  </a:solidFill>
                  <a:latin typeface="Codec Pro"/>
                  <a:ea typeface="Codec Pro"/>
                  <a:cs typeface="Codec Pro"/>
                  <a:sym typeface="Codec Pro"/>
                </a:rPr>
                <a:t>virtuous</a:t>
              </a:r>
              <a:r>
                <a:rPr lang="en-US" sz="2919" spc="-169" dirty="0">
                  <a:solidFill>
                    <a:srgbClr val="0053EB"/>
                  </a:solidFill>
                  <a:latin typeface="Codec Pro"/>
                  <a:ea typeface="Codec Pro"/>
                  <a:cs typeface="Codec Pro"/>
                  <a:sym typeface="Codec Pro"/>
                </a:rPr>
                <a:t>info</a:t>
              </a:r>
            </a:p>
          </p:txBody>
        </p:sp>
      </p:grpSp>
      <p:sp>
        <p:nvSpPr>
          <p:cNvPr id="13" name="TextBox 19">
            <a:extLst>
              <a:ext uri="{FF2B5EF4-FFF2-40B4-BE49-F238E27FC236}">
                <a16:creationId xmlns:a16="http://schemas.microsoft.com/office/drawing/2014/main" id="{FCC95918-99F1-6C67-9D98-26A8C9305C53}"/>
              </a:ext>
            </a:extLst>
          </p:cNvPr>
          <p:cNvSpPr txBox="1"/>
          <p:nvPr/>
        </p:nvSpPr>
        <p:spPr>
          <a:xfrm>
            <a:off x="758537" y="5254067"/>
            <a:ext cx="10001216" cy="677365"/>
          </a:xfrm>
          <a:prstGeom prst="rect">
            <a:avLst/>
          </a:prstGeom>
        </p:spPr>
        <p:txBody>
          <a:bodyPr wrap="square" lIns="0" tIns="0" rIns="0" bIns="0" rtlCol="0" anchor="t">
            <a:spAutoFit/>
          </a:bodyPr>
          <a:lstStyle/>
          <a:p>
            <a:pPr algn="just">
              <a:lnSpc>
                <a:spcPts val="1680"/>
              </a:lnSpc>
              <a:spcBef>
                <a:spcPct val="0"/>
              </a:spcBef>
            </a:pPr>
            <a:r>
              <a:rPr lang="en-US" sz="1600" b="1" dirty="0">
                <a:solidFill>
                  <a:schemeClr val="tx2">
                    <a:lumMod val="75000"/>
                  </a:schemeClr>
                </a:solidFill>
                <a:latin typeface="Codec Pro" panose="020B0604020202020204" charset="0"/>
                <a:sym typeface="Codec Pro"/>
              </a:rPr>
              <a:t>Turning Business Challenges into</a:t>
            </a:r>
          </a:p>
          <a:p>
            <a:pPr algn="just">
              <a:lnSpc>
                <a:spcPts val="1680"/>
              </a:lnSpc>
              <a:spcBef>
                <a:spcPct val="0"/>
              </a:spcBef>
            </a:pPr>
            <a:endParaRPr lang="en-US" sz="1600" b="1" dirty="0">
              <a:solidFill>
                <a:srgbClr val="0066FF"/>
              </a:solidFill>
              <a:latin typeface="Codec Pro" panose="020B0604020202020204" charset="0"/>
              <a:sym typeface="Codec Pro"/>
            </a:endParaRPr>
          </a:p>
          <a:p>
            <a:pPr algn="just">
              <a:lnSpc>
                <a:spcPts val="1680"/>
              </a:lnSpc>
              <a:spcBef>
                <a:spcPct val="0"/>
              </a:spcBef>
            </a:pPr>
            <a:r>
              <a:rPr lang="en-US" sz="1600" b="1" dirty="0">
                <a:solidFill>
                  <a:srgbClr val="0066FF"/>
                </a:solidFill>
                <a:latin typeface="Codec Pro" panose="020B0604020202020204" charset="0"/>
                <a:sym typeface="Codec Pro"/>
              </a:rPr>
              <a:t>Intelligent Solutions</a:t>
            </a:r>
          </a:p>
        </p:txBody>
      </p:sp>
      <p:sp>
        <p:nvSpPr>
          <p:cNvPr id="11" name="AutoShape 2">
            <a:extLst>
              <a:ext uri="{FF2B5EF4-FFF2-40B4-BE49-F238E27FC236}">
                <a16:creationId xmlns:a16="http://schemas.microsoft.com/office/drawing/2014/main" id="{AAED68A2-0EA4-F22B-7F20-CF35B0115759}"/>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61D2CADF-AAFC-DEDF-5372-54E23A9F185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86B80329-E9EB-A7C0-5237-D348EFF42A50}"/>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0" name="Text 2">
            <a:extLst>
              <a:ext uri="{FF2B5EF4-FFF2-40B4-BE49-F238E27FC236}">
                <a16:creationId xmlns:a16="http://schemas.microsoft.com/office/drawing/2014/main" id="{F2C0C80C-D454-430F-9864-8C7B0046FBBF}"/>
              </a:ext>
            </a:extLst>
          </p:cNvPr>
          <p:cNvSpPr txBox="1"/>
          <p:nvPr/>
        </p:nvSpPr>
        <p:spPr>
          <a:xfrm>
            <a:off x="638003" y="1785157"/>
            <a:ext cx="1828800" cy="914400"/>
          </a:xfrm>
          <a:prstGeom prst="rect">
            <a:avLst/>
          </a:prstGeom>
          <a:noFill/>
          <a:ln/>
        </p:spPr>
        <p:txBody>
          <a:bodyPr wrap="square" lIns="0" tIns="0" rIns="0" bIns="0" rtlCol="0" anchor="ctr"/>
          <a:lstStyle/>
          <a:p>
            <a:pPr marL="0" indent="0">
              <a:buNone/>
            </a:pPr>
            <a:r>
              <a:rPr lang="en-US" sz="5000" b="1" dirty="0">
                <a:solidFill>
                  <a:srgbClr val="0066FF"/>
                </a:solidFill>
                <a:latin typeface="Codec Pro" panose="020B0604020202020204" charset="0"/>
                <a:ea typeface="Calibri" pitchFamily="34" charset="-122"/>
                <a:cs typeface="Calibri" pitchFamily="34" charset="-120"/>
              </a:rPr>
              <a:t>03</a:t>
            </a:r>
            <a:endParaRPr lang="en-US" sz="5000" dirty="0">
              <a:solidFill>
                <a:srgbClr val="0066FF"/>
              </a:solidFill>
              <a:latin typeface="Codec Pro" panose="020B0604020202020204" charset="0"/>
            </a:endParaRPr>
          </a:p>
        </p:txBody>
      </p:sp>
      <p:sp>
        <p:nvSpPr>
          <p:cNvPr id="23" name="Text 3">
            <a:extLst>
              <a:ext uri="{FF2B5EF4-FFF2-40B4-BE49-F238E27FC236}">
                <a16:creationId xmlns:a16="http://schemas.microsoft.com/office/drawing/2014/main" id="{C5DD5B7B-04A8-48BD-B31C-2C7B1A821424}"/>
              </a:ext>
            </a:extLst>
          </p:cNvPr>
          <p:cNvSpPr txBox="1"/>
          <p:nvPr/>
        </p:nvSpPr>
        <p:spPr>
          <a:xfrm>
            <a:off x="638003" y="2726574"/>
            <a:ext cx="7772400" cy="731520"/>
          </a:xfrm>
          <a:prstGeom prst="rect">
            <a:avLst/>
          </a:prstGeom>
          <a:noFill/>
          <a:ln/>
        </p:spPr>
        <p:txBody>
          <a:bodyPr wrap="square" lIns="0" tIns="0" rIns="0" bIns="0" rtlCol="0" anchor="ctr"/>
          <a:lstStyle/>
          <a:p>
            <a:pPr marL="0" indent="0">
              <a:buNone/>
            </a:pPr>
            <a:r>
              <a:rPr lang="en-US" sz="3400" b="1" dirty="0">
                <a:solidFill>
                  <a:srgbClr val="002060"/>
                </a:solidFill>
                <a:latin typeface="Codec Pro" panose="020B0604020202020204" charset="0"/>
                <a:ea typeface="Calibri" pitchFamily="34" charset="-122"/>
                <a:cs typeface="Calibri" pitchFamily="34" charset="-120"/>
              </a:rPr>
              <a:t>Tooling Evaluation </a:t>
            </a:r>
            <a:endParaRPr lang="en-US" sz="3400" dirty="0">
              <a:solidFill>
                <a:srgbClr val="002060"/>
              </a:solidFill>
              <a:latin typeface="Codec Pro" panose="020B0604020202020204" charset="0"/>
            </a:endParaRPr>
          </a:p>
        </p:txBody>
      </p:sp>
      <p:sp>
        <p:nvSpPr>
          <p:cNvPr id="25" name="Text 4">
            <a:extLst>
              <a:ext uri="{FF2B5EF4-FFF2-40B4-BE49-F238E27FC236}">
                <a16:creationId xmlns:a16="http://schemas.microsoft.com/office/drawing/2014/main" id="{804D004C-2D33-4A9C-9066-DE71906DB4A7}"/>
              </a:ext>
            </a:extLst>
          </p:cNvPr>
          <p:cNvSpPr txBox="1"/>
          <p:nvPr/>
        </p:nvSpPr>
        <p:spPr>
          <a:xfrm>
            <a:off x="683723" y="3876640"/>
            <a:ext cx="8096596" cy="822960"/>
          </a:xfrm>
          <a:prstGeom prst="rect">
            <a:avLst/>
          </a:prstGeom>
          <a:noFill/>
          <a:ln/>
        </p:spPr>
        <p:txBody>
          <a:bodyPr wrap="square" lIns="0" tIns="0" rIns="0" bIns="0" rtlCol="0" anchor="t"/>
          <a:lstStyle/>
          <a:p>
            <a:pPr marL="0" indent="0" algn="l">
              <a:lnSpc>
                <a:spcPct val="130000"/>
              </a:lnSpc>
              <a:buNone/>
            </a:pPr>
            <a:r>
              <a:rPr lang="en-US" sz="1400" dirty="0">
                <a:solidFill>
                  <a:srgbClr val="002060"/>
                </a:solidFill>
                <a:latin typeface="Codec Pro" panose="020B0604020202020204" charset="0"/>
                <a:ea typeface="Calibri" pitchFamily="34" charset="-122"/>
                <a:cs typeface="Calibri" pitchFamily="34" charset="-120"/>
              </a:rPr>
              <a:t>Google native tooling versus the market leaders.</a:t>
            </a:r>
            <a:endParaRPr lang="en-US" sz="1400" dirty="0">
              <a:solidFill>
                <a:srgbClr val="002060"/>
              </a:solidFill>
              <a:latin typeface="Codec Pro" panose="020B0604020202020204" charset="0"/>
            </a:endParaRPr>
          </a:p>
          <a:p>
            <a:pPr marL="0" indent="0" algn="l">
              <a:lnSpc>
                <a:spcPct val="130000"/>
              </a:lnSpc>
              <a:buNone/>
            </a:pPr>
            <a:r>
              <a:rPr lang="en-US" sz="1400" dirty="0">
                <a:solidFill>
                  <a:srgbClr val="002060"/>
                </a:solidFill>
                <a:latin typeface="Codec Pro" panose="020B0604020202020204" charset="0"/>
                <a:ea typeface="Calibri" pitchFamily="34" charset="-122"/>
                <a:cs typeface="Calibri" pitchFamily="34" charset="-120"/>
              </a:rPr>
              <a:t>The honest answer is that the right programme uses both - and April 2026 changed the calculation.</a:t>
            </a:r>
            <a:endParaRPr lang="en-US" sz="1400" dirty="0">
              <a:solidFill>
                <a:srgbClr val="002060"/>
              </a:solidFill>
              <a:latin typeface="Codec Pro" panose="020B0604020202020204" charset="0"/>
            </a:endParaRPr>
          </a:p>
        </p:txBody>
      </p:sp>
    </p:spTree>
    <p:extLst>
      <p:ext uri="{BB962C8B-B14F-4D97-AF65-F5344CB8AC3E}">
        <p14:creationId xmlns:p14="http://schemas.microsoft.com/office/powerpoint/2010/main" val="2728587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MARKET CONTEXT</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Why the native versus third-party calculation changed in 2026</a:t>
            </a:r>
            <a:endParaRPr lang="en-US" sz="2800" dirty="0"/>
          </a:p>
        </p:txBody>
      </p:sp>
      <p:sp>
        <p:nvSpPr>
          <p:cNvPr id="28" name="AutoShape 2">
            <a:extLst>
              <a:ext uri="{FF2B5EF4-FFF2-40B4-BE49-F238E27FC236}">
                <a16:creationId xmlns:a16="http://schemas.microsoft.com/office/drawing/2014/main" id="{EBF25602-3AE8-47E2-9DE9-E19AB56EECD4}"/>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29" name="TextBox 7">
            <a:extLst>
              <a:ext uri="{FF2B5EF4-FFF2-40B4-BE49-F238E27FC236}">
                <a16:creationId xmlns:a16="http://schemas.microsoft.com/office/drawing/2014/main" id="{A32565F2-0B5A-4EFD-9BA9-6D5C97BD07B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30" name="TextBox 9">
            <a:extLst>
              <a:ext uri="{FF2B5EF4-FFF2-40B4-BE49-F238E27FC236}">
                <a16:creationId xmlns:a16="http://schemas.microsoft.com/office/drawing/2014/main" id="{BEC811DB-A923-4EEF-A89D-4BA8DA8A48DA}"/>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31" name="TextBox 30">
            <a:extLst>
              <a:ext uri="{FF2B5EF4-FFF2-40B4-BE49-F238E27FC236}">
                <a16:creationId xmlns:a16="http://schemas.microsoft.com/office/drawing/2014/main" id="{5BDB7B9D-5168-45E3-85A1-E74503BA66CB}"/>
              </a:ext>
            </a:extLst>
          </p:cNvPr>
          <p:cNvSpPr txBox="1"/>
          <p:nvPr/>
        </p:nvSpPr>
        <p:spPr>
          <a:xfrm>
            <a:off x="5911269" y="6533202"/>
            <a:ext cx="287258" cy="215444"/>
          </a:xfrm>
          <a:prstGeom prst="rect">
            <a:avLst/>
          </a:prstGeom>
          <a:noFill/>
        </p:spPr>
        <p:txBody>
          <a:bodyPr wrap="none" rtlCol="0">
            <a:spAutoFit/>
          </a:bodyPr>
          <a:lstStyle/>
          <a:p>
            <a:r>
              <a:rPr lang="en-US" sz="800" dirty="0"/>
              <a:t>22</a:t>
            </a:r>
          </a:p>
        </p:txBody>
      </p:sp>
      <p:grpSp>
        <p:nvGrpSpPr>
          <p:cNvPr id="3" name="Group 2">
            <a:extLst>
              <a:ext uri="{FF2B5EF4-FFF2-40B4-BE49-F238E27FC236}">
                <a16:creationId xmlns:a16="http://schemas.microsoft.com/office/drawing/2014/main" id="{8346B888-78D0-4146-A64E-4E82951A97EC}"/>
              </a:ext>
            </a:extLst>
          </p:cNvPr>
          <p:cNvGrpSpPr/>
          <p:nvPr/>
        </p:nvGrpSpPr>
        <p:grpSpPr>
          <a:xfrm>
            <a:off x="502920" y="1298448"/>
            <a:ext cx="10835640" cy="4535424"/>
            <a:chOff x="502920" y="1298448"/>
            <a:chExt cx="10835640" cy="4535424"/>
          </a:xfrm>
        </p:grpSpPr>
        <p:sp>
          <p:nvSpPr>
            <p:cNvPr id="32" name="Shape 3">
              <a:extLst>
                <a:ext uri="{FF2B5EF4-FFF2-40B4-BE49-F238E27FC236}">
                  <a16:creationId xmlns:a16="http://schemas.microsoft.com/office/drawing/2014/main" id="{AC2C7B14-955B-7B08-2E80-45653F8F8339}"/>
                </a:ext>
              </a:extLst>
            </p:cNvPr>
            <p:cNvSpPr/>
            <p:nvPr/>
          </p:nvSpPr>
          <p:spPr>
            <a:xfrm>
              <a:off x="502920" y="1298448"/>
              <a:ext cx="10835640" cy="1371600"/>
            </a:xfrm>
            <a:prstGeom prst="roundRect">
              <a:avLst>
                <a:gd name="adj" fmla="val 3333"/>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33" name="Text 4">
              <a:extLst>
                <a:ext uri="{FF2B5EF4-FFF2-40B4-BE49-F238E27FC236}">
                  <a16:creationId xmlns:a16="http://schemas.microsoft.com/office/drawing/2014/main" id="{18B29302-96BE-98D6-A96F-981718BC61AD}"/>
                </a:ext>
              </a:extLst>
            </p:cNvPr>
            <p:cNvSpPr txBox="1"/>
            <p:nvPr/>
          </p:nvSpPr>
          <p:spPr>
            <a:xfrm>
              <a:off x="777240" y="1444752"/>
              <a:ext cx="10241280" cy="292608"/>
            </a:xfrm>
            <a:prstGeom prst="rect">
              <a:avLst/>
            </a:prstGeom>
            <a:noFill/>
            <a:ln/>
          </p:spPr>
          <p:txBody>
            <a:bodyPr wrap="square" lIns="0" tIns="0" rIns="0" bIns="0" rtlCol="0" anchor="t"/>
            <a:lstStyle/>
            <a:p>
              <a:pPr marL="0" indent="0" algn="l">
                <a:lnSpc>
                  <a:spcPct val="112000"/>
                </a:lnSpc>
                <a:buNone/>
              </a:pPr>
              <a:r>
                <a:rPr lang="en-US" sz="1350" b="1" dirty="0">
                  <a:solidFill>
                    <a:srgbClr val="001D5F"/>
                  </a:solidFill>
                  <a:latin typeface="Calibri" pitchFamily="34" charset="0"/>
                  <a:ea typeface="Calibri" pitchFamily="34" charset="-122"/>
                  <a:cs typeface="Calibri" pitchFamily="34" charset="-120"/>
                </a:rPr>
                <a:t>April 2026: Google made data import generally available</a:t>
              </a:r>
              <a:endParaRPr lang="en-US" sz="1350" dirty="0"/>
            </a:p>
          </p:txBody>
        </p:sp>
        <p:sp>
          <p:nvSpPr>
            <p:cNvPr id="34" name="Text 5">
              <a:extLst>
                <a:ext uri="{FF2B5EF4-FFF2-40B4-BE49-F238E27FC236}">
                  <a16:creationId xmlns:a16="http://schemas.microsoft.com/office/drawing/2014/main" id="{518654C7-2061-7C3D-5CBE-B9A0802F38B2}"/>
                </a:ext>
              </a:extLst>
            </p:cNvPr>
            <p:cNvSpPr txBox="1"/>
            <p:nvPr/>
          </p:nvSpPr>
          <p:spPr>
            <a:xfrm>
              <a:off x="777240" y="1783080"/>
              <a:ext cx="10241280" cy="868680"/>
            </a:xfrm>
            <a:prstGeom prst="rect">
              <a:avLst/>
            </a:prstGeom>
            <a:noFill/>
            <a:ln/>
          </p:spPr>
          <p:txBody>
            <a:bodyPr wrap="square" lIns="0" tIns="0" rIns="0" bIns="0" rtlCol="0" anchor="t"/>
            <a:lstStyle/>
            <a:p>
              <a:pPr marL="0" indent="0" algn="l">
                <a:lnSpc>
                  <a:spcPct val="118000"/>
                </a:lnSpc>
                <a:buNone/>
              </a:pPr>
              <a:r>
                <a:rPr lang="en-US" sz="1050" dirty="0">
                  <a:solidFill>
                    <a:srgbClr val="15203D"/>
                  </a:solidFill>
                  <a:latin typeface="Calibri" pitchFamily="34" charset="0"/>
                  <a:ea typeface="Calibri" pitchFamily="34" charset="-122"/>
                  <a:cs typeface="Calibri" pitchFamily="34" charset="-120"/>
                </a:rPr>
                <a:t>Google replaced the older Data Migration Service with a new "data import" capability, generally available from 22 April 2026, run entirely from the Admin console with no additional tool cost and no GCP infrastructure to stand up. It launched with Exchange Online mail, calendar and contacts; OneDrive, SharePoint Online and Microsoft Teams now appear in Google's migration product matrix. Any proposal that still recommends a paid tool for basic Exchange mail movement in 2026 is quoting from an older playbook.</a:t>
              </a:r>
              <a:endParaRPr lang="en-US" sz="1050" dirty="0"/>
            </a:p>
          </p:txBody>
        </p:sp>
        <p:sp>
          <p:nvSpPr>
            <p:cNvPr id="35" name="Shape 6">
              <a:extLst>
                <a:ext uri="{FF2B5EF4-FFF2-40B4-BE49-F238E27FC236}">
                  <a16:creationId xmlns:a16="http://schemas.microsoft.com/office/drawing/2014/main" id="{29D63A45-66BF-15E3-C26D-1A2B48652B24}"/>
                </a:ext>
              </a:extLst>
            </p:cNvPr>
            <p:cNvSpPr/>
            <p:nvPr/>
          </p:nvSpPr>
          <p:spPr>
            <a:xfrm>
              <a:off x="502920" y="3017520"/>
              <a:ext cx="2551176" cy="1627632"/>
            </a:xfrm>
            <a:prstGeom prst="roundRect">
              <a:avLst>
                <a:gd name="adj" fmla="val 280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6" name="Shape 7">
              <a:extLst>
                <a:ext uri="{FF2B5EF4-FFF2-40B4-BE49-F238E27FC236}">
                  <a16:creationId xmlns:a16="http://schemas.microsoft.com/office/drawing/2014/main" id="{ACCFEFE3-A817-FA92-D79C-E3A650F09765}"/>
                </a:ext>
              </a:extLst>
            </p:cNvPr>
            <p:cNvSpPr/>
            <p:nvPr/>
          </p:nvSpPr>
          <p:spPr>
            <a:xfrm>
              <a:off x="722376" y="3255264"/>
              <a:ext cx="109728" cy="109728"/>
            </a:xfrm>
            <a:prstGeom prst="rect">
              <a:avLst/>
            </a:prstGeom>
            <a:solidFill>
              <a:srgbClr val="0053EB"/>
            </a:solidFill>
            <a:ln w="12700">
              <a:solidFill>
                <a:srgbClr val="0053EB"/>
              </a:solidFill>
              <a:prstDash val="solid"/>
            </a:ln>
          </p:spPr>
          <p:txBody>
            <a:bodyPr/>
            <a:lstStyle/>
            <a:p>
              <a:endParaRPr lang="en-IN"/>
            </a:p>
          </p:txBody>
        </p:sp>
        <p:sp>
          <p:nvSpPr>
            <p:cNvPr id="37" name="Text 8">
              <a:extLst>
                <a:ext uri="{FF2B5EF4-FFF2-40B4-BE49-F238E27FC236}">
                  <a16:creationId xmlns:a16="http://schemas.microsoft.com/office/drawing/2014/main" id="{6C03DEED-0273-38CB-EFB4-53C724BCE457}"/>
                </a:ext>
              </a:extLst>
            </p:cNvPr>
            <p:cNvSpPr txBox="1"/>
            <p:nvPr/>
          </p:nvSpPr>
          <p:spPr>
            <a:xfrm>
              <a:off x="923544" y="3182112"/>
              <a:ext cx="2011680" cy="457200"/>
            </a:xfrm>
            <a:prstGeom prst="rect">
              <a:avLst/>
            </a:prstGeom>
            <a:noFill/>
            <a:ln/>
          </p:spPr>
          <p:txBody>
            <a:bodyPr wrap="square" lIns="0" tIns="0" rIns="0" bIns="0" rtlCol="0" anchor="t"/>
            <a:lstStyle/>
            <a:p>
              <a:pPr marL="0" indent="0" algn="l">
                <a:lnSpc>
                  <a:spcPct val="95000"/>
                </a:lnSpc>
                <a:buNone/>
              </a:pPr>
              <a:r>
                <a:rPr lang="en-US" sz="1100" b="1" dirty="0">
                  <a:solidFill>
                    <a:srgbClr val="001D5F"/>
                  </a:solidFill>
                  <a:latin typeface="Calibri" pitchFamily="34" charset="0"/>
                  <a:ea typeface="Calibri" pitchFamily="34" charset="-122"/>
                  <a:cs typeface="Calibri" pitchFamily="34" charset="-120"/>
                </a:rPr>
                <a:t>Default import method</a:t>
              </a:r>
              <a:endParaRPr lang="en-US" sz="1100" dirty="0"/>
            </a:p>
          </p:txBody>
        </p:sp>
        <p:sp>
          <p:nvSpPr>
            <p:cNvPr id="38" name="Text 9">
              <a:extLst>
                <a:ext uri="{FF2B5EF4-FFF2-40B4-BE49-F238E27FC236}">
                  <a16:creationId xmlns:a16="http://schemas.microsoft.com/office/drawing/2014/main" id="{023D697E-2AC0-5511-1785-E3A08FA66CC9}"/>
                </a:ext>
              </a:extLst>
            </p:cNvPr>
            <p:cNvSpPr txBox="1"/>
            <p:nvPr/>
          </p:nvSpPr>
          <p:spPr>
            <a:xfrm>
              <a:off x="722376" y="3675888"/>
              <a:ext cx="2148840" cy="1234440"/>
            </a:xfrm>
            <a:prstGeom prst="rect">
              <a:avLst/>
            </a:prstGeom>
            <a:noFill/>
            <a:ln/>
          </p:spPr>
          <p:txBody>
            <a:bodyPr wrap="square" lIns="0" tIns="0" rIns="0" bIns="0" rtlCol="0" anchor="t"/>
            <a:lstStyle/>
            <a:p>
              <a:pPr marL="0" indent="0" algn="l">
                <a:lnSpc>
                  <a:spcPct val="108000"/>
                </a:lnSpc>
                <a:buNone/>
              </a:pPr>
              <a:r>
                <a:rPr lang="en-US" sz="850" dirty="0">
                  <a:solidFill>
                    <a:srgbClr val="5D6B8C"/>
                  </a:solidFill>
                  <a:latin typeface="Calibri" pitchFamily="34" charset="0"/>
                  <a:ea typeface="Calibri" pitchFamily="34" charset="-122"/>
                  <a:cs typeface="Calibri" pitchFamily="34" charset="-120"/>
                </a:rPr>
                <a:t>Up to 1,000 users. Admin-console driven, cloud-executed, no infrastructure. Sufficient for a straightforward Exchange Online move.</a:t>
              </a:r>
              <a:endParaRPr lang="en-US" sz="850" dirty="0"/>
            </a:p>
          </p:txBody>
        </p:sp>
        <p:sp>
          <p:nvSpPr>
            <p:cNvPr id="39" name="Shape 10">
              <a:extLst>
                <a:ext uri="{FF2B5EF4-FFF2-40B4-BE49-F238E27FC236}">
                  <a16:creationId xmlns:a16="http://schemas.microsoft.com/office/drawing/2014/main" id="{5E63D3C3-7B54-9BB6-3002-ED8A3A1D2F9A}"/>
                </a:ext>
              </a:extLst>
            </p:cNvPr>
            <p:cNvSpPr/>
            <p:nvPr/>
          </p:nvSpPr>
          <p:spPr>
            <a:xfrm>
              <a:off x="3264408" y="3017520"/>
              <a:ext cx="2551176" cy="1627632"/>
            </a:xfrm>
            <a:prstGeom prst="roundRect">
              <a:avLst>
                <a:gd name="adj" fmla="val 280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0" name="Shape 11">
              <a:extLst>
                <a:ext uri="{FF2B5EF4-FFF2-40B4-BE49-F238E27FC236}">
                  <a16:creationId xmlns:a16="http://schemas.microsoft.com/office/drawing/2014/main" id="{D6AAB6CD-824B-A075-8A66-617117403BE0}"/>
                </a:ext>
              </a:extLst>
            </p:cNvPr>
            <p:cNvSpPr/>
            <p:nvPr/>
          </p:nvSpPr>
          <p:spPr>
            <a:xfrm>
              <a:off x="3483864" y="3255264"/>
              <a:ext cx="109728" cy="109728"/>
            </a:xfrm>
            <a:prstGeom prst="rect">
              <a:avLst/>
            </a:prstGeom>
            <a:solidFill>
              <a:srgbClr val="0C3EB1"/>
            </a:solidFill>
            <a:ln w="12700">
              <a:solidFill>
                <a:srgbClr val="0C3EB1"/>
              </a:solidFill>
              <a:prstDash val="solid"/>
            </a:ln>
          </p:spPr>
          <p:txBody>
            <a:bodyPr/>
            <a:lstStyle/>
            <a:p>
              <a:endParaRPr lang="en-IN"/>
            </a:p>
          </p:txBody>
        </p:sp>
        <p:sp>
          <p:nvSpPr>
            <p:cNvPr id="41" name="Text 12">
              <a:extLst>
                <a:ext uri="{FF2B5EF4-FFF2-40B4-BE49-F238E27FC236}">
                  <a16:creationId xmlns:a16="http://schemas.microsoft.com/office/drawing/2014/main" id="{A15D7ACB-A83A-B155-5FF5-5E71DF09A6B7}"/>
                </a:ext>
              </a:extLst>
            </p:cNvPr>
            <p:cNvSpPr txBox="1"/>
            <p:nvPr/>
          </p:nvSpPr>
          <p:spPr>
            <a:xfrm>
              <a:off x="3685032" y="3182112"/>
              <a:ext cx="2011680" cy="457200"/>
            </a:xfrm>
            <a:prstGeom prst="rect">
              <a:avLst/>
            </a:prstGeom>
            <a:noFill/>
            <a:ln/>
          </p:spPr>
          <p:txBody>
            <a:bodyPr wrap="square" lIns="0" tIns="0" rIns="0" bIns="0" rtlCol="0" anchor="t"/>
            <a:lstStyle/>
            <a:p>
              <a:pPr marL="0" indent="0" algn="l">
                <a:lnSpc>
                  <a:spcPct val="95000"/>
                </a:lnSpc>
                <a:buNone/>
              </a:pPr>
              <a:r>
                <a:rPr lang="en-US" sz="1100" b="1" dirty="0">
                  <a:solidFill>
                    <a:srgbClr val="001D5F"/>
                  </a:solidFill>
                  <a:latin typeface="Calibri" pitchFamily="34" charset="0"/>
                  <a:ea typeface="Calibri" pitchFamily="34" charset="-122"/>
                  <a:cs typeface="Calibri" pitchFamily="34" charset="-120"/>
                </a:rPr>
                <a:t>Advanced import method</a:t>
              </a:r>
              <a:endParaRPr lang="en-US" sz="1100" dirty="0"/>
            </a:p>
          </p:txBody>
        </p:sp>
        <p:sp>
          <p:nvSpPr>
            <p:cNvPr id="42" name="Text 13">
              <a:extLst>
                <a:ext uri="{FF2B5EF4-FFF2-40B4-BE49-F238E27FC236}">
                  <a16:creationId xmlns:a16="http://schemas.microsoft.com/office/drawing/2014/main" id="{B67262EE-360E-38BC-757D-975F133DAAD1}"/>
                </a:ext>
              </a:extLst>
            </p:cNvPr>
            <p:cNvSpPr txBox="1"/>
            <p:nvPr/>
          </p:nvSpPr>
          <p:spPr>
            <a:xfrm>
              <a:off x="3483864" y="3675888"/>
              <a:ext cx="2148840" cy="1234440"/>
            </a:xfrm>
            <a:prstGeom prst="rect">
              <a:avLst/>
            </a:prstGeom>
            <a:noFill/>
            <a:ln/>
          </p:spPr>
          <p:txBody>
            <a:bodyPr wrap="square" lIns="0" tIns="0" rIns="0" bIns="0" rtlCol="0" anchor="t"/>
            <a:lstStyle/>
            <a:p>
              <a:pPr marL="0" indent="0" algn="l">
                <a:lnSpc>
                  <a:spcPct val="108000"/>
                </a:lnSpc>
                <a:buNone/>
              </a:pPr>
              <a:r>
                <a:rPr lang="en-US" sz="850" dirty="0">
                  <a:solidFill>
                    <a:srgbClr val="5D6B8C"/>
                  </a:solidFill>
                  <a:latin typeface="Calibri" pitchFamily="34" charset="0"/>
                  <a:ea typeface="Calibri" pitchFamily="34" charset="-122"/>
                  <a:cs typeface="Calibri" pitchFamily="34" charset="-120"/>
                </a:rPr>
                <a:t>Dedicated API quota rather than shared. Large batches with concurrency control. Adds In-Place Archive, M365 Group mailboxes, calendar permissions and event attachments.</a:t>
              </a:r>
              <a:endParaRPr lang="en-US" sz="850" dirty="0"/>
            </a:p>
          </p:txBody>
        </p:sp>
        <p:sp>
          <p:nvSpPr>
            <p:cNvPr id="43" name="Shape 14">
              <a:extLst>
                <a:ext uri="{FF2B5EF4-FFF2-40B4-BE49-F238E27FC236}">
                  <a16:creationId xmlns:a16="http://schemas.microsoft.com/office/drawing/2014/main" id="{768BF622-33F0-2B5C-D388-833828210308}"/>
                </a:ext>
              </a:extLst>
            </p:cNvPr>
            <p:cNvSpPr/>
            <p:nvPr/>
          </p:nvSpPr>
          <p:spPr>
            <a:xfrm>
              <a:off x="6025896" y="3017520"/>
              <a:ext cx="2551176" cy="1627632"/>
            </a:xfrm>
            <a:prstGeom prst="roundRect">
              <a:avLst>
                <a:gd name="adj" fmla="val 280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4" name="Shape 15">
              <a:extLst>
                <a:ext uri="{FF2B5EF4-FFF2-40B4-BE49-F238E27FC236}">
                  <a16:creationId xmlns:a16="http://schemas.microsoft.com/office/drawing/2014/main" id="{22A1C691-9DB7-6E44-C64B-95B8D61F7552}"/>
                </a:ext>
              </a:extLst>
            </p:cNvPr>
            <p:cNvSpPr/>
            <p:nvPr/>
          </p:nvSpPr>
          <p:spPr>
            <a:xfrm>
              <a:off x="6245352" y="3255264"/>
              <a:ext cx="109728" cy="109728"/>
            </a:xfrm>
            <a:prstGeom prst="rect">
              <a:avLst/>
            </a:prstGeom>
            <a:solidFill>
              <a:srgbClr val="0053EB"/>
            </a:solidFill>
            <a:ln w="12700">
              <a:solidFill>
                <a:srgbClr val="0053EB"/>
              </a:solidFill>
              <a:prstDash val="solid"/>
            </a:ln>
          </p:spPr>
          <p:txBody>
            <a:bodyPr/>
            <a:lstStyle/>
            <a:p>
              <a:endParaRPr lang="en-IN"/>
            </a:p>
          </p:txBody>
        </p:sp>
        <p:sp>
          <p:nvSpPr>
            <p:cNvPr id="45" name="Text 16">
              <a:extLst>
                <a:ext uri="{FF2B5EF4-FFF2-40B4-BE49-F238E27FC236}">
                  <a16:creationId xmlns:a16="http://schemas.microsoft.com/office/drawing/2014/main" id="{820F4A6D-F110-3E32-6D35-944AAF1BAAFA}"/>
                </a:ext>
              </a:extLst>
            </p:cNvPr>
            <p:cNvSpPr txBox="1"/>
            <p:nvPr/>
          </p:nvSpPr>
          <p:spPr>
            <a:xfrm>
              <a:off x="6446520" y="3182112"/>
              <a:ext cx="2011680" cy="457200"/>
            </a:xfrm>
            <a:prstGeom prst="rect">
              <a:avLst/>
            </a:prstGeom>
            <a:noFill/>
            <a:ln/>
          </p:spPr>
          <p:txBody>
            <a:bodyPr wrap="square" lIns="0" tIns="0" rIns="0" bIns="0" rtlCol="0" anchor="t"/>
            <a:lstStyle/>
            <a:p>
              <a:pPr marL="0" indent="0" algn="l">
                <a:lnSpc>
                  <a:spcPct val="95000"/>
                </a:lnSpc>
                <a:buNone/>
              </a:pPr>
              <a:r>
                <a:rPr lang="en-US" sz="1100" b="1" dirty="0">
                  <a:solidFill>
                    <a:srgbClr val="001D5F"/>
                  </a:solidFill>
                  <a:latin typeface="Calibri" pitchFamily="34" charset="0"/>
                  <a:ea typeface="Calibri" pitchFamily="34" charset="-122"/>
                  <a:cs typeface="Calibri" pitchFamily="34" charset="-120"/>
                </a:rPr>
                <a:t>Google Workspace Migrate</a:t>
              </a:r>
              <a:endParaRPr lang="en-US" sz="1100" dirty="0"/>
            </a:p>
          </p:txBody>
        </p:sp>
        <p:sp>
          <p:nvSpPr>
            <p:cNvPr id="46" name="Text 17">
              <a:extLst>
                <a:ext uri="{FF2B5EF4-FFF2-40B4-BE49-F238E27FC236}">
                  <a16:creationId xmlns:a16="http://schemas.microsoft.com/office/drawing/2014/main" id="{C9B469F1-E025-F83D-6894-26734FB4688C}"/>
                </a:ext>
              </a:extLst>
            </p:cNvPr>
            <p:cNvSpPr txBox="1"/>
            <p:nvPr/>
          </p:nvSpPr>
          <p:spPr>
            <a:xfrm>
              <a:off x="6245352" y="3675888"/>
              <a:ext cx="2148840" cy="1234440"/>
            </a:xfrm>
            <a:prstGeom prst="rect">
              <a:avLst/>
            </a:prstGeom>
            <a:noFill/>
            <a:ln/>
          </p:spPr>
          <p:txBody>
            <a:bodyPr wrap="square" lIns="0" tIns="0" rIns="0" bIns="0" rtlCol="0" anchor="t"/>
            <a:lstStyle/>
            <a:p>
              <a:pPr marL="0" indent="0" algn="l">
                <a:lnSpc>
                  <a:spcPct val="108000"/>
                </a:lnSpc>
                <a:buNone/>
              </a:pPr>
              <a:r>
                <a:rPr lang="en-US" sz="850" dirty="0">
                  <a:solidFill>
                    <a:srgbClr val="5D6B8C"/>
                  </a:solidFill>
                  <a:latin typeface="Calibri" pitchFamily="34" charset="0"/>
                  <a:ea typeface="Calibri" pitchFamily="34" charset="-122"/>
                  <a:cs typeface="Calibri" pitchFamily="34" charset="-120"/>
                </a:rPr>
                <a:t>The heavyweight for 1,001+ users covering SharePoint, OneDrive, Teams and file shares - but with a genuinely complex node and GCP install and operational burden.</a:t>
              </a:r>
              <a:endParaRPr lang="en-US" sz="850" dirty="0"/>
            </a:p>
          </p:txBody>
        </p:sp>
        <p:sp>
          <p:nvSpPr>
            <p:cNvPr id="47" name="Shape 18">
              <a:extLst>
                <a:ext uri="{FF2B5EF4-FFF2-40B4-BE49-F238E27FC236}">
                  <a16:creationId xmlns:a16="http://schemas.microsoft.com/office/drawing/2014/main" id="{8E58B011-E8DB-9D13-C213-5098A12D2623}"/>
                </a:ext>
              </a:extLst>
            </p:cNvPr>
            <p:cNvSpPr/>
            <p:nvPr/>
          </p:nvSpPr>
          <p:spPr>
            <a:xfrm>
              <a:off x="8787384" y="3017520"/>
              <a:ext cx="2551176" cy="1627632"/>
            </a:xfrm>
            <a:prstGeom prst="roundRect">
              <a:avLst>
                <a:gd name="adj" fmla="val 2809"/>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8" name="Shape 19">
              <a:extLst>
                <a:ext uri="{FF2B5EF4-FFF2-40B4-BE49-F238E27FC236}">
                  <a16:creationId xmlns:a16="http://schemas.microsoft.com/office/drawing/2014/main" id="{B0EA0958-81FB-9562-2306-B70E8B63CDE9}"/>
                </a:ext>
              </a:extLst>
            </p:cNvPr>
            <p:cNvSpPr/>
            <p:nvPr/>
          </p:nvSpPr>
          <p:spPr>
            <a:xfrm>
              <a:off x="9006840" y="3255264"/>
              <a:ext cx="109728" cy="109728"/>
            </a:xfrm>
            <a:prstGeom prst="rect">
              <a:avLst/>
            </a:prstGeom>
            <a:solidFill>
              <a:srgbClr val="0C3EB1"/>
            </a:solidFill>
            <a:ln w="12700">
              <a:solidFill>
                <a:srgbClr val="0C3EB1"/>
              </a:solidFill>
              <a:prstDash val="solid"/>
            </a:ln>
          </p:spPr>
          <p:txBody>
            <a:bodyPr/>
            <a:lstStyle/>
            <a:p>
              <a:endParaRPr lang="en-IN"/>
            </a:p>
          </p:txBody>
        </p:sp>
        <p:sp>
          <p:nvSpPr>
            <p:cNvPr id="49" name="Text 20">
              <a:extLst>
                <a:ext uri="{FF2B5EF4-FFF2-40B4-BE49-F238E27FC236}">
                  <a16:creationId xmlns:a16="http://schemas.microsoft.com/office/drawing/2014/main" id="{3028BC85-FF1A-19D6-8416-3572CE326A27}"/>
                </a:ext>
              </a:extLst>
            </p:cNvPr>
            <p:cNvSpPr txBox="1"/>
            <p:nvPr/>
          </p:nvSpPr>
          <p:spPr>
            <a:xfrm>
              <a:off x="9208008" y="3182112"/>
              <a:ext cx="2011680" cy="457200"/>
            </a:xfrm>
            <a:prstGeom prst="rect">
              <a:avLst/>
            </a:prstGeom>
            <a:noFill/>
            <a:ln/>
          </p:spPr>
          <p:txBody>
            <a:bodyPr wrap="square" lIns="0" tIns="0" rIns="0" bIns="0" rtlCol="0" anchor="t"/>
            <a:lstStyle/>
            <a:p>
              <a:pPr marL="0" indent="0" algn="l">
                <a:lnSpc>
                  <a:spcPct val="95000"/>
                </a:lnSpc>
                <a:buNone/>
              </a:pPr>
              <a:r>
                <a:rPr lang="en-US" sz="1100" b="1" dirty="0">
                  <a:solidFill>
                    <a:srgbClr val="001D5F"/>
                  </a:solidFill>
                  <a:latin typeface="Calibri" pitchFamily="34" charset="0"/>
                  <a:ea typeface="Calibri" pitchFamily="34" charset="-122"/>
                  <a:cs typeface="Calibri" pitchFamily="34" charset="-120"/>
                </a:rPr>
                <a:t>GWMME / GWMMO</a:t>
              </a:r>
              <a:endParaRPr lang="en-US" sz="1100" dirty="0"/>
            </a:p>
          </p:txBody>
        </p:sp>
        <p:sp>
          <p:nvSpPr>
            <p:cNvPr id="50" name="Text 21">
              <a:extLst>
                <a:ext uri="{FF2B5EF4-FFF2-40B4-BE49-F238E27FC236}">
                  <a16:creationId xmlns:a16="http://schemas.microsoft.com/office/drawing/2014/main" id="{31FFE444-2227-5123-AE71-FD4624652950}"/>
                </a:ext>
              </a:extLst>
            </p:cNvPr>
            <p:cNvSpPr txBox="1"/>
            <p:nvPr/>
          </p:nvSpPr>
          <p:spPr>
            <a:xfrm>
              <a:off x="9006840" y="3675888"/>
              <a:ext cx="2148840" cy="1234440"/>
            </a:xfrm>
            <a:prstGeom prst="rect">
              <a:avLst/>
            </a:prstGeom>
            <a:noFill/>
            <a:ln/>
          </p:spPr>
          <p:txBody>
            <a:bodyPr wrap="square" lIns="0" tIns="0" rIns="0" bIns="0" rtlCol="0" anchor="t"/>
            <a:lstStyle/>
            <a:p>
              <a:pPr marL="0" indent="0" algn="l">
                <a:lnSpc>
                  <a:spcPct val="108000"/>
                </a:lnSpc>
                <a:buNone/>
              </a:pPr>
              <a:r>
                <a:rPr lang="en-US" sz="850" dirty="0">
                  <a:solidFill>
                    <a:srgbClr val="5D6B8C"/>
                  </a:solidFill>
                  <a:latin typeface="Calibri" pitchFamily="34" charset="0"/>
                  <a:ea typeface="Calibri" pitchFamily="34" charset="-122"/>
                  <a:cs typeface="Calibri" pitchFamily="34" charset="-120"/>
                </a:rPr>
                <a:t>Legacy but still relevant: on-premises Exchange and PST ingestion. GWMMO is a desktop tool for small numbers - useful for stragglers and PST cleanup.</a:t>
              </a:r>
              <a:endParaRPr lang="en-US" sz="850" dirty="0"/>
            </a:p>
          </p:txBody>
        </p:sp>
        <p:sp>
          <p:nvSpPr>
            <p:cNvPr id="51" name="Shape 22">
              <a:extLst>
                <a:ext uri="{FF2B5EF4-FFF2-40B4-BE49-F238E27FC236}">
                  <a16:creationId xmlns:a16="http://schemas.microsoft.com/office/drawing/2014/main" id="{83714C3A-7967-0117-B8F4-71F4524CCEA7}"/>
                </a:ext>
              </a:extLst>
            </p:cNvPr>
            <p:cNvSpPr/>
            <p:nvPr/>
          </p:nvSpPr>
          <p:spPr>
            <a:xfrm>
              <a:off x="502920" y="5029200"/>
              <a:ext cx="10835640" cy="804672"/>
            </a:xfrm>
            <a:prstGeom prst="roundRect">
              <a:avLst>
                <a:gd name="adj" fmla="val 5682"/>
              </a:avLst>
            </a:prstGeom>
            <a:solidFill>
              <a:srgbClr val="001D5F"/>
            </a:solidFill>
            <a:ln w="12700">
              <a:solidFill>
                <a:srgbClr val="001D5F"/>
              </a:solidFill>
              <a:prstDash val="solid"/>
            </a:ln>
            <a:effectLst>
              <a:outerShdw blurRad="88900" dist="12700" dir="5400000" algn="bl" rotWithShape="0">
                <a:srgbClr val="000000">
                  <a:alpha val="7000"/>
                </a:srgbClr>
              </a:outerShdw>
            </a:effectLst>
          </p:spPr>
          <p:txBody>
            <a:bodyPr/>
            <a:lstStyle/>
            <a:p>
              <a:endParaRPr lang="en-IN"/>
            </a:p>
          </p:txBody>
        </p:sp>
        <p:sp>
          <p:nvSpPr>
            <p:cNvPr id="52" name="Text 23">
              <a:extLst>
                <a:ext uri="{FF2B5EF4-FFF2-40B4-BE49-F238E27FC236}">
                  <a16:creationId xmlns:a16="http://schemas.microsoft.com/office/drawing/2014/main" id="{D4D03340-5810-B493-966D-C789A7C0F97B}"/>
                </a:ext>
              </a:extLst>
            </p:cNvPr>
            <p:cNvSpPr txBox="1"/>
            <p:nvPr/>
          </p:nvSpPr>
          <p:spPr>
            <a:xfrm>
              <a:off x="758952" y="5175504"/>
              <a:ext cx="1600200" cy="274320"/>
            </a:xfrm>
            <a:prstGeom prst="rect">
              <a:avLst/>
            </a:prstGeom>
            <a:noFill/>
            <a:ln/>
          </p:spPr>
          <p:txBody>
            <a:bodyPr wrap="square" lIns="0" tIns="0" rIns="0" bIns="0" rtlCol="0" anchor="t"/>
            <a:lstStyle/>
            <a:p>
              <a:pPr marL="0" indent="0" algn="l">
                <a:lnSpc>
                  <a:spcPct val="112000"/>
                </a:lnSpc>
                <a:buNone/>
              </a:pPr>
              <a:r>
                <a:rPr lang="en-US" sz="1100" b="1" dirty="0">
                  <a:solidFill>
                    <a:srgbClr val="78A8FF"/>
                  </a:solidFill>
                  <a:latin typeface="Calibri" pitchFamily="34" charset="0"/>
                  <a:ea typeface="Calibri" pitchFamily="34" charset="-122"/>
                  <a:cs typeface="Calibri" pitchFamily="34" charset="-120"/>
                </a:rPr>
                <a:t>Our reading:</a:t>
              </a:r>
              <a:endParaRPr lang="en-US" sz="1100" dirty="0"/>
            </a:p>
          </p:txBody>
        </p:sp>
        <p:sp>
          <p:nvSpPr>
            <p:cNvPr id="53" name="Text 24">
              <a:extLst>
                <a:ext uri="{FF2B5EF4-FFF2-40B4-BE49-F238E27FC236}">
                  <a16:creationId xmlns:a16="http://schemas.microsoft.com/office/drawing/2014/main" id="{E3DB0FBD-0E1F-DA12-72BD-664A60FD4C11}"/>
                </a:ext>
              </a:extLst>
            </p:cNvPr>
            <p:cNvSpPr txBox="1"/>
            <p:nvPr/>
          </p:nvSpPr>
          <p:spPr>
            <a:xfrm>
              <a:off x="2423160" y="5175504"/>
              <a:ext cx="8686800" cy="548640"/>
            </a:xfrm>
            <a:prstGeom prst="rect">
              <a:avLst/>
            </a:prstGeom>
            <a:noFill/>
            <a:ln/>
          </p:spPr>
          <p:txBody>
            <a:bodyPr wrap="square" lIns="0" tIns="0" rIns="0" bIns="0" rtlCol="0" anchor="t"/>
            <a:lstStyle/>
            <a:p>
              <a:pPr marL="0" indent="0" algn="l">
                <a:lnSpc>
                  <a:spcPct val="110000"/>
                </a:lnSpc>
                <a:buNone/>
              </a:pPr>
              <a:r>
                <a:rPr lang="en-US" sz="1050" dirty="0">
                  <a:solidFill>
                    <a:srgbClr val="C6D5F0"/>
                  </a:solidFill>
                  <a:latin typeface="Calibri" pitchFamily="34" charset="0"/>
                  <a:ea typeface="Calibri" pitchFamily="34" charset="-122"/>
                  <a:cs typeface="Calibri" pitchFamily="34" charset="-120"/>
                </a:rPr>
                <a:t>the advanced import method is the right engine for mail, calendar and contacts - it is free, it gives dedicated quota, and it removes an entire infrastructure workstream. The commercial case for a third-party tool now rests almost entirely on files, Teams and audit reporting.</a:t>
              </a:r>
              <a:endParaRPr lang="en-US" sz="1050" dirty="0"/>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CAPABILITY COMPARISON</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Google native tooling versus leading market tools</a:t>
            </a:r>
            <a:endParaRPr lang="en-US" sz="2800" dirty="0"/>
          </a:p>
        </p:txBody>
      </p:sp>
      <p:sp>
        <p:nvSpPr>
          <p:cNvPr id="7" name="Text 3"/>
          <p:cNvSpPr txBox="1"/>
          <p:nvPr/>
        </p:nvSpPr>
        <p:spPr>
          <a:xfrm>
            <a:off x="502920" y="6165548"/>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*Google Workspace Migrate carries no tool licence but does incur GCP infrastructure and operational cost. Positions marked "validate in POC" are confirmed against your own tenant in POC week 2.</a:t>
            </a:r>
            <a:endParaRPr lang="en-US" sz="800" dirty="0"/>
          </a:p>
        </p:txBody>
      </p:sp>
      <p:sp>
        <p:nvSpPr>
          <p:cNvPr id="8" name="AutoShape 2">
            <a:extLst>
              <a:ext uri="{FF2B5EF4-FFF2-40B4-BE49-F238E27FC236}">
                <a16:creationId xmlns:a16="http://schemas.microsoft.com/office/drawing/2014/main" id="{D7A02684-338B-4C34-B73E-527D01573E0C}"/>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9" name="TextBox 7">
            <a:extLst>
              <a:ext uri="{FF2B5EF4-FFF2-40B4-BE49-F238E27FC236}">
                <a16:creationId xmlns:a16="http://schemas.microsoft.com/office/drawing/2014/main" id="{4E13C353-140E-404E-88CA-1ECB394674A5}"/>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0" name="TextBox 9">
            <a:extLst>
              <a:ext uri="{FF2B5EF4-FFF2-40B4-BE49-F238E27FC236}">
                <a16:creationId xmlns:a16="http://schemas.microsoft.com/office/drawing/2014/main" id="{842FA9BB-A864-446F-8674-9EFE5B9E62A4}"/>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1" name="TextBox 10">
            <a:extLst>
              <a:ext uri="{FF2B5EF4-FFF2-40B4-BE49-F238E27FC236}">
                <a16:creationId xmlns:a16="http://schemas.microsoft.com/office/drawing/2014/main" id="{EE2A3615-F73B-4CEB-B641-65A6C8F75696}"/>
              </a:ext>
            </a:extLst>
          </p:cNvPr>
          <p:cNvSpPr txBox="1"/>
          <p:nvPr/>
        </p:nvSpPr>
        <p:spPr>
          <a:xfrm>
            <a:off x="5911269" y="6533202"/>
            <a:ext cx="287258" cy="215444"/>
          </a:xfrm>
          <a:prstGeom prst="rect">
            <a:avLst/>
          </a:prstGeom>
          <a:noFill/>
        </p:spPr>
        <p:txBody>
          <a:bodyPr wrap="none" rtlCol="0">
            <a:spAutoFit/>
          </a:bodyPr>
          <a:lstStyle/>
          <a:p>
            <a:r>
              <a:rPr lang="en-US" sz="800" dirty="0"/>
              <a:t>23</a:t>
            </a:r>
          </a:p>
        </p:txBody>
      </p:sp>
      <p:graphicFrame>
        <p:nvGraphicFramePr>
          <p:cNvPr id="6" name="Table 0">
            <a:extLst>
              <a:ext uri="{FF2B5EF4-FFF2-40B4-BE49-F238E27FC236}">
                <a16:creationId xmlns:a16="http://schemas.microsoft.com/office/drawing/2014/main" id="{0FE5FBD1-D086-857C-2320-0E302CBB0736}"/>
              </a:ext>
            </a:extLst>
          </p:cNvPr>
          <p:cNvGraphicFramePr>
            <a:graphicFrameLocks noGrp="1"/>
          </p:cNvGraphicFramePr>
          <p:nvPr>
            <p:extLst>
              <p:ext uri="{D42A27DB-BD31-4B8C-83A1-F6EECF244321}">
                <p14:modId xmlns:p14="http://schemas.microsoft.com/office/powerpoint/2010/main" val="623904919"/>
              </p:ext>
            </p:extLst>
          </p:nvPr>
        </p:nvGraphicFramePr>
        <p:xfrm>
          <a:off x="502920" y="1371600"/>
          <a:ext cx="10835640" cy="4689348"/>
        </p:xfrm>
        <a:graphic>
          <a:graphicData uri="http://schemas.openxmlformats.org/drawingml/2006/table">
            <a:tbl>
              <a:tblPr/>
              <a:tblGrid>
                <a:gridCol w="3063240">
                  <a:extLst>
                    <a:ext uri="{9D8B030D-6E8A-4147-A177-3AD203B41FA5}">
                      <a16:colId xmlns:a16="http://schemas.microsoft.com/office/drawing/2014/main" val="20000"/>
                    </a:ext>
                  </a:extLst>
                </a:gridCol>
                <a:gridCol w="1664208">
                  <a:extLst>
                    <a:ext uri="{9D8B030D-6E8A-4147-A177-3AD203B41FA5}">
                      <a16:colId xmlns:a16="http://schemas.microsoft.com/office/drawing/2014/main" val="20001"/>
                    </a:ext>
                  </a:extLst>
                </a:gridCol>
                <a:gridCol w="1444752">
                  <a:extLst>
                    <a:ext uri="{9D8B030D-6E8A-4147-A177-3AD203B41FA5}">
                      <a16:colId xmlns:a16="http://schemas.microsoft.com/office/drawing/2014/main" val="20002"/>
                    </a:ext>
                  </a:extLst>
                </a:gridCol>
                <a:gridCol w="1517904">
                  <a:extLst>
                    <a:ext uri="{9D8B030D-6E8A-4147-A177-3AD203B41FA5}">
                      <a16:colId xmlns:a16="http://schemas.microsoft.com/office/drawing/2014/main" val="20003"/>
                    </a:ext>
                  </a:extLst>
                </a:gridCol>
                <a:gridCol w="1536192">
                  <a:extLst>
                    <a:ext uri="{9D8B030D-6E8A-4147-A177-3AD203B41FA5}">
                      <a16:colId xmlns:a16="http://schemas.microsoft.com/office/drawing/2014/main" val="20004"/>
                    </a:ext>
                  </a:extLst>
                </a:gridCol>
                <a:gridCol w="1609344">
                  <a:extLst>
                    <a:ext uri="{9D8B030D-6E8A-4147-A177-3AD203B41FA5}">
                      <a16:colId xmlns:a16="http://schemas.microsoft.com/office/drawing/2014/main" val="20005"/>
                    </a:ext>
                  </a:extLst>
                </a:gridCol>
              </a:tblGrid>
              <a:tr h="333756">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Capability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Google data import</a:t>
                      </a:r>
                      <a:endParaRPr lang="en-US" sz="850" dirty="0">
                        <a:latin typeface="Calibri" charset="0"/>
                        <a:ea typeface="Calibri" charset="0"/>
                        <a:cs typeface="Calibri" charset="0"/>
                      </a:endParaRPr>
                    </a:p>
                    <a:p>
                      <a:pPr marL="0" indent="0" algn="ctr">
                        <a:buNone/>
                      </a:pPr>
                      <a:r>
                        <a:rPr lang="en-US" sz="850" b="1" dirty="0">
                          <a:solidFill>
                            <a:srgbClr val="FFFFFF"/>
                          </a:solidFill>
                          <a:latin typeface="Calibri" pitchFamily="34" charset="0"/>
                          <a:ea typeface="Calibri" pitchFamily="34" charset="-122"/>
                          <a:cs typeface="Calibri" pitchFamily="34" charset="-120"/>
                        </a:rPr>
                        <a:t>(native, advanced)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Google Workspace</a:t>
                      </a:r>
                      <a:endParaRPr lang="en-US" sz="850" dirty="0">
                        <a:latin typeface="Calibri" charset="0"/>
                        <a:ea typeface="Calibri" charset="0"/>
                        <a:cs typeface="Calibri" charset="0"/>
                      </a:endParaRPr>
                    </a:p>
                    <a:p>
                      <a:pPr marL="0" indent="0" algn="ctr">
                        <a:buNone/>
                      </a:pPr>
                      <a:r>
                        <a:rPr lang="en-US" sz="850" b="1" dirty="0">
                          <a:solidFill>
                            <a:srgbClr val="FFFFFF"/>
                          </a:solidFill>
                          <a:latin typeface="Calibri" pitchFamily="34" charset="0"/>
                          <a:ea typeface="Calibri" pitchFamily="34" charset="-122"/>
                          <a:cs typeface="Calibri" pitchFamily="34" charset="-120"/>
                        </a:rPr>
                        <a:t>Migrate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CloudM</a:t>
                      </a:r>
                      <a:endParaRPr lang="en-US" sz="850" dirty="0">
                        <a:latin typeface="Calibri" charset="0"/>
                        <a:ea typeface="Calibri" charset="0"/>
                        <a:cs typeface="Calibri" charset="0"/>
                      </a:endParaRPr>
                    </a:p>
                    <a:p>
                      <a:pPr marL="0" indent="0" algn="ctr">
                        <a:buNone/>
                      </a:pPr>
                      <a:r>
                        <a:rPr lang="en-US" sz="850" b="1" dirty="0">
                          <a:solidFill>
                            <a:srgbClr val="FFFFFF"/>
                          </a:solidFill>
                          <a:latin typeface="Calibri" pitchFamily="34" charset="0"/>
                          <a:ea typeface="Calibri" pitchFamily="34" charset="-122"/>
                          <a:cs typeface="Calibri" pitchFamily="34" charset="-120"/>
                        </a:rPr>
                        <a:t>Migrate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BitTitan</a:t>
                      </a:r>
                      <a:endParaRPr lang="en-US" sz="850" dirty="0">
                        <a:latin typeface="Calibri" charset="0"/>
                        <a:ea typeface="Calibri" charset="0"/>
                        <a:cs typeface="Calibri" charset="0"/>
                      </a:endParaRPr>
                    </a:p>
                    <a:p>
                      <a:pPr marL="0" indent="0" algn="ctr">
                        <a:buNone/>
                      </a:pPr>
                      <a:r>
                        <a:rPr lang="en-US" sz="850" b="1" dirty="0">
                          <a:solidFill>
                            <a:srgbClr val="FFFFFF"/>
                          </a:solidFill>
                          <a:latin typeface="Calibri" pitchFamily="34" charset="0"/>
                          <a:ea typeface="Calibri" pitchFamily="34" charset="-122"/>
                          <a:cs typeface="Calibri" pitchFamily="34" charset="-120"/>
                        </a:rPr>
                        <a:t>MigrationWiz</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Quest On Demand</a:t>
                      </a:r>
                      <a:endParaRPr lang="en-US" sz="850" dirty="0">
                        <a:latin typeface="Calibri" charset="0"/>
                        <a:ea typeface="Calibri" charset="0"/>
                        <a:cs typeface="Calibri" charset="0"/>
                      </a:endParaRPr>
                    </a:p>
                    <a:p>
                      <a:pPr marL="0" indent="0" algn="ctr">
                        <a:buNone/>
                      </a:pPr>
                      <a:r>
                        <a:rPr lang="en-US" sz="850" b="1" dirty="0">
                          <a:solidFill>
                            <a:srgbClr val="FFFFFF"/>
                          </a:solidFill>
                          <a:latin typeface="Calibri" pitchFamily="34" charset="0"/>
                          <a:ea typeface="Calibri" pitchFamily="34" charset="-122"/>
                          <a:cs typeface="Calibri" pitchFamily="34" charset="-120"/>
                        </a:rPr>
                        <a:t>Migration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Exchange Online mail / calendar / contacts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In-Place Archive &amp; M365 Group mailboxes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Advanced only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OneDrive for Business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Listed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SharePoint Online to shared drives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Validate in POC</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Teams chat / channels to Google Chat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Validate in POC</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Spaces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PST ingestion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Use GWMME/GWMMO</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Public folders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No</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Granular permission / ACL remapping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Calendar perms only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Delta / incremental passes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Dedicated API quota / throughput control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Advanced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0"/>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Audit-grade per-item reporting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Partial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Yes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Infrastructure to deploy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None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Nodes + GCP</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SaaS or self-host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SaaS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SaaS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2"/>
                  </a:ext>
                </a:extLst>
              </a:tr>
              <a:tr h="333756">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Tool licence cost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Included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Included*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Per user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Per user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Per user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RECOMMENDATION</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A hybrid tooling strategy, chosen workload by workload</a:t>
            </a:r>
            <a:endParaRPr lang="en-US" sz="2800" dirty="0"/>
          </a:p>
        </p:txBody>
      </p:sp>
      <p:sp>
        <p:nvSpPr>
          <p:cNvPr id="31" name="Text 28"/>
          <p:cNvSpPr txBox="1"/>
          <p:nvPr/>
        </p:nvSpPr>
        <p:spPr>
          <a:xfrm>
            <a:off x="502920" y="6248676"/>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Commercial effect: the largest single line item in a traditional 700-user migration quote - per-user mail migration licences - is removed. The saving is redirected to file-fidelity tooling and floorwalker cover, where it changes user experience.</a:t>
            </a:r>
            <a:endParaRPr lang="en-US" sz="800" dirty="0"/>
          </a:p>
        </p:txBody>
      </p:sp>
      <p:sp>
        <p:nvSpPr>
          <p:cNvPr id="32" name="AutoShape 2">
            <a:extLst>
              <a:ext uri="{FF2B5EF4-FFF2-40B4-BE49-F238E27FC236}">
                <a16:creationId xmlns:a16="http://schemas.microsoft.com/office/drawing/2014/main" id="{AAD669BF-1DE2-4710-B9CD-6D6EB60E0D16}"/>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33" name="TextBox 7">
            <a:extLst>
              <a:ext uri="{FF2B5EF4-FFF2-40B4-BE49-F238E27FC236}">
                <a16:creationId xmlns:a16="http://schemas.microsoft.com/office/drawing/2014/main" id="{58728B48-DBC5-40EB-AB04-1EB755AFC779}"/>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34" name="TextBox 9">
            <a:extLst>
              <a:ext uri="{FF2B5EF4-FFF2-40B4-BE49-F238E27FC236}">
                <a16:creationId xmlns:a16="http://schemas.microsoft.com/office/drawing/2014/main" id="{7E3677D3-BA4A-45D8-ADFD-AD09C25C990F}"/>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35" name="TextBox 34">
            <a:extLst>
              <a:ext uri="{FF2B5EF4-FFF2-40B4-BE49-F238E27FC236}">
                <a16:creationId xmlns:a16="http://schemas.microsoft.com/office/drawing/2014/main" id="{2DA902C8-7D5E-46F9-8021-7F64EB652269}"/>
              </a:ext>
            </a:extLst>
          </p:cNvPr>
          <p:cNvSpPr txBox="1"/>
          <p:nvPr/>
        </p:nvSpPr>
        <p:spPr>
          <a:xfrm>
            <a:off x="5911269" y="6533202"/>
            <a:ext cx="287258" cy="215444"/>
          </a:xfrm>
          <a:prstGeom prst="rect">
            <a:avLst/>
          </a:prstGeom>
          <a:noFill/>
        </p:spPr>
        <p:txBody>
          <a:bodyPr wrap="none" rtlCol="0">
            <a:spAutoFit/>
          </a:bodyPr>
          <a:lstStyle/>
          <a:p>
            <a:r>
              <a:rPr lang="en-US" sz="800" dirty="0"/>
              <a:t>24</a:t>
            </a:r>
          </a:p>
        </p:txBody>
      </p:sp>
      <p:grpSp>
        <p:nvGrpSpPr>
          <p:cNvPr id="3" name="Group 2">
            <a:extLst>
              <a:ext uri="{FF2B5EF4-FFF2-40B4-BE49-F238E27FC236}">
                <a16:creationId xmlns:a16="http://schemas.microsoft.com/office/drawing/2014/main" id="{12FAA306-6808-92B6-8093-3A803AA0D28A}"/>
              </a:ext>
            </a:extLst>
          </p:cNvPr>
          <p:cNvGrpSpPr/>
          <p:nvPr/>
        </p:nvGrpSpPr>
        <p:grpSpPr>
          <a:xfrm>
            <a:off x="502920" y="1261872"/>
            <a:ext cx="10835640" cy="4846320"/>
            <a:chOff x="502920" y="1261872"/>
            <a:chExt cx="10835640" cy="4846320"/>
          </a:xfrm>
        </p:grpSpPr>
        <p:sp>
          <p:nvSpPr>
            <p:cNvPr id="36" name="Text 3">
              <a:extLst>
                <a:ext uri="{FF2B5EF4-FFF2-40B4-BE49-F238E27FC236}">
                  <a16:creationId xmlns:a16="http://schemas.microsoft.com/office/drawing/2014/main" id="{5FC6BAEA-E501-A0A7-1F98-092D135F1AFB}"/>
                </a:ext>
              </a:extLst>
            </p:cNvPr>
            <p:cNvSpPr txBox="1"/>
            <p:nvPr/>
          </p:nvSpPr>
          <p:spPr>
            <a:xfrm>
              <a:off x="502920" y="1261872"/>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Single-tool loyalty costs money on one side and fidelity on the other. We select per workload and justify each choice against the POC measurements.</a:t>
              </a:r>
              <a:endParaRPr lang="en-US" sz="1100" dirty="0"/>
            </a:p>
          </p:txBody>
        </p:sp>
        <p:sp>
          <p:nvSpPr>
            <p:cNvPr id="37" name="Shape 4">
              <a:extLst>
                <a:ext uri="{FF2B5EF4-FFF2-40B4-BE49-F238E27FC236}">
                  <a16:creationId xmlns:a16="http://schemas.microsoft.com/office/drawing/2014/main" id="{4A8AF176-3F7F-32CF-36BA-EDE5045E3BEB}"/>
                </a:ext>
              </a:extLst>
            </p:cNvPr>
            <p:cNvSpPr/>
            <p:nvPr/>
          </p:nvSpPr>
          <p:spPr>
            <a:xfrm>
              <a:off x="502920" y="1700784"/>
              <a:ext cx="10835640" cy="658368"/>
            </a:xfrm>
            <a:prstGeom prst="roundRect">
              <a:avLst>
                <a:gd name="adj" fmla="val 694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38" name="Text 5">
              <a:extLst>
                <a:ext uri="{FF2B5EF4-FFF2-40B4-BE49-F238E27FC236}">
                  <a16:creationId xmlns:a16="http://schemas.microsoft.com/office/drawing/2014/main" id="{442475C6-0813-B893-7951-5893F04F90A6}"/>
                </a:ext>
              </a:extLst>
            </p:cNvPr>
            <p:cNvSpPr txBox="1"/>
            <p:nvPr/>
          </p:nvSpPr>
          <p:spPr>
            <a:xfrm>
              <a:off x="740664" y="1792224"/>
              <a:ext cx="2286000" cy="320040"/>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Mail, calendar, contacts</a:t>
              </a:r>
              <a:endParaRPr lang="en-US" sz="1000" dirty="0"/>
            </a:p>
          </p:txBody>
        </p:sp>
        <p:sp>
          <p:nvSpPr>
            <p:cNvPr id="39" name="Text 6">
              <a:extLst>
                <a:ext uri="{FF2B5EF4-FFF2-40B4-BE49-F238E27FC236}">
                  <a16:creationId xmlns:a16="http://schemas.microsoft.com/office/drawing/2014/main" id="{41EC1CD7-D821-B764-DB33-356366C94E04}"/>
                </a:ext>
              </a:extLst>
            </p:cNvPr>
            <p:cNvSpPr txBox="1"/>
            <p:nvPr/>
          </p:nvSpPr>
          <p:spPr>
            <a:xfrm>
              <a:off x="3154680" y="1792224"/>
              <a:ext cx="3063240" cy="502920"/>
            </a:xfrm>
            <a:prstGeom prst="rect">
              <a:avLst/>
            </a:prstGeom>
            <a:noFill/>
            <a:ln/>
          </p:spPr>
          <p:txBody>
            <a:bodyPr wrap="square" lIns="0" tIns="0" rIns="0" bIns="0" rtlCol="0" anchor="t"/>
            <a:lstStyle/>
            <a:p>
              <a:pPr marL="0" indent="0" algn="l">
                <a:lnSpc>
                  <a:spcPct val="95000"/>
                </a:lnSpc>
                <a:buNone/>
              </a:pPr>
              <a:r>
                <a:rPr lang="en-US" sz="1000" b="1" dirty="0">
                  <a:solidFill>
                    <a:srgbClr val="0053EB"/>
                  </a:solidFill>
                  <a:latin typeface="Calibri" pitchFamily="34" charset="0"/>
                  <a:ea typeface="Calibri" pitchFamily="34" charset="-122"/>
                  <a:cs typeface="Calibri" pitchFamily="34" charset="-120"/>
                </a:rPr>
                <a:t>Google data import - advanced method</a:t>
              </a:r>
              <a:endParaRPr lang="en-US" sz="1000" dirty="0"/>
            </a:p>
          </p:txBody>
        </p:sp>
        <p:sp>
          <p:nvSpPr>
            <p:cNvPr id="40" name="Text 7">
              <a:extLst>
                <a:ext uri="{FF2B5EF4-FFF2-40B4-BE49-F238E27FC236}">
                  <a16:creationId xmlns:a16="http://schemas.microsoft.com/office/drawing/2014/main" id="{5013138A-0B7B-0FB3-38D2-9F3FB703B330}"/>
                </a:ext>
              </a:extLst>
            </p:cNvPr>
            <p:cNvSpPr txBox="1"/>
            <p:nvPr/>
          </p:nvSpPr>
          <p:spPr>
            <a:xfrm>
              <a:off x="6355080" y="1792224"/>
              <a:ext cx="4754880" cy="502920"/>
            </a:xfrm>
            <a:prstGeom prst="rect">
              <a:avLst/>
            </a:prstGeom>
            <a:noFill/>
            <a:ln/>
          </p:spPr>
          <p:txBody>
            <a:bodyPr wrap="square" lIns="0" tIns="0" rIns="0" bIns="0" rtlCol="0" anchor="t"/>
            <a:lstStyle/>
            <a:p>
              <a:pPr marL="0" indent="0" algn="l">
                <a:lnSpc>
                  <a:spcPct val="108000"/>
                </a:lnSpc>
                <a:buNone/>
              </a:pPr>
              <a:r>
                <a:rPr lang="en-US" sz="860" dirty="0">
                  <a:solidFill>
                    <a:srgbClr val="5D6B8C"/>
                  </a:solidFill>
                  <a:latin typeface="Calibri" pitchFamily="34" charset="0"/>
                  <a:ea typeface="Calibri" pitchFamily="34" charset="-122"/>
                  <a:cs typeface="Calibri" pitchFamily="34" charset="-120"/>
                </a:rPr>
                <a:t>Free, dedicated API quota, no infrastructure, covers In-Place Archive and M365 Group mailboxes. For 700 users this fits comfortably within the tool's batch capacity.</a:t>
              </a:r>
              <a:endParaRPr lang="en-US" sz="860" dirty="0"/>
            </a:p>
          </p:txBody>
        </p:sp>
        <p:sp>
          <p:nvSpPr>
            <p:cNvPr id="41" name="Shape 8">
              <a:extLst>
                <a:ext uri="{FF2B5EF4-FFF2-40B4-BE49-F238E27FC236}">
                  <a16:creationId xmlns:a16="http://schemas.microsoft.com/office/drawing/2014/main" id="{B102E1BC-483A-659A-622F-5BE28F92E858}"/>
                </a:ext>
              </a:extLst>
            </p:cNvPr>
            <p:cNvSpPr/>
            <p:nvPr/>
          </p:nvSpPr>
          <p:spPr>
            <a:xfrm>
              <a:off x="502920" y="2450592"/>
              <a:ext cx="10835640" cy="658368"/>
            </a:xfrm>
            <a:prstGeom prst="roundRect">
              <a:avLst>
                <a:gd name="adj" fmla="val 6944"/>
              </a:avLst>
            </a:prstGeom>
            <a:solidFill>
              <a:srgbClr val="F7FAFE"/>
            </a:solidFill>
            <a:ln w="12700">
              <a:solidFill>
                <a:srgbClr val="F7FAFE"/>
              </a:solidFill>
              <a:prstDash val="solid"/>
            </a:ln>
            <a:effectLst>
              <a:outerShdw blurRad="88900" dist="12700" dir="5400000" algn="bl" rotWithShape="0">
                <a:srgbClr val="000000">
                  <a:alpha val="7000"/>
                </a:srgbClr>
              </a:outerShdw>
            </a:effectLst>
          </p:spPr>
          <p:txBody>
            <a:bodyPr/>
            <a:lstStyle/>
            <a:p>
              <a:endParaRPr lang="en-IN"/>
            </a:p>
          </p:txBody>
        </p:sp>
        <p:sp>
          <p:nvSpPr>
            <p:cNvPr id="42" name="Text 9">
              <a:extLst>
                <a:ext uri="{FF2B5EF4-FFF2-40B4-BE49-F238E27FC236}">
                  <a16:creationId xmlns:a16="http://schemas.microsoft.com/office/drawing/2014/main" id="{5D64A08A-7548-06CB-B055-9D824A031F63}"/>
                </a:ext>
              </a:extLst>
            </p:cNvPr>
            <p:cNvSpPr txBox="1"/>
            <p:nvPr/>
          </p:nvSpPr>
          <p:spPr>
            <a:xfrm>
              <a:off x="740664" y="2542032"/>
              <a:ext cx="2286000" cy="320040"/>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OneDrive &amp; SharePoint</a:t>
              </a:r>
              <a:endParaRPr lang="en-US" sz="1000" dirty="0"/>
            </a:p>
          </p:txBody>
        </p:sp>
        <p:sp>
          <p:nvSpPr>
            <p:cNvPr id="43" name="Text 10">
              <a:extLst>
                <a:ext uri="{FF2B5EF4-FFF2-40B4-BE49-F238E27FC236}">
                  <a16:creationId xmlns:a16="http://schemas.microsoft.com/office/drawing/2014/main" id="{76418DEF-CA12-F02A-1505-6746703D63DA}"/>
                </a:ext>
              </a:extLst>
            </p:cNvPr>
            <p:cNvSpPr txBox="1"/>
            <p:nvPr/>
          </p:nvSpPr>
          <p:spPr>
            <a:xfrm>
              <a:off x="3154680" y="2542032"/>
              <a:ext cx="3063240" cy="502920"/>
            </a:xfrm>
            <a:prstGeom prst="rect">
              <a:avLst/>
            </a:prstGeom>
            <a:noFill/>
            <a:ln/>
          </p:spPr>
          <p:txBody>
            <a:bodyPr wrap="square" lIns="0" tIns="0" rIns="0" bIns="0" rtlCol="0" anchor="t"/>
            <a:lstStyle/>
            <a:p>
              <a:pPr marL="0" indent="0" algn="l">
                <a:lnSpc>
                  <a:spcPct val="95000"/>
                </a:lnSpc>
                <a:buNone/>
              </a:pPr>
              <a:r>
                <a:rPr lang="en-US" sz="1000" b="1" dirty="0">
                  <a:solidFill>
                    <a:srgbClr val="0C3EB1"/>
                  </a:solidFill>
                  <a:latin typeface="Calibri" pitchFamily="34" charset="0"/>
                  <a:ea typeface="Calibri" pitchFamily="34" charset="-122"/>
                  <a:cs typeface="Calibri" pitchFamily="34" charset="-120"/>
                </a:rPr>
                <a:t>Specialist tool (CloudM or Quest)</a:t>
              </a:r>
              <a:endParaRPr lang="en-US" sz="1000" dirty="0"/>
            </a:p>
          </p:txBody>
        </p:sp>
        <p:sp>
          <p:nvSpPr>
            <p:cNvPr id="44" name="Text 11">
              <a:extLst>
                <a:ext uri="{FF2B5EF4-FFF2-40B4-BE49-F238E27FC236}">
                  <a16:creationId xmlns:a16="http://schemas.microsoft.com/office/drawing/2014/main" id="{7AB5ACF2-D142-A6F8-F90F-98FBB7B20724}"/>
                </a:ext>
              </a:extLst>
            </p:cNvPr>
            <p:cNvSpPr txBox="1"/>
            <p:nvPr/>
          </p:nvSpPr>
          <p:spPr>
            <a:xfrm>
              <a:off x="6355080" y="2542032"/>
              <a:ext cx="4754880" cy="502920"/>
            </a:xfrm>
            <a:prstGeom prst="rect">
              <a:avLst/>
            </a:prstGeom>
            <a:noFill/>
            <a:ln/>
          </p:spPr>
          <p:txBody>
            <a:bodyPr wrap="square" lIns="0" tIns="0" rIns="0" bIns="0" rtlCol="0" anchor="t"/>
            <a:lstStyle/>
            <a:p>
              <a:pPr marL="0" indent="0" algn="l">
                <a:lnSpc>
                  <a:spcPct val="108000"/>
                </a:lnSpc>
                <a:buNone/>
              </a:pPr>
              <a:r>
                <a:rPr lang="en-US" sz="860" dirty="0">
                  <a:solidFill>
                    <a:srgbClr val="5D6B8C"/>
                  </a:solidFill>
                  <a:latin typeface="Calibri" pitchFamily="34" charset="0"/>
                  <a:ea typeface="Calibri" pitchFamily="34" charset="-122"/>
                  <a:cs typeface="Calibri" pitchFamily="34" charset="-120"/>
                </a:rPr>
                <a:t>Justified by ACL remapping fidelity, library-splitting control and per-item audit reporting - the three things that generate disputes at reconciliation.</a:t>
              </a:r>
              <a:endParaRPr lang="en-US" sz="860" dirty="0"/>
            </a:p>
          </p:txBody>
        </p:sp>
        <p:sp>
          <p:nvSpPr>
            <p:cNvPr id="45" name="Shape 12">
              <a:extLst>
                <a:ext uri="{FF2B5EF4-FFF2-40B4-BE49-F238E27FC236}">
                  <a16:creationId xmlns:a16="http://schemas.microsoft.com/office/drawing/2014/main" id="{467F3312-05DF-077B-7400-8363381420EC}"/>
                </a:ext>
              </a:extLst>
            </p:cNvPr>
            <p:cNvSpPr/>
            <p:nvPr/>
          </p:nvSpPr>
          <p:spPr>
            <a:xfrm>
              <a:off x="502920" y="3200400"/>
              <a:ext cx="10835640" cy="658368"/>
            </a:xfrm>
            <a:prstGeom prst="roundRect">
              <a:avLst>
                <a:gd name="adj" fmla="val 694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46" name="Text 13">
              <a:extLst>
                <a:ext uri="{FF2B5EF4-FFF2-40B4-BE49-F238E27FC236}">
                  <a16:creationId xmlns:a16="http://schemas.microsoft.com/office/drawing/2014/main" id="{070F879A-213D-A3E7-66BC-8488C442EDE1}"/>
                </a:ext>
              </a:extLst>
            </p:cNvPr>
            <p:cNvSpPr txBox="1"/>
            <p:nvPr/>
          </p:nvSpPr>
          <p:spPr>
            <a:xfrm>
              <a:off x="740664" y="3291840"/>
              <a:ext cx="2286000" cy="320040"/>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Teams to Google Chat</a:t>
              </a:r>
              <a:endParaRPr lang="en-US" sz="1000" dirty="0"/>
            </a:p>
          </p:txBody>
        </p:sp>
        <p:sp>
          <p:nvSpPr>
            <p:cNvPr id="47" name="Text 14">
              <a:extLst>
                <a:ext uri="{FF2B5EF4-FFF2-40B4-BE49-F238E27FC236}">
                  <a16:creationId xmlns:a16="http://schemas.microsoft.com/office/drawing/2014/main" id="{B57F1A30-189F-C741-840A-B4ABC1A95148}"/>
                </a:ext>
              </a:extLst>
            </p:cNvPr>
            <p:cNvSpPr txBox="1"/>
            <p:nvPr/>
          </p:nvSpPr>
          <p:spPr>
            <a:xfrm>
              <a:off x="3154680" y="3291840"/>
              <a:ext cx="3063240" cy="502920"/>
            </a:xfrm>
            <a:prstGeom prst="rect">
              <a:avLst/>
            </a:prstGeom>
            <a:noFill/>
            <a:ln/>
          </p:spPr>
          <p:txBody>
            <a:bodyPr wrap="square" lIns="0" tIns="0" rIns="0" bIns="0" rtlCol="0" anchor="t"/>
            <a:lstStyle/>
            <a:p>
              <a:pPr marL="0" indent="0" algn="l">
                <a:lnSpc>
                  <a:spcPct val="95000"/>
                </a:lnSpc>
                <a:buNone/>
              </a:pPr>
              <a:r>
                <a:rPr lang="en-US" sz="1000" b="1" dirty="0">
                  <a:solidFill>
                    <a:srgbClr val="0C3EB1"/>
                  </a:solidFill>
                  <a:latin typeface="Calibri" pitchFamily="34" charset="0"/>
                  <a:ea typeface="Calibri" pitchFamily="34" charset="-122"/>
                  <a:cs typeface="Calibri" pitchFamily="34" charset="-120"/>
                </a:rPr>
                <a:t>Specialist tool, scope-limited</a:t>
              </a:r>
              <a:endParaRPr lang="en-US" sz="1000" dirty="0"/>
            </a:p>
          </p:txBody>
        </p:sp>
        <p:sp>
          <p:nvSpPr>
            <p:cNvPr id="48" name="Text 15">
              <a:extLst>
                <a:ext uri="{FF2B5EF4-FFF2-40B4-BE49-F238E27FC236}">
                  <a16:creationId xmlns:a16="http://schemas.microsoft.com/office/drawing/2014/main" id="{C3FE38D8-E636-7E67-2E86-5723D4726ECB}"/>
                </a:ext>
              </a:extLst>
            </p:cNvPr>
            <p:cNvSpPr txBox="1"/>
            <p:nvPr/>
          </p:nvSpPr>
          <p:spPr>
            <a:xfrm>
              <a:off x="6355080" y="3291840"/>
              <a:ext cx="4754880" cy="502920"/>
            </a:xfrm>
            <a:prstGeom prst="rect">
              <a:avLst/>
            </a:prstGeom>
            <a:noFill/>
            <a:ln/>
          </p:spPr>
          <p:txBody>
            <a:bodyPr wrap="square" lIns="0" tIns="0" rIns="0" bIns="0" rtlCol="0" anchor="t"/>
            <a:lstStyle/>
            <a:p>
              <a:pPr marL="0" indent="0" algn="l">
                <a:lnSpc>
                  <a:spcPct val="108000"/>
                </a:lnSpc>
                <a:buNone/>
              </a:pPr>
              <a:r>
                <a:rPr lang="en-US" sz="860" dirty="0">
                  <a:solidFill>
                    <a:srgbClr val="5D6B8C"/>
                  </a:solidFill>
                  <a:latin typeface="Calibri" pitchFamily="34" charset="0"/>
                  <a:ea typeface="Calibri" pitchFamily="34" charset="-122"/>
                  <a:cs typeface="Calibri" pitchFamily="34" charset="-120"/>
                </a:rPr>
                <a:t>Migrate what has genuine business value. Wholesale Teams history import is usually cost without benefit - we recommend a defined cut-off plus read-only source retention.</a:t>
              </a:r>
              <a:endParaRPr lang="en-US" sz="860" dirty="0"/>
            </a:p>
          </p:txBody>
        </p:sp>
        <p:sp>
          <p:nvSpPr>
            <p:cNvPr id="49" name="Shape 16">
              <a:extLst>
                <a:ext uri="{FF2B5EF4-FFF2-40B4-BE49-F238E27FC236}">
                  <a16:creationId xmlns:a16="http://schemas.microsoft.com/office/drawing/2014/main" id="{3E3356C1-2030-1F31-AD4C-58E8F8CB813E}"/>
                </a:ext>
              </a:extLst>
            </p:cNvPr>
            <p:cNvSpPr/>
            <p:nvPr/>
          </p:nvSpPr>
          <p:spPr>
            <a:xfrm>
              <a:off x="502920" y="3950208"/>
              <a:ext cx="10835640" cy="658368"/>
            </a:xfrm>
            <a:prstGeom prst="roundRect">
              <a:avLst>
                <a:gd name="adj" fmla="val 6944"/>
              </a:avLst>
            </a:prstGeom>
            <a:solidFill>
              <a:srgbClr val="F7FAFE"/>
            </a:solidFill>
            <a:ln w="12700">
              <a:solidFill>
                <a:srgbClr val="F7FAFE"/>
              </a:solidFill>
              <a:prstDash val="solid"/>
            </a:ln>
            <a:effectLst>
              <a:outerShdw blurRad="88900" dist="12700" dir="5400000" algn="bl" rotWithShape="0">
                <a:srgbClr val="000000">
                  <a:alpha val="7000"/>
                </a:srgbClr>
              </a:outerShdw>
            </a:effectLst>
          </p:spPr>
          <p:txBody>
            <a:bodyPr/>
            <a:lstStyle/>
            <a:p>
              <a:endParaRPr lang="en-IN"/>
            </a:p>
          </p:txBody>
        </p:sp>
        <p:sp>
          <p:nvSpPr>
            <p:cNvPr id="50" name="Text 17">
              <a:extLst>
                <a:ext uri="{FF2B5EF4-FFF2-40B4-BE49-F238E27FC236}">
                  <a16:creationId xmlns:a16="http://schemas.microsoft.com/office/drawing/2014/main" id="{EAA3C653-84FB-1EAB-9A11-310765721073}"/>
                </a:ext>
              </a:extLst>
            </p:cNvPr>
            <p:cNvSpPr txBox="1"/>
            <p:nvPr/>
          </p:nvSpPr>
          <p:spPr>
            <a:xfrm>
              <a:off x="740664" y="4041648"/>
              <a:ext cx="2286000" cy="320040"/>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Groups, resources, delegation</a:t>
              </a:r>
              <a:endParaRPr lang="en-US" sz="1000" dirty="0"/>
            </a:p>
          </p:txBody>
        </p:sp>
        <p:sp>
          <p:nvSpPr>
            <p:cNvPr id="51" name="Text 18">
              <a:extLst>
                <a:ext uri="{FF2B5EF4-FFF2-40B4-BE49-F238E27FC236}">
                  <a16:creationId xmlns:a16="http://schemas.microsoft.com/office/drawing/2014/main" id="{3F377381-6135-FDC1-ADE1-C9AAFD73BD5B}"/>
                </a:ext>
              </a:extLst>
            </p:cNvPr>
            <p:cNvSpPr txBox="1"/>
            <p:nvPr/>
          </p:nvSpPr>
          <p:spPr>
            <a:xfrm>
              <a:off x="3154680" y="4041648"/>
              <a:ext cx="3063240" cy="502920"/>
            </a:xfrm>
            <a:prstGeom prst="rect">
              <a:avLst/>
            </a:prstGeom>
            <a:noFill/>
            <a:ln/>
          </p:spPr>
          <p:txBody>
            <a:bodyPr wrap="square" lIns="0" tIns="0" rIns="0" bIns="0" rtlCol="0" anchor="t"/>
            <a:lstStyle/>
            <a:p>
              <a:pPr marL="0" indent="0" algn="l">
                <a:lnSpc>
                  <a:spcPct val="95000"/>
                </a:lnSpc>
                <a:buNone/>
              </a:pPr>
              <a:r>
                <a:rPr lang="en-US" sz="1000" b="1" dirty="0">
                  <a:solidFill>
                    <a:srgbClr val="0053EB"/>
                  </a:solidFill>
                  <a:latin typeface="Calibri" pitchFamily="34" charset="0"/>
                  <a:ea typeface="Calibri" pitchFamily="34" charset="-122"/>
                  <a:cs typeface="Calibri" pitchFamily="34" charset="-120"/>
                </a:rPr>
                <a:t>Scripted (Exchange PowerShell + Admin SDK / GAM)</a:t>
              </a:r>
              <a:endParaRPr lang="en-US" sz="1000" dirty="0"/>
            </a:p>
          </p:txBody>
        </p:sp>
        <p:sp>
          <p:nvSpPr>
            <p:cNvPr id="52" name="Text 19">
              <a:extLst>
                <a:ext uri="{FF2B5EF4-FFF2-40B4-BE49-F238E27FC236}">
                  <a16:creationId xmlns:a16="http://schemas.microsoft.com/office/drawing/2014/main" id="{89808AE5-6DC2-0E8C-3755-98278A0AB949}"/>
                </a:ext>
              </a:extLst>
            </p:cNvPr>
            <p:cNvSpPr txBox="1"/>
            <p:nvPr/>
          </p:nvSpPr>
          <p:spPr>
            <a:xfrm>
              <a:off x="6355080" y="4041648"/>
              <a:ext cx="4754880" cy="502920"/>
            </a:xfrm>
            <a:prstGeom prst="rect">
              <a:avLst/>
            </a:prstGeom>
            <a:noFill/>
            <a:ln/>
          </p:spPr>
          <p:txBody>
            <a:bodyPr wrap="square" lIns="0" tIns="0" rIns="0" bIns="0" rtlCol="0" anchor="t"/>
            <a:lstStyle/>
            <a:p>
              <a:pPr marL="0" indent="0" algn="l">
                <a:lnSpc>
                  <a:spcPct val="108000"/>
                </a:lnSpc>
                <a:buNone/>
              </a:pPr>
              <a:r>
                <a:rPr lang="en-US" sz="860" dirty="0">
                  <a:solidFill>
                    <a:srgbClr val="5D6B8C"/>
                  </a:solidFill>
                  <a:latin typeface="Calibri" pitchFamily="34" charset="0"/>
                  <a:ea typeface="Calibri" pitchFamily="34" charset="-122"/>
                  <a:cs typeface="Calibri" pitchFamily="34" charset="-120"/>
                </a:rPr>
                <a:t>Faster, cheaper and more auditable than a migration tool for objects that are re-created rather than copied.</a:t>
              </a:r>
              <a:endParaRPr lang="en-US" sz="860" dirty="0"/>
            </a:p>
          </p:txBody>
        </p:sp>
        <p:sp>
          <p:nvSpPr>
            <p:cNvPr id="53" name="Shape 20">
              <a:extLst>
                <a:ext uri="{FF2B5EF4-FFF2-40B4-BE49-F238E27FC236}">
                  <a16:creationId xmlns:a16="http://schemas.microsoft.com/office/drawing/2014/main" id="{1B4412B1-541C-113D-92FE-8456D88FB731}"/>
                </a:ext>
              </a:extLst>
            </p:cNvPr>
            <p:cNvSpPr/>
            <p:nvPr/>
          </p:nvSpPr>
          <p:spPr>
            <a:xfrm>
              <a:off x="502920" y="4700016"/>
              <a:ext cx="10835640" cy="658368"/>
            </a:xfrm>
            <a:prstGeom prst="roundRect">
              <a:avLst>
                <a:gd name="adj" fmla="val 694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4" name="Text 21">
              <a:extLst>
                <a:ext uri="{FF2B5EF4-FFF2-40B4-BE49-F238E27FC236}">
                  <a16:creationId xmlns:a16="http://schemas.microsoft.com/office/drawing/2014/main" id="{40073FAB-0DDE-543D-C6ED-1A342D075888}"/>
                </a:ext>
              </a:extLst>
            </p:cNvPr>
            <p:cNvSpPr txBox="1"/>
            <p:nvPr/>
          </p:nvSpPr>
          <p:spPr>
            <a:xfrm>
              <a:off x="740664" y="4791456"/>
              <a:ext cx="2286000" cy="320040"/>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PST &amp; stragglers</a:t>
              </a:r>
              <a:endParaRPr lang="en-US" sz="1000" dirty="0"/>
            </a:p>
          </p:txBody>
        </p:sp>
        <p:sp>
          <p:nvSpPr>
            <p:cNvPr id="55" name="Text 22">
              <a:extLst>
                <a:ext uri="{FF2B5EF4-FFF2-40B4-BE49-F238E27FC236}">
                  <a16:creationId xmlns:a16="http://schemas.microsoft.com/office/drawing/2014/main" id="{246E7156-AFB1-B395-EFB9-8F2A49848891}"/>
                </a:ext>
              </a:extLst>
            </p:cNvPr>
            <p:cNvSpPr txBox="1"/>
            <p:nvPr/>
          </p:nvSpPr>
          <p:spPr>
            <a:xfrm>
              <a:off x="3154680" y="4791456"/>
              <a:ext cx="3063240" cy="502920"/>
            </a:xfrm>
            <a:prstGeom prst="rect">
              <a:avLst/>
            </a:prstGeom>
            <a:noFill/>
            <a:ln/>
          </p:spPr>
          <p:txBody>
            <a:bodyPr wrap="square" lIns="0" tIns="0" rIns="0" bIns="0" rtlCol="0" anchor="t"/>
            <a:lstStyle/>
            <a:p>
              <a:pPr marL="0" indent="0" algn="l">
                <a:lnSpc>
                  <a:spcPct val="95000"/>
                </a:lnSpc>
                <a:buNone/>
              </a:pPr>
              <a:r>
                <a:rPr lang="en-US" sz="1000" b="1" dirty="0">
                  <a:solidFill>
                    <a:srgbClr val="0053EB"/>
                  </a:solidFill>
                  <a:latin typeface="Calibri" pitchFamily="34" charset="0"/>
                  <a:ea typeface="Calibri" pitchFamily="34" charset="-122"/>
                  <a:cs typeface="Calibri" pitchFamily="34" charset="-120"/>
                </a:rPr>
                <a:t>GWMME / GWMMO</a:t>
              </a:r>
              <a:endParaRPr lang="en-US" sz="1000" dirty="0"/>
            </a:p>
          </p:txBody>
        </p:sp>
        <p:sp>
          <p:nvSpPr>
            <p:cNvPr id="56" name="Text 23">
              <a:extLst>
                <a:ext uri="{FF2B5EF4-FFF2-40B4-BE49-F238E27FC236}">
                  <a16:creationId xmlns:a16="http://schemas.microsoft.com/office/drawing/2014/main" id="{F13D8D43-6429-4C47-46BB-FF30A7C04D4C}"/>
                </a:ext>
              </a:extLst>
            </p:cNvPr>
            <p:cNvSpPr txBox="1"/>
            <p:nvPr/>
          </p:nvSpPr>
          <p:spPr>
            <a:xfrm>
              <a:off x="6355080" y="4791456"/>
              <a:ext cx="4754880" cy="502920"/>
            </a:xfrm>
            <a:prstGeom prst="rect">
              <a:avLst/>
            </a:prstGeom>
            <a:noFill/>
            <a:ln/>
          </p:spPr>
          <p:txBody>
            <a:bodyPr wrap="square" lIns="0" tIns="0" rIns="0" bIns="0" rtlCol="0" anchor="t"/>
            <a:lstStyle/>
            <a:p>
              <a:pPr marL="0" indent="0" algn="l">
                <a:lnSpc>
                  <a:spcPct val="108000"/>
                </a:lnSpc>
                <a:buNone/>
              </a:pPr>
              <a:r>
                <a:rPr lang="en-US" sz="860" dirty="0">
                  <a:solidFill>
                    <a:srgbClr val="5D6B8C"/>
                  </a:solidFill>
                  <a:latin typeface="Calibri" pitchFamily="34" charset="0"/>
                  <a:ea typeface="Calibri" pitchFamily="34" charset="-122"/>
                  <a:cs typeface="Calibri" pitchFamily="34" charset="-120"/>
                </a:rPr>
                <a:t>Right-sized for endpoint PST cleanup and the long tail. No licence, no project overhead.</a:t>
              </a:r>
              <a:endParaRPr lang="en-US" sz="860" dirty="0"/>
            </a:p>
          </p:txBody>
        </p:sp>
        <p:sp>
          <p:nvSpPr>
            <p:cNvPr id="57" name="Shape 24">
              <a:extLst>
                <a:ext uri="{FF2B5EF4-FFF2-40B4-BE49-F238E27FC236}">
                  <a16:creationId xmlns:a16="http://schemas.microsoft.com/office/drawing/2014/main" id="{CA78C50D-AE76-B9AF-94E5-3FAB08973FE6}"/>
                </a:ext>
              </a:extLst>
            </p:cNvPr>
            <p:cNvSpPr/>
            <p:nvPr/>
          </p:nvSpPr>
          <p:spPr>
            <a:xfrm>
              <a:off x="502920" y="5449824"/>
              <a:ext cx="10835640" cy="658368"/>
            </a:xfrm>
            <a:prstGeom prst="roundRect">
              <a:avLst>
                <a:gd name="adj" fmla="val 6944"/>
              </a:avLst>
            </a:prstGeom>
            <a:solidFill>
              <a:srgbClr val="F7FAFE"/>
            </a:solidFill>
            <a:ln w="12700">
              <a:solidFill>
                <a:srgbClr val="F7FAFE"/>
              </a:solidFill>
              <a:prstDash val="solid"/>
            </a:ln>
            <a:effectLst>
              <a:outerShdw blurRad="88900" dist="12700" dir="5400000" algn="bl" rotWithShape="0">
                <a:srgbClr val="000000">
                  <a:alpha val="7000"/>
                </a:srgbClr>
              </a:outerShdw>
            </a:effectLst>
          </p:spPr>
          <p:txBody>
            <a:bodyPr/>
            <a:lstStyle/>
            <a:p>
              <a:endParaRPr lang="en-IN"/>
            </a:p>
          </p:txBody>
        </p:sp>
        <p:sp>
          <p:nvSpPr>
            <p:cNvPr id="58" name="Text 25">
              <a:extLst>
                <a:ext uri="{FF2B5EF4-FFF2-40B4-BE49-F238E27FC236}">
                  <a16:creationId xmlns:a16="http://schemas.microsoft.com/office/drawing/2014/main" id="{F49BED26-BA57-D2BB-7337-65199473B60A}"/>
                </a:ext>
              </a:extLst>
            </p:cNvPr>
            <p:cNvSpPr txBox="1"/>
            <p:nvPr/>
          </p:nvSpPr>
          <p:spPr>
            <a:xfrm>
              <a:off x="740664" y="5541264"/>
              <a:ext cx="2286000" cy="320040"/>
            </a:xfrm>
            <a:prstGeom prst="rect">
              <a:avLst/>
            </a:prstGeom>
            <a:noFill/>
            <a:ln/>
          </p:spPr>
          <p:txBody>
            <a:bodyPr wrap="square" lIns="0" tIns="0" rIns="0" bIns="0" rtlCol="0" anchor="t"/>
            <a:lstStyle/>
            <a:p>
              <a:pPr marL="0" indent="0" algn="l">
                <a:lnSpc>
                  <a:spcPct val="112000"/>
                </a:lnSpc>
                <a:buNone/>
              </a:pPr>
              <a:r>
                <a:rPr lang="en-US" sz="1000" b="1" dirty="0">
                  <a:solidFill>
                    <a:srgbClr val="001D5F"/>
                  </a:solidFill>
                  <a:latin typeface="Calibri" pitchFamily="34" charset="0"/>
                  <a:ea typeface="Calibri" pitchFamily="34" charset="-122"/>
                  <a:cs typeface="Calibri" pitchFamily="34" charset="-120"/>
                </a:rPr>
                <a:t>Coexistence &amp; authentication</a:t>
              </a:r>
              <a:endParaRPr lang="en-US" sz="1000" dirty="0"/>
            </a:p>
          </p:txBody>
        </p:sp>
        <p:sp>
          <p:nvSpPr>
            <p:cNvPr id="59" name="Text 26">
              <a:extLst>
                <a:ext uri="{FF2B5EF4-FFF2-40B4-BE49-F238E27FC236}">
                  <a16:creationId xmlns:a16="http://schemas.microsoft.com/office/drawing/2014/main" id="{D22A9EA1-E593-5CDA-CABA-2F4956C583B4}"/>
                </a:ext>
              </a:extLst>
            </p:cNvPr>
            <p:cNvSpPr txBox="1"/>
            <p:nvPr/>
          </p:nvSpPr>
          <p:spPr>
            <a:xfrm>
              <a:off x="3154680" y="5541264"/>
              <a:ext cx="3063240" cy="502920"/>
            </a:xfrm>
            <a:prstGeom prst="rect">
              <a:avLst/>
            </a:prstGeom>
            <a:noFill/>
            <a:ln/>
          </p:spPr>
          <p:txBody>
            <a:bodyPr wrap="square" lIns="0" tIns="0" rIns="0" bIns="0" rtlCol="0" anchor="t"/>
            <a:lstStyle/>
            <a:p>
              <a:pPr marL="0" indent="0" algn="l">
                <a:lnSpc>
                  <a:spcPct val="95000"/>
                </a:lnSpc>
                <a:buNone/>
              </a:pPr>
              <a:r>
                <a:rPr lang="en-US" sz="1000" b="1" dirty="0">
                  <a:solidFill>
                    <a:srgbClr val="0C3EB1"/>
                  </a:solidFill>
                  <a:latin typeface="Calibri" pitchFamily="34" charset="0"/>
                  <a:ea typeface="Calibri" pitchFamily="34" charset="-122"/>
                  <a:cs typeface="Calibri" pitchFamily="34" charset="-120"/>
                </a:rPr>
                <a:t>Native interop, federation and SMTP relay</a:t>
              </a:r>
              <a:endParaRPr lang="en-US" sz="1000" dirty="0"/>
            </a:p>
          </p:txBody>
        </p:sp>
        <p:sp>
          <p:nvSpPr>
            <p:cNvPr id="60" name="Text 27">
              <a:extLst>
                <a:ext uri="{FF2B5EF4-FFF2-40B4-BE49-F238E27FC236}">
                  <a16:creationId xmlns:a16="http://schemas.microsoft.com/office/drawing/2014/main" id="{04206E8D-289E-E918-B90B-C9ABB1566F83}"/>
                </a:ext>
              </a:extLst>
            </p:cNvPr>
            <p:cNvSpPr txBox="1"/>
            <p:nvPr/>
          </p:nvSpPr>
          <p:spPr>
            <a:xfrm>
              <a:off x="6355080" y="5541264"/>
              <a:ext cx="4754880" cy="502920"/>
            </a:xfrm>
            <a:prstGeom prst="rect">
              <a:avLst/>
            </a:prstGeom>
            <a:noFill/>
            <a:ln/>
          </p:spPr>
          <p:txBody>
            <a:bodyPr wrap="square" lIns="0" tIns="0" rIns="0" bIns="0" rtlCol="0" anchor="t"/>
            <a:lstStyle/>
            <a:p>
              <a:pPr marL="0" indent="0" algn="l">
                <a:lnSpc>
                  <a:spcPct val="108000"/>
                </a:lnSpc>
                <a:buNone/>
              </a:pPr>
              <a:r>
                <a:rPr lang="en-US" sz="860" dirty="0">
                  <a:solidFill>
                    <a:srgbClr val="5D6B8C"/>
                  </a:solidFill>
                  <a:latin typeface="Calibri" pitchFamily="34" charset="0"/>
                  <a:ea typeface="Calibri" pitchFamily="34" charset="-122"/>
                  <a:cs typeface="Calibri" pitchFamily="34" charset="-120"/>
                </a:rPr>
                <a:t>Native capability wherever it exists; a specialist coexistence tool only if directory complexity demands it.</a:t>
              </a:r>
              <a:endParaRPr lang="en-US" sz="860" dirty="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B004B-D360-4D4E-C2F1-4431DAB6808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0ECB72-D239-DDA2-586E-5ABA851A5CC2}"/>
              </a:ext>
            </a:extLst>
          </p:cNvPr>
          <p:cNvGrpSpPr/>
          <p:nvPr/>
        </p:nvGrpSpPr>
        <p:grpSpPr>
          <a:xfrm>
            <a:off x="10142683" y="5566065"/>
            <a:ext cx="229316" cy="229316"/>
            <a:chOff x="0" y="0"/>
            <a:chExt cx="812800" cy="812800"/>
          </a:xfrm>
        </p:grpSpPr>
        <p:sp>
          <p:nvSpPr>
            <p:cNvPr id="3" name="Freeform 3">
              <a:extLst>
                <a:ext uri="{FF2B5EF4-FFF2-40B4-BE49-F238E27FC236}">
                  <a16:creationId xmlns:a16="http://schemas.microsoft.com/office/drawing/2014/main" id="{34BAD85C-D54B-BCD0-AEB8-730A3D46A22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 name="TextBox 4">
              <a:extLst>
                <a:ext uri="{FF2B5EF4-FFF2-40B4-BE49-F238E27FC236}">
                  <a16:creationId xmlns:a16="http://schemas.microsoft.com/office/drawing/2014/main" id="{62D821FA-1604-C2C8-BFBB-AFA785AA5DB0}"/>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5" name="Group 5">
            <a:extLst>
              <a:ext uri="{FF2B5EF4-FFF2-40B4-BE49-F238E27FC236}">
                <a16:creationId xmlns:a16="http://schemas.microsoft.com/office/drawing/2014/main" id="{49B5B2FB-FCB6-F019-76B7-5FBDD4C0854A}"/>
              </a:ext>
            </a:extLst>
          </p:cNvPr>
          <p:cNvGrpSpPr/>
          <p:nvPr/>
        </p:nvGrpSpPr>
        <p:grpSpPr>
          <a:xfrm>
            <a:off x="10396683" y="5566065"/>
            <a:ext cx="229316" cy="229316"/>
            <a:chOff x="0" y="0"/>
            <a:chExt cx="812800" cy="812800"/>
          </a:xfrm>
        </p:grpSpPr>
        <p:sp>
          <p:nvSpPr>
            <p:cNvPr id="6" name="Freeform 6">
              <a:extLst>
                <a:ext uri="{FF2B5EF4-FFF2-40B4-BE49-F238E27FC236}">
                  <a16:creationId xmlns:a16="http://schemas.microsoft.com/office/drawing/2014/main" id="{A43C0766-DF55-D15A-510C-10E561996C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7" name="TextBox 7">
              <a:extLst>
                <a:ext uri="{FF2B5EF4-FFF2-40B4-BE49-F238E27FC236}">
                  <a16:creationId xmlns:a16="http://schemas.microsoft.com/office/drawing/2014/main" id="{4265E0BD-B0A0-1833-5F51-9E3B43F47E9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8" name="Group 8">
            <a:extLst>
              <a:ext uri="{FF2B5EF4-FFF2-40B4-BE49-F238E27FC236}">
                <a16:creationId xmlns:a16="http://schemas.microsoft.com/office/drawing/2014/main" id="{3D65F5CB-CF35-304D-B9B2-454B7B7C4FC1}"/>
              </a:ext>
            </a:extLst>
          </p:cNvPr>
          <p:cNvGrpSpPr/>
          <p:nvPr/>
        </p:nvGrpSpPr>
        <p:grpSpPr>
          <a:xfrm>
            <a:off x="10650683" y="5566065"/>
            <a:ext cx="229316" cy="229316"/>
            <a:chOff x="0" y="0"/>
            <a:chExt cx="812800" cy="812800"/>
          </a:xfrm>
        </p:grpSpPr>
        <p:sp>
          <p:nvSpPr>
            <p:cNvPr id="9" name="Freeform 9">
              <a:extLst>
                <a:ext uri="{FF2B5EF4-FFF2-40B4-BE49-F238E27FC236}">
                  <a16:creationId xmlns:a16="http://schemas.microsoft.com/office/drawing/2014/main" id="{8E9A1332-8654-1BC6-80B3-0FD93D32CD0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10" name="TextBox 10">
              <a:extLst>
                <a:ext uri="{FF2B5EF4-FFF2-40B4-BE49-F238E27FC236}">
                  <a16:creationId xmlns:a16="http://schemas.microsoft.com/office/drawing/2014/main" id="{E0E90B3C-5189-0B79-7767-3E732A3C126B}"/>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17" name="Group 17">
            <a:extLst>
              <a:ext uri="{FF2B5EF4-FFF2-40B4-BE49-F238E27FC236}">
                <a16:creationId xmlns:a16="http://schemas.microsoft.com/office/drawing/2014/main" id="{FF677C55-8A8B-1320-06AD-BDE968B018DA}"/>
              </a:ext>
            </a:extLst>
          </p:cNvPr>
          <p:cNvGrpSpPr/>
          <p:nvPr/>
        </p:nvGrpSpPr>
        <p:grpSpPr>
          <a:xfrm>
            <a:off x="9099427" y="916663"/>
            <a:ext cx="1924173" cy="1991191"/>
            <a:chOff x="0" y="0"/>
            <a:chExt cx="3848347" cy="3982382"/>
          </a:xfrm>
        </p:grpSpPr>
        <p:sp>
          <p:nvSpPr>
            <p:cNvPr id="18" name="Freeform 18">
              <a:extLst>
                <a:ext uri="{FF2B5EF4-FFF2-40B4-BE49-F238E27FC236}">
                  <a16:creationId xmlns:a16="http://schemas.microsoft.com/office/drawing/2014/main" id="{5E42F76D-BD3F-27F1-D262-2A30F1F7207B}"/>
                </a:ext>
              </a:extLst>
            </p:cNvPr>
            <p:cNvSpPr/>
            <p:nvPr/>
          </p:nvSpPr>
          <p:spPr>
            <a:xfrm>
              <a:off x="0" y="0"/>
              <a:ext cx="3848347" cy="3245137"/>
            </a:xfrm>
            <a:custGeom>
              <a:avLst/>
              <a:gdLst/>
              <a:ahLst/>
              <a:cxnLst/>
              <a:rect l="l" t="t" r="r" b="b"/>
              <a:pathLst>
                <a:path w="3848347" h="3245137">
                  <a:moveTo>
                    <a:pt x="0" y="0"/>
                  </a:moveTo>
                  <a:lnTo>
                    <a:pt x="3848347" y="0"/>
                  </a:lnTo>
                  <a:lnTo>
                    <a:pt x="3848347" y="3245137"/>
                  </a:lnTo>
                  <a:lnTo>
                    <a:pt x="0" y="3245137"/>
                  </a:lnTo>
                  <a:lnTo>
                    <a:pt x="0" y="0"/>
                  </a:lnTo>
                  <a:close/>
                </a:path>
              </a:pathLst>
            </a:custGeom>
            <a:blipFill>
              <a:blip r:embed="rId2"/>
              <a:stretch>
                <a:fillRect t="-47826" b="-108579"/>
              </a:stretch>
            </a:blipFill>
          </p:spPr>
          <p:txBody>
            <a:bodyPr/>
            <a:lstStyle/>
            <a:p>
              <a:endParaRPr lang="en-US" sz="1200"/>
            </a:p>
          </p:txBody>
        </p:sp>
        <p:sp>
          <p:nvSpPr>
            <p:cNvPr id="19" name="TextBox 19">
              <a:extLst>
                <a:ext uri="{FF2B5EF4-FFF2-40B4-BE49-F238E27FC236}">
                  <a16:creationId xmlns:a16="http://schemas.microsoft.com/office/drawing/2014/main" id="{ED903C24-B942-2D58-2C8B-74D7E4A8473C}"/>
                </a:ext>
              </a:extLst>
            </p:cNvPr>
            <p:cNvSpPr txBox="1"/>
            <p:nvPr/>
          </p:nvSpPr>
          <p:spPr>
            <a:xfrm>
              <a:off x="150790" y="3311812"/>
              <a:ext cx="3697557" cy="670570"/>
            </a:xfrm>
            <a:prstGeom prst="rect">
              <a:avLst/>
            </a:prstGeom>
          </p:spPr>
          <p:txBody>
            <a:bodyPr lIns="0" tIns="0" rIns="0" bIns="0" rtlCol="0" anchor="t">
              <a:spAutoFit/>
            </a:bodyPr>
            <a:lstStyle/>
            <a:p>
              <a:pPr>
                <a:lnSpc>
                  <a:spcPts val="2598"/>
                </a:lnSpc>
              </a:pPr>
              <a:r>
                <a:rPr lang="en-US" sz="2919" spc="-169" dirty="0">
                  <a:solidFill>
                    <a:srgbClr val="090A3C"/>
                  </a:solidFill>
                  <a:latin typeface="Codec Pro"/>
                  <a:ea typeface="Codec Pro"/>
                  <a:cs typeface="Codec Pro"/>
                  <a:sym typeface="Codec Pro"/>
                </a:rPr>
                <a:t>virtuous</a:t>
              </a:r>
              <a:r>
                <a:rPr lang="en-US" sz="2919" spc="-169" dirty="0">
                  <a:solidFill>
                    <a:srgbClr val="0053EB"/>
                  </a:solidFill>
                  <a:latin typeface="Codec Pro"/>
                  <a:ea typeface="Codec Pro"/>
                  <a:cs typeface="Codec Pro"/>
                  <a:sym typeface="Codec Pro"/>
                </a:rPr>
                <a:t>info</a:t>
              </a:r>
            </a:p>
          </p:txBody>
        </p:sp>
      </p:grpSp>
      <p:sp>
        <p:nvSpPr>
          <p:cNvPr id="13" name="TextBox 19">
            <a:extLst>
              <a:ext uri="{FF2B5EF4-FFF2-40B4-BE49-F238E27FC236}">
                <a16:creationId xmlns:a16="http://schemas.microsoft.com/office/drawing/2014/main" id="{168266D1-3660-EF09-8CFC-23801D2686D4}"/>
              </a:ext>
            </a:extLst>
          </p:cNvPr>
          <p:cNvSpPr txBox="1"/>
          <p:nvPr/>
        </p:nvSpPr>
        <p:spPr>
          <a:xfrm>
            <a:off x="758537" y="5254067"/>
            <a:ext cx="10001216" cy="677365"/>
          </a:xfrm>
          <a:prstGeom prst="rect">
            <a:avLst/>
          </a:prstGeom>
        </p:spPr>
        <p:txBody>
          <a:bodyPr wrap="square" lIns="0" tIns="0" rIns="0" bIns="0" rtlCol="0" anchor="t">
            <a:spAutoFit/>
          </a:bodyPr>
          <a:lstStyle/>
          <a:p>
            <a:pPr algn="just">
              <a:lnSpc>
                <a:spcPts val="1680"/>
              </a:lnSpc>
              <a:spcBef>
                <a:spcPct val="0"/>
              </a:spcBef>
            </a:pPr>
            <a:r>
              <a:rPr lang="en-US" sz="1600" b="1" dirty="0">
                <a:solidFill>
                  <a:schemeClr val="tx2">
                    <a:lumMod val="75000"/>
                  </a:schemeClr>
                </a:solidFill>
                <a:latin typeface="Codec Pro" panose="020B0604020202020204" charset="0"/>
                <a:sym typeface="Codec Pro"/>
              </a:rPr>
              <a:t>Turning Business Challenges into</a:t>
            </a:r>
          </a:p>
          <a:p>
            <a:pPr algn="just">
              <a:lnSpc>
                <a:spcPts val="1680"/>
              </a:lnSpc>
              <a:spcBef>
                <a:spcPct val="0"/>
              </a:spcBef>
            </a:pPr>
            <a:endParaRPr lang="en-US" sz="1600" b="1" dirty="0">
              <a:solidFill>
                <a:srgbClr val="0066FF"/>
              </a:solidFill>
              <a:latin typeface="Codec Pro" panose="020B0604020202020204" charset="0"/>
              <a:sym typeface="Codec Pro"/>
            </a:endParaRPr>
          </a:p>
          <a:p>
            <a:pPr algn="just">
              <a:lnSpc>
                <a:spcPts val="1680"/>
              </a:lnSpc>
              <a:spcBef>
                <a:spcPct val="0"/>
              </a:spcBef>
            </a:pPr>
            <a:r>
              <a:rPr lang="en-US" sz="1600" b="1" dirty="0">
                <a:solidFill>
                  <a:srgbClr val="0066FF"/>
                </a:solidFill>
                <a:latin typeface="Codec Pro" panose="020B0604020202020204" charset="0"/>
                <a:sym typeface="Codec Pro"/>
              </a:rPr>
              <a:t>Intelligent Solutions</a:t>
            </a:r>
          </a:p>
        </p:txBody>
      </p:sp>
      <p:sp>
        <p:nvSpPr>
          <p:cNvPr id="11" name="AutoShape 2">
            <a:extLst>
              <a:ext uri="{FF2B5EF4-FFF2-40B4-BE49-F238E27FC236}">
                <a16:creationId xmlns:a16="http://schemas.microsoft.com/office/drawing/2014/main" id="{BB6CC2DD-3958-310B-6C0C-EDC3E22CFA6D}"/>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EB53B118-AC1E-8669-F615-5A858A4F4BD4}"/>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321DAA3D-BEC8-3AFA-A65E-2DCA6CCE4482}"/>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0" name="Text 2">
            <a:extLst>
              <a:ext uri="{FF2B5EF4-FFF2-40B4-BE49-F238E27FC236}">
                <a16:creationId xmlns:a16="http://schemas.microsoft.com/office/drawing/2014/main" id="{9C477550-F52B-A818-D7D3-47B7982CB44C}"/>
              </a:ext>
            </a:extLst>
          </p:cNvPr>
          <p:cNvSpPr txBox="1"/>
          <p:nvPr/>
        </p:nvSpPr>
        <p:spPr>
          <a:xfrm>
            <a:off x="638003" y="1785157"/>
            <a:ext cx="1828800" cy="914400"/>
          </a:xfrm>
          <a:prstGeom prst="rect">
            <a:avLst/>
          </a:prstGeom>
          <a:noFill/>
          <a:ln/>
        </p:spPr>
        <p:txBody>
          <a:bodyPr wrap="square" lIns="0" tIns="0" rIns="0" bIns="0" rtlCol="0" anchor="ctr"/>
          <a:lstStyle/>
          <a:p>
            <a:pPr marL="0" indent="0">
              <a:buNone/>
            </a:pPr>
            <a:r>
              <a:rPr lang="en-US" sz="5000" b="1" dirty="0">
                <a:solidFill>
                  <a:srgbClr val="0066FF"/>
                </a:solidFill>
                <a:latin typeface="Codec Pro" panose="020B0604020202020204" charset="0"/>
                <a:ea typeface="Calibri" pitchFamily="34" charset="-122"/>
                <a:cs typeface="Calibri" pitchFamily="34" charset="-120"/>
              </a:rPr>
              <a:t>04</a:t>
            </a:r>
            <a:endParaRPr lang="en-US" sz="5000" dirty="0">
              <a:solidFill>
                <a:srgbClr val="0066FF"/>
              </a:solidFill>
              <a:latin typeface="Codec Pro" panose="020B0604020202020204" charset="0"/>
            </a:endParaRPr>
          </a:p>
        </p:txBody>
      </p:sp>
      <p:sp>
        <p:nvSpPr>
          <p:cNvPr id="23" name="Text 3">
            <a:extLst>
              <a:ext uri="{FF2B5EF4-FFF2-40B4-BE49-F238E27FC236}">
                <a16:creationId xmlns:a16="http://schemas.microsoft.com/office/drawing/2014/main" id="{640BE219-2DAD-3893-94B0-5B8F3F821D75}"/>
              </a:ext>
            </a:extLst>
          </p:cNvPr>
          <p:cNvSpPr txBox="1"/>
          <p:nvPr/>
        </p:nvSpPr>
        <p:spPr>
          <a:xfrm>
            <a:off x="638003" y="2726574"/>
            <a:ext cx="7772400" cy="731520"/>
          </a:xfrm>
          <a:prstGeom prst="rect">
            <a:avLst/>
          </a:prstGeom>
          <a:noFill/>
          <a:ln/>
        </p:spPr>
        <p:txBody>
          <a:bodyPr wrap="square" lIns="0" tIns="0" rIns="0" bIns="0" rtlCol="0" anchor="ctr"/>
          <a:lstStyle/>
          <a:p>
            <a:pPr marL="0" indent="0">
              <a:buNone/>
            </a:pPr>
            <a:r>
              <a:rPr lang="en-US" sz="3400" b="1" dirty="0">
                <a:solidFill>
                  <a:srgbClr val="002060"/>
                </a:solidFill>
                <a:latin typeface="Codec Pro" panose="020B0604020202020204" charset="0"/>
                <a:ea typeface="Calibri" pitchFamily="34" charset="-122"/>
                <a:cs typeface="Calibri" pitchFamily="34" charset="-120"/>
              </a:rPr>
              <a:t>Delivery, risk and disclosure</a:t>
            </a:r>
          </a:p>
        </p:txBody>
      </p:sp>
      <p:sp>
        <p:nvSpPr>
          <p:cNvPr id="25" name="Text 4">
            <a:extLst>
              <a:ext uri="{FF2B5EF4-FFF2-40B4-BE49-F238E27FC236}">
                <a16:creationId xmlns:a16="http://schemas.microsoft.com/office/drawing/2014/main" id="{495A6D8D-A018-BD87-C864-5184A24E6D66}"/>
              </a:ext>
            </a:extLst>
          </p:cNvPr>
          <p:cNvSpPr txBox="1"/>
          <p:nvPr/>
        </p:nvSpPr>
        <p:spPr>
          <a:xfrm>
            <a:off x="683723" y="3876640"/>
            <a:ext cx="8096596" cy="822960"/>
          </a:xfrm>
          <a:prstGeom prst="rect">
            <a:avLst/>
          </a:prstGeom>
          <a:noFill/>
          <a:ln/>
        </p:spPr>
        <p:txBody>
          <a:bodyPr wrap="square" lIns="0" tIns="0" rIns="0" bIns="0" rtlCol="0" anchor="t"/>
          <a:lstStyle/>
          <a:p>
            <a:pPr marL="0" indent="0" algn="l">
              <a:lnSpc>
                <a:spcPct val="130000"/>
              </a:lnSpc>
              <a:buNone/>
            </a:pPr>
            <a:r>
              <a:rPr lang="en-GB" sz="1400" dirty="0">
                <a:solidFill>
                  <a:srgbClr val="002060"/>
                </a:solidFill>
                <a:latin typeface="Codec Pro" panose="020B0604020202020204" charset="0"/>
                <a:ea typeface="Calibri" pitchFamily="34" charset="-122"/>
                <a:cs typeface="Calibri" pitchFamily="34" charset="-120"/>
              </a:rPr>
              <a:t>What could go wrong and how we close it, what every application becomes,</a:t>
            </a:r>
          </a:p>
          <a:p>
            <a:pPr marL="0" indent="0" algn="l">
              <a:lnSpc>
                <a:spcPct val="130000"/>
              </a:lnSpc>
              <a:buNone/>
            </a:pPr>
            <a:r>
              <a:rPr lang="en-GB" sz="1400" dirty="0">
                <a:solidFill>
                  <a:srgbClr val="002060"/>
                </a:solidFill>
                <a:latin typeface="Codec Pro" panose="020B0604020202020204" charset="0"/>
                <a:ea typeface="Calibri" pitchFamily="34" charset="-122"/>
                <a:cs typeface="Calibri" pitchFamily="34" charset="-120"/>
              </a:rPr>
              <a:t>what will not migrate at all, and how we train people through the change.</a:t>
            </a:r>
          </a:p>
        </p:txBody>
      </p:sp>
    </p:spTree>
    <p:extLst>
      <p:ext uri="{BB962C8B-B14F-4D97-AF65-F5344CB8AC3E}">
        <p14:creationId xmlns:p14="http://schemas.microsoft.com/office/powerpoint/2010/main" val="3936049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RISK REGISTER</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The risks that actually materialise, and how we close them</a:t>
            </a:r>
            <a:endParaRPr lang="en-US" sz="2800" dirty="0"/>
          </a:p>
        </p:txBody>
      </p:sp>
      <p:sp>
        <p:nvSpPr>
          <p:cNvPr id="7" name="Text 3"/>
          <p:cNvSpPr txBox="1"/>
          <p:nvPr/>
        </p:nvSpPr>
        <p:spPr>
          <a:xfrm>
            <a:off x="502920" y="6144766"/>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Risks are owned, dated and reviewed weekly at the programme board. Ratings are reassessed after the POC exit gate, when several become evidenced rather than assumed.</a:t>
            </a:r>
            <a:endParaRPr lang="en-US" sz="800" dirty="0"/>
          </a:p>
        </p:txBody>
      </p:sp>
      <p:sp>
        <p:nvSpPr>
          <p:cNvPr id="8" name="AutoShape 2">
            <a:extLst>
              <a:ext uri="{FF2B5EF4-FFF2-40B4-BE49-F238E27FC236}">
                <a16:creationId xmlns:a16="http://schemas.microsoft.com/office/drawing/2014/main" id="{70FF104E-2C6B-4244-92B0-E1919A47FA60}"/>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9" name="TextBox 7">
            <a:extLst>
              <a:ext uri="{FF2B5EF4-FFF2-40B4-BE49-F238E27FC236}">
                <a16:creationId xmlns:a16="http://schemas.microsoft.com/office/drawing/2014/main" id="{33E5EFA0-67CD-4DC8-823B-BE329E6677C8}"/>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0" name="TextBox 9">
            <a:extLst>
              <a:ext uri="{FF2B5EF4-FFF2-40B4-BE49-F238E27FC236}">
                <a16:creationId xmlns:a16="http://schemas.microsoft.com/office/drawing/2014/main" id="{A03B02CB-7C7A-40BF-B6A0-DA3E212F247D}"/>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1" name="TextBox 10">
            <a:extLst>
              <a:ext uri="{FF2B5EF4-FFF2-40B4-BE49-F238E27FC236}">
                <a16:creationId xmlns:a16="http://schemas.microsoft.com/office/drawing/2014/main" id="{BEEF5A64-2CD2-4434-ADE5-2ED78817D8D4}"/>
              </a:ext>
            </a:extLst>
          </p:cNvPr>
          <p:cNvSpPr txBox="1"/>
          <p:nvPr/>
        </p:nvSpPr>
        <p:spPr>
          <a:xfrm>
            <a:off x="5911269" y="6533202"/>
            <a:ext cx="287258" cy="215444"/>
          </a:xfrm>
          <a:prstGeom prst="rect">
            <a:avLst/>
          </a:prstGeom>
          <a:noFill/>
        </p:spPr>
        <p:txBody>
          <a:bodyPr wrap="none" rtlCol="0">
            <a:spAutoFit/>
          </a:bodyPr>
          <a:lstStyle/>
          <a:p>
            <a:r>
              <a:rPr lang="en-US" sz="800" dirty="0"/>
              <a:t>25</a:t>
            </a:r>
          </a:p>
        </p:txBody>
      </p:sp>
      <p:graphicFrame>
        <p:nvGraphicFramePr>
          <p:cNvPr id="6" name="Table 0">
            <a:extLst>
              <a:ext uri="{FF2B5EF4-FFF2-40B4-BE49-F238E27FC236}">
                <a16:creationId xmlns:a16="http://schemas.microsoft.com/office/drawing/2014/main" id="{3DAD0124-06D0-B8B1-2042-E3CDEB3AA4AB}"/>
              </a:ext>
            </a:extLst>
          </p:cNvPr>
          <p:cNvGraphicFramePr>
            <a:graphicFrameLocks noGrp="1"/>
          </p:cNvGraphicFramePr>
          <p:nvPr>
            <p:extLst>
              <p:ext uri="{D42A27DB-BD31-4B8C-83A1-F6EECF244321}">
                <p14:modId xmlns:p14="http://schemas.microsoft.com/office/powerpoint/2010/main" val="3652108234"/>
              </p:ext>
            </p:extLst>
          </p:nvPr>
        </p:nvGraphicFramePr>
        <p:xfrm>
          <a:off x="502920" y="1280160"/>
          <a:ext cx="10835640" cy="4754880"/>
        </p:xfrm>
        <a:graphic>
          <a:graphicData uri="http://schemas.openxmlformats.org/drawingml/2006/table">
            <a:tbl>
              <a:tblPr/>
              <a:tblGrid>
                <a:gridCol w="45720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6355080">
                  <a:extLst>
                    <a:ext uri="{9D8B030D-6E8A-4147-A177-3AD203B41FA5}">
                      <a16:colId xmlns:a16="http://schemas.microsoft.com/office/drawing/2014/main" val="20003"/>
                    </a:ext>
                  </a:extLst>
                </a:gridCol>
              </a:tblGrid>
              <a:tr h="36576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ID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Risk</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ctr">
                        <a:buNone/>
                      </a:pPr>
                      <a:r>
                        <a:rPr lang="en-US" sz="850" b="1" dirty="0">
                          <a:solidFill>
                            <a:srgbClr val="FFFFFF"/>
                          </a:solidFill>
                          <a:latin typeface="Calibri" pitchFamily="34" charset="0"/>
                          <a:ea typeface="Calibri" pitchFamily="34" charset="-122"/>
                          <a:cs typeface="Calibri" pitchFamily="34" charset="-120"/>
                        </a:rPr>
                        <a:t>Rating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Mitigation and control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Litigation-held mailboxes decommissioned before disposition is agreed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Hold inventory captured in discovery; held mailboxes excluded from the wave cadence; written legal sign-off is a gate condition for source decommission</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R2</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Replies to migrated internal mail bounce (X500 / legacyExchangeDN)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Proxy address and X500 mapping designed up front and explicitly tested as POC test T1 before the first wave</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R3</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Relay devices and integrations stop sending after the routing change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Relay sources discovered from message-trace analysis; each is re-pointed and synthetic-tested at the routing change, with the legacy path retained until confirmed</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R4</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Executive and assistant delegation broken at cutover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Delegation map baselined in discovery; assistants test personally in the POC; the executive cohort is scheduled with dedicated support</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R5</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SharePoint libraries exceed shared-drive ceilings mid-wave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Item-count report in discovery; libraries above 500,000 items or 100 nesting levels are re-designed and split before migration, not during</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R6</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Throughput below plan due to tenant throttling</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Throughput measured on the real tenant during the POC; wave sizing derived from measurement; advanced import dedicated quota reduces contention</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R7</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File permission drift between pre-stage and cutover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Delta pass includes ACL re-evaluation; reconciliation 2 runs post-cutover and pre-logon; exception list owner-notified same day</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R8</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Purview sensitivity labels lost, leaving data unprotected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Label-to-DLP mapping designed up front; Workspace DLP and client-side encryption in place before the first file lands</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R9</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Adoption resistance in power-user populations (Excel, Access, Visio)</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Identified in discovery; a retained-application or replacement decision made per application; not treated as a training problem</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R10</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Application re-federation incomplete at the identity provider change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B339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Every SAML and OIDC application inventoried in discovery with a named owner and test script; re-federation is release 2, gated on 100% of applications tested in a pilot tenant first</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0"/>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R11</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Endpoints stranded by certificate, VPN or Wi-Fi dependencies during re-management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lgn="ctr">
                        <a:buNone/>
                      </a:pPr>
                      <a:r>
                        <a:rPr lang="en-US" sz="850" b="1" dirty="0">
                          <a:solidFill>
                            <a:srgbClr val="0C3EB1"/>
                          </a:solidFill>
                          <a:latin typeface="Calibri" pitchFamily="34" charset="0"/>
                          <a:ea typeface="Calibri" pitchFamily="34" charset="-122"/>
                          <a:cs typeface="Calibri" pitchFamily="34" charset="-120"/>
                        </a:rPr>
                        <a:t>Medium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Profile dependency map produced before any device is re-enrolled; re-issuance sequenced ahead of management transfer; a rollback image held per device class</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65760">
                <a:tc>
                  <a:txBody>
                    <a:bodyPr/>
                    <a:lstStyle/>
                    <a:p>
                      <a:pPr marL="0" indent="0">
                        <a:buNone/>
                      </a:pPr>
                      <a:r>
                        <a:rPr lang="en-US" sz="850" b="1" dirty="0">
                          <a:solidFill>
                            <a:srgbClr val="001D5F"/>
                          </a:solidFill>
                          <a:latin typeface="Calibri" pitchFamily="34" charset="0"/>
                          <a:ea typeface="Calibri" pitchFamily="34" charset="-122"/>
                          <a:cs typeface="Calibri" pitchFamily="34" charset="-120"/>
                        </a:rPr>
                        <a:t>R12</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Wave slippage compounding into the hypercare window</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lgn="ctr">
                        <a:buNone/>
                      </a:pPr>
                      <a:r>
                        <a:rPr lang="en-US" sz="850" b="1" dirty="0">
                          <a:solidFill>
                            <a:srgbClr val="0053EB"/>
                          </a:solidFill>
                          <a:latin typeface="Calibri" pitchFamily="34" charset="0"/>
                          <a:ea typeface="Calibri" pitchFamily="34" charset="-122"/>
                          <a:cs typeface="Calibri" pitchFamily="34" charset="-120"/>
                        </a:rPr>
                        <a:t>Low</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20" dirty="0">
                          <a:solidFill>
                            <a:srgbClr val="5D6B8C"/>
                          </a:solidFill>
                          <a:latin typeface="Calibri" pitchFamily="34" charset="0"/>
                          <a:ea typeface="Calibri" pitchFamily="34" charset="-122"/>
                          <a:cs typeface="Calibri" pitchFamily="34" charset="-120"/>
                        </a:rPr>
                        <a:t>The final wave is deliberately reserved for deferrals; contingency is held inside the agreed plan rather than assumed away</a:t>
                      </a:r>
                      <a:endParaRPr lang="en-US" sz="82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4B3C2-447F-2D15-E4B6-B99AD119DD73}"/>
            </a:ext>
          </a:extLst>
        </p:cNvPr>
        <p:cNvGrpSpPr/>
        <p:nvPr/>
      </p:nvGrpSpPr>
      <p:grpSpPr>
        <a:xfrm>
          <a:off x="0" y="0"/>
          <a:ext cx="0" cy="0"/>
          <a:chOff x="0" y="0"/>
          <a:chExt cx="0" cy="0"/>
        </a:xfrm>
      </p:grpSpPr>
      <p:pic>
        <p:nvPicPr>
          <p:cNvPr id="2" name="Image 0" descr="logo_icon.png">
            <a:extLst>
              <a:ext uri="{FF2B5EF4-FFF2-40B4-BE49-F238E27FC236}">
                <a16:creationId xmlns:a16="http://schemas.microsoft.com/office/drawing/2014/main" id="{4A5E02D6-206C-05E7-37DF-886D3964A043}"/>
              </a:ext>
            </a:extLst>
          </p:cNvPr>
          <p:cNvPicPr>
            <a:picLocks noChangeAspect="1"/>
          </p:cNvPicPr>
          <p:nvPr/>
        </p:nvPicPr>
        <p:blipFill>
          <a:blip r:embed="rId3"/>
          <a:stretch>
            <a:fillRect/>
          </a:stretch>
        </p:blipFill>
        <p:spPr>
          <a:xfrm>
            <a:off x="11301984" y="292608"/>
            <a:ext cx="512064" cy="407822"/>
          </a:xfrm>
          <a:prstGeom prst="rect">
            <a:avLst/>
          </a:prstGeom>
        </p:spPr>
      </p:pic>
      <p:sp>
        <p:nvSpPr>
          <p:cNvPr id="4" name="Text 1">
            <a:extLst>
              <a:ext uri="{FF2B5EF4-FFF2-40B4-BE49-F238E27FC236}">
                <a16:creationId xmlns:a16="http://schemas.microsoft.com/office/drawing/2014/main" id="{18F6E81C-3E12-309D-72A6-3E858AD69111}"/>
              </a:ext>
            </a:extLst>
          </p:cNvPr>
          <p:cNvSpPr txBox="1"/>
          <p:nvPr/>
        </p:nvSpPr>
        <p:spPr>
          <a:xfrm>
            <a:off x="502920" y="329184"/>
            <a:ext cx="10515600" cy="219456"/>
          </a:xfrm>
          <a:prstGeom prst="rect">
            <a:avLst/>
          </a:prstGeom>
          <a:noFill/>
          <a:ln/>
        </p:spPr>
        <p:txBody>
          <a:bodyPr wrap="square" lIns="0" tIns="0" rIns="0" bIns="0" rtlCol="0" anchor="ctr"/>
          <a:lstStyle/>
          <a:p>
            <a:r>
              <a:rPr lang="en-US" sz="950" b="1" kern="0" spc="200" dirty="0">
                <a:solidFill>
                  <a:srgbClr val="0053EB"/>
                </a:solidFill>
                <a:latin typeface="Calibri" pitchFamily="34" charset="0"/>
                <a:ea typeface="Calibri" pitchFamily="34" charset="-122"/>
                <a:cs typeface="Calibri" pitchFamily="34" charset="-120"/>
              </a:rPr>
              <a:t>APPLICATION MAPPING</a:t>
            </a:r>
            <a:endParaRPr lang="en-US" sz="950" dirty="0"/>
          </a:p>
        </p:txBody>
      </p:sp>
      <p:sp>
        <p:nvSpPr>
          <p:cNvPr id="5" name="Text 2">
            <a:extLst>
              <a:ext uri="{FF2B5EF4-FFF2-40B4-BE49-F238E27FC236}">
                <a16:creationId xmlns:a16="http://schemas.microsoft.com/office/drawing/2014/main" id="{FCF9CAD6-1ED7-0CB5-39A9-363DBA72F1D9}"/>
              </a:ext>
            </a:extLst>
          </p:cNvPr>
          <p:cNvSpPr txBox="1"/>
          <p:nvPr/>
        </p:nvSpPr>
        <p:spPr>
          <a:xfrm>
            <a:off x="502920" y="566928"/>
            <a:ext cx="10515600" cy="566928"/>
          </a:xfrm>
          <a:prstGeom prst="rect">
            <a:avLst/>
          </a:prstGeom>
          <a:noFill/>
          <a:ln/>
        </p:spPr>
        <p:txBody>
          <a:bodyPr wrap="square" lIns="0" tIns="0" rIns="0" bIns="0" rtlCol="0" anchor="ctr"/>
          <a:lstStyle/>
          <a:p>
            <a:r>
              <a:rPr lang="en-US" sz="2800" b="1" dirty="0">
                <a:solidFill>
                  <a:srgbClr val="001D5F"/>
                </a:solidFill>
                <a:latin typeface="Calibri" pitchFamily="34" charset="0"/>
                <a:ea typeface="Calibri" pitchFamily="34" charset="-122"/>
                <a:cs typeface="Calibri" pitchFamily="34" charset="-120"/>
              </a:rPr>
              <a:t>What each Microsoft application becomes, and what changes</a:t>
            </a:r>
            <a:endParaRPr lang="en-US" sz="2800" dirty="0"/>
          </a:p>
        </p:txBody>
      </p:sp>
      <p:sp>
        <p:nvSpPr>
          <p:cNvPr id="8" name="AutoShape 2">
            <a:extLst>
              <a:ext uri="{FF2B5EF4-FFF2-40B4-BE49-F238E27FC236}">
                <a16:creationId xmlns:a16="http://schemas.microsoft.com/office/drawing/2014/main" id="{90CBFDCB-8842-9AA0-6C8B-B69173B95205}"/>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9" name="TextBox 7">
            <a:extLst>
              <a:ext uri="{FF2B5EF4-FFF2-40B4-BE49-F238E27FC236}">
                <a16:creationId xmlns:a16="http://schemas.microsoft.com/office/drawing/2014/main" id="{556BCF47-EE35-B595-90A8-E1BE1204C346}"/>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0" name="TextBox 9">
            <a:extLst>
              <a:ext uri="{FF2B5EF4-FFF2-40B4-BE49-F238E27FC236}">
                <a16:creationId xmlns:a16="http://schemas.microsoft.com/office/drawing/2014/main" id="{DE102588-62C3-6598-60A6-C883D53C93D5}"/>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1" name="TextBox 10">
            <a:extLst>
              <a:ext uri="{FF2B5EF4-FFF2-40B4-BE49-F238E27FC236}">
                <a16:creationId xmlns:a16="http://schemas.microsoft.com/office/drawing/2014/main" id="{10607A7A-A2BD-B399-C95B-531E16317373}"/>
              </a:ext>
            </a:extLst>
          </p:cNvPr>
          <p:cNvSpPr txBox="1"/>
          <p:nvPr/>
        </p:nvSpPr>
        <p:spPr>
          <a:xfrm>
            <a:off x="5911269" y="6533202"/>
            <a:ext cx="287258" cy="215444"/>
          </a:xfrm>
          <a:prstGeom prst="rect">
            <a:avLst/>
          </a:prstGeom>
          <a:noFill/>
        </p:spPr>
        <p:txBody>
          <a:bodyPr wrap="none" rtlCol="0">
            <a:spAutoFit/>
          </a:bodyPr>
          <a:lstStyle/>
          <a:p>
            <a:r>
              <a:rPr lang="en-US" sz="800" dirty="0"/>
              <a:t>26</a:t>
            </a:r>
          </a:p>
        </p:txBody>
      </p:sp>
      <p:sp>
        <p:nvSpPr>
          <p:cNvPr id="12" name="Shape 3">
            <a:extLst>
              <a:ext uri="{FF2B5EF4-FFF2-40B4-BE49-F238E27FC236}">
                <a16:creationId xmlns:a16="http://schemas.microsoft.com/office/drawing/2014/main" id="{3BFE84CE-0DF1-6B0D-367B-2E0E93425950}"/>
              </a:ext>
            </a:extLst>
          </p:cNvPr>
          <p:cNvSpPr/>
          <p:nvPr/>
        </p:nvSpPr>
        <p:spPr>
          <a:xfrm>
            <a:off x="502920" y="1225296"/>
            <a:ext cx="10835640" cy="566928"/>
          </a:xfrm>
          <a:prstGeom prst="roundRect">
            <a:avLst>
              <a:gd name="adj" fmla="val 8065"/>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14" name="Text 4">
            <a:extLst>
              <a:ext uri="{FF2B5EF4-FFF2-40B4-BE49-F238E27FC236}">
                <a16:creationId xmlns:a16="http://schemas.microsoft.com/office/drawing/2014/main" id="{F0660997-2011-D338-95CA-02A911FA0ABA}"/>
              </a:ext>
            </a:extLst>
          </p:cNvPr>
          <p:cNvSpPr txBox="1"/>
          <p:nvPr/>
        </p:nvSpPr>
        <p:spPr>
          <a:xfrm>
            <a:off x="758952" y="1335024"/>
            <a:ext cx="2788920" cy="274320"/>
          </a:xfrm>
          <a:prstGeom prst="rect">
            <a:avLst/>
          </a:prstGeom>
          <a:noFill/>
          <a:ln/>
        </p:spPr>
        <p:txBody>
          <a:bodyPr wrap="square" lIns="0" tIns="0" rIns="0" bIns="0" rtlCol="0" anchor="t"/>
          <a:lstStyle/>
          <a:p>
            <a:pPr marL="0" indent="0" algn="l">
              <a:lnSpc>
                <a:spcPct val="112000"/>
              </a:lnSpc>
              <a:buNone/>
            </a:pPr>
            <a:r>
              <a:rPr lang="en-US" sz="1050" b="1" dirty="0">
                <a:solidFill>
                  <a:srgbClr val="001D5F"/>
                </a:solidFill>
                <a:latin typeface="Calibri" pitchFamily="34" charset="0"/>
                <a:ea typeface="Calibri" pitchFamily="34" charset="-122"/>
                <a:cs typeface="Calibri" pitchFamily="34" charset="-120"/>
              </a:rPr>
              <a:t>This is not a one-to-one mapping.</a:t>
            </a:r>
            <a:endParaRPr lang="en-US" sz="1050" dirty="0"/>
          </a:p>
        </p:txBody>
      </p:sp>
      <p:sp>
        <p:nvSpPr>
          <p:cNvPr id="16" name="Text 5">
            <a:extLst>
              <a:ext uri="{FF2B5EF4-FFF2-40B4-BE49-F238E27FC236}">
                <a16:creationId xmlns:a16="http://schemas.microsoft.com/office/drawing/2014/main" id="{5E18B3CA-022E-3ADD-C17A-AACCB36EC0BA}"/>
              </a:ext>
            </a:extLst>
          </p:cNvPr>
          <p:cNvSpPr txBox="1"/>
          <p:nvPr/>
        </p:nvSpPr>
        <p:spPr>
          <a:xfrm>
            <a:off x="3703320" y="1298448"/>
            <a:ext cx="7360920" cy="420624"/>
          </a:xfrm>
          <a:prstGeom prst="rect">
            <a:avLst/>
          </a:prstGeom>
          <a:noFill/>
          <a:ln/>
        </p:spPr>
        <p:txBody>
          <a:bodyPr wrap="square" lIns="0" tIns="0" rIns="0" bIns="0" rtlCol="0" anchor="t"/>
          <a:lstStyle/>
          <a:p>
            <a:pPr marL="0" indent="0" algn="l">
              <a:lnSpc>
                <a:spcPct val="110000"/>
              </a:lnSpc>
              <a:buNone/>
            </a:pPr>
            <a:r>
              <a:rPr lang="en-US" sz="920" dirty="0">
                <a:solidFill>
                  <a:srgbClr val="15203D"/>
                </a:solidFill>
                <a:latin typeface="Calibri" pitchFamily="34" charset="0"/>
                <a:ea typeface="Calibri" pitchFamily="34" charset="-122"/>
                <a:cs typeface="Calibri" pitchFamily="34" charset="-120"/>
              </a:rPr>
              <a:t>Several Microsoft applications fan out into two, three or four Workspace services - Teams becomes Chat, Spaces, Meet and Drive; SharePoint becomes shared drives and Sites; OneNote becomes Keep and Docs; the Power Platform becomes Apps Script, AppSheet and Looker Studio. That fan-out is a training, licensing and support-model decision, not a new icon.</a:t>
            </a:r>
            <a:endParaRPr lang="en-US" sz="920" dirty="0"/>
          </a:p>
        </p:txBody>
      </p:sp>
      <p:graphicFrame>
        <p:nvGraphicFramePr>
          <p:cNvPr id="18" name="Table 0">
            <a:extLst>
              <a:ext uri="{FF2B5EF4-FFF2-40B4-BE49-F238E27FC236}">
                <a16:creationId xmlns:a16="http://schemas.microsoft.com/office/drawing/2014/main" id="{5609709F-F151-C711-32C6-BB4DF160E67A}"/>
              </a:ext>
            </a:extLst>
          </p:cNvPr>
          <p:cNvGraphicFramePr>
            <a:graphicFrameLocks noGrp="1"/>
          </p:cNvGraphicFramePr>
          <p:nvPr>
            <p:extLst>
              <p:ext uri="{D42A27DB-BD31-4B8C-83A1-F6EECF244321}">
                <p14:modId xmlns:p14="http://schemas.microsoft.com/office/powerpoint/2010/main" val="3088093214"/>
              </p:ext>
            </p:extLst>
          </p:nvPr>
        </p:nvGraphicFramePr>
        <p:xfrm>
          <a:off x="502920" y="1901952"/>
          <a:ext cx="10835640" cy="4137660"/>
        </p:xfrm>
        <a:graphic>
          <a:graphicData uri="http://schemas.openxmlformats.org/drawingml/2006/table">
            <a:tbl>
              <a:tblPr/>
              <a:tblGrid>
                <a:gridCol w="219456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tblGrid>
              <a:tr h="34290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Microsoft 365</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Google Workspace equivalent(s)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What changes for the user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Where it differs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Outlook - mail, calendar, contacts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Gmail, Calendar, Contacts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Labels and search replace folders; conversation threading by default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server-side signatures; Outlook rules only partly map to Gmail filters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Word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Docs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Real-time co-authoring by default; .docx opens and saves natively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Complex layouts, mail merge and field codes behave differently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Excel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Sheets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Most formulas carry over; Apps Script replaces VBA</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VBA; a 10 million cell ceiling; heavy Power Query and PowerPivot models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PowerPoint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Slides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.pptx opens natively; commenting and co-authoring improve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Advanced animation, transitions and embedded media lose fidelity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OneDrive for Business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My Drive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Link-based sharing; Drive for Desktop replaces the OneDrive client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Version history is not carried; a different offline model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SharePoint Online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Shared drives + Google Sites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Files are owned by the drive, not by a person who may leave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Pages, lists, web parts and workflows have no equivalent object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Microsoft Teams (chat, channels, meetings)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Chat + Spaces + Meet + Drive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One Microsoft application becomes four Workspace services; files land in the mapped shared drive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Private channels, apps and tabs; history to an agreed cut-off; rooms re-provisioned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OneNote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Keep + Docs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Quick capture in Keep; structured notes as Docs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sectioned notebook model; ink and embedded objects are lossy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Planner, To Do, Project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Google Tasks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Tasks appear beside Gmail and Calendar</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Planner boards do not import; Project has no equivalent at all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9"/>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Power Automate, Power Apps, Power BI</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Apps Script + AppSheet + Looker Studio</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Automation is rebuilt rather than moved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import path - automation is rebuilt, never moved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290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Visio, Access, macro-enabled workbooks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equivalent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These users do not move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Needs an explicit per-person decision - see the limitations slides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1"/>
                  </a:ext>
                </a:extLst>
              </a:tr>
            </a:tbl>
          </a:graphicData>
        </a:graphic>
      </p:graphicFrame>
      <p:sp>
        <p:nvSpPr>
          <p:cNvPr id="20" name="Text 6">
            <a:extLst>
              <a:ext uri="{FF2B5EF4-FFF2-40B4-BE49-F238E27FC236}">
                <a16:creationId xmlns:a16="http://schemas.microsoft.com/office/drawing/2014/main" id="{C895B146-4DD9-8303-7C35-C86E593B4B92}"/>
              </a:ext>
            </a:extLst>
          </p:cNvPr>
          <p:cNvSpPr txBox="1"/>
          <p:nvPr/>
        </p:nvSpPr>
        <p:spPr>
          <a:xfrm>
            <a:off x="502920" y="6138117"/>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This slide is what users are told. The disposition for each gap - rebuild, retain, replace or accept - is set out on the two limitations slides that follow.</a:t>
            </a:r>
            <a:endParaRPr lang="en-US" sz="800" dirty="0"/>
          </a:p>
        </p:txBody>
      </p:sp>
    </p:spTree>
    <p:extLst>
      <p:ext uri="{BB962C8B-B14F-4D97-AF65-F5344CB8AC3E}">
        <p14:creationId xmlns:p14="http://schemas.microsoft.com/office/powerpoint/2010/main" val="757023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LIMITATIONS 1 OF 2</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What will not migrate: mail, calendar, contacts, tasks</a:t>
            </a:r>
            <a:endParaRPr lang="en-US" sz="2800" dirty="0"/>
          </a:p>
        </p:txBody>
      </p:sp>
      <p:sp>
        <p:nvSpPr>
          <p:cNvPr id="6" name="Text 3"/>
          <p:cNvSpPr txBox="1"/>
          <p:nvPr/>
        </p:nvSpPr>
        <p:spPr>
          <a:xfrm>
            <a:off x="502920" y="1261872"/>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These are the generic, well-documented platform boundaries that apply to every Microsoft 365 to Google Workspace migration. They are not tool defects, and no vendor removes them.</a:t>
            </a:r>
            <a:endParaRPr lang="en-US" sz="1100" dirty="0"/>
          </a:p>
        </p:txBody>
      </p:sp>
      <p:sp>
        <p:nvSpPr>
          <p:cNvPr id="7" name="Shape 4"/>
          <p:cNvSpPr/>
          <p:nvPr/>
        </p:nvSpPr>
        <p:spPr>
          <a:xfrm>
            <a:off x="502920" y="1700784"/>
            <a:ext cx="3453414" cy="2926080"/>
          </a:xfrm>
          <a:prstGeom prst="roundRect">
            <a:avLst>
              <a:gd name="adj" fmla="val 1563"/>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8" name="Text 5"/>
          <p:cNvSpPr txBox="1"/>
          <p:nvPr/>
        </p:nvSpPr>
        <p:spPr>
          <a:xfrm>
            <a:off x="740664" y="1865376"/>
            <a:ext cx="2926080" cy="292608"/>
          </a:xfrm>
          <a:prstGeom prst="rect">
            <a:avLst/>
          </a:prstGeom>
          <a:noFill/>
          <a:ln/>
        </p:spPr>
        <p:txBody>
          <a:bodyPr wrap="square" lIns="0" tIns="0" rIns="0" bIns="0" rtlCol="0" anchor="t"/>
          <a:lstStyle/>
          <a:p>
            <a:pPr marL="0" indent="0" algn="l">
              <a:lnSpc>
                <a:spcPct val="112000"/>
              </a:lnSpc>
              <a:buNone/>
            </a:pPr>
            <a:r>
              <a:rPr lang="en-US" sz="1250" b="1" dirty="0">
                <a:solidFill>
                  <a:srgbClr val="001D5F"/>
                </a:solidFill>
                <a:latin typeface="Calibri" pitchFamily="34" charset="0"/>
                <a:ea typeface="Calibri" pitchFamily="34" charset="-122"/>
                <a:cs typeface="Calibri" pitchFamily="34" charset="-120"/>
              </a:rPr>
              <a:t>Email</a:t>
            </a:r>
            <a:endParaRPr lang="en-US" sz="1250" dirty="0"/>
          </a:p>
        </p:txBody>
      </p:sp>
      <p:sp>
        <p:nvSpPr>
          <p:cNvPr id="9" name="Text 6"/>
          <p:cNvSpPr txBox="1"/>
          <p:nvPr/>
        </p:nvSpPr>
        <p:spPr>
          <a:xfrm>
            <a:off x="740664" y="2212848"/>
            <a:ext cx="3017520" cy="27432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Messages larger than 150 MB</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Outlook categories (colour categories are lost)</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Pinned, flagged and scheduled-send states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Items in the Notes folder and its subfolders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Shared folders and starred-folder status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Drafts without a From header</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Server-side signatures - no Workspace equivalent</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Outlook rules - only partially mappable to Gmail filters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Public folders - require redesign as Groups or shared drives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Recoverable Items ("dumpster") contents</a:t>
            </a:r>
            <a:endParaRPr lang="en-US" sz="840" dirty="0"/>
          </a:p>
        </p:txBody>
      </p:sp>
      <p:sp>
        <p:nvSpPr>
          <p:cNvPr id="10" name="Shape 7"/>
          <p:cNvSpPr/>
          <p:nvPr/>
        </p:nvSpPr>
        <p:spPr>
          <a:xfrm>
            <a:off x="4194078" y="1700784"/>
            <a:ext cx="3453414" cy="2926080"/>
          </a:xfrm>
          <a:prstGeom prst="roundRect">
            <a:avLst>
              <a:gd name="adj" fmla="val 1563"/>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1" name="Text 8"/>
          <p:cNvSpPr txBox="1"/>
          <p:nvPr/>
        </p:nvSpPr>
        <p:spPr>
          <a:xfrm>
            <a:off x="4431822" y="1865376"/>
            <a:ext cx="2926080" cy="292608"/>
          </a:xfrm>
          <a:prstGeom prst="rect">
            <a:avLst/>
          </a:prstGeom>
          <a:noFill/>
          <a:ln/>
        </p:spPr>
        <p:txBody>
          <a:bodyPr wrap="square" lIns="0" tIns="0" rIns="0" bIns="0" rtlCol="0" anchor="t"/>
          <a:lstStyle/>
          <a:p>
            <a:pPr marL="0" indent="0" algn="l">
              <a:lnSpc>
                <a:spcPct val="112000"/>
              </a:lnSpc>
              <a:buNone/>
            </a:pPr>
            <a:r>
              <a:rPr lang="en-US" sz="1250" b="1" dirty="0">
                <a:solidFill>
                  <a:srgbClr val="001D5F"/>
                </a:solidFill>
                <a:latin typeface="Calibri" pitchFamily="34" charset="0"/>
                <a:ea typeface="Calibri" pitchFamily="34" charset="-122"/>
                <a:cs typeface="Calibri" pitchFamily="34" charset="-120"/>
              </a:rPr>
              <a:t>Calendar</a:t>
            </a:r>
            <a:endParaRPr lang="en-US" sz="1250" dirty="0"/>
          </a:p>
        </p:txBody>
      </p:sp>
      <p:sp>
        <p:nvSpPr>
          <p:cNvPr id="12" name="Text 9"/>
          <p:cNvSpPr txBox="1"/>
          <p:nvPr/>
        </p:nvSpPr>
        <p:spPr>
          <a:xfrm>
            <a:off x="4431822" y="2212848"/>
            <a:ext cx="3017520" cy="27432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Events dated before the migration start date</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Calendar colours and per-calendar timezone settings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Rich text in event bodies - descriptions arrive as plain text</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Draft events (not a Google Calendar concept)</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Event attachments and calendar permissions on the default method</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Recurring series with no end date are given an end date of 31 Dec 2099</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ICS and non-native attachments on events</a:t>
            </a:r>
            <a:endParaRPr lang="en-US" sz="840" dirty="0"/>
          </a:p>
        </p:txBody>
      </p:sp>
      <p:sp>
        <p:nvSpPr>
          <p:cNvPr id="13" name="Shape 10"/>
          <p:cNvSpPr/>
          <p:nvPr/>
        </p:nvSpPr>
        <p:spPr>
          <a:xfrm>
            <a:off x="7885237" y="1700784"/>
            <a:ext cx="3453414" cy="2926080"/>
          </a:xfrm>
          <a:prstGeom prst="roundRect">
            <a:avLst>
              <a:gd name="adj" fmla="val 1563"/>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4" name="Text 11"/>
          <p:cNvSpPr txBox="1"/>
          <p:nvPr/>
        </p:nvSpPr>
        <p:spPr>
          <a:xfrm>
            <a:off x="8122981" y="1865376"/>
            <a:ext cx="2926080" cy="292608"/>
          </a:xfrm>
          <a:prstGeom prst="rect">
            <a:avLst/>
          </a:prstGeom>
          <a:noFill/>
          <a:ln/>
        </p:spPr>
        <p:txBody>
          <a:bodyPr wrap="square" lIns="0" tIns="0" rIns="0" bIns="0" rtlCol="0" anchor="t"/>
          <a:lstStyle/>
          <a:p>
            <a:pPr marL="0" indent="0" algn="l">
              <a:lnSpc>
                <a:spcPct val="112000"/>
              </a:lnSpc>
              <a:buNone/>
            </a:pPr>
            <a:r>
              <a:rPr lang="en-US" sz="1250" b="1" dirty="0">
                <a:solidFill>
                  <a:srgbClr val="001D5F"/>
                </a:solidFill>
                <a:latin typeface="Calibri" pitchFamily="34" charset="0"/>
                <a:ea typeface="Calibri" pitchFamily="34" charset="-122"/>
                <a:cs typeface="Calibri" pitchFamily="34" charset="-120"/>
              </a:rPr>
              <a:t>Contacts &amp; tasks</a:t>
            </a:r>
            <a:endParaRPr lang="en-US" sz="1250" dirty="0"/>
          </a:p>
        </p:txBody>
      </p:sp>
      <p:sp>
        <p:nvSpPr>
          <p:cNvPr id="15" name="Text 12"/>
          <p:cNvSpPr txBox="1"/>
          <p:nvPr/>
        </p:nvSpPr>
        <p:spPr>
          <a:xfrm>
            <a:off x="8122981" y="2212848"/>
            <a:ext cx="3017520" cy="27432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Global Address List entries and mail contacts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Contact lists (distribution groups held in a personal mailbox)</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Contact photos, initials, web pages and anniversary dates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Second and subsequent mobile numbers, fax and pager numbers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Frequent contacts and starred contacts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Recurring To Do tasks - imported as single tasks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Task due times - tasks arrive as all-day items</a:t>
            </a:r>
            <a:endParaRPr lang="en-US" sz="840" dirty="0"/>
          </a:p>
          <a:p>
            <a:pPr marL="342900" indent="-342900">
              <a:lnSpc>
                <a:spcPct val="105000"/>
              </a:lnSpc>
              <a:spcAft>
                <a:spcPts val="400"/>
              </a:spcAft>
              <a:buSzPct val="100000"/>
              <a:buChar char="▪"/>
            </a:pPr>
            <a:r>
              <a:rPr lang="en-US" sz="840" dirty="0">
                <a:solidFill>
                  <a:srgbClr val="15203D"/>
                </a:solidFill>
                <a:latin typeface="Calibri" pitchFamily="34" charset="0"/>
                <a:ea typeface="Calibri" pitchFamily="34" charset="-122"/>
                <a:cs typeface="Calibri" pitchFamily="34" charset="-120"/>
              </a:rPr>
              <a:t>To Do attachments, and all Microsoft Planner tasks</a:t>
            </a:r>
            <a:endParaRPr lang="en-US" sz="840" dirty="0"/>
          </a:p>
        </p:txBody>
      </p:sp>
      <p:sp>
        <p:nvSpPr>
          <p:cNvPr id="16" name="Shape 13"/>
          <p:cNvSpPr/>
          <p:nvPr/>
        </p:nvSpPr>
        <p:spPr>
          <a:xfrm>
            <a:off x="502920" y="4809744"/>
            <a:ext cx="10835640" cy="475488"/>
          </a:xfrm>
          <a:prstGeom prst="roundRect">
            <a:avLst>
              <a:gd name="adj" fmla="val 9615"/>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17" name="Text 14"/>
          <p:cNvSpPr txBox="1"/>
          <p:nvPr/>
        </p:nvSpPr>
        <p:spPr>
          <a:xfrm>
            <a:off x="758952" y="4928616"/>
            <a:ext cx="10241280" cy="292608"/>
          </a:xfrm>
          <a:prstGeom prst="rect">
            <a:avLst/>
          </a:prstGeom>
          <a:noFill/>
          <a:ln/>
        </p:spPr>
        <p:txBody>
          <a:bodyPr wrap="square" lIns="0" tIns="0" rIns="0" bIns="0" rtlCol="0" anchor="t"/>
          <a:lstStyle/>
          <a:p>
            <a:pPr marL="0" indent="0" algn="l">
              <a:lnSpc>
                <a:spcPct val="112000"/>
              </a:lnSpc>
              <a:buNone/>
            </a:pPr>
            <a:r>
              <a:rPr lang="en-US" sz="950" b="1" dirty="0">
                <a:solidFill>
                  <a:srgbClr val="001D5F"/>
                </a:solidFill>
                <a:latin typeface="Calibri" pitchFamily="34" charset="0"/>
                <a:ea typeface="Calibri" pitchFamily="34" charset="-122"/>
                <a:cs typeface="Calibri" pitchFamily="34" charset="-120"/>
              </a:rPr>
              <a:t>This list is generic. Your environment-specific limitations - those created by your own customisations, integrations, data and history - are derived during discovery and the POC, and issued as a signed limitation register with a disposition against every item.</a:t>
            </a:r>
            <a:endParaRPr lang="en-US" sz="950" dirty="0"/>
          </a:p>
        </p:txBody>
      </p:sp>
      <p:sp>
        <p:nvSpPr>
          <p:cNvPr id="19" name="AutoShape 2">
            <a:extLst>
              <a:ext uri="{FF2B5EF4-FFF2-40B4-BE49-F238E27FC236}">
                <a16:creationId xmlns:a16="http://schemas.microsoft.com/office/drawing/2014/main" id="{2D6C8199-AD2C-8479-8D16-A7C6FA3DD103}"/>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21" name="TextBox 7">
            <a:extLst>
              <a:ext uri="{FF2B5EF4-FFF2-40B4-BE49-F238E27FC236}">
                <a16:creationId xmlns:a16="http://schemas.microsoft.com/office/drawing/2014/main" id="{E205AAF1-EE5E-21BF-1FC4-0E4C569ED88F}"/>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3" name="TextBox 22">
            <a:extLst>
              <a:ext uri="{FF2B5EF4-FFF2-40B4-BE49-F238E27FC236}">
                <a16:creationId xmlns:a16="http://schemas.microsoft.com/office/drawing/2014/main" id="{85D17275-9D21-3A02-5B65-C7ECF63DA0C8}"/>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5" name="TextBox 24">
            <a:extLst>
              <a:ext uri="{FF2B5EF4-FFF2-40B4-BE49-F238E27FC236}">
                <a16:creationId xmlns:a16="http://schemas.microsoft.com/office/drawing/2014/main" id="{E1816850-569C-799F-5BE6-3F59FA7B47AA}"/>
              </a:ext>
            </a:extLst>
          </p:cNvPr>
          <p:cNvSpPr txBox="1"/>
          <p:nvPr/>
        </p:nvSpPr>
        <p:spPr>
          <a:xfrm>
            <a:off x="5911269" y="6533202"/>
            <a:ext cx="287258" cy="215444"/>
          </a:xfrm>
          <a:prstGeom prst="rect">
            <a:avLst/>
          </a:prstGeom>
          <a:noFill/>
        </p:spPr>
        <p:txBody>
          <a:bodyPr wrap="none" rtlCol="0">
            <a:spAutoFit/>
          </a:bodyPr>
          <a:lstStyle/>
          <a:p>
            <a:r>
              <a:rPr lang="en-US" sz="800" dirty="0"/>
              <a:t>27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LIMITATIONS 2 OF 2</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Platform and application gaps, with an agreed disposition</a:t>
            </a:r>
            <a:endParaRPr lang="en-US" sz="2800" dirty="0"/>
          </a:p>
        </p:txBody>
      </p:sp>
      <p:graphicFrame>
        <p:nvGraphicFramePr>
          <p:cNvPr id="30" name="Table 0"/>
          <p:cNvGraphicFramePr>
            <a:graphicFrameLocks noGrp="1"/>
          </p:cNvGraphicFramePr>
          <p:nvPr/>
        </p:nvGraphicFramePr>
        <p:xfrm>
          <a:off x="502920" y="1280160"/>
          <a:ext cx="10835640" cy="4526280"/>
        </p:xfrm>
        <a:graphic>
          <a:graphicData uri="http://schemas.openxmlformats.org/drawingml/2006/table">
            <a:tbl>
              <a:tblPr/>
              <a:tblGrid>
                <a:gridCol w="260604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411480">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Microsoft capability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Position on Google Workspace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tc>
                  <a:txBody>
                    <a:bodyPr/>
                    <a:lstStyle/>
                    <a:p>
                      <a:pPr marL="0" indent="0" algn="l">
                        <a:buNone/>
                      </a:pPr>
                      <a:r>
                        <a:rPr lang="en-US" sz="850" b="1" dirty="0">
                          <a:solidFill>
                            <a:srgbClr val="FFFFFF"/>
                          </a:solidFill>
                          <a:latin typeface="Calibri" pitchFamily="34" charset="0"/>
                          <a:ea typeface="Calibri" pitchFamily="34" charset="-122"/>
                          <a:cs typeface="Calibri" pitchFamily="34" charset="-120"/>
                        </a:rPr>
                        <a:t>Recommended disposition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001D5F"/>
                    </a:solidFill>
                  </a:tcPr>
                </a:tc>
                <a:extLst>
                  <a:ext uri="{0D108BD9-81ED-4DB2-BD59-A6C34878D82A}">
                    <a16:rowId xmlns:a16="http://schemas.microsoft.com/office/drawing/2014/main" val="10000"/>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SharePoint pages, web parts, lists, workflows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equivalent object. Only document libraries migrate as files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Rebuild high-value sites natively (Google Sites / AppSheet); retire the rest with a documented content decision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Power Automate, Power Apps, Power BI</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import path. Logic and data models must be re-implemented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Inventory in discovery; rebuild critical flows in Apps Script or AppSheet; retain Power BI as a separate BI decision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2"/>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Microsoft Planner and Project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Planner tasks do not import; Project has no equivalent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Move to the existing work-management tool, or retain licences for the affected population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OneNote notebooks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 native equivalent; conversion is lossy for ink, embeds and sections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Export to Docs and Drive for reference; retain notebooks read-only where fidelity matters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4"/>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Teams private channels, apps, tabs, recordings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Not covered by standard channel migration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Explicit scope decision per team; recordings handled as a file-migration item, not a Teams item</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Macro-enabled workbooks, Access databases, Visio</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VBA does not run in Sheets; no Access or Visio equivalent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Retain a licensed Microsoft island for the affected population, or fund a rebuild - a costed decision, not an assumption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6"/>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Applications requiring Entra ID sign-in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Unaffected until the identity provider changes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Inventoried and left in place through release 1; re-federated application by application in release 2</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Purview sensitivity and retention labels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Label metadata is not carried to Workspace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Re-express as Workspace DLP rules, client-side encryption and Vault retention before migration</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08"/>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Litigation and In-Place holds</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Do not transfer under any tool</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Retain source in place under legal sign-off; establish a documented archive continuity date</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11480">
                <a:tc>
                  <a:txBody>
                    <a:bodyPr/>
                    <a:lstStyle/>
                    <a:p>
                      <a:pPr marL="0" indent="0">
                        <a:buNone/>
                      </a:pPr>
                      <a:r>
                        <a:rPr lang="en-US" sz="850" b="1" dirty="0">
                          <a:solidFill>
                            <a:srgbClr val="15203D"/>
                          </a:solidFill>
                          <a:latin typeface="Calibri" pitchFamily="34" charset="0"/>
                          <a:ea typeface="Calibri" pitchFamily="34" charset="-122"/>
                          <a:cs typeface="Calibri" pitchFamily="34" charset="-120"/>
                        </a:rPr>
                        <a:t>File version history</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Current version migrates; history generally does not</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tc>
                  <a:txBody>
                    <a:bodyPr/>
                    <a:lstStyle/>
                    <a:p>
                      <a:pPr marL="0" indent="0">
                        <a:buNone/>
                      </a:pPr>
                      <a:r>
                        <a:rPr lang="en-US" sz="850" dirty="0">
                          <a:solidFill>
                            <a:srgbClr val="15203D"/>
                          </a:solidFill>
                          <a:latin typeface="Calibri" pitchFamily="34" charset="0"/>
                          <a:ea typeface="Calibri" pitchFamily="34" charset="-122"/>
                          <a:cs typeface="Calibri" pitchFamily="34" charset="-120"/>
                        </a:rPr>
                        <a:t>Where history is evidentially required, retain the source site read-only for the retention period</a:t>
                      </a:r>
                      <a:endParaRPr lang="en-US" sz="850" dirty="0">
                        <a:latin typeface="Calibri" charset="0"/>
                        <a:ea typeface="Calibri" charset="0"/>
                        <a:cs typeface="Calibri" charset="0"/>
                      </a:endParaRPr>
                    </a:p>
                  </a:txBody>
                  <a:tcPr anchor="ctr">
                    <a:lnL w="6350" cap="flat" cmpd="sng" algn="ctr">
                      <a:solidFill>
                        <a:srgbClr val="D3DEF2"/>
                      </a:solidFill>
                      <a:prstDash val="solid"/>
                      <a:round/>
                      <a:headEnd type="none" w="med" len="med"/>
                      <a:tailEnd type="none" w="med" len="med"/>
                    </a:lnL>
                    <a:lnR w="6350" cap="flat" cmpd="sng" algn="ctr">
                      <a:solidFill>
                        <a:srgbClr val="D3DEF2"/>
                      </a:solidFill>
                      <a:prstDash val="solid"/>
                      <a:round/>
                      <a:headEnd type="none" w="med" len="med"/>
                      <a:tailEnd type="none" w="med" len="med"/>
                    </a:lnR>
                    <a:lnT w="6350" cap="flat" cmpd="sng" algn="ctr">
                      <a:solidFill>
                        <a:srgbClr val="D3DEF2"/>
                      </a:solidFill>
                      <a:prstDash val="solid"/>
                      <a:round/>
                      <a:headEnd type="none" w="med" len="med"/>
                      <a:tailEnd type="none" w="med" len="med"/>
                    </a:lnT>
                    <a:lnB w="6350" cap="flat" cmpd="sng" algn="ctr">
                      <a:solidFill>
                        <a:srgbClr val="D3DEF2"/>
                      </a:solidFill>
                      <a:prstDash val="solid"/>
                      <a:round/>
                      <a:headEnd type="none" w="med" len="med"/>
                      <a:tailEnd type="none" w="med" len="med"/>
                    </a:lnB>
                    <a:solidFill>
                      <a:srgbClr val="EEF3FC"/>
                    </a:solidFill>
                  </a:tcPr>
                </a:tc>
                <a:extLst>
                  <a:ext uri="{0D108BD9-81ED-4DB2-BD59-A6C34878D82A}">
                    <a16:rowId xmlns:a16="http://schemas.microsoft.com/office/drawing/2014/main" val="10010"/>
                  </a:ext>
                </a:extLst>
              </a:tr>
            </a:tbl>
          </a:graphicData>
        </a:graphic>
      </p:graphicFrame>
      <p:sp>
        <p:nvSpPr>
          <p:cNvPr id="7" name="Text 3"/>
          <p:cNvSpPr txBox="1"/>
          <p:nvPr/>
        </p:nvSpPr>
        <p:spPr>
          <a:xfrm>
            <a:off x="502920" y="6030468"/>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These are the known, generic gaps. Environment-specific limitations emerge from due diligence and the POC - which is why the limitation register is a POC deliverable rather than a proposal annex. Every credible vendor faces the same platform boundaries; the difference is whether they were disclosed before contract or discovered after.</a:t>
            </a:r>
            <a:endParaRPr lang="en-US" sz="800" dirty="0"/>
          </a:p>
        </p:txBody>
      </p:sp>
      <p:sp>
        <p:nvSpPr>
          <p:cNvPr id="8" name="AutoShape 2">
            <a:extLst>
              <a:ext uri="{FF2B5EF4-FFF2-40B4-BE49-F238E27FC236}">
                <a16:creationId xmlns:a16="http://schemas.microsoft.com/office/drawing/2014/main" id="{54AFF39F-5EDD-B8B2-A117-0908292669CC}"/>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0" name="TextBox 7">
            <a:extLst>
              <a:ext uri="{FF2B5EF4-FFF2-40B4-BE49-F238E27FC236}">
                <a16:creationId xmlns:a16="http://schemas.microsoft.com/office/drawing/2014/main" id="{EEBF6569-C39D-C045-452D-122FFBB4AD4F}"/>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2" name="TextBox 11">
            <a:extLst>
              <a:ext uri="{FF2B5EF4-FFF2-40B4-BE49-F238E27FC236}">
                <a16:creationId xmlns:a16="http://schemas.microsoft.com/office/drawing/2014/main" id="{F4CD40F7-A73F-ADD1-C248-344915B76016}"/>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14" name="TextBox 13">
            <a:extLst>
              <a:ext uri="{FF2B5EF4-FFF2-40B4-BE49-F238E27FC236}">
                <a16:creationId xmlns:a16="http://schemas.microsoft.com/office/drawing/2014/main" id="{732B610E-EC4F-DCE5-77A9-BA9C7556AD15}"/>
              </a:ext>
            </a:extLst>
          </p:cNvPr>
          <p:cNvSpPr txBox="1"/>
          <p:nvPr/>
        </p:nvSpPr>
        <p:spPr>
          <a:xfrm>
            <a:off x="5911269" y="6533202"/>
            <a:ext cx="287258" cy="215444"/>
          </a:xfrm>
          <a:prstGeom prst="rect">
            <a:avLst/>
          </a:prstGeom>
          <a:noFill/>
        </p:spPr>
        <p:txBody>
          <a:bodyPr wrap="none" rtlCol="0">
            <a:spAutoFit/>
          </a:bodyPr>
          <a:lstStyle/>
          <a:p>
            <a:r>
              <a:rPr lang="en-US" sz="800" dirty="0"/>
              <a:t>28</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TRAINING &amp; ENABLEMENT</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Online, batched and tracked</a:t>
            </a:r>
            <a:endParaRPr lang="en-US" sz="2800" dirty="0"/>
          </a:p>
        </p:txBody>
      </p:sp>
      <p:sp>
        <p:nvSpPr>
          <p:cNvPr id="6" name="Text 3"/>
          <p:cNvSpPr txBox="1"/>
          <p:nvPr/>
        </p:nvSpPr>
        <p:spPr>
          <a:xfrm>
            <a:off x="502920" y="1243584"/>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Training is scheduled against the wave plan, not the calendar. A user trained six weeks before their wave has forgotten it; a user trained the week before has not.</a:t>
            </a:r>
            <a:endParaRPr lang="en-US" sz="1100" dirty="0"/>
          </a:p>
        </p:txBody>
      </p:sp>
      <p:sp>
        <p:nvSpPr>
          <p:cNvPr id="7" name="Shape 4"/>
          <p:cNvSpPr/>
          <p:nvPr/>
        </p:nvSpPr>
        <p:spPr>
          <a:xfrm>
            <a:off x="502920" y="1645920"/>
            <a:ext cx="3453414" cy="3703320"/>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8" name="Shape 5"/>
          <p:cNvSpPr/>
          <p:nvPr/>
        </p:nvSpPr>
        <p:spPr>
          <a:xfrm>
            <a:off x="740664" y="1837944"/>
            <a:ext cx="109728" cy="109728"/>
          </a:xfrm>
          <a:prstGeom prst="rect">
            <a:avLst/>
          </a:prstGeom>
          <a:solidFill>
            <a:srgbClr val="0053EB"/>
          </a:solidFill>
          <a:ln w="12700">
            <a:solidFill>
              <a:srgbClr val="0053EB"/>
            </a:solidFill>
            <a:prstDash val="solid"/>
          </a:ln>
        </p:spPr>
        <p:txBody>
          <a:bodyPr/>
          <a:lstStyle/>
          <a:p>
            <a:endParaRPr lang="en-IN"/>
          </a:p>
        </p:txBody>
      </p:sp>
      <p:sp>
        <p:nvSpPr>
          <p:cNvPr id="9" name="Text 6"/>
          <p:cNvSpPr txBox="1"/>
          <p:nvPr/>
        </p:nvSpPr>
        <p:spPr>
          <a:xfrm>
            <a:off x="960120" y="1764792"/>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End users - online, in batches</a:t>
            </a:r>
            <a:endParaRPr lang="en-US" sz="1150" dirty="0"/>
          </a:p>
        </p:txBody>
      </p:sp>
      <p:sp>
        <p:nvSpPr>
          <p:cNvPr id="10" name="Text 7"/>
          <p:cNvSpPr txBox="1"/>
          <p:nvPr/>
        </p:nvSpPr>
        <p:spPr>
          <a:xfrm>
            <a:off x="740664" y="2157984"/>
            <a:ext cx="3017520" cy="32004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Delivered online in scheduled batches aligned to each wave - never as a single all-hands event at programme start</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Live virtual sessions of 45 minutes, capped at about 40 attendees so questions actually get answered, run several times per wave</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A self-paced LMS path assigned by role, with completion tracked and reported per wave as a cutover readiness metric</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Micro-learning in the LMS: three to five minute task videos, plus a one-page role card as a downloadable PDF</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Sessions recorded and published to the LMS within 24 hours for shift workers, field staff and anyone who misses a batch</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Role-based paths, never product tours: general population, executive assistants, site owners, heavy spreadsheet users, frontline</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Google Guides champions at roughly one per 25 users, recruited from early adopters, to answer the questions people never raise as a ticket</a:t>
            </a:r>
            <a:endParaRPr lang="en-US" sz="810" dirty="0"/>
          </a:p>
        </p:txBody>
      </p:sp>
      <p:sp>
        <p:nvSpPr>
          <p:cNvPr id="11" name="Shape 8"/>
          <p:cNvSpPr/>
          <p:nvPr/>
        </p:nvSpPr>
        <p:spPr>
          <a:xfrm>
            <a:off x="4194078" y="1645920"/>
            <a:ext cx="3453414" cy="3703320"/>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2" name="Shape 9"/>
          <p:cNvSpPr/>
          <p:nvPr/>
        </p:nvSpPr>
        <p:spPr>
          <a:xfrm>
            <a:off x="4431822" y="1837944"/>
            <a:ext cx="109728" cy="109728"/>
          </a:xfrm>
          <a:prstGeom prst="rect">
            <a:avLst/>
          </a:prstGeom>
          <a:solidFill>
            <a:srgbClr val="0C3EB1"/>
          </a:solidFill>
          <a:ln w="12700">
            <a:solidFill>
              <a:srgbClr val="0C3EB1"/>
            </a:solidFill>
            <a:prstDash val="solid"/>
          </a:ln>
        </p:spPr>
        <p:txBody>
          <a:bodyPr/>
          <a:lstStyle/>
          <a:p>
            <a:endParaRPr lang="en-IN"/>
          </a:p>
        </p:txBody>
      </p:sp>
      <p:sp>
        <p:nvSpPr>
          <p:cNvPr id="13" name="Text 10"/>
          <p:cNvSpPr txBox="1"/>
          <p:nvPr/>
        </p:nvSpPr>
        <p:spPr>
          <a:xfrm>
            <a:off x="4651278" y="1764792"/>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IT administrators</a:t>
            </a:r>
            <a:endParaRPr lang="en-US" sz="1150" dirty="0"/>
          </a:p>
        </p:txBody>
      </p:sp>
      <p:sp>
        <p:nvSpPr>
          <p:cNvPr id="14" name="Text 11"/>
          <p:cNvSpPr txBox="1"/>
          <p:nvPr/>
        </p:nvSpPr>
        <p:spPr>
          <a:xfrm>
            <a:off x="4431822" y="2157984"/>
            <a:ext cx="3017520" cy="32004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Instructor-led virtual workshops with a hands-on lab tenant, not slideware - admins configure what they will later operate</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Admin console: organisational units, groups, service settings, delegated admin roles and least privilege</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Vault: retention rules, holds, search and export - trained before the first legal request, not after it</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Identity: federation troubleshooting, provisioning failures, and the break-glass procedure</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Endpoint and Chrome policy management, device lifecycle, and Drive for Desktop support</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Google Workspace Administrator certification funded for the core team, with study time protected in the plan</a:t>
            </a:r>
            <a:endParaRPr lang="en-US" sz="810" dirty="0"/>
          </a:p>
        </p:txBody>
      </p:sp>
      <p:sp>
        <p:nvSpPr>
          <p:cNvPr id="15" name="Shape 12"/>
          <p:cNvSpPr/>
          <p:nvPr/>
        </p:nvSpPr>
        <p:spPr>
          <a:xfrm>
            <a:off x="7885237" y="1645920"/>
            <a:ext cx="3453414" cy="3703320"/>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6" name="Shape 13"/>
          <p:cNvSpPr/>
          <p:nvPr/>
        </p:nvSpPr>
        <p:spPr>
          <a:xfrm>
            <a:off x="8122981" y="1837944"/>
            <a:ext cx="109728" cy="109728"/>
          </a:xfrm>
          <a:prstGeom prst="rect">
            <a:avLst/>
          </a:prstGeom>
          <a:solidFill>
            <a:srgbClr val="0053EB"/>
          </a:solidFill>
          <a:ln w="12700">
            <a:solidFill>
              <a:srgbClr val="0053EB"/>
            </a:solidFill>
            <a:prstDash val="solid"/>
          </a:ln>
        </p:spPr>
        <p:txBody>
          <a:bodyPr/>
          <a:lstStyle/>
          <a:p>
            <a:endParaRPr lang="en-IN"/>
          </a:p>
        </p:txBody>
      </p:sp>
      <p:sp>
        <p:nvSpPr>
          <p:cNvPr id="17" name="Text 14"/>
          <p:cNvSpPr txBox="1"/>
          <p:nvPr/>
        </p:nvSpPr>
        <p:spPr>
          <a:xfrm>
            <a:off x="8342437" y="1764792"/>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Service desk &amp; handover</a:t>
            </a:r>
            <a:endParaRPr lang="en-US" sz="1150" dirty="0"/>
          </a:p>
        </p:txBody>
      </p:sp>
      <p:sp>
        <p:nvSpPr>
          <p:cNvPr id="18" name="Text 15"/>
          <p:cNvSpPr txBox="1"/>
          <p:nvPr/>
        </p:nvSpPr>
        <p:spPr>
          <a:xfrm>
            <a:off x="8122981" y="2157984"/>
            <a:ext cx="3017520" cy="320040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A top-20 ticket playbook built from real POC and early-adopter tickets, live in the LMS before the first production wave</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Escalation matrix stating what your service desk owns and what we own, during hypercare and afterwards</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Shadowing: your service desk sits with ours through the first two waves, then leads with us watching</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A transition portal with searchable how-do-I content, maintained through hypercare</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Knowledge base handed into your own ITSM and LMS - runbooks as living documents, not a PDF at the end</a:t>
            </a:r>
            <a:endParaRPr lang="en-US" sz="810" dirty="0"/>
          </a:p>
          <a:p>
            <a:pPr marL="342900" indent="-342900">
              <a:lnSpc>
                <a:spcPct val="105000"/>
              </a:lnSpc>
              <a:spcAft>
                <a:spcPts val="400"/>
              </a:spcAft>
              <a:buSzPct val="100000"/>
              <a:buChar char="▪"/>
            </a:pPr>
            <a:r>
              <a:rPr lang="en-US" sz="810" dirty="0">
                <a:solidFill>
                  <a:srgbClr val="15203D"/>
                </a:solidFill>
                <a:latin typeface="Calibri" pitchFamily="34" charset="0"/>
                <a:ea typeface="Calibri" pitchFamily="34" charset="-122"/>
                <a:cs typeface="Calibri" pitchFamily="34" charset="-120"/>
              </a:rPr>
              <a:t>Check-in at 30 and 60 days after hypercare closes, to shut the last knowledge gaps rather than assume they closed</a:t>
            </a:r>
            <a:endParaRPr lang="en-US" sz="810" dirty="0"/>
          </a:p>
        </p:txBody>
      </p:sp>
      <p:sp>
        <p:nvSpPr>
          <p:cNvPr id="19" name="Shape 16"/>
          <p:cNvSpPr/>
          <p:nvPr/>
        </p:nvSpPr>
        <p:spPr>
          <a:xfrm>
            <a:off x="502920" y="5504688"/>
            <a:ext cx="2606040" cy="749808"/>
          </a:xfrm>
          <a:prstGeom prst="roundRect">
            <a:avLst>
              <a:gd name="adj" fmla="val 6098"/>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20" name="Text 17"/>
          <p:cNvSpPr txBox="1"/>
          <p:nvPr/>
        </p:nvSpPr>
        <p:spPr>
          <a:xfrm>
            <a:off x="704088" y="5614416"/>
            <a:ext cx="960120" cy="320040"/>
          </a:xfrm>
          <a:prstGeom prst="rect">
            <a:avLst/>
          </a:prstGeom>
          <a:noFill/>
          <a:ln/>
        </p:spPr>
        <p:txBody>
          <a:bodyPr wrap="square" lIns="0" tIns="0" rIns="0" bIns="0" rtlCol="0" anchor="t"/>
          <a:lstStyle/>
          <a:p>
            <a:pPr marL="0" indent="0" algn="l">
              <a:lnSpc>
                <a:spcPct val="112000"/>
              </a:lnSpc>
              <a:buNone/>
            </a:pPr>
            <a:r>
              <a:rPr lang="en-US" sz="1400" b="1" dirty="0">
                <a:solidFill>
                  <a:srgbClr val="0053EB"/>
                </a:solidFill>
                <a:latin typeface="Calibri" pitchFamily="34" charset="0"/>
                <a:ea typeface="Calibri" pitchFamily="34" charset="-122"/>
                <a:cs typeface="Calibri" pitchFamily="34" charset="-120"/>
              </a:rPr>
              <a:t>1 : 25</a:t>
            </a:r>
            <a:endParaRPr lang="en-US" sz="1400" dirty="0"/>
          </a:p>
        </p:txBody>
      </p:sp>
      <p:sp>
        <p:nvSpPr>
          <p:cNvPr id="21" name="Text 18"/>
          <p:cNvSpPr txBox="1"/>
          <p:nvPr/>
        </p:nvSpPr>
        <p:spPr>
          <a:xfrm>
            <a:off x="1691640" y="5669280"/>
            <a:ext cx="1280160" cy="457200"/>
          </a:xfrm>
          <a:prstGeom prst="rect">
            <a:avLst/>
          </a:prstGeom>
          <a:noFill/>
          <a:ln/>
        </p:spPr>
        <p:txBody>
          <a:bodyPr wrap="square" lIns="0" tIns="0" rIns="0" bIns="0" rtlCol="0" anchor="t"/>
          <a:lstStyle/>
          <a:p>
            <a:pPr marL="0" indent="0" algn="l">
              <a:lnSpc>
                <a:spcPct val="105000"/>
              </a:lnSpc>
              <a:buNone/>
            </a:pPr>
            <a:r>
              <a:rPr lang="en-US" sz="820" dirty="0">
                <a:solidFill>
                  <a:srgbClr val="5D6B8C"/>
                </a:solidFill>
                <a:latin typeface="Calibri" pitchFamily="34" charset="0"/>
                <a:ea typeface="Calibri" pitchFamily="34" charset="-122"/>
                <a:cs typeface="Calibri" pitchFamily="34" charset="-120"/>
              </a:rPr>
              <a:t>trained champions to users</a:t>
            </a:r>
            <a:endParaRPr lang="en-US" sz="820" dirty="0"/>
          </a:p>
        </p:txBody>
      </p:sp>
      <p:sp>
        <p:nvSpPr>
          <p:cNvPr id="22" name="Shape 19"/>
          <p:cNvSpPr/>
          <p:nvPr/>
        </p:nvSpPr>
        <p:spPr>
          <a:xfrm>
            <a:off x="3246120" y="5504688"/>
            <a:ext cx="2606040" cy="749808"/>
          </a:xfrm>
          <a:prstGeom prst="roundRect">
            <a:avLst>
              <a:gd name="adj" fmla="val 6098"/>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23" name="Text 20"/>
          <p:cNvSpPr txBox="1"/>
          <p:nvPr/>
        </p:nvSpPr>
        <p:spPr>
          <a:xfrm>
            <a:off x="3447288" y="5614416"/>
            <a:ext cx="960120" cy="320040"/>
          </a:xfrm>
          <a:prstGeom prst="rect">
            <a:avLst/>
          </a:prstGeom>
          <a:noFill/>
          <a:ln/>
        </p:spPr>
        <p:txBody>
          <a:bodyPr wrap="square" lIns="0" tIns="0" rIns="0" bIns="0" rtlCol="0" anchor="t"/>
          <a:lstStyle/>
          <a:p>
            <a:pPr marL="0" indent="0" algn="l">
              <a:lnSpc>
                <a:spcPct val="112000"/>
              </a:lnSpc>
              <a:buNone/>
            </a:pPr>
            <a:r>
              <a:rPr lang="en-US" sz="1400" b="1" dirty="0">
                <a:solidFill>
                  <a:srgbClr val="0053EB"/>
                </a:solidFill>
                <a:latin typeface="Calibri" pitchFamily="34" charset="0"/>
                <a:ea typeface="Calibri" pitchFamily="34" charset="-122"/>
                <a:cs typeface="Calibri" pitchFamily="34" charset="-120"/>
              </a:rPr>
              <a:t>40</a:t>
            </a:r>
            <a:endParaRPr lang="en-US" sz="1400" dirty="0"/>
          </a:p>
        </p:txBody>
      </p:sp>
      <p:sp>
        <p:nvSpPr>
          <p:cNvPr id="24" name="Text 21"/>
          <p:cNvSpPr txBox="1"/>
          <p:nvPr/>
        </p:nvSpPr>
        <p:spPr>
          <a:xfrm>
            <a:off x="4434840" y="5669280"/>
            <a:ext cx="1280160" cy="457200"/>
          </a:xfrm>
          <a:prstGeom prst="rect">
            <a:avLst/>
          </a:prstGeom>
          <a:noFill/>
          <a:ln/>
        </p:spPr>
        <p:txBody>
          <a:bodyPr wrap="square" lIns="0" tIns="0" rIns="0" bIns="0" rtlCol="0" anchor="t"/>
          <a:lstStyle/>
          <a:p>
            <a:pPr marL="0" indent="0" algn="l">
              <a:lnSpc>
                <a:spcPct val="105000"/>
              </a:lnSpc>
              <a:buNone/>
            </a:pPr>
            <a:r>
              <a:rPr lang="en-US" sz="820" dirty="0">
                <a:solidFill>
                  <a:srgbClr val="5D6B8C"/>
                </a:solidFill>
                <a:latin typeface="Calibri" pitchFamily="34" charset="0"/>
                <a:ea typeface="Calibri" pitchFamily="34" charset="-122"/>
                <a:cs typeface="Calibri" pitchFamily="34" charset="-120"/>
              </a:rPr>
              <a:t>attendee cap per live session</a:t>
            </a:r>
            <a:endParaRPr lang="en-US" sz="820" dirty="0"/>
          </a:p>
        </p:txBody>
      </p:sp>
      <p:sp>
        <p:nvSpPr>
          <p:cNvPr id="25" name="Shape 22"/>
          <p:cNvSpPr/>
          <p:nvPr/>
        </p:nvSpPr>
        <p:spPr>
          <a:xfrm>
            <a:off x="5989320" y="5504688"/>
            <a:ext cx="2606040" cy="749808"/>
          </a:xfrm>
          <a:prstGeom prst="roundRect">
            <a:avLst>
              <a:gd name="adj" fmla="val 6098"/>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26" name="Text 23"/>
          <p:cNvSpPr txBox="1"/>
          <p:nvPr/>
        </p:nvSpPr>
        <p:spPr>
          <a:xfrm>
            <a:off x="6190488" y="5614416"/>
            <a:ext cx="960120" cy="320040"/>
          </a:xfrm>
          <a:prstGeom prst="rect">
            <a:avLst/>
          </a:prstGeom>
          <a:noFill/>
          <a:ln/>
        </p:spPr>
        <p:txBody>
          <a:bodyPr wrap="square" lIns="0" tIns="0" rIns="0" bIns="0" rtlCol="0" anchor="t"/>
          <a:lstStyle/>
          <a:p>
            <a:pPr marL="0" indent="0" algn="l">
              <a:lnSpc>
                <a:spcPct val="112000"/>
              </a:lnSpc>
              <a:buNone/>
            </a:pPr>
            <a:r>
              <a:rPr lang="en-US" sz="1400" b="1" dirty="0">
                <a:solidFill>
                  <a:srgbClr val="0053EB"/>
                </a:solidFill>
                <a:latin typeface="Calibri" pitchFamily="34" charset="0"/>
                <a:ea typeface="Calibri" pitchFamily="34" charset="-122"/>
                <a:cs typeface="Calibri" pitchFamily="34" charset="-120"/>
              </a:rPr>
              <a:t>2 wks</a:t>
            </a:r>
            <a:endParaRPr lang="en-US" sz="1400" dirty="0"/>
          </a:p>
        </p:txBody>
      </p:sp>
      <p:sp>
        <p:nvSpPr>
          <p:cNvPr id="27" name="Text 24"/>
          <p:cNvSpPr txBox="1"/>
          <p:nvPr/>
        </p:nvSpPr>
        <p:spPr>
          <a:xfrm>
            <a:off x="7178040" y="5669280"/>
            <a:ext cx="1280160" cy="457200"/>
          </a:xfrm>
          <a:prstGeom prst="rect">
            <a:avLst/>
          </a:prstGeom>
          <a:noFill/>
          <a:ln/>
        </p:spPr>
        <p:txBody>
          <a:bodyPr wrap="square" lIns="0" tIns="0" rIns="0" bIns="0" rtlCol="0" anchor="t"/>
          <a:lstStyle/>
          <a:p>
            <a:pPr marL="0" indent="0" algn="l">
              <a:lnSpc>
                <a:spcPct val="105000"/>
              </a:lnSpc>
              <a:buNone/>
            </a:pPr>
            <a:r>
              <a:rPr lang="en-US" sz="820" dirty="0">
                <a:solidFill>
                  <a:srgbClr val="5D6B8C"/>
                </a:solidFill>
                <a:latin typeface="Calibri" pitchFamily="34" charset="0"/>
                <a:ea typeface="Calibri" pitchFamily="34" charset="-122"/>
                <a:cs typeface="Calibri" pitchFamily="34" charset="-120"/>
              </a:rPr>
              <a:t>training lead time per wave</a:t>
            </a:r>
            <a:endParaRPr lang="en-US" sz="820" dirty="0"/>
          </a:p>
        </p:txBody>
      </p:sp>
      <p:sp>
        <p:nvSpPr>
          <p:cNvPr id="28" name="Shape 25"/>
          <p:cNvSpPr/>
          <p:nvPr/>
        </p:nvSpPr>
        <p:spPr>
          <a:xfrm>
            <a:off x="8732520" y="5504688"/>
            <a:ext cx="2606040" cy="749808"/>
          </a:xfrm>
          <a:prstGeom prst="roundRect">
            <a:avLst>
              <a:gd name="adj" fmla="val 6098"/>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29" name="Text 26"/>
          <p:cNvSpPr txBox="1"/>
          <p:nvPr/>
        </p:nvSpPr>
        <p:spPr>
          <a:xfrm>
            <a:off x="8933688" y="5614416"/>
            <a:ext cx="960120" cy="320040"/>
          </a:xfrm>
          <a:prstGeom prst="rect">
            <a:avLst/>
          </a:prstGeom>
          <a:noFill/>
          <a:ln/>
        </p:spPr>
        <p:txBody>
          <a:bodyPr wrap="square" lIns="0" tIns="0" rIns="0" bIns="0" rtlCol="0" anchor="t"/>
          <a:lstStyle/>
          <a:p>
            <a:pPr marL="0" indent="0" algn="l">
              <a:lnSpc>
                <a:spcPct val="112000"/>
              </a:lnSpc>
              <a:buNone/>
            </a:pPr>
            <a:r>
              <a:rPr lang="en-US" sz="1400" b="1" dirty="0">
                <a:solidFill>
                  <a:srgbClr val="0053EB"/>
                </a:solidFill>
                <a:latin typeface="Calibri" pitchFamily="34" charset="0"/>
                <a:ea typeface="Calibri" pitchFamily="34" charset="-122"/>
                <a:cs typeface="Calibri" pitchFamily="34" charset="-120"/>
              </a:rPr>
              <a:t>100%</a:t>
            </a:r>
            <a:endParaRPr lang="en-US" sz="1400" dirty="0"/>
          </a:p>
        </p:txBody>
      </p:sp>
      <p:sp>
        <p:nvSpPr>
          <p:cNvPr id="30" name="Text 27"/>
          <p:cNvSpPr txBox="1"/>
          <p:nvPr/>
        </p:nvSpPr>
        <p:spPr>
          <a:xfrm>
            <a:off x="9921240" y="5669280"/>
            <a:ext cx="1280160" cy="457200"/>
          </a:xfrm>
          <a:prstGeom prst="rect">
            <a:avLst/>
          </a:prstGeom>
          <a:noFill/>
          <a:ln/>
        </p:spPr>
        <p:txBody>
          <a:bodyPr wrap="square" lIns="0" tIns="0" rIns="0" bIns="0" rtlCol="0" anchor="t"/>
          <a:lstStyle/>
          <a:p>
            <a:pPr marL="0" indent="0" algn="l">
              <a:lnSpc>
                <a:spcPct val="105000"/>
              </a:lnSpc>
              <a:buNone/>
            </a:pPr>
            <a:r>
              <a:rPr lang="en-US" sz="820" dirty="0">
                <a:solidFill>
                  <a:srgbClr val="5D6B8C"/>
                </a:solidFill>
                <a:latin typeface="Calibri" pitchFamily="34" charset="0"/>
                <a:ea typeface="Calibri" pitchFamily="34" charset="-122"/>
                <a:cs typeface="Calibri" pitchFamily="34" charset="-120"/>
              </a:rPr>
              <a:t>LMS completion tracked pre-cutover</a:t>
            </a:r>
            <a:endParaRPr lang="en-US" sz="820" dirty="0"/>
          </a:p>
        </p:txBody>
      </p:sp>
      <p:sp>
        <p:nvSpPr>
          <p:cNvPr id="34" name="AutoShape 2">
            <a:extLst>
              <a:ext uri="{FF2B5EF4-FFF2-40B4-BE49-F238E27FC236}">
                <a16:creationId xmlns:a16="http://schemas.microsoft.com/office/drawing/2014/main" id="{B4FD7AED-6348-0593-5273-B31A5D778BCB}"/>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36" name="TextBox 7">
            <a:extLst>
              <a:ext uri="{FF2B5EF4-FFF2-40B4-BE49-F238E27FC236}">
                <a16:creationId xmlns:a16="http://schemas.microsoft.com/office/drawing/2014/main" id="{8800D2EB-A71F-4018-FC80-C72910725249}"/>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38" name="TextBox 37">
            <a:extLst>
              <a:ext uri="{FF2B5EF4-FFF2-40B4-BE49-F238E27FC236}">
                <a16:creationId xmlns:a16="http://schemas.microsoft.com/office/drawing/2014/main" id="{044A82C7-60AD-8C2B-C33E-E3007AFD650F}"/>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40" name="TextBox 39">
            <a:extLst>
              <a:ext uri="{FF2B5EF4-FFF2-40B4-BE49-F238E27FC236}">
                <a16:creationId xmlns:a16="http://schemas.microsoft.com/office/drawing/2014/main" id="{974660F1-D526-E182-5CE5-310E82D43B4D}"/>
              </a:ext>
            </a:extLst>
          </p:cNvPr>
          <p:cNvSpPr txBox="1"/>
          <p:nvPr/>
        </p:nvSpPr>
        <p:spPr>
          <a:xfrm>
            <a:off x="5911269" y="6533202"/>
            <a:ext cx="287258" cy="215444"/>
          </a:xfrm>
          <a:prstGeom prst="rect">
            <a:avLst/>
          </a:prstGeom>
          <a:noFill/>
        </p:spPr>
        <p:txBody>
          <a:bodyPr wrap="none" rtlCol="0">
            <a:spAutoFit/>
          </a:bodyPr>
          <a:lstStyle/>
          <a:p>
            <a:r>
              <a:rPr lang="en-US" sz="800" dirty="0"/>
              <a:t>29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3" name="Text 0"/>
          <p:cNvSpPr txBox="1"/>
          <p:nvPr/>
        </p:nvSpPr>
        <p:spPr>
          <a:xfrm>
            <a:off x="11064240" y="6510528"/>
            <a:ext cx="749808" cy="201168"/>
          </a:xfrm>
          <a:prstGeom prst="rect">
            <a:avLst/>
          </a:prstGeom>
          <a:noFill/>
          <a:ln/>
        </p:spPr>
        <p:txBody>
          <a:bodyPr wrap="square" lIns="0" tIns="0" rIns="0" bIns="0" rtlCol="0" anchor="ctr"/>
          <a:lstStyle/>
          <a:p>
            <a:pPr marL="0" indent="0" algn="r">
              <a:buNone/>
            </a:pPr>
            <a:r>
              <a:rPr lang="en-US" sz="750" dirty="0">
                <a:solidFill>
                  <a:srgbClr val="92A0BC"/>
                </a:solidFill>
                <a:latin typeface="Calibri" pitchFamily="34" charset="0"/>
                <a:ea typeface="Calibri" pitchFamily="34" charset="-122"/>
                <a:cs typeface="Calibri" pitchFamily="34" charset="-120"/>
              </a:rPr>
              <a:t>31</a:t>
            </a:r>
            <a:endParaRPr lang="en-US" sz="750" dirty="0"/>
          </a:p>
        </p:txBody>
      </p:sp>
      <p:sp>
        <p:nvSpPr>
          <p:cNvPr id="4" name="Text 1"/>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GOVERNANCE &amp; ACCEPTANCE</a:t>
            </a:r>
            <a:endParaRPr lang="en-US" sz="950" dirty="0"/>
          </a:p>
        </p:txBody>
      </p:sp>
      <p:sp>
        <p:nvSpPr>
          <p:cNvPr id="5" name="Text 2"/>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Who decides what, and how the programme is accepted</a:t>
            </a:r>
            <a:endParaRPr lang="en-US" sz="2800" dirty="0"/>
          </a:p>
        </p:txBody>
      </p:sp>
      <p:sp>
        <p:nvSpPr>
          <p:cNvPr id="6" name="Shape 3"/>
          <p:cNvSpPr/>
          <p:nvPr/>
        </p:nvSpPr>
        <p:spPr>
          <a:xfrm>
            <a:off x="502920" y="1298448"/>
            <a:ext cx="5257800" cy="2286000"/>
          </a:xfrm>
          <a:prstGeom prst="roundRect">
            <a:avLst>
              <a:gd name="adj" fmla="val 2000"/>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7" name="Text 4"/>
          <p:cNvSpPr txBox="1"/>
          <p:nvPr/>
        </p:nvSpPr>
        <p:spPr>
          <a:xfrm>
            <a:off x="740664" y="1444752"/>
            <a:ext cx="475488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Governance rhythm</a:t>
            </a:r>
            <a:endParaRPr lang="en-US" sz="1200" dirty="0"/>
          </a:p>
        </p:txBody>
      </p:sp>
      <p:sp>
        <p:nvSpPr>
          <p:cNvPr id="8" name="Text 5"/>
          <p:cNvSpPr txBox="1"/>
          <p:nvPr/>
        </p:nvSpPr>
        <p:spPr>
          <a:xfrm>
            <a:off x="740664" y="1792224"/>
            <a:ext cx="4800600" cy="16916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Weekly programme board: scope, risk, gate readiness, and decisions with named owners</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Daily migration stand-up during wave windows, with your service desk in the room</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A single decision log; verbal approvals are never carried forward</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Change control: any scope change is costed and boarded before work starts</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Evidence pack maintained continuously for audit: reconciliation, exceptions, approvals</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A weekly one-page status: what moved, what is at risk, what needs a decision from you</a:t>
            </a:r>
            <a:endParaRPr lang="en-US" sz="870" dirty="0"/>
          </a:p>
        </p:txBody>
      </p:sp>
      <p:sp>
        <p:nvSpPr>
          <p:cNvPr id="9" name="Shape 6"/>
          <p:cNvSpPr/>
          <p:nvPr/>
        </p:nvSpPr>
        <p:spPr>
          <a:xfrm>
            <a:off x="6080760" y="1298448"/>
            <a:ext cx="5257800" cy="2286000"/>
          </a:xfrm>
          <a:prstGeom prst="roundRect">
            <a:avLst>
              <a:gd name="adj" fmla="val 2000"/>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0" name="Text 7"/>
          <p:cNvSpPr txBox="1"/>
          <p:nvPr/>
        </p:nvSpPr>
        <p:spPr>
          <a:xfrm>
            <a:off x="6318504" y="1444752"/>
            <a:ext cx="4754880" cy="274320"/>
          </a:xfrm>
          <a:prstGeom prst="rect">
            <a:avLst/>
          </a:prstGeom>
          <a:noFill/>
          <a:ln/>
        </p:spPr>
        <p:txBody>
          <a:bodyPr wrap="square" lIns="0" tIns="0" rIns="0" bIns="0" rtlCol="0" anchor="t"/>
          <a:lstStyle/>
          <a:p>
            <a:pPr marL="0" indent="0" algn="l">
              <a:lnSpc>
                <a:spcPct val="112000"/>
              </a:lnSpc>
              <a:buNone/>
            </a:pPr>
            <a:r>
              <a:rPr lang="en-US" sz="1200" b="1" dirty="0">
                <a:solidFill>
                  <a:srgbClr val="001D5F"/>
                </a:solidFill>
                <a:latin typeface="Calibri" pitchFamily="34" charset="0"/>
                <a:ea typeface="Calibri" pitchFamily="34" charset="-122"/>
                <a:cs typeface="Calibri" pitchFamily="34" charset="-120"/>
              </a:rPr>
              <a:t>Decision rights</a:t>
            </a:r>
            <a:endParaRPr lang="en-US" sz="1200" dirty="0"/>
          </a:p>
        </p:txBody>
      </p:sp>
      <p:sp>
        <p:nvSpPr>
          <p:cNvPr id="11" name="Text 8"/>
          <p:cNvSpPr txBox="1"/>
          <p:nvPr/>
        </p:nvSpPr>
        <p:spPr>
          <a:xfrm>
            <a:off x="6318504" y="1792224"/>
            <a:ext cx="4800600" cy="16916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Programme board: your CIO or CTO sponsor, a CISO representative, and our engagement lead</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Wave sign-off: a named business owner on your side - never the delivery team signing its own work</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Technical design authority is joint; disputes escalate to the board within 48 hours</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Gate approvals at discovery, POC, every wave and hypercare close, each with named approvers</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Anything that cannot be evidenced is treated as not done</a:t>
            </a:r>
            <a:endParaRPr lang="en-US" sz="870" dirty="0"/>
          </a:p>
          <a:p>
            <a:pPr marL="342900" indent="-342900">
              <a:lnSpc>
                <a:spcPct val="105000"/>
              </a:lnSpc>
              <a:spcAft>
                <a:spcPts val="400"/>
              </a:spcAft>
              <a:buSzPct val="100000"/>
              <a:buChar char="▪"/>
            </a:pPr>
            <a:r>
              <a:rPr lang="en-US" sz="870" dirty="0">
                <a:solidFill>
                  <a:srgbClr val="15203D"/>
                </a:solidFill>
                <a:latin typeface="Calibri" pitchFamily="34" charset="0"/>
                <a:ea typeface="Calibri" pitchFamily="34" charset="-122"/>
                <a:cs typeface="Calibri" pitchFamily="34" charset="-120"/>
              </a:rPr>
              <a:t>A named deputy for every approver, so an absence never becomes the blocker</a:t>
            </a:r>
            <a:endParaRPr lang="en-US" sz="870" dirty="0"/>
          </a:p>
        </p:txBody>
      </p:sp>
      <p:sp>
        <p:nvSpPr>
          <p:cNvPr id="12" name="Text 9"/>
          <p:cNvSpPr txBox="1"/>
          <p:nvPr/>
        </p:nvSpPr>
        <p:spPr>
          <a:xfrm>
            <a:off x="502920" y="3822192"/>
            <a:ext cx="10424160" cy="292608"/>
          </a:xfrm>
          <a:prstGeom prst="rect">
            <a:avLst/>
          </a:prstGeom>
          <a:noFill/>
          <a:ln/>
        </p:spPr>
        <p:txBody>
          <a:bodyPr wrap="square" lIns="0" tIns="0" rIns="0" bIns="0" rtlCol="0" anchor="t"/>
          <a:lstStyle/>
          <a:p>
            <a:pPr marL="0" indent="0" algn="l">
              <a:lnSpc>
                <a:spcPct val="112000"/>
              </a:lnSpc>
              <a:buNone/>
            </a:pPr>
            <a:r>
              <a:rPr lang="en-US" sz="1250" b="1" dirty="0">
                <a:solidFill>
                  <a:srgbClr val="001D5F"/>
                </a:solidFill>
                <a:latin typeface="Calibri" pitchFamily="34" charset="0"/>
                <a:ea typeface="Calibri" pitchFamily="34" charset="-122"/>
                <a:cs typeface="Calibri" pitchFamily="34" charset="-120"/>
              </a:rPr>
              <a:t>Programme acceptance criteria</a:t>
            </a:r>
            <a:endParaRPr lang="en-US" sz="1250" dirty="0"/>
          </a:p>
        </p:txBody>
      </p:sp>
      <p:sp>
        <p:nvSpPr>
          <p:cNvPr id="13" name="Shape 10"/>
          <p:cNvSpPr/>
          <p:nvPr/>
        </p:nvSpPr>
        <p:spPr>
          <a:xfrm>
            <a:off x="502920" y="4224528"/>
            <a:ext cx="1684050" cy="1298448"/>
          </a:xfrm>
          <a:prstGeom prst="roundRect">
            <a:avLst>
              <a:gd name="adj" fmla="val 352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4" name="Text 11"/>
          <p:cNvSpPr txBox="1"/>
          <p:nvPr/>
        </p:nvSpPr>
        <p:spPr>
          <a:xfrm>
            <a:off x="667512" y="4370832"/>
            <a:ext cx="1417320" cy="457200"/>
          </a:xfrm>
          <a:prstGeom prst="rect">
            <a:avLst/>
          </a:prstGeom>
          <a:noFill/>
          <a:ln/>
        </p:spPr>
        <p:txBody>
          <a:bodyPr wrap="square" lIns="0" tIns="0" rIns="0" bIns="0" rtlCol="0" anchor="t"/>
          <a:lstStyle/>
          <a:p>
            <a:pPr marL="0" indent="0" algn="l">
              <a:lnSpc>
                <a:spcPct val="90000"/>
              </a:lnSpc>
              <a:buNone/>
            </a:pPr>
            <a:r>
              <a:rPr lang="en-US" sz="1800" b="1" dirty="0">
                <a:solidFill>
                  <a:srgbClr val="0053EB"/>
                </a:solidFill>
                <a:latin typeface="Calibri" pitchFamily="34" charset="0"/>
                <a:ea typeface="Calibri" pitchFamily="34" charset="-122"/>
                <a:cs typeface="Calibri" pitchFamily="34" charset="-120"/>
              </a:rPr>
              <a:t>700+</a:t>
            </a:r>
            <a:endParaRPr lang="en-US" sz="1800" dirty="0"/>
          </a:p>
        </p:txBody>
      </p:sp>
      <p:sp>
        <p:nvSpPr>
          <p:cNvPr id="15" name="Text 12"/>
          <p:cNvSpPr txBox="1"/>
          <p:nvPr/>
        </p:nvSpPr>
        <p:spPr>
          <a:xfrm>
            <a:off x="667512" y="4846320"/>
            <a:ext cx="1371600" cy="868680"/>
          </a:xfrm>
          <a:prstGeom prst="rect">
            <a:avLst/>
          </a:prstGeom>
          <a:noFill/>
          <a:ln/>
        </p:spPr>
        <p:txBody>
          <a:bodyPr wrap="square" lIns="0" tIns="0" rIns="0" bIns="0" rtlCol="0" anchor="t"/>
          <a:lstStyle/>
          <a:p>
            <a:pPr marL="0" indent="0" algn="l">
              <a:lnSpc>
                <a:spcPct val="110000"/>
              </a:lnSpc>
              <a:buNone/>
            </a:pPr>
            <a:r>
              <a:rPr lang="en-US" sz="830" dirty="0">
                <a:solidFill>
                  <a:srgbClr val="5D6B8C"/>
                </a:solidFill>
                <a:latin typeface="Calibri" pitchFamily="34" charset="0"/>
                <a:ea typeface="Calibri" pitchFamily="34" charset="-122"/>
                <a:cs typeface="Calibri" pitchFamily="34" charset="-120"/>
              </a:rPr>
              <a:t>users migrated and signed off wave by wave</a:t>
            </a:r>
            <a:endParaRPr lang="en-US" sz="830" dirty="0"/>
          </a:p>
        </p:txBody>
      </p:sp>
      <p:sp>
        <p:nvSpPr>
          <p:cNvPr id="16" name="Shape 13"/>
          <p:cNvSpPr/>
          <p:nvPr/>
        </p:nvSpPr>
        <p:spPr>
          <a:xfrm>
            <a:off x="2333274" y="4224528"/>
            <a:ext cx="1684050" cy="1298448"/>
          </a:xfrm>
          <a:prstGeom prst="roundRect">
            <a:avLst>
              <a:gd name="adj" fmla="val 352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7" name="Text 14"/>
          <p:cNvSpPr txBox="1"/>
          <p:nvPr/>
        </p:nvSpPr>
        <p:spPr>
          <a:xfrm>
            <a:off x="2497866" y="4370832"/>
            <a:ext cx="1417320" cy="457200"/>
          </a:xfrm>
          <a:prstGeom prst="rect">
            <a:avLst/>
          </a:prstGeom>
          <a:noFill/>
          <a:ln/>
        </p:spPr>
        <p:txBody>
          <a:bodyPr wrap="square" lIns="0" tIns="0" rIns="0" bIns="0" rtlCol="0" anchor="t"/>
          <a:lstStyle/>
          <a:p>
            <a:pPr marL="0" indent="0" algn="l">
              <a:lnSpc>
                <a:spcPct val="90000"/>
              </a:lnSpc>
              <a:buNone/>
            </a:pPr>
            <a:r>
              <a:rPr lang="en-US" sz="1800" b="1" dirty="0">
                <a:solidFill>
                  <a:srgbClr val="0053EB"/>
                </a:solidFill>
                <a:latin typeface="Calibri" pitchFamily="34" charset="0"/>
                <a:ea typeface="Calibri" pitchFamily="34" charset="-122"/>
                <a:cs typeface="Calibri" pitchFamily="34" charset="-120"/>
              </a:rPr>
              <a:t>&gt;=99.5%</a:t>
            </a:r>
            <a:endParaRPr lang="en-US" sz="1800" dirty="0"/>
          </a:p>
        </p:txBody>
      </p:sp>
      <p:sp>
        <p:nvSpPr>
          <p:cNvPr id="18" name="Text 15"/>
          <p:cNvSpPr txBox="1"/>
          <p:nvPr/>
        </p:nvSpPr>
        <p:spPr>
          <a:xfrm>
            <a:off x="2497866" y="4846320"/>
            <a:ext cx="1371600" cy="868680"/>
          </a:xfrm>
          <a:prstGeom prst="rect">
            <a:avLst/>
          </a:prstGeom>
          <a:noFill/>
          <a:ln/>
        </p:spPr>
        <p:txBody>
          <a:bodyPr wrap="square" lIns="0" tIns="0" rIns="0" bIns="0" rtlCol="0" anchor="t"/>
          <a:lstStyle/>
          <a:p>
            <a:pPr marL="0" indent="0" algn="l">
              <a:lnSpc>
                <a:spcPct val="110000"/>
              </a:lnSpc>
              <a:buNone/>
            </a:pPr>
            <a:r>
              <a:rPr lang="en-US" sz="830" dirty="0">
                <a:solidFill>
                  <a:srgbClr val="5D6B8C"/>
                </a:solidFill>
                <a:latin typeface="Calibri" pitchFamily="34" charset="0"/>
                <a:ea typeface="Calibri" pitchFamily="34" charset="-122"/>
                <a:cs typeface="Calibri" pitchFamily="34" charset="-120"/>
              </a:rPr>
              <a:t>mail item fidelity, evidenced per mailbox</a:t>
            </a:r>
            <a:endParaRPr lang="en-US" sz="830" dirty="0"/>
          </a:p>
        </p:txBody>
      </p:sp>
      <p:sp>
        <p:nvSpPr>
          <p:cNvPr id="19" name="Shape 16"/>
          <p:cNvSpPr/>
          <p:nvPr/>
        </p:nvSpPr>
        <p:spPr>
          <a:xfrm>
            <a:off x="4163629" y="4224528"/>
            <a:ext cx="1684050" cy="1298448"/>
          </a:xfrm>
          <a:prstGeom prst="roundRect">
            <a:avLst>
              <a:gd name="adj" fmla="val 352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0" name="Text 17"/>
          <p:cNvSpPr txBox="1"/>
          <p:nvPr/>
        </p:nvSpPr>
        <p:spPr>
          <a:xfrm>
            <a:off x="4328221" y="4370832"/>
            <a:ext cx="1417320" cy="457200"/>
          </a:xfrm>
          <a:prstGeom prst="rect">
            <a:avLst/>
          </a:prstGeom>
          <a:noFill/>
          <a:ln/>
        </p:spPr>
        <p:txBody>
          <a:bodyPr wrap="square" lIns="0" tIns="0" rIns="0" bIns="0" rtlCol="0" anchor="t"/>
          <a:lstStyle/>
          <a:p>
            <a:pPr marL="0" indent="0" algn="l">
              <a:lnSpc>
                <a:spcPct val="90000"/>
              </a:lnSpc>
              <a:buNone/>
            </a:pPr>
            <a:r>
              <a:rPr lang="en-US" sz="1800" b="1" dirty="0">
                <a:solidFill>
                  <a:srgbClr val="0053EB"/>
                </a:solidFill>
                <a:latin typeface="Calibri" pitchFamily="34" charset="0"/>
                <a:ea typeface="Calibri" pitchFamily="34" charset="-122"/>
                <a:cs typeface="Calibri" pitchFamily="34" charset="-120"/>
              </a:rPr>
              <a:t>100%</a:t>
            </a:r>
            <a:endParaRPr lang="en-US" sz="1800" dirty="0"/>
          </a:p>
        </p:txBody>
      </p:sp>
      <p:sp>
        <p:nvSpPr>
          <p:cNvPr id="21" name="Text 18"/>
          <p:cNvSpPr txBox="1"/>
          <p:nvPr/>
        </p:nvSpPr>
        <p:spPr>
          <a:xfrm>
            <a:off x="4328221" y="4846320"/>
            <a:ext cx="1371600" cy="868680"/>
          </a:xfrm>
          <a:prstGeom prst="rect">
            <a:avLst/>
          </a:prstGeom>
          <a:noFill/>
          <a:ln/>
        </p:spPr>
        <p:txBody>
          <a:bodyPr wrap="square" lIns="0" tIns="0" rIns="0" bIns="0" rtlCol="0" anchor="t"/>
          <a:lstStyle/>
          <a:p>
            <a:pPr marL="0" indent="0" algn="l">
              <a:lnSpc>
                <a:spcPct val="110000"/>
              </a:lnSpc>
              <a:buNone/>
            </a:pPr>
            <a:r>
              <a:rPr lang="en-US" sz="830" dirty="0">
                <a:solidFill>
                  <a:srgbClr val="5D6B8C"/>
                </a:solidFill>
                <a:latin typeface="Calibri" pitchFamily="34" charset="0"/>
                <a:ea typeface="Calibri" pitchFamily="34" charset="-122"/>
                <a:cs typeface="Calibri" pitchFamily="34" charset="-120"/>
              </a:rPr>
              <a:t>sign-on, relay sources and integrations verified</a:t>
            </a:r>
            <a:endParaRPr lang="en-US" sz="830" dirty="0"/>
          </a:p>
        </p:txBody>
      </p:sp>
      <p:sp>
        <p:nvSpPr>
          <p:cNvPr id="22" name="Shape 19"/>
          <p:cNvSpPr/>
          <p:nvPr/>
        </p:nvSpPr>
        <p:spPr>
          <a:xfrm>
            <a:off x="5993983" y="4224528"/>
            <a:ext cx="1684050" cy="1298448"/>
          </a:xfrm>
          <a:prstGeom prst="roundRect">
            <a:avLst>
              <a:gd name="adj" fmla="val 352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3" name="Text 20"/>
          <p:cNvSpPr txBox="1"/>
          <p:nvPr/>
        </p:nvSpPr>
        <p:spPr>
          <a:xfrm>
            <a:off x="6158575" y="4370832"/>
            <a:ext cx="1417320" cy="457200"/>
          </a:xfrm>
          <a:prstGeom prst="rect">
            <a:avLst/>
          </a:prstGeom>
          <a:noFill/>
          <a:ln/>
        </p:spPr>
        <p:txBody>
          <a:bodyPr wrap="square" lIns="0" tIns="0" rIns="0" bIns="0" rtlCol="0" anchor="t"/>
          <a:lstStyle/>
          <a:p>
            <a:pPr marL="0" indent="0" algn="l">
              <a:lnSpc>
                <a:spcPct val="90000"/>
              </a:lnSpc>
              <a:buNone/>
            </a:pPr>
            <a:r>
              <a:rPr lang="en-US" sz="1800" b="1" dirty="0">
                <a:solidFill>
                  <a:srgbClr val="0053EB"/>
                </a:solidFill>
                <a:latin typeface="Calibri" pitchFamily="34" charset="0"/>
                <a:ea typeface="Calibri" pitchFamily="34" charset="-122"/>
                <a:cs typeface="Calibri" pitchFamily="34" charset="-120"/>
              </a:rPr>
              <a:t>&lt;8%</a:t>
            </a:r>
            <a:endParaRPr lang="en-US" sz="1800" dirty="0"/>
          </a:p>
        </p:txBody>
      </p:sp>
      <p:sp>
        <p:nvSpPr>
          <p:cNvPr id="24" name="Text 21"/>
          <p:cNvSpPr txBox="1"/>
          <p:nvPr/>
        </p:nvSpPr>
        <p:spPr>
          <a:xfrm>
            <a:off x="6158575" y="4846320"/>
            <a:ext cx="1371600" cy="868680"/>
          </a:xfrm>
          <a:prstGeom prst="rect">
            <a:avLst/>
          </a:prstGeom>
          <a:noFill/>
          <a:ln/>
        </p:spPr>
        <p:txBody>
          <a:bodyPr wrap="square" lIns="0" tIns="0" rIns="0" bIns="0" rtlCol="0" anchor="t"/>
          <a:lstStyle/>
          <a:p>
            <a:pPr marL="0" indent="0" algn="l">
              <a:lnSpc>
                <a:spcPct val="110000"/>
              </a:lnSpc>
              <a:buNone/>
            </a:pPr>
            <a:r>
              <a:rPr lang="en-US" sz="830" dirty="0">
                <a:solidFill>
                  <a:srgbClr val="5D6B8C"/>
                </a:solidFill>
                <a:latin typeface="Calibri" pitchFamily="34" charset="0"/>
                <a:ea typeface="Calibri" pitchFamily="34" charset="-122"/>
                <a:cs typeface="Calibri" pitchFamily="34" charset="-120"/>
              </a:rPr>
              <a:t>helpdesk ticket rate per migrated wave</a:t>
            </a:r>
            <a:endParaRPr lang="en-US" sz="830" dirty="0"/>
          </a:p>
        </p:txBody>
      </p:sp>
      <p:sp>
        <p:nvSpPr>
          <p:cNvPr id="25" name="Shape 22"/>
          <p:cNvSpPr/>
          <p:nvPr/>
        </p:nvSpPr>
        <p:spPr>
          <a:xfrm>
            <a:off x="7824338" y="4224528"/>
            <a:ext cx="1684050" cy="1298448"/>
          </a:xfrm>
          <a:prstGeom prst="roundRect">
            <a:avLst>
              <a:gd name="adj" fmla="val 352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6" name="Text 23"/>
          <p:cNvSpPr txBox="1"/>
          <p:nvPr/>
        </p:nvSpPr>
        <p:spPr>
          <a:xfrm>
            <a:off x="7988930" y="4370832"/>
            <a:ext cx="1417320" cy="457200"/>
          </a:xfrm>
          <a:prstGeom prst="rect">
            <a:avLst/>
          </a:prstGeom>
          <a:noFill/>
          <a:ln/>
        </p:spPr>
        <p:txBody>
          <a:bodyPr wrap="square" lIns="0" tIns="0" rIns="0" bIns="0" rtlCol="0" anchor="t"/>
          <a:lstStyle/>
          <a:p>
            <a:pPr marL="0" indent="0" algn="l">
              <a:lnSpc>
                <a:spcPct val="90000"/>
              </a:lnSpc>
              <a:buNone/>
            </a:pPr>
            <a:r>
              <a:rPr lang="en-US" sz="1800" b="1" dirty="0">
                <a:solidFill>
                  <a:srgbClr val="0053EB"/>
                </a:solidFill>
                <a:latin typeface="Calibri" pitchFamily="34" charset="0"/>
                <a:ea typeface="Calibri" pitchFamily="34" charset="-122"/>
                <a:cs typeface="Calibri" pitchFamily="34" charset="-120"/>
              </a:rPr>
              <a:t>100%</a:t>
            </a:r>
            <a:endParaRPr lang="en-US" sz="1800" dirty="0"/>
          </a:p>
        </p:txBody>
      </p:sp>
      <p:sp>
        <p:nvSpPr>
          <p:cNvPr id="27" name="Text 24"/>
          <p:cNvSpPr txBox="1"/>
          <p:nvPr/>
        </p:nvSpPr>
        <p:spPr>
          <a:xfrm>
            <a:off x="7988930" y="4846320"/>
            <a:ext cx="1371600" cy="868680"/>
          </a:xfrm>
          <a:prstGeom prst="rect">
            <a:avLst/>
          </a:prstGeom>
          <a:noFill/>
          <a:ln/>
        </p:spPr>
        <p:txBody>
          <a:bodyPr wrap="square" lIns="0" tIns="0" rIns="0" bIns="0" rtlCol="0" anchor="t"/>
          <a:lstStyle/>
          <a:p>
            <a:pPr marL="0" indent="0" algn="l">
              <a:lnSpc>
                <a:spcPct val="110000"/>
              </a:lnSpc>
              <a:buNone/>
            </a:pPr>
            <a:r>
              <a:rPr lang="en-US" sz="830" dirty="0">
                <a:solidFill>
                  <a:srgbClr val="5D6B8C"/>
                </a:solidFill>
                <a:latin typeface="Calibri" pitchFamily="34" charset="0"/>
                <a:ea typeface="Calibri" pitchFamily="34" charset="-122"/>
                <a:cs typeface="Calibri" pitchFamily="34" charset="-120"/>
              </a:rPr>
              <a:t>administrators certified and runbooks handed over</a:t>
            </a:r>
            <a:endParaRPr lang="en-US" sz="830" dirty="0"/>
          </a:p>
        </p:txBody>
      </p:sp>
      <p:sp>
        <p:nvSpPr>
          <p:cNvPr id="28" name="Shape 25"/>
          <p:cNvSpPr/>
          <p:nvPr/>
        </p:nvSpPr>
        <p:spPr>
          <a:xfrm>
            <a:off x="9654692" y="4224528"/>
            <a:ext cx="1684050" cy="1298448"/>
          </a:xfrm>
          <a:prstGeom prst="roundRect">
            <a:avLst>
              <a:gd name="adj" fmla="val 3521"/>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29" name="Text 26"/>
          <p:cNvSpPr txBox="1"/>
          <p:nvPr/>
        </p:nvSpPr>
        <p:spPr>
          <a:xfrm>
            <a:off x="9819284" y="4370832"/>
            <a:ext cx="1417320" cy="457200"/>
          </a:xfrm>
          <a:prstGeom prst="rect">
            <a:avLst/>
          </a:prstGeom>
          <a:noFill/>
          <a:ln/>
        </p:spPr>
        <p:txBody>
          <a:bodyPr wrap="square" lIns="0" tIns="0" rIns="0" bIns="0" rtlCol="0" anchor="t"/>
          <a:lstStyle/>
          <a:p>
            <a:pPr marL="0" indent="0" algn="l">
              <a:lnSpc>
                <a:spcPct val="90000"/>
              </a:lnSpc>
              <a:buNone/>
            </a:pPr>
            <a:r>
              <a:rPr lang="en-US" sz="1800" b="1" dirty="0">
                <a:solidFill>
                  <a:srgbClr val="0053EB"/>
                </a:solidFill>
                <a:latin typeface="Calibri" pitchFamily="34" charset="0"/>
                <a:ea typeface="Calibri" pitchFamily="34" charset="-122"/>
                <a:cs typeface="Calibri" pitchFamily="34" charset="-120"/>
              </a:rPr>
              <a:t>0</a:t>
            </a:r>
            <a:endParaRPr lang="en-US" sz="1800" dirty="0"/>
          </a:p>
        </p:txBody>
      </p:sp>
      <p:sp>
        <p:nvSpPr>
          <p:cNvPr id="30" name="Text 27"/>
          <p:cNvSpPr txBox="1"/>
          <p:nvPr/>
        </p:nvSpPr>
        <p:spPr>
          <a:xfrm>
            <a:off x="9819284" y="4846320"/>
            <a:ext cx="1371600" cy="868680"/>
          </a:xfrm>
          <a:prstGeom prst="rect">
            <a:avLst/>
          </a:prstGeom>
          <a:noFill/>
          <a:ln/>
        </p:spPr>
        <p:txBody>
          <a:bodyPr wrap="square" lIns="0" tIns="0" rIns="0" bIns="0" rtlCol="0" anchor="t"/>
          <a:lstStyle/>
          <a:p>
            <a:pPr marL="0" indent="0" algn="l">
              <a:lnSpc>
                <a:spcPct val="110000"/>
              </a:lnSpc>
              <a:buNone/>
            </a:pPr>
            <a:r>
              <a:rPr lang="en-US" sz="830" dirty="0">
                <a:solidFill>
                  <a:srgbClr val="5D6B8C"/>
                </a:solidFill>
                <a:latin typeface="Calibri" pitchFamily="34" charset="0"/>
                <a:ea typeface="Calibri" pitchFamily="34" charset="-122"/>
                <a:cs typeface="Calibri" pitchFamily="34" charset="-120"/>
              </a:rPr>
              <a:t>compliance exceptions at programme close</a:t>
            </a:r>
            <a:endParaRPr lang="en-US" sz="830" dirty="0"/>
          </a:p>
        </p:txBody>
      </p:sp>
      <p:sp>
        <p:nvSpPr>
          <p:cNvPr id="36" name="AutoShape 2">
            <a:extLst>
              <a:ext uri="{FF2B5EF4-FFF2-40B4-BE49-F238E27FC236}">
                <a16:creationId xmlns:a16="http://schemas.microsoft.com/office/drawing/2014/main" id="{2B75FA28-65AE-E575-1137-7ADB48F5DE87}"/>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38" name="TextBox 7">
            <a:extLst>
              <a:ext uri="{FF2B5EF4-FFF2-40B4-BE49-F238E27FC236}">
                <a16:creationId xmlns:a16="http://schemas.microsoft.com/office/drawing/2014/main" id="{FA764E32-1DDB-E3D8-FF60-D6F9A09C848D}"/>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40" name="TextBox 39">
            <a:extLst>
              <a:ext uri="{FF2B5EF4-FFF2-40B4-BE49-F238E27FC236}">
                <a16:creationId xmlns:a16="http://schemas.microsoft.com/office/drawing/2014/main" id="{1ED7810B-8EE2-6101-1810-0A1EE68C3ABE}"/>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42" name="TextBox 41">
            <a:extLst>
              <a:ext uri="{FF2B5EF4-FFF2-40B4-BE49-F238E27FC236}">
                <a16:creationId xmlns:a16="http://schemas.microsoft.com/office/drawing/2014/main" id="{79A905E9-9AD8-28B7-0769-BDDB7256D17B}"/>
              </a:ext>
            </a:extLst>
          </p:cNvPr>
          <p:cNvSpPr txBox="1"/>
          <p:nvPr/>
        </p:nvSpPr>
        <p:spPr>
          <a:xfrm>
            <a:off x="5911269" y="6533202"/>
            <a:ext cx="287258" cy="215444"/>
          </a:xfrm>
          <a:prstGeom prst="rect">
            <a:avLst/>
          </a:prstGeom>
          <a:noFill/>
        </p:spPr>
        <p:txBody>
          <a:bodyPr wrap="none" rtlCol="0">
            <a:spAutoFit/>
          </a:bodyPr>
          <a:lstStyle/>
          <a:p>
            <a:r>
              <a:rPr lang="en-US" sz="800" dirty="0"/>
              <a:t>30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_icon.png"/>
          <p:cNvPicPr>
            <a:picLocks noChangeAspect="1"/>
          </p:cNvPicPr>
          <p:nvPr/>
        </p:nvPicPr>
        <p:blipFill>
          <a:blip r:embed="rId3"/>
          <a:stretch>
            <a:fillRect/>
          </a:stretch>
        </p:blipFill>
        <p:spPr>
          <a:xfrm>
            <a:off x="11301984" y="292608"/>
            <a:ext cx="512064" cy="407822"/>
          </a:xfrm>
          <a:prstGeom prst="rect">
            <a:avLst/>
          </a:prstGeom>
        </p:spPr>
      </p:pic>
      <p:sp>
        <p:nvSpPr>
          <p:cNvPr id="3" name="Text 0"/>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FUTURE M&amp;A READINESS</a:t>
            </a:r>
            <a:endParaRPr lang="en-US" sz="950" dirty="0"/>
          </a:p>
        </p:txBody>
      </p:sp>
      <p:sp>
        <p:nvSpPr>
          <p:cNvPr id="4" name="Text 1"/>
          <p:cNvSpPr txBox="1"/>
          <p:nvPr/>
        </p:nvSpPr>
        <p:spPr>
          <a:xfrm>
            <a:off x="502920" y="566928"/>
            <a:ext cx="10515600" cy="566928"/>
          </a:xfrm>
          <a:prstGeom prst="rect">
            <a:avLst/>
          </a:prstGeom>
          <a:noFill/>
          <a:ln/>
        </p:spPr>
        <p:txBody>
          <a:bodyPr wrap="square" lIns="0" tIns="0" rIns="0" bIns="0" rtlCol="0" anchor="ctr"/>
          <a:lstStyle/>
          <a:p>
            <a:pPr marL="0" indent="0">
              <a:buNone/>
            </a:pPr>
            <a:r>
              <a:rPr lang="en-US" sz="2800" b="1" dirty="0">
                <a:solidFill>
                  <a:srgbClr val="001D5F"/>
                </a:solidFill>
                <a:latin typeface="Calibri" pitchFamily="34" charset="0"/>
                <a:ea typeface="Calibri" pitchFamily="34" charset="-122"/>
                <a:cs typeface="Calibri" pitchFamily="34" charset="-120"/>
              </a:rPr>
              <a:t>What this programme leaves behind for the next acquisition</a:t>
            </a:r>
            <a:endParaRPr lang="en-US" sz="2800" dirty="0"/>
          </a:p>
        </p:txBody>
      </p:sp>
      <p:sp>
        <p:nvSpPr>
          <p:cNvPr id="5" name="Text 2"/>
          <p:cNvSpPr txBox="1"/>
          <p:nvPr/>
        </p:nvSpPr>
        <p:spPr>
          <a:xfrm>
            <a:off x="502920" y="1261872"/>
            <a:ext cx="10424160" cy="457200"/>
          </a:xfrm>
          <a:prstGeom prst="rect">
            <a:avLst/>
          </a:prstGeom>
          <a:noFill/>
          <a:ln/>
        </p:spPr>
        <p:txBody>
          <a:bodyPr wrap="square" lIns="0" tIns="0" rIns="0" bIns="0" rtlCol="0" anchor="t"/>
          <a:lstStyle/>
          <a:p>
            <a:pPr marL="0" indent="0" algn="l">
              <a:lnSpc>
                <a:spcPct val="115000"/>
              </a:lnSpc>
              <a:buNone/>
            </a:pPr>
            <a:r>
              <a:rPr lang="en-US" sz="1100" dirty="0">
                <a:solidFill>
                  <a:srgbClr val="5D6B8C"/>
                </a:solidFill>
                <a:latin typeface="Calibri" pitchFamily="34" charset="0"/>
                <a:ea typeface="Calibri" pitchFamily="34" charset="-122"/>
                <a:cs typeface="Calibri" pitchFamily="34" charset="-120"/>
              </a:rPr>
              <a:t>A migration of this size is normally booked as a one-off cost. Run this way it becomes a capability: a reusable factory, a trained team and a governed target platform that turn the next tenant integration from a project into a repeat.</a:t>
            </a:r>
            <a:endParaRPr lang="en-US" sz="1100" dirty="0"/>
          </a:p>
        </p:txBody>
      </p:sp>
      <p:sp>
        <p:nvSpPr>
          <p:cNvPr id="6" name="Shape 3"/>
          <p:cNvSpPr/>
          <p:nvPr/>
        </p:nvSpPr>
        <p:spPr>
          <a:xfrm>
            <a:off x="502920" y="1810512"/>
            <a:ext cx="3453414" cy="3529584"/>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7" name="Shape 4"/>
          <p:cNvSpPr/>
          <p:nvPr/>
        </p:nvSpPr>
        <p:spPr>
          <a:xfrm>
            <a:off x="740664" y="2002536"/>
            <a:ext cx="109728" cy="109728"/>
          </a:xfrm>
          <a:prstGeom prst="rect">
            <a:avLst/>
          </a:prstGeom>
          <a:solidFill>
            <a:srgbClr val="0053EB"/>
          </a:solidFill>
          <a:ln w="12700">
            <a:solidFill>
              <a:srgbClr val="0053EB"/>
            </a:solidFill>
            <a:prstDash val="solid"/>
          </a:ln>
        </p:spPr>
        <p:txBody>
          <a:bodyPr/>
          <a:lstStyle/>
          <a:p>
            <a:endParaRPr lang="en-IN"/>
          </a:p>
        </p:txBody>
      </p:sp>
      <p:sp>
        <p:nvSpPr>
          <p:cNvPr id="8" name="Text 5"/>
          <p:cNvSpPr txBox="1"/>
          <p:nvPr/>
        </p:nvSpPr>
        <p:spPr>
          <a:xfrm>
            <a:off x="960120"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The migration factory you keep</a:t>
            </a:r>
            <a:endParaRPr lang="en-US" sz="1150" dirty="0"/>
          </a:p>
        </p:txBody>
      </p:sp>
      <p:sp>
        <p:nvSpPr>
          <p:cNvPr id="9" name="Text 6"/>
          <p:cNvSpPr txBox="1"/>
          <p:nvPr/>
        </p:nvSpPr>
        <p:spPr>
          <a:xfrm>
            <a:off x="740664" y="2340864"/>
            <a:ext cx="3017520" cy="288036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Tooling stack already procured, configured and proven: service accounts, domain-wide delegation, a dedicated API quota project, and a throughput profile measured against real throttling</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The wave runbook is source-agnostic - pre-stage, delta, cutover, reconcile, sign off. Only the source tenant changes</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Discovery harness reusable as-is: Graph and Exchange PowerShell extracts, SharePoint tenant reports, message-trace analysis for relay discovery</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Reconciliation and evidence harness - item-count, hash and ACL diff reporting - gives the acquired entity day-one auditability</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Coexistence design already built and tested: split mail routing, GAL sync, Calendar Interop, Chat-to-Teams federation</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Certified administrators and an LMS of role-based content, ready to re-assign to a new population</a:t>
            </a:r>
            <a:endParaRPr lang="en-US" sz="830" dirty="0"/>
          </a:p>
        </p:txBody>
      </p:sp>
      <p:sp>
        <p:nvSpPr>
          <p:cNvPr id="10" name="Shape 7"/>
          <p:cNvSpPr/>
          <p:nvPr/>
        </p:nvSpPr>
        <p:spPr>
          <a:xfrm>
            <a:off x="4194078" y="1810512"/>
            <a:ext cx="3453414" cy="3529584"/>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1" name="Shape 8"/>
          <p:cNvSpPr/>
          <p:nvPr/>
        </p:nvSpPr>
        <p:spPr>
          <a:xfrm>
            <a:off x="4431822" y="2002536"/>
            <a:ext cx="109728" cy="109728"/>
          </a:xfrm>
          <a:prstGeom prst="rect">
            <a:avLst/>
          </a:prstGeom>
          <a:solidFill>
            <a:srgbClr val="0C3EB1"/>
          </a:solidFill>
          <a:ln w="12700">
            <a:solidFill>
              <a:srgbClr val="0C3EB1"/>
            </a:solidFill>
            <a:prstDash val="solid"/>
          </a:ln>
        </p:spPr>
        <p:txBody>
          <a:bodyPr/>
          <a:lstStyle/>
          <a:p>
            <a:endParaRPr lang="en-IN"/>
          </a:p>
        </p:txBody>
      </p:sp>
      <p:sp>
        <p:nvSpPr>
          <p:cNvPr id="12" name="Text 9"/>
          <p:cNvSpPr txBox="1"/>
          <p:nvPr/>
        </p:nvSpPr>
        <p:spPr>
          <a:xfrm>
            <a:off x="4651278"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Why one platform changes M&amp;A economics</a:t>
            </a:r>
            <a:endParaRPr lang="en-US" sz="1150" dirty="0"/>
          </a:p>
        </p:txBody>
      </p:sp>
      <p:sp>
        <p:nvSpPr>
          <p:cNvPr id="13" name="Text 10"/>
          <p:cNvSpPr txBox="1"/>
          <p:nvPr/>
        </p:nvSpPr>
        <p:spPr>
          <a:xfrm>
            <a:off x="4431822" y="2340864"/>
            <a:ext cx="3017520" cy="288036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Every acquisition becomes a one-way integration to a known destination, instead of a two-platform decision re-argued deal by deal</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One identity pattern: onboarding an acquired domain is a repeat of a proven federation and provisioning design, not a fresh architecture exercise</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The acquired entity inherits governance on day one - data region policy, Vault retention, DLP and sharing controls apply by OU rather than waiting for a policy project</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Shorter Transitional Service Agreements. TSAs bill monthly from the seller, so every week removed from the integration is a direct, measurable saving</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A single-vendor licence position simplifies true-up when headcount steps up, and strengthens the renewal negotiation</a:t>
            </a:r>
            <a:endParaRPr lang="en-US" sz="830" dirty="0"/>
          </a:p>
          <a:p>
            <a:pPr marL="342900" indent="-342900">
              <a:lnSpc>
                <a:spcPct val="105000"/>
              </a:lnSpc>
              <a:spcAft>
                <a:spcPts val="600"/>
              </a:spcAft>
              <a:buSzPct val="100000"/>
              <a:buChar char="▪"/>
            </a:pPr>
            <a:r>
              <a:rPr lang="en-US" sz="830" dirty="0">
                <a:solidFill>
                  <a:srgbClr val="15203D"/>
                </a:solidFill>
                <a:latin typeface="Calibri" pitchFamily="34" charset="0"/>
                <a:ea typeface="Calibri" pitchFamily="34" charset="-122"/>
                <a:cs typeface="Calibri" pitchFamily="34" charset="-120"/>
              </a:rPr>
              <a:t>Lower external dependency - your own team runs the next one, with us on call rather than in the chair</a:t>
            </a:r>
            <a:endParaRPr lang="en-US" sz="830" dirty="0"/>
          </a:p>
        </p:txBody>
      </p:sp>
      <p:sp>
        <p:nvSpPr>
          <p:cNvPr id="14" name="Shape 11"/>
          <p:cNvSpPr/>
          <p:nvPr/>
        </p:nvSpPr>
        <p:spPr>
          <a:xfrm>
            <a:off x="7885237" y="1810512"/>
            <a:ext cx="3453414" cy="3529584"/>
          </a:xfrm>
          <a:prstGeom prst="roundRect">
            <a:avLst>
              <a:gd name="adj" fmla="val 1324"/>
            </a:avLst>
          </a:prstGeom>
          <a:solidFill>
            <a:srgbClr val="DDE7FB"/>
          </a:solidFill>
          <a:ln w="12700">
            <a:solidFill>
              <a:srgbClr val="DDE7FB"/>
            </a:solidFill>
            <a:prstDash val="solid"/>
          </a:ln>
          <a:effectLst>
            <a:outerShdw blurRad="88900" dist="12700" dir="5400000" algn="bl" rotWithShape="0">
              <a:srgbClr val="000000">
                <a:alpha val="7000"/>
              </a:srgbClr>
            </a:outerShdw>
          </a:effectLst>
        </p:spPr>
        <p:txBody>
          <a:bodyPr/>
          <a:lstStyle/>
          <a:p>
            <a:endParaRPr lang="en-IN"/>
          </a:p>
        </p:txBody>
      </p:sp>
      <p:sp>
        <p:nvSpPr>
          <p:cNvPr id="15" name="Shape 12"/>
          <p:cNvSpPr/>
          <p:nvPr/>
        </p:nvSpPr>
        <p:spPr>
          <a:xfrm>
            <a:off x="8122981" y="2002536"/>
            <a:ext cx="109728" cy="109728"/>
          </a:xfrm>
          <a:prstGeom prst="rect">
            <a:avLst/>
          </a:prstGeom>
          <a:solidFill>
            <a:srgbClr val="001D5F"/>
          </a:solidFill>
          <a:ln w="12700">
            <a:solidFill>
              <a:srgbClr val="001D5F"/>
            </a:solidFill>
            <a:prstDash val="solid"/>
          </a:ln>
        </p:spPr>
        <p:txBody>
          <a:bodyPr/>
          <a:lstStyle/>
          <a:p>
            <a:endParaRPr lang="en-IN"/>
          </a:p>
        </p:txBody>
      </p:sp>
      <p:sp>
        <p:nvSpPr>
          <p:cNvPr id="16" name="Text 13"/>
          <p:cNvSpPr txBox="1"/>
          <p:nvPr/>
        </p:nvSpPr>
        <p:spPr>
          <a:xfrm>
            <a:off x="8342437" y="1929384"/>
            <a:ext cx="2926080" cy="274320"/>
          </a:xfrm>
          <a:prstGeom prst="rect">
            <a:avLst/>
          </a:prstGeom>
          <a:noFill/>
          <a:ln/>
        </p:spPr>
        <p:txBody>
          <a:bodyPr wrap="square" lIns="0" tIns="0" rIns="0" bIns="0" rtlCol="0" anchor="t"/>
          <a:lstStyle/>
          <a:p>
            <a:pPr marL="0" indent="0" algn="l">
              <a:lnSpc>
                <a:spcPct val="112000"/>
              </a:lnSpc>
              <a:buNone/>
            </a:pPr>
            <a:r>
              <a:rPr lang="en-US" sz="1150" b="1" dirty="0">
                <a:solidFill>
                  <a:srgbClr val="001D5F"/>
                </a:solidFill>
                <a:latin typeface="Calibri" pitchFamily="34" charset="0"/>
                <a:ea typeface="Calibri" pitchFamily="34" charset="-122"/>
                <a:cs typeface="Calibri" pitchFamily="34" charset="-120"/>
              </a:rPr>
              <a:t>What still has to be done per deal</a:t>
            </a:r>
            <a:endParaRPr lang="en-US" sz="1150" dirty="0"/>
          </a:p>
        </p:txBody>
      </p:sp>
      <p:sp>
        <p:nvSpPr>
          <p:cNvPr id="17" name="Text 14"/>
          <p:cNvSpPr txBox="1"/>
          <p:nvPr/>
        </p:nvSpPr>
        <p:spPr>
          <a:xfrm>
            <a:off x="8122981" y="2340864"/>
            <a:ext cx="3017520" cy="201168"/>
          </a:xfrm>
          <a:prstGeom prst="rect">
            <a:avLst/>
          </a:prstGeom>
          <a:noFill/>
          <a:ln/>
        </p:spPr>
        <p:txBody>
          <a:bodyPr wrap="square" lIns="0" tIns="0" rIns="0" bIns="0" rtlCol="0" anchor="t"/>
          <a:lstStyle/>
          <a:p>
            <a:pPr marL="0" indent="0" algn="l">
              <a:lnSpc>
                <a:spcPct val="112000"/>
              </a:lnSpc>
              <a:buNone/>
            </a:pPr>
            <a:r>
              <a:rPr lang="en-US" sz="780" b="1" dirty="0">
                <a:solidFill>
                  <a:srgbClr val="0053EB"/>
                </a:solidFill>
                <a:latin typeface="Calibri" pitchFamily="34" charset="0"/>
                <a:ea typeface="Calibri" pitchFamily="34" charset="-122"/>
                <a:cs typeface="Calibri" pitchFamily="34" charset="-120"/>
              </a:rPr>
              <a:t>REUSABLE, UNCHANGED</a:t>
            </a:r>
            <a:endParaRPr lang="en-US" sz="780" dirty="0"/>
          </a:p>
        </p:txBody>
      </p:sp>
      <p:sp>
        <p:nvSpPr>
          <p:cNvPr id="18" name="Text 15"/>
          <p:cNvSpPr txBox="1"/>
          <p:nvPr/>
        </p:nvSpPr>
        <p:spPr>
          <a:xfrm>
            <a:off x="8122981" y="2560320"/>
            <a:ext cx="3017520" cy="530352"/>
          </a:xfrm>
          <a:prstGeom prst="rect">
            <a:avLst/>
          </a:prstGeom>
          <a:noFill/>
          <a:ln/>
        </p:spPr>
        <p:txBody>
          <a:bodyPr wrap="square" lIns="0" tIns="0" rIns="0" bIns="0" rtlCol="0" anchor="t"/>
          <a:lstStyle/>
          <a:p>
            <a:pPr marL="0" indent="0" algn="l">
              <a:lnSpc>
                <a:spcPct val="110000"/>
              </a:lnSpc>
              <a:buNone/>
            </a:pPr>
            <a:r>
              <a:rPr lang="en-US" sz="830" dirty="0">
                <a:solidFill>
                  <a:srgbClr val="15203D"/>
                </a:solidFill>
                <a:latin typeface="Calibri" pitchFamily="34" charset="0"/>
                <a:ea typeface="Calibri" pitchFamily="34" charset="-122"/>
                <a:cs typeface="Calibri" pitchFamily="34" charset="-120"/>
              </a:rPr>
              <a:t>Tooling and configuration · wave runbook · reconciliation harness · governance and gate model · training content and LMS · limitation framework · comms templates · service desk playbook</a:t>
            </a:r>
            <a:endParaRPr lang="en-US" sz="830" dirty="0"/>
          </a:p>
        </p:txBody>
      </p:sp>
      <p:sp>
        <p:nvSpPr>
          <p:cNvPr id="19" name="Text 16"/>
          <p:cNvSpPr txBox="1"/>
          <p:nvPr/>
        </p:nvSpPr>
        <p:spPr>
          <a:xfrm>
            <a:off x="8122981" y="3072384"/>
            <a:ext cx="3017520" cy="201168"/>
          </a:xfrm>
          <a:prstGeom prst="rect">
            <a:avLst/>
          </a:prstGeom>
          <a:noFill/>
          <a:ln/>
        </p:spPr>
        <p:txBody>
          <a:bodyPr wrap="square" lIns="0" tIns="0" rIns="0" bIns="0" rtlCol="0" anchor="t"/>
          <a:lstStyle/>
          <a:p>
            <a:pPr marL="0" indent="0" algn="l">
              <a:lnSpc>
                <a:spcPct val="112000"/>
              </a:lnSpc>
              <a:buNone/>
            </a:pPr>
            <a:r>
              <a:rPr lang="en-US" sz="780" b="1" dirty="0">
                <a:solidFill>
                  <a:srgbClr val="0C3EB1"/>
                </a:solidFill>
                <a:latin typeface="Calibri" pitchFamily="34" charset="0"/>
                <a:ea typeface="Calibri" pitchFamily="34" charset="-122"/>
                <a:cs typeface="Calibri" pitchFamily="34" charset="-120"/>
              </a:rPr>
              <a:t>TUNED PER DEAL</a:t>
            </a:r>
            <a:endParaRPr lang="en-US" sz="780" dirty="0"/>
          </a:p>
        </p:txBody>
      </p:sp>
      <p:sp>
        <p:nvSpPr>
          <p:cNvPr id="20" name="Text 17"/>
          <p:cNvSpPr txBox="1"/>
          <p:nvPr/>
        </p:nvSpPr>
        <p:spPr>
          <a:xfrm>
            <a:off x="8122981" y="3291840"/>
            <a:ext cx="3017520" cy="530352"/>
          </a:xfrm>
          <a:prstGeom prst="rect">
            <a:avLst/>
          </a:prstGeom>
          <a:noFill/>
          <a:ln/>
        </p:spPr>
        <p:txBody>
          <a:bodyPr wrap="square" lIns="0" tIns="0" rIns="0" bIns="0" rtlCol="0" anchor="t"/>
          <a:lstStyle/>
          <a:p>
            <a:pPr marL="0" indent="0" algn="l">
              <a:lnSpc>
                <a:spcPct val="110000"/>
              </a:lnSpc>
              <a:buNone/>
            </a:pPr>
            <a:r>
              <a:rPr lang="en-US" sz="830" dirty="0">
                <a:solidFill>
                  <a:srgbClr val="15203D"/>
                </a:solidFill>
                <a:latin typeface="Calibri" pitchFamily="34" charset="0"/>
                <a:ea typeface="Calibri" pitchFamily="34" charset="-122"/>
                <a:cs typeface="Calibri" pitchFamily="34" charset="-120"/>
              </a:rPr>
              <a:t>Volume and wave sizing · federation of the acquired domain · application and relay source inventory · brand and domain strategy</a:t>
            </a:r>
            <a:endParaRPr lang="en-US" sz="830" dirty="0"/>
          </a:p>
        </p:txBody>
      </p:sp>
      <p:sp>
        <p:nvSpPr>
          <p:cNvPr id="21" name="Text 18"/>
          <p:cNvSpPr txBox="1"/>
          <p:nvPr/>
        </p:nvSpPr>
        <p:spPr>
          <a:xfrm>
            <a:off x="8122981" y="3803904"/>
            <a:ext cx="3017520" cy="201168"/>
          </a:xfrm>
          <a:prstGeom prst="rect">
            <a:avLst/>
          </a:prstGeom>
          <a:noFill/>
          <a:ln/>
        </p:spPr>
        <p:txBody>
          <a:bodyPr wrap="square" lIns="0" tIns="0" rIns="0" bIns="0" rtlCol="0" anchor="t"/>
          <a:lstStyle/>
          <a:p>
            <a:pPr marL="0" indent="0" algn="l">
              <a:lnSpc>
                <a:spcPct val="112000"/>
              </a:lnSpc>
              <a:buNone/>
            </a:pPr>
            <a:r>
              <a:rPr lang="en-US" sz="780" b="1" dirty="0">
                <a:solidFill>
                  <a:srgbClr val="001D5F"/>
                </a:solidFill>
                <a:latin typeface="Calibri" pitchFamily="34" charset="0"/>
                <a:ea typeface="Calibri" pitchFamily="34" charset="-122"/>
                <a:cs typeface="Calibri" pitchFamily="34" charset="-120"/>
              </a:rPr>
              <a:t>GENUINELY NEW PER DEAL</a:t>
            </a:r>
            <a:endParaRPr lang="en-US" sz="780" dirty="0"/>
          </a:p>
        </p:txBody>
      </p:sp>
      <p:sp>
        <p:nvSpPr>
          <p:cNvPr id="22" name="Text 19"/>
          <p:cNvSpPr txBox="1"/>
          <p:nvPr/>
        </p:nvSpPr>
        <p:spPr>
          <a:xfrm>
            <a:off x="8122981" y="4023360"/>
            <a:ext cx="3017520" cy="530352"/>
          </a:xfrm>
          <a:prstGeom prst="rect">
            <a:avLst/>
          </a:prstGeom>
          <a:noFill/>
          <a:ln/>
        </p:spPr>
        <p:txBody>
          <a:bodyPr wrap="square" lIns="0" tIns="0" rIns="0" bIns="0" rtlCol="0" anchor="t"/>
          <a:lstStyle/>
          <a:p>
            <a:pPr marL="0" indent="0" algn="l">
              <a:lnSpc>
                <a:spcPct val="110000"/>
              </a:lnSpc>
              <a:buNone/>
            </a:pPr>
            <a:r>
              <a:rPr lang="en-US" sz="830" dirty="0">
                <a:solidFill>
                  <a:srgbClr val="15203D"/>
                </a:solidFill>
                <a:latin typeface="Calibri" pitchFamily="34" charset="0"/>
                <a:ea typeface="Calibri" pitchFamily="34" charset="-122"/>
                <a:cs typeface="Calibri" pitchFamily="34" charset="-120"/>
              </a:rPr>
              <a:t>TSA constraints and dates · the acquired entity's legal-hold position · its jurisdictional residency obligations · any non-Microsoft source platform</a:t>
            </a:r>
            <a:endParaRPr lang="en-US" sz="830" dirty="0"/>
          </a:p>
        </p:txBody>
      </p:sp>
      <p:sp>
        <p:nvSpPr>
          <p:cNvPr id="23" name="Text 20"/>
          <p:cNvSpPr txBox="1"/>
          <p:nvPr/>
        </p:nvSpPr>
        <p:spPr>
          <a:xfrm>
            <a:off x="8122981" y="4700016"/>
            <a:ext cx="3017520" cy="548640"/>
          </a:xfrm>
          <a:prstGeom prst="rect">
            <a:avLst/>
          </a:prstGeom>
          <a:noFill/>
          <a:ln/>
        </p:spPr>
        <p:txBody>
          <a:bodyPr wrap="square" lIns="0" tIns="0" rIns="0" bIns="0" rtlCol="0" anchor="t"/>
          <a:lstStyle/>
          <a:p>
            <a:pPr marL="0" indent="0" algn="l">
              <a:lnSpc>
                <a:spcPct val="110000"/>
              </a:lnSpc>
              <a:buNone/>
            </a:pPr>
            <a:r>
              <a:rPr lang="en-US" sz="860" i="1" dirty="0">
                <a:solidFill>
                  <a:srgbClr val="0C3EB1"/>
                </a:solidFill>
                <a:latin typeface="Calibri" pitchFamily="34" charset="0"/>
                <a:ea typeface="Calibri" pitchFamily="34" charset="-122"/>
                <a:cs typeface="Calibri" pitchFamily="34" charset="-120"/>
              </a:rPr>
              <a:t>We would rather show you this split than claim the next migration is free. The design cost is paid once; the execution cost falls.</a:t>
            </a:r>
            <a:endParaRPr lang="en-US" sz="860" dirty="0"/>
          </a:p>
        </p:txBody>
      </p:sp>
      <p:sp>
        <p:nvSpPr>
          <p:cNvPr id="24" name="Shape 21"/>
          <p:cNvSpPr/>
          <p:nvPr/>
        </p:nvSpPr>
        <p:spPr>
          <a:xfrm>
            <a:off x="502920" y="5468112"/>
            <a:ext cx="10835640" cy="868680"/>
          </a:xfrm>
          <a:prstGeom prst="roundRect">
            <a:avLst>
              <a:gd name="adj" fmla="val 5263"/>
            </a:avLst>
          </a:prstGeom>
          <a:solidFill>
            <a:srgbClr val="001D5F"/>
          </a:solidFill>
          <a:ln w="12700">
            <a:solidFill>
              <a:srgbClr val="001D5F"/>
            </a:solidFill>
            <a:prstDash val="solid"/>
          </a:ln>
          <a:effectLst>
            <a:outerShdw blurRad="88900" dist="12700" dir="5400000" algn="bl" rotWithShape="0">
              <a:srgbClr val="000000">
                <a:alpha val="7000"/>
              </a:srgbClr>
            </a:outerShdw>
          </a:effectLst>
        </p:spPr>
        <p:txBody>
          <a:bodyPr/>
          <a:lstStyle/>
          <a:p>
            <a:endParaRPr lang="en-IN"/>
          </a:p>
        </p:txBody>
      </p:sp>
      <p:sp>
        <p:nvSpPr>
          <p:cNvPr id="25" name="Text 22"/>
          <p:cNvSpPr txBox="1"/>
          <p:nvPr/>
        </p:nvSpPr>
        <p:spPr>
          <a:xfrm>
            <a:off x="758952" y="5596128"/>
            <a:ext cx="1371600" cy="219456"/>
          </a:xfrm>
          <a:prstGeom prst="rect">
            <a:avLst/>
          </a:prstGeom>
          <a:noFill/>
          <a:ln/>
        </p:spPr>
        <p:txBody>
          <a:bodyPr wrap="square" lIns="0" tIns="0" rIns="0" bIns="0" rtlCol="0" anchor="t"/>
          <a:lstStyle/>
          <a:p>
            <a:pPr marL="0" indent="0" algn="l">
              <a:lnSpc>
                <a:spcPct val="112000"/>
              </a:lnSpc>
              <a:buNone/>
            </a:pPr>
            <a:r>
              <a:rPr lang="en-US" sz="1000" b="1" dirty="0">
                <a:solidFill>
                  <a:srgbClr val="78A8FF"/>
                </a:solidFill>
                <a:latin typeface="Calibri" pitchFamily="34" charset="0"/>
                <a:ea typeface="Calibri" pitchFamily="34" charset="-122"/>
                <a:cs typeface="Calibri" pitchFamily="34" charset="-120"/>
              </a:rPr>
              <a:t>Day 1</a:t>
            </a:r>
            <a:endParaRPr lang="en-US" sz="1000" dirty="0"/>
          </a:p>
        </p:txBody>
      </p:sp>
      <p:sp>
        <p:nvSpPr>
          <p:cNvPr id="26" name="Text 23"/>
          <p:cNvSpPr txBox="1"/>
          <p:nvPr/>
        </p:nvSpPr>
        <p:spPr>
          <a:xfrm>
            <a:off x="758952" y="5815584"/>
            <a:ext cx="3200400" cy="365760"/>
          </a:xfrm>
          <a:prstGeom prst="rect">
            <a:avLst/>
          </a:prstGeom>
          <a:noFill/>
          <a:ln/>
        </p:spPr>
        <p:txBody>
          <a:bodyPr wrap="square" lIns="0" tIns="0" rIns="0" bIns="0" rtlCol="0" anchor="t"/>
          <a:lstStyle/>
          <a:p>
            <a:pPr marL="0" indent="0" algn="l">
              <a:lnSpc>
                <a:spcPct val="108000"/>
              </a:lnSpc>
              <a:buNone/>
            </a:pPr>
            <a:r>
              <a:rPr lang="en-US" sz="850" dirty="0">
                <a:solidFill>
                  <a:srgbClr val="C6D5F0"/>
                </a:solidFill>
                <a:latin typeface="Calibri" pitchFamily="34" charset="0"/>
                <a:ea typeface="Calibri" pitchFamily="34" charset="-122"/>
                <a:cs typeface="Calibri" pitchFamily="34" charset="-120"/>
              </a:rPr>
              <a:t>Coexistence between both estates, using the design already proven here</a:t>
            </a:r>
            <a:endParaRPr lang="en-US" sz="850" dirty="0"/>
          </a:p>
        </p:txBody>
      </p:sp>
      <p:sp>
        <p:nvSpPr>
          <p:cNvPr id="27" name="Text 24"/>
          <p:cNvSpPr txBox="1"/>
          <p:nvPr/>
        </p:nvSpPr>
        <p:spPr>
          <a:xfrm>
            <a:off x="4279392" y="5596128"/>
            <a:ext cx="1371600" cy="219456"/>
          </a:xfrm>
          <a:prstGeom prst="rect">
            <a:avLst/>
          </a:prstGeom>
          <a:noFill/>
          <a:ln/>
        </p:spPr>
        <p:txBody>
          <a:bodyPr wrap="square" lIns="0" tIns="0" rIns="0" bIns="0" rtlCol="0" anchor="t"/>
          <a:lstStyle/>
          <a:p>
            <a:pPr marL="0" indent="0" algn="l">
              <a:lnSpc>
                <a:spcPct val="112000"/>
              </a:lnSpc>
              <a:buNone/>
            </a:pPr>
            <a:r>
              <a:rPr lang="en-US" sz="1000" b="1" dirty="0">
                <a:solidFill>
                  <a:srgbClr val="78A8FF"/>
                </a:solidFill>
                <a:latin typeface="Calibri" pitchFamily="34" charset="0"/>
                <a:ea typeface="Calibri" pitchFamily="34" charset="-122"/>
                <a:cs typeface="Calibri" pitchFamily="34" charset="-120"/>
              </a:rPr>
              <a:t>Day 30-100</a:t>
            </a:r>
            <a:endParaRPr lang="en-US" sz="1000" dirty="0"/>
          </a:p>
        </p:txBody>
      </p:sp>
      <p:sp>
        <p:nvSpPr>
          <p:cNvPr id="28" name="Text 25"/>
          <p:cNvSpPr txBox="1"/>
          <p:nvPr/>
        </p:nvSpPr>
        <p:spPr>
          <a:xfrm>
            <a:off x="4279392" y="5815584"/>
            <a:ext cx="3200400" cy="365760"/>
          </a:xfrm>
          <a:prstGeom prst="rect">
            <a:avLst/>
          </a:prstGeom>
          <a:noFill/>
          <a:ln/>
        </p:spPr>
        <p:txBody>
          <a:bodyPr wrap="square" lIns="0" tIns="0" rIns="0" bIns="0" rtlCol="0" anchor="t"/>
          <a:lstStyle/>
          <a:p>
            <a:pPr marL="0" indent="0" algn="l">
              <a:lnSpc>
                <a:spcPct val="108000"/>
              </a:lnSpc>
              <a:buNone/>
            </a:pPr>
            <a:r>
              <a:rPr lang="en-US" sz="850" dirty="0">
                <a:solidFill>
                  <a:srgbClr val="C6D5F0"/>
                </a:solidFill>
                <a:latin typeface="Calibri" pitchFamily="34" charset="0"/>
                <a:ea typeface="Calibri" pitchFamily="34" charset="-122"/>
                <a:cs typeface="Calibri" pitchFamily="34" charset="-120"/>
              </a:rPr>
              <a:t>Waves into the parent tenant through the existing migration factory</a:t>
            </a:r>
            <a:endParaRPr lang="en-US" sz="850" dirty="0"/>
          </a:p>
        </p:txBody>
      </p:sp>
      <p:sp>
        <p:nvSpPr>
          <p:cNvPr id="29" name="Text 26"/>
          <p:cNvSpPr txBox="1"/>
          <p:nvPr/>
        </p:nvSpPr>
        <p:spPr>
          <a:xfrm>
            <a:off x="7799832" y="5596128"/>
            <a:ext cx="1371600" cy="219456"/>
          </a:xfrm>
          <a:prstGeom prst="rect">
            <a:avLst/>
          </a:prstGeom>
          <a:noFill/>
          <a:ln/>
        </p:spPr>
        <p:txBody>
          <a:bodyPr wrap="square" lIns="0" tIns="0" rIns="0" bIns="0" rtlCol="0" anchor="t"/>
          <a:lstStyle/>
          <a:p>
            <a:pPr marL="0" indent="0" algn="l">
              <a:lnSpc>
                <a:spcPct val="112000"/>
              </a:lnSpc>
              <a:buNone/>
            </a:pPr>
            <a:r>
              <a:rPr lang="en-US" sz="1000" b="1" dirty="0">
                <a:solidFill>
                  <a:srgbClr val="78A8FF"/>
                </a:solidFill>
                <a:latin typeface="Calibri" pitchFamily="34" charset="0"/>
                <a:ea typeface="Calibri" pitchFamily="34" charset="-122"/>
                <a:cs typeface="Calibri" pitchFamily="34" charset="-120"/>
              </a:rPr>
              <a:t>Steady state</a:t>
            </a:r>
            <a:endParaRPr lang="en-US" sz="1000" dirty="0"/>
          </a:p>
        </p:txBody>
      </p:sp>
      <p:sp>
        <p:nvSpPr>
          <p:cNvPr id="30" name="Text 27"/>
          <p:cNvSpPr txBox="1"/>
          <p:nvPr/>
        </p:nvSpPr>
        <p:spPr>
          <a:xfrm>
            <a:off x="7799832" y="5815584"/>
            <a:ext cx="3200400" cy="365760"/>
          </a:xfrm>
          <a:prstGeom prst="rect">
            <a:avLst/>
          </a:prstGeom>
          <a:noFill/>
          <a:ln/>
        </p:spPr>
        <p:txBody>
          <a:bodyPr wrap="square" lIns="0" tIns="0" rIns="0" bIns="0" rtlCol="0" anchor="t"/>
          <a:lstStyle/>
          <a:p>
            <a:pPr marL="0" indent="0" algn="l">
              <a:lnSpc>
                <a:spcPct val="108000"/>
              </a:lnSpc>
              <a:buNone/>
            </a:pPr>
            <a:r>
              <a:rPr lang="en-US" sz="850" dirty="0">
                <a:solidFill>
                  <a:srgbClr val="C6D5F0"/>
                </a:solidFill>
                <a:latin typeface="Calibri" pitchFamily="34" charset="0"/>
                <a:ea typeface="Calibri" pitchFamily="34" charset="-122"/>
                <a:cs typeface="Calibri" pitchFamily="34" charset="-120"/>
              </a:rPr>
              <a:t>Controls inherited automatically by policy, not by a follow-on project</a:t>
            </a:r>
            <a:endParaRPr lang="en-US" sz="850" dirty="0"/>
          </a:p>
        </p:txBody>
      </p:sp>
      <p:sp>
        <p:nvSpPr>
          <p:cNvPr id="31" name="Text 28"/>
          <p:cNvSpPr txBox="1"/>
          <p:nvPr/>
        </p:nvSpPr>
        <p:spPr>
          <a:xfrm>
            <a:off x="758952" y="6108192"/>
            <a:ext cx="10241280" cy="219456"/>
          </a:xfrm>
          <a:prstGeom prst="rect">
            <a:avLst/>
          </a:prstGeom>
          <a:noFill/>
          <a:ln/>
        </p:spPr>
        <p:txBody>
          <a:bodyPr wrap="square" lIns="0" tIns="0" rIns="0" bIns="0" rtlCol="0" anchor="t"/>
          <a:lstStyle/>
          <a:p>
            <a:pPr marL="0" indent="0" algn="l">
              <a:lnSpc>
                <a:spcPct val="112000"/>
              </a:lnSpc>
              <a:buNone/>
            </a:pPr>
            <a:r>
              <a:rPr lang="en-US" sz="880" i="1" dirty="0">
                <a:solidFill>
                  <a:srgbClr val="9FB6E0"/>
                </a:solidFill>
                <a:latin typeface="Calibri" pitchFamily="34" charset="0"/>
                <a:ea typeface="Calibri" pitchFamily="34" charset="-122"/>
                <a:cs typeface="Calibri" pitchFamily="34" charset="-120"/>
              </a:rPr>
              <a:t>The same capability works in reverse for a divestiture or carve-out - OU-scoped separation, Vault export, and a TSA exit that can actually be evidenced.</a:t>
            </a:r>
            <a:endParaRPr lang="en-US" sz="880" dirty="0"/>
          </a:p>
        </p:txBody>
      </p:sp>
      <p:sp>
        <p:nvSpPr>
          <p:cNvPr id="32" name="AutoShape 2">
            <a:extLst>
              <a:ext uri="{FF2B5EF4-FFF2-40B4-BE49-F238E27FC236}">
                <a16:creationId xmlns:a16="http://schemas.microsoft.com/office/drawing/2014/main" id="{9FBC8F26-F5CC-31C0-A6DB-BEDD72ACADCE}"/>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33" name="TextBox 7">
            <a:extLst>
              <a:ext uri="{FF2B5EF4-FFF2-40B4-BE49-F238E27FC236}">
                <a16:creationId xmlns:a16="http://schemas.microsoft.com/office/drawing/2014/main" id="{35DDE142-69E2-CE40-AD63-B8087EF0FDCF}"/>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34" name="TextBox 9">
            <a:extLst>
              <a:ext uri="{FF2B5EF4-FFF2-40B4-BE49-F238E27FC236}">
                <a16:creationId xmlns:a16="http://schemas.microsoft.com/office/drawing/2014/main" id="{E495BB8F-357F-ED2D-50AA-73D1DD33CC95}"/>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35" name="Footer Placeholder 24">
            <a:extLst>
              <a:ext uri="{FF2B5EF4-FFF2-40B4-BE49-F238E27FC236}">
                <a16:creationId xmlns:a16="http://schemas.microsoft.com/office/drawing/2014/main" id="{875722A6-8E56-BD5B-8729-F68CD812B0E4}"/>
              </a:ext>
            </a:extLst>
          </p:cNvPr>
          <p:cNvSpPr txBox="1">
            <a:spLocks/>
          </p:cNvSpPr>
          <p:nvPr/>
        </p:nvSpPr>
        <p:spPr>
          <a:xfrm>
            <a:off x="4788013" y="6487584"/>
            <a:ext cx="1930400" cy="243417"/>
          </a:xfrm>
        </p:spPr>
        <p:txBody>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867">
                <a:solidFill>
                  <a:schemeClr val="tx2">
                    <a:lumMod val="75000"/>
                  </a:schemeClr>
                </a:solidFill>
                <a:latin typeface="Codec Pro" panose="020B0604020202020204" charset="0"/>
              </a:rPr>
              <a:t>			</a:t>
            </a:r>
            <a:endParaRPr lang="en-US" sz="867" dirty="0">
              <a:solidFill>
                <a:schemeClr val="tx2">
                  <a:lumMod val="75000"/>
                </a:schemeClr>
              </a:solidFill>
              <a:latin typeface="Codec Pro" panose="020B0604020202020204" charset="0"/>
            </a:endParaRPr>
          </a:p>
        </p:txBody>
      </p:sp>
      <p:sp>
        <p:nvSpPr>
          <p:cNvPr id="36" name="TextBox 35">
            <a:extLst>
              <a:ext uri="{FF2B5EF4-FFF2-40B4-BE49-F238E27FC236}">
                <a16:creationId xmlns:a16="http://schemas.microsoft.com/office/drawing/2014/main" id="{26ADCC5E-03A9-F6C4-E14E-A52CE7C3D96A}"/>
              </a:ext>
            </a:extLst>
          </p:cNvPr>
          <p:cNvSpPr txBox="1"/>
          <p:nvPr/>
        </p:nvSpPr>
        <p:spPr>
          <a:xfrm>
            <a:off x="5911269" y="6533202"/>
            <a:ext cx="287258" cy="215444"/>
          </a:xfrm>
          <a:prstGeom prst="rect">
            <a:avLst/>
          </a:prstGeom>
          <a:noFill/>
        </p:spPr>
        <p:txBody>
          <a:bodyPr wrap="none" rtlCol="0">
            <a:spAutoFit/>
          </a:bodyPr>
          <a:lstStyle/>
          <a:p>
            <a:r>
              <a:rPr lang="en-US" sz="800" dirty="0"/>
              <a:t>31</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716FF-06DD-2D7B-7B49-E7D78388895C}"/>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AAED68A2-0EA4-F22B-7F20-CF35B0115759}"/>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61D2CADF-AAFC-DEDF-5372-54E23A9F185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86B80329-E9EB-A7C0-5237-D348EFF42A50}"/>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2" name="Footer Placeholder 24">
            <a:extLst>
              <a:ext uri="{FF2B5EF4-FFF2-40B4-BE49-F238E27FC236}">
                <a16:creationId xmlns:a16="http://schemas.microsoft.com/office/drawing/2014/main" id="{06A15F68-67AF-0F48-76BF-103A52A67069}"/>
              </a:ext>
            </a:extLst>
          </p:cNvPr>
          <p:cNvSpPr>
            <a:spLocks noGrp="1"/>
          </p:cNvSpPr>
          <p:nvPr>
            <p:ph type="ftr" sz="quarter" idx="11"/>
          </p:nvPr>
        </p:nvSpPr>
        <p:spPr>
          <a:xfrm>
            <a:off x="4788013" y="6487584"/>
            <a:ext cx="1930400" cy="243417"/>
          </a:xfrm>
        </p:spPr>
        <p:txBody>
          <a:bodyPr/>
          <a:lstStyle/>
          <a:p>
            <a:r>
              <a:rPr lang="en-US" sz="867" dirty="0">
                <a:solidFill>
                  <a:schemeClr val="tx2">
                    <a:lumMod val="75000"/>
                  </a:schemeClr>
                </a:solidFill>
                <a:latin typeface="Codec Pro" panose="020B0604020202020204" charset="0"/>
              </a:rPr>
              <a:t>			</a:t>
            </a:r>
          </a:p>
        </p:txBody>
      </p:sp>
      <p:sp>
        <p:nvSpPr>
          <p:cNvPr id="23" name="Text 3">
            <a:extLst>
              <a:ext uri="{FF2B5EF4-FFF2-40B4-BE49-F238E27FC236}">
                <a16:creationId xmlns:a16="http://schemas.microsoft.com/office/drawing/2014/main" id="{F58DF86E-8CB3-460D-8387-F233545F185F}"/>
              </a:ext>
            </a:extLst>
          </p:cNvPr>
          <p:cNvSpPr txBox="1"/>
          <p:nvPr/>
        </p:nvSpPr>
        <p:spPr>
          <a:xfrm>
            <a:off x="539496" y="601472"/>
            <a:ext cx="9507684" cy="566928"/>
          </a:xfrm>
          <a:prstGeom prst="rect">
            <a:avLst/>
          </a:prstGeom>
          <a:noFill/>
          <a:ln/>
        </p:spPr>
        <p:txBody>
          <a:bodyPr wrap="square" lIns="0" tIns="0" rIns="0" bIns="0" rtlCol="0" anchor="ctr"/>
          <a:lstStyle/>
          <a:p>
            <a:r>
              <a:rPr lang="en-GB" sz="3200" b="1" dirty="0">
                <a:solidFill>
                  <a:srgbClr val="001D5F"/>
                </a:solidFill>
                <a:latin typeface="Calibri" pitchFamily="34" charset="0"/>
                <a:ea typeface="Calibri" pitchFamily="34" charset="-122"/>
                <a:cs typeface="Calibri" pitchFamily="34" charset="-120"/>
              </a:rPr>
              <a:t>Who you would be doing this with</a:t>
            </a:r>
          </a:p>
        </p:txBody>
      </p:sp>
      <p:sp>
        <p:nvSpPr>
          <p:cNvPr id="89" name="TextBox 88">
            <a:extLst>
              <a:ext uri="{FF2B5EF4-FFF2-40B4-BE49-F238E27FC236}">
                <a16:creationId xmlns:a16="http://schemas.microsoft.com/office/drawing/2014/main" id="{FA101A3B-C4C7-4104-A69C-5F1DAA18D1AD}"/>
              </a:ext>
            </a:extLst>
          </p:cNvPr>
          <p:cNvSpPr txBox="1"/>
          <p:nvPr/>
        </p:nvSpPr>
        <p:spPr>
          <a:xfrm>
            <a:off x="5911269" y="6533202"/>
            <a:ext cx="287258" cy="215444"/>
          </a:xfrm>
          <a:prstGeom prst="rect">
            <a:avLst/>
          </a:prstGeom>
          <a:noFill/>
        </p:spPr>
        <p:txBody>
          <a:bodyPr wrap="none" rtlCol="0">
            <a:spAutoFit/>
          </a:bodyPr>
          <a:lstStyle/>
          <a:p>
            <a:r>
              <a:rPr lang="en-US" sz="800" dirty="0"/>
              <a:t>32</a:t>
            </a:r>
          </a:p>
        </p:txBody>
      </p:sp>
      <p:sp>
        <p:nvSpPr>
          <p:cNvPr id="70" name="Text 1">
            <a:extLst>
              <a:ext uri="{FF2B5EF4-FFF2-40B4-BE49-F238E27FC236}">
                <a16:creationId xmlns:a16="http://schemas.microsoft.com/office/drawing/2014/main" id="{B736E93B-7353-67CE-BECD-E93554D22DA7}"/>
              </a:ext>
            </a:extLst>
          </p:cNvPr>
          <p:cNvSpPr txBox="1"/>
          <p:nvPr/>
        </p:nvSpPr>
        <p:spPr>
          <a:xfrm>
            <a:off x="502920" y="329184"/>
            <a:ext cx="10515600" cy="219456"/>
          </a:xfrm>
          <a:prstGeom prst="rect">
            <a:avLst/>
          </a:prstGeom>
          <a:noFill/>
          <a:ln/>
        </p:spPr>
        <p:txBody>
          <a:bodyPr wrap="square" lIns="0" tIns="0" rIns="0" bIns="0" rtlCol="0" anchor="ctr"/>
          <a:lstStyle/>
          <a:p>
            <a:pPr marL="0" indent="0">
              <a:buNone/>
            </a:pPr>
            <a:r>
              <a:rPr lang="en-US" sz="950" b="1" kern="0" spc="200" dirty="0">
                <a:solidFill>
                  <a:srgbClr val="0053EB"/>
                </a:solidFill>
                <a:latin typeface="Calibri" pitchFamily="34" charset="0"/>
                <a:ea typeface="Calibri" pitchFamily="34" charset="-122"/>
                <a:cs typeface="Calibri" pitchFamily="34" charset="-120"/>
              </a:rPr>
              <a:t>WHY VIRTUOUSINFO</a:t>
            </a:r>
          </a:p>
        </p:txBody>
      </p:sp>
      <p:grpSp>
        <p:nvGrpSpPr>
          <p:cNvPr id="104" name="Group 103">
            <a:extLst>
              <a:ext uri="{FF2B5EF4-FFF2-40B4-BE49-F238E27FC236}">
                <a16:creationId xmlns:a16="http://schemas.microsoft.com/office/drawing/2014/main" id="{F8BBCC35-7165-711F-AC1E-C67B343D566F}"/>
              </a:ext>
            </a:extLst>
          </p:cNvPr>
          <p:cNvGrpSpPr/>
          <p:nvPr/>
        </p:nvGrpSpPr>
        <p:grpSpPr>
          <a:xfrm>
            <a:off x="502920" y="1389888"/>
            <a:ext cx="10835731" cy="5117804"/>
            <a:chOff x="502920" y="1389888"/>
            <a:chExt cx="10835731" cy="5117804"/>
          </a:xfrm>
        </p:grpSpPr>
        <p:sp>
          <p:nvSpPr>
            <p:cNvPr id="105" name="Shape 4">
              <a:extLst>
                <a:ext uri="{FF2B5EF4-FFF2-40B4-BE49-F238E27FC236}">
                  <a16:creationId xmlns:a16="http://schemas.microsoft.com/office/drawing/2014/main" id="{20721CEE-6212-1241-7237-E6AD9C87D05C}"/>
                </a:ext>
              </a:extLst>
            </p:cNvPr>
            <p:cNvSpPr/>
            <p:nvPr/>
          </p:nvSpPr>
          <p:spPr>
            <a:xfrm>
              <a:off x="502920" y="1408176"/>
              <a:ext cx="292608" cy="292608"/>
            </a:xfrm>
            <a:prstGeom prst="ellipse">
              <a:avLst/>
            </a:prstGeom>
            <a:solidFill>
              <a:srgbClr val="0053EB"/>
            </a:solidFill>
            <a:ln w="12700">
              <a:solidFill>
                <a:srgbClr val="0053EB"/>
              </a:solidFill>
              <a:prstDash val="solid"/>
            </a:ln>
          </p:spPr>
          <p:txBody>
            <a:bodyPr/>
            <a:lstStyle/>
            <a:p>
              <a:endParaRPr lang="en-IN"/>
            </a:p>
          </p:txBody>
        </p:sp>
        <p:sp>
          <p:nvSpPr>
            <p:cNvPr id="106" name="Text 5">
              <a:extLst>
                <a:ext uri="{FF2B5EF4-FFF2-40B4-BE49-F238E27FC236}">
                  <a16:creationId xmlns:a16="http://schemas.microsoft.com/office/drawing/2014/main" id="{DC9DDCEA-A96B-175F-BFA7-AE3B84F9C1EC}"/>
                </a:ext>
              </a:extLst>
            </p:cNvPr>
            <p:cNvSpPr txBox="1"/>
            <p:nvPr/>
          </p:nvSpPr>
          <p:spPr>
            <a:xfrm>
              <a:off x="502920" y="140817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7" name="Text 6">
              <a:extLst>
                <a:ext uri="{FF2B5EF4-FFF2-40B4-BE49-F238E27FC236}">
                  <a16:creationId xmlns:a16="http://schemas.microsoft.com/office/drawing/2014/main" id="{162564A3-C3FB-01AB-4925-8A44DA94589E}"/>
                </a:ext>
              </a:extLst>
            </p:cNvPr>
            <p:cNvSpPr txBox="1"/>
            <p:nvPr/>
          </p:nvSpPr>
          <p:spPr>
            <a:xfrm>
              <a:off x="923544" y="1389888"/>
              <a:ext cx="4754880" cy="274320"/>
            </a:xfrm>
            <a:prstGeom prst="rect">
              <a:avLst/>
            </a:prstGeom>
            <a:noFill/>
            <a:ln/>
          </p:spPr>
          <p:txBody>
            <a:bodyPr wrap="square" lIns="0" tIns="0" rIns="0" bIns="0" rtlCol="0" anchor="t"/>
            <a:lstStyle/>
            <a:p>
              <a:pPr>
                <a:lnSpc>
                  <a:spcPct val="112000"/>
                </a:lnSpc>
              </a:pPr>
              <a:r>
                <a:rPr lang="en-US" sz="1200" b="1" dirty="0">
                  <a:solidFill>
                    <a:srgbClr val="001D5F"/>
                  </a:solidFill>
                  <a:latin typeface="Calibri" pitchFamily="34" charset="0"/>
                  <a:ea typeface="Calibri" pitchFamily="34" charset="-122"/>
                  <a:cs typeface="Calibri" pitchFamily="34" charset="-120"/>
                </a:rPr>
                <a:t>Both platforms, natively</a:t>
              </a:r>
            </a:p>
          </p:txBody>
        </p:sp>
        <p:sp>
          <p:nvSpPr>
            <p:cNvPr id="108" name="Text 7">
              <a:extLst>
                <a:ext uri="{FF2B5EF4-FFF2-40B4-BE49-F238E27FC236}">
                  <a16:creationId xmlns:a16="http://schemas.microsoft.com/office/drawing/2014/main" id="{CA9F3C3A-A8F3-6B3D-1DE3-206D3F9E23E9}"/>
                </a:ext>
              </a:extLst>
            </p:cNvPr>
            <p:cNvSpPr txBox="1"/>
            <p:nvPr/>
          </p:nvSpPr>
          <p:spPr>
            <a:xfrm>
              <a:off x="923544" y="1682496"/>
              <a:ext cx="4754880" cy="914400"/>
            </a:xfrm>
            <a:prstGeom prst="rect">
              <a:avLst/>
            </a:prstGeom>
            <a:noFill/>
            <a:ln/>
          </p:spPr>
          <p:txBody>
            <a:bodyPr wrap="square" lIns="0" tIns="0" rIns="0" bIns="0" rtlCol="0" anchor="t"/>
            <a:lstStyle/>
            <a:p>
              <a:pPr>
                <a:lnSpc>
                  <a:spcPct val="110000"/>
                </a:lnSpc>
              </a:pPr>
              <a:r>
                <a:rPr lang="en-US" sz="1000" dirty="0">
                  <a:solidFill>
                    <a:srgbClr val="5D6B8C"/>
                  </a:solidFill>
                  <a:latin typeface="Calibri" pitchFamily="34" charset="0"/>
                  <a:ea typeface="Calibri" pitchFamily="34" charset="-122"/>
                  <a:cs typeface="Calibri" pitchFamily="34" charset="-120"/>
                </a:rPr>
                <a:t>Our team runs on-premises Exchange, Exchange Online and Google Workspace daily, including hybrid identity. We are not a Google reseller learning Microsoft, or the reverse.</a:t>
              </a:r>
            </a:p>
          </p:txBody>
        </p:sp>
        <p:sp>
          <p:nvSpPr>
            <p:cNvPr id="109" name="Shape 8">
              <a:extLst>
                <a:ext uri="{FF2B5EF4-FFF2-40B4-BE49-F238E27FC236}">
                  <a16:creationId xmlns:a16="http://schemas.microsoft.com/office/drawing/2014/main" id="{29D930CD-7021-9F14-005F-1EF745E3FC64}"/>
                </a:ext>
              </a:extLst>
            </p:cNvPr>
            <p:cNvSpPr/>
            <p:nvPr/>
          </p:nvSpPr>
          <p:spPr>
            <a:xfrm>
              <a:off x="6080760" y="1408176"/>
              <a:ext cx="292608" cy="292608"/>
            </a:xfrm>
            <a:prstGeom prst="ellipse">
              <a:avLst/>
            </a:prstGeom>
            <a:solidFill>
              <a:srgbClr val="0053EB"/>
            </a:solidFill>
            <a:ln w="12700">
              <a:solidFill>
                <a:srgbClr val="0053EB"/>
              </a:solidFill>
              <a:prstDash val="solid"/>
            </a:ln>
          </p:spPr>
          <p:txBody>
            <a:bodyPr/>
            <a:lstStyle/>
            <a:p>
              <a:endParaRPr lang="en-IN"/>
            </a:p>
          </p:txBody>
        </p:sp>
        <p:sp>
          <p:nvSpPr>
            <p:cNvPr id="110" name="Text 9">
              <a:extLst>
                <a:ext uri="{FF2B5EF4-FFF2-40B4-BE49-F238E27FC236}">
                  <a16:creationId xmlns:a16="http://schemas.microsoft.com/office/drawing/2014/main" id="{E91CA3AA-0B46-B481-FAAF-8CC8488D74F7}"/>
                </a:ext>
              </a:extLst>
            </p:cNvPr>
            <p:cNvSpPr txBox="1"/>
            <p:nvPr/>
          </p:nvSpPr>
          <p:spPr>
            <a:xfrm>
              <a:off x="6080760" y="1408176"/>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1" name="Text 10">
              <a:extLst>
                <a:ext uri="{FF2B5EF4-FFF2-40B4-BE49-F238E27FC236}">
                  <a16:creationId xmlns:a16="http://schemas.microsoft.com/office/drawing/2014/main" id="{1C8D7638-16DB-B9CC-0F0B-7640EC01F081}"/>
                </a:ext>
              </a:extLst>
            </p:cNvPr>
            <p:cNvSpPr txBox="1"/>
            <p:nvPr/>
          </p:nvSpPr>
          <p:spPr>
            <a:xfrm>
              <a:off x="6501384" y="1389888"/>
              <a:ext cx="4754880" cy="274320"/>
            </a:xfrm>
            <a:prstGeom prst="rect">
              <a:avLst/>
            </a:prstGeom>
            <a:noFill/>
            <a:ln/>
          </p:spPr>
          <p:txBody>
            <a:bodyPr wrap="square" lIns="0" tIns="0" rIns="0" bIns="0" rtlCol="0" anchor="t"/>
            <a:lstStyle/>
            <a:p>
              <a:pPr indent="0">
                <a:lnSpc>
                  <a:spcPct val="112000"/>
                </a:lnSpc>
                <a:buNone/>
              </a:pPr>
              <a:r>
                <a:rPr lang="en-US" sz="1200" b="1" dirty="0">
                  <a:solidFill>
                    <a:srgbClr val="001D5F"/>
                  </a:solidFill>
                  <a:latin typeface="Calibri" pitchFamily="34" charset="0"/>
                  <a:ea typeface="Calibri" pitchFamily="34" charset="-122"/>
                  <a:cs typeface="Calibri" pitchFamily="34" charset="-120"/>
                </a:rPr>
                <a:t>Migration is our core, not an add-on</a:t>
              </a:r>
            </a:p>
          </p:txBody>
        </p:sp>
        <p:sp>
          <p:nvSpPr>
            <p:cNvPr id="112" name="Text 11">
              <a:extLst>
                <a:ext uri="{FF2B5EF4-FFF2-40B4-BE49-F238E27FC236}">
                  <a16:creationId xmlns:a16="http://schemas.microsoft.com/office/drawing/2014/main" id="{D7A319B3-867B-ABDA-2C5C-1058F0CA6059}"/>
                </a:ext>
              </a:extLst>
            </p:cNvPr>
            <p:cNvSpPr txBox="1"/>
            <p:nvPr/>
          </p:nvSpPr>
          <p:spPr>
            <a:xfrm>
              <a:off x="6501384" y="1682496"/>
              <a:ext cx="4754880" cy="914400"/>
            </a:xfrm>
            <a:prstGeom prst="rect">
              <a:avLst/>
            </a:prstGeom>
            <a:noFill/>
            <a:ln/>
          </p:spPr>
          <p:txBody>
            <a:bodyPr wrap="square" lIns="0" tIns="0" rIns="0" bIns="0" rtlCol="0" anchor="t"/>
            <a:lstStyle/>
            <a:p>
              <a:pPr indent="0">
                <a:lnSpc>
                  <a:spcPct val="110000"/>
                </a:lnSpc>
                <a:buNone/>
              </a:pPr>
              <a:r>
                <a:rPr lang="en-US" sz="1000" dirty="0">
                  <a:solidFill>
                    <a:srgbClr val="5D6B8C"/>
                  </a:solidFill>
                  <a:latin typeface="Calibri" pitchFamily="34" charset="0"/>
                  <a:ea typeface="Calibri" pitchFamily="34" charset="-122"/>
                  <a:cs typeface="Calibri" pitchFamily="34" charset="-120"/>
                </a:rPr>
                <a:t>Messaging engineering, migration delivery and identity management are what this team does - led by practitioners who have run cutover weekends themselves.</a:t>
              </a:r>
            </a:p>
          </p:txBody>
        </p:sp>
        <p:sp>
          <p:nvSpPr>
            <p:cNvPr id="113" name="Shape 12">
              <a:extLst>
                <a:ext uri="{FF2B5EF4-FFF2-40B4-BE49-F238E27FC236}">
                  <a16:creationId xmlns:a16="http://schemas.microsoft.com/office/drawing/2014/main" id="{7068B623-E2FE-4852-005A-8C2634B7BEEE}"/>
                </a:ext>
              </a:extLst>
            </p:cNvPr>
            <p:cNvSpPr/>
            <p:nvPr/>
          </p:nvSpPr>
          <p:spPr>
            <a:xfrm>
              <a:off x="502920" y="2633472"/>
              <a:ext cx="292608" cy="292608"/>
            </a:xfrm>
            <a:prstGeom prst="ellipse">
              <a:avLst/>
            </a:prstGeom>
            <a:solidFill>
              <a:srgbClr val="0053EB"/>
            </a:solidFill>
            <a:ln w="12700">
              <a:solidFill>
                <a:srgbClr val="0053EB"/>
              </a:solidFill>
              <a:prstDash val="solid"/>
            </a:ln>
          </p:spPr>
          <p:txBody>
            <a:bodyPr/>
            <a:lstStyle/>
            <a:p>
              <a:endParaRPr lang="en-IN"/>
            </a:p>
          </p:txBody>
        </p:sp>
        <p:sp>
          <p:nvSpPr>
            <p:cNvPr id="114" name="Text 13">
              <a:extLst>
                <a:ext uri="{FF2B5EF4-FFF2-40B4-BE49-F238E27FC236}">
                  <a16:creationId xmlns:a16="http://schemas.microsoft.com/office/drawing/2014/main" id="{3138330D-5B5C-7273-1EA9-CA3C53459779}"/>
                </a:ext>
              </a:extLst>
            </p:cNvPr>
            <p:cNvSpPr txBox="1"/>
            <p:nvPr/>
          </p:nvSpPr>
          <p:spPr>
            <a:xfrm>
              <a:off x="502920" y="2633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5" name="Text 14">
              <a:extLst>
                <a:ext uri="{FF2B5EF4-FFF2-40B4-BE49-F238E27FC236}">
                  <a16:creationId xmlns:a16="http://schemas.microsoft.com/office/drawing/2014/main" id="{28A5E4BF-1526-CA4D-55F2-408C08B1C6F5}"/>
                </a:ext>
              </a:extLst>
            </p:cNvPr>
            <p:cNvSpPr txBox="1"/>
            <p:nvPr/>
          </p:nvSpPr>
          <p:spPr>
            <a:xfrm>
              <a:off x="923544" y="2615184"/>
              <a:ext cx="4754880" cy="274320"/>
            </a:xfrm>
            <a:prstGeom prst="rect">
              <a:avLst/>
            </a:prstGeom>
            <a:noFill/>
            <a:ln/>
          </p:spPr>
          <p:txBody>
            <a:bodyPr wrap="square" lIns="0" tIns="0" rIns="0" bIns="0" rtlCol="0" anchor="t"/>
            <a:lstStyle/>
            <a:p>
              <a:pPr>
                <a:lnSpc>
                  <a:spcPct val="112000"/>
                </a:lnSpc>
              </a:pPr>
              <a:r>
                <a:rPr lang="en-US" sz="1200" b="1" dirty="0">
                  <a:solidFill>
                    <a:srgbClr val="001D5F"/>
                  </a:solidFill>
                  <a:latin typeface="Calibri" pitchFamily="34" charset="0"/>
                  <a:ea typeface="Calibri" pitchFamily="34" charset="-122"/>
                  <a:cs typeface="Calibri" pitchFamily="34" charset="-120"/>
                </a:rPr>
                <a:t>Security-led delivery</a:t>
              </a:r>
            </a:p>
          </p:txBody>
        </p:sp>
        <p:sp>
          <p:nvSpPr>
            <p:cNvPr id="116" name="Text 15">
              <a:extLst>
                <a:ext uri="{FF2B5EF4-FFF2-40B4-BE49-F238E27FC236}">
                  <a16:creationId xmlns:a16="http://schemas.microsoft.com/office/drawing/2014/main" id="{C2D51928-813B-3614-B77A-87CB11B16D40}"/>
                </a:ext>
              </a:extLst>
            </p:cNvPr>
            <p:cNvSpPr txBox="1"/>
            <p:nvPr/>
          </p:nvSpPr>
          <p:spPr>
            <a:xfrm>
              <a:off x="923544" y="2907792"/>
              <a:ext cx="4754880" cy="914400"/>
            </a:xfrm>
            <a:prstGeom prst="rect">
              <a:avLst/>
            </a:prstGeom>
            <a:noFill/>
            <a:ln/>
          </p:spPr>
          <p:txBody>
            <a:bodyPr wrap="square" lIns="0" tIns="0" rIns="0" bIns="0" rtlCol="0" anchor="t"/>
            <a:lstStyle/>
            <a:p>
              <a:pPr indent="0">
                <a:lnSpc>
                  <a:spcPct val="110000"/>
                </a:lnSpc>
                <a:buNone/>
              </a:pPr>
              <a:r>
                <a:rPr lang="en-US" sz="1000" dirty="0">
                  <a:solidFill>
                    <a:srgbClr val="5D6B8C"/>
                  </a:solidFill>
                  <a:latin typeface="Calibri" pitchFamily="34" charset="0"/>
                  <a:ea typeface="Calibri" pitchFamily="34" charset="-122"/>
                  <a:cs typeface="Calibri" pitchFamily="34" charset="-120"/>
                </a:rPr>
                <a:t>A cybersecurity practice running a migration treats residency, retention, authentication and evidence as design inputs, which is what a regulated estate requires.</a:t>
              </a:r>
            </a:p>
          </p:txBody>
        </p:sp>
        <p:sp>
          <p:nvSpPr>
            <p:cNvPr id="117" name="Shape 16">
              <a:extLst>
                <a:ext uri="{FF2B5EF4-FFF2-40B4-BE49-F238E27FC236}">
                  <a16:creationId xmlns:a16="http://schemas.microsoft.com/office/drawing/2014/main" id="{E6894889-1CD4-064E-826D-1B9A78383365}"/>
                </a:ext>
              </a:extLst>
            </p:cNvPr>
            <p:cNvSpPr/>
            <p:nvPr/>
          </p:nvSpPr>
          <p:spPr>
            <a:xfrm>
              <a:off x="6080760" y="2633472"/>
              <a:ext cx="292608" cy="292608"/>
            </a:xfrm>
            <a:prstGeom prst="ellipse">
              <a:avLst/>
            </a:prstGeom>
            <a:solidFill>
              <a:srgbClr val="0053EB"/>
            </a:solidFill>
            <a:ln w="12700">
              <a:solidFill>
                <a:srgbClr val="0053EB"/>
              </a:solidFill>
              <a:prstDash val="solid"/>
            </a:ln>
          </p:spPr>
          <p:txBody>
            <a:bodyPr/>
            <a:lstStyle/>
            <a:p>
              <a:endParaRPr lang="en-IN"/>
            </a:p>
          </p:txBody>
        </p:sp>
        <p:sp>
          <p:nvSpPr>
            <p:cNvPr id="118" name="Text 17">
              <a:extLst>
                <a:ext uri="{FF2B5EF4-FFF2-40B4-BE49-F238E27FC236}">
                  <a16:creationId xmlns:a16="http://schemas.microsoft.com/office/drawing/2014/main" id="{C21573A0-10DD-3A55-3A81-E7E0220F2568}"/>
                </a:ext>
              </a:extLst>
            </p:cNvPr>
            <p:cNvSpPr txBox="1"/>
            <p:nvPr/>
          </p:nvSpPr>
          <p:spPr>
            <a:xfrm>
              <a:off x="6080760" y="2633472"/>
              <a:ext cx="292608" cy="292608"/>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19" name="Text 18">
              <a:extLst>
                <a:ext uri="{FF2B5EF4-FFF2-40B4-BE49-F238E27FC236}">
                  <a16:creationId xmlns:a16="http://schemas.microsoft.com/office/drawing/2014/main" id="{22B9A598-624F-6397-A9C3-2260DD029657}"/>
                </a:ext>
              </a:extLst>
            </p:cNvPr>
            <p:cNvSpPr txBox="1"/>
            <p:nvPr/>
          </p:nvSpPr>
          <p:spPr>
            <a:xfrm>
              <a:off x="6501384" y="2615184"/>
              <a:ext cx="4754880" cy="274320"/>
            </a:xfrm>
            <a:prstGeom prst="rect">
              <a:avLst/>
            </a:prstGeom>
            <a:noFill/>
            <a:ln/>
          </p:spPr>
          <p:txBody>
            <a:bodyPr wrap="square" lIns="0" tIns="0" rIns="0" bIns="0" rtlCol="0" anchor="t"/>
            <a:lstStyle/>
            <a:p>
              <a:pPr indent="0">
                <a:lnSpc>
                  <a:spcPct val="112000"/>
                </a:lnSpc>
                <a:buNone/>
              </a:pPr>
              <a:r>
                <a:rPr lang="en-US" sz="1200" b="1" dirty="0">
                  <a:solidFill>
                    <a:srgbClr val="001D5F"/>
                  </a:solidFill>
                  <a:latin typeface="Calibri" pitchFamily="34" charset="0"/>
                  <a:ea typeface="Calibri" pitchFamily="34" charset="-122"/>
                  <a:cs typeface="Calibri" pitchFamily="34" charset="-120"/>
                </a:rPr>
                <a:t>We disclose limits up front</a:t>
              </a:r>
            </a:p>
          </p:txBody>
        </p:sp>
        <p:sp>
          <p:nvSpPr>
            <p:cNvPr id="120" name="Text 19">
              <a:extLst>
                <a:ext uri="{FF2B5EF4-FFF2-40B4-BE49-F238E27FC236}">
                  <a16:creationId xmlns:a16="http://schemas.microsoft.com/office/drawing/2014/main" id="{F791D6C4-2BB1-37FE-AFBD-62FB99FA0B55}"/>
                </a:ext>
              </a:extLst>
            </p:cNvPr>
            <p:cNvSpPr txBox="1"/>
            <p:nvPr/>
          </p:nvSpPr>
          <p:spPr>
            <a:xfrm>
              <a:off x="6501384" y="2907792"/>
              <a:ext cx="4754880" cy="914400"/>
            </a:xfrm>
            <a:prstGeom prst="rect">
              <a:avLst/>
            </a:prstGeom>
            <a:noFill/>
            <a:ln/>
          </p:spPr>
          <p:txBody>
            <a:bodyPr wrap="square" lIns="0" tIns="0" rIns="0" bIns="0" rtlCol="0" anchor="t"/>
            <a:lstStyle/>
            <a:p>
              <a:pPr>
                <a:lnSpc>
                  <a:spcPct val="110000"/>
                </a:lnSpc>
              </a:pPr>
              <a:r>
                <a:rPr lang="en-US" sz="1000" dirty="0">
                  <a:solidFill>
                    <a:srgbClr val="5D6B8C"/>
                  </a:solidFill>
                  <a:latin typeface="Calibri" pitchFamily="34" charset="0"/>
                  <a:ea typeface="Calibri" pitchFamily="34" charset="-122"/>
                  <a:cs typeface="Calibri" pitchFamily="34" charset="-120"/>
                </a:rPr>
                <a:t>The limitation register and application mapping in this deck are normally produced after contract, if at all. We put them in the proposal.</a:t>
              </a:r>
            </a:p>
          </p:txBody>
        </p:sp>
        <p:sp>
          <p:nvSpPr>
            <p:cNvPr id="121" name="Shape 20">
              <a:extLst>
                <a:ext uri="{FF2B5EF4-FFF2-40B4-BE49-F238E27FC236}">
                  <a16:creationId xmlns:a16="http://schemas.microsoft.com/office/drawing/2014/main" id="{E0833D4F-B480-8DE9-E4B5-D032D52E7809}"/>
                </a:ext>
              </a:extLst>
            </p:cNvPr>
            <p:cNvSpPr/>
            <p:nvPr/>
          </p:nvSpPr>
          <p:spPr>
            <a:xfrm>
              <a:off x="502920" y="4224528"/>
              <a:ext cx="10835640" cy="18288"/>
            </a:xfrm>
            <a:prstGeom prst="rect">
              <a:avLst/>
            </a:prstGeom>
            <a:solidFill>
              <a:srgbClr val="2B4E9E"/>
            </a:solidFill>
            <a:ln w="12700">
              <a:solidFill>
                <a:srgbClr val="2B4E9E"/>
              </a:solidFill>
              <a:prstDash val="solid"/>
            </a:ln>
          </p:spPr>
          <p:txBody>
            <a:bodyPr/>
            <a:lstStyle/>
            <a:p>
              <a:endParaRPr lang="en-IN"/>
            </a:p>
          </p:txBody>
        </p:sp>
        <p:sp>
          <p:nvSpPr>
            <p:cNvPr id="122" name="Text 21">
              <a:extLst>
                <a:ext uri="{FF2B5EF4-FFF2-40B4-BE49-F238E27FC236}">
                  <a16:creationId xmlns:a16="http://schemas.microsoft.com/office/drawing/2014/main" id="{31032C89-BD4F-C326-E9FE-12750F486274}"/>
                </a:ext>
              </a:extLst>
            </p:cNvPr>
            <p:cNvSpPr txBox="1"/>
            <p:nvPr/>
          </p:nvSpPr>
          <p:spPr>
            <a:xfrm>
              <a:off x="502920" y="4443984"/>
              <a:ext cx="6400800" cy="274320"/>
            </a:xfrm>
            <a:prstGeom prst="rect">
              <a:avLst/>
            </a:prstGeom>
            <a:noFill/>
            <a:ln/>
          </p:spPr>
          <p:txBody>
            <a:bodyPr wrap="square" lIns="0" tIns="0" rIns="0" bIns="0" rtlCol="0" anchor="t"/>
            <a:lstStyle/>
            <a:p>
              <a:pPr marL="0" indent="0" algn="l">
                <a:lnSpc>
                  <a:spcPct val="112000"/>
                </a:lnSpc>
                <a:buNone/>
              </a:pPr>
              <a:r>
                <a:rPr lang="en-US" sz="1250" b="1" dirty="0">
                  <a:solidFill>
                    <a:srgbClr val="78A8FF"/>
                  </a:solidFill>
                  <a:latin typeface="Calibri" pitchFamily="34" charset="0"/>
                  <a:ea typeface="Calibri" pitchFamily="34" charset="-122"/>
                  <a:cs typeface="Calibri" pitchFamily="34" charset="-120"/>
                </a:rPr>
                <a:t>The people who would run this engagement</a:t>
              </a:r>
              <a:endParaRPr lang="en-US" sz="1250" dirty="0"/>
            </a:p>
          </p:txBody>
        </p:sp>
        <p:sp>
          <p:nvSpPr>
            <p:cNvPr id="123" name="Shape 22">
              <a:extLst>
                <a:ext uri="{FF2B5EF4-FFF2-40B4-BE49-F238E27FC236}">
                  <a16:creationId xmlns:a16="http://schemas.microsoft.com/office/drawing/2014/main" id="{DF31EB60-DF1E-9CBB-642C-593CE7C25E19}"/>
                </a:ext>
              </a:extLst>
            </p:cNvPr>
            <p:cNvSpPr/>
            <p:nvPr/>
          </p:nvSpPr>
          <p:spPr>
            <a:xfrm>
              <a:off x="502920" y="4846320"/>
              <a:ext cx="3453414" cy="1298448"/>
            </a:xfrm>
            <a:prstGeom prst="roundRect">
              <a:avLst>
                <a:gd name="adj" fmla="val 3521"/>
              </a:avLst>
            </a:prstGeom>
            <a:solidFill>
              <a:srgbClr val="0A2C7A"/>
            </a:solidFill>
            <a:ln w="12700">
              <a:solidFill>
                <a:srgbClr val="2B4E9E"/>
              </a:solidFill>
              <a:prstDash val="solid"/>
            </a:ln>
          </p:spPr>
          <p:txBody>
            <a:bodyPr/>
            <a:lstStyle/>
            <a:p>
              <a:endParaRPr lang="en-IN"/>
            </a:p>
          </p:txBody>
        </p:sp>
        <p:sp>
          <p:nvSpPr>
            <p:cNvPr id="124" name="Text 23">
              <a:extLst>
                <a:ext uri="{FF2B5EF4-FFF2-40B4-BE49-F238E27FC236}">
                  <a16:creationId xmlns:a16="http://schemas.microsoft.com/office/drawing/2014/main" id="{5F36FAF5-310C-56A0-AB2A-DF7C3209476B}"/>
                </a:ext>
              </a:extLst>
            </p:cNvPr>
            <p:cNvSpPr txBox="1"/>
            <p:nvPr/>
          </p:nvSpPr>
          <p:spPr>
            <a:xfrm>
              <a:off x="722376" y="4974336"/>
              <a:ext cx="3017520" cy="274320"/>
            </a:xfrm>
            <a:prstGeom prst="rect">
              <a:avLst/>
            </a:prstGeom>
            <a:noFill/>
            <a:ln/>
          </p:spPr>
          <p:txBody>
            <a:bodyPr wrap="square" lIns="0" tIns="0" rIns="0" bIns="0" rtlCol="0" anchor="t"/>
            <a:lstStyle/>
            <a:p>
              <a:pPr marL="0" indent="0" algn="l">
                <a:lnSpc>
                  <a:spcPct val="112000"/>
                </a:lnSpc>
                <a:buNone/>
              </a:pPr>
              <a:r>
                <a:rPr lang="en-US" sz="1150" b="1" dirty="0">
                  <a:solidFill>
                    <a:srgbClr val="FFFFFF"/>
                  </a:solidFill>
                  <a:latin typeface="Calibri" pitchFamily="34" charset="0"/>
                  <a:ea typeface="Calibri" pitchFamily="34" charset="-122"/>
                  <a:cs typeface="Calibri" pitchFamily="34" charset="-120"/>
                </a:rPr>
                <a:t>Harish Prakasam</a:t>
              </a:r>
              <a:endParaRPr lang="en-US" sz="1150" dirty="0"/>
            </a:p>
          </p:txBody>
        </p:sp>
        <p:sp>
          <p:nvSpPr>
            <p:cNvPr id="125" name="Text 24">
              <a:extLst>
                <a:ext uri="{FF2B5EF4-FFF2-40B4-BE49-F238E27FC236}">
                  <a16:creationId xmlns:a16="http://schemas.microsoft.com/office/drawing/2014/main" id="{8A26F3E5-9B8E-0C9F-F4B0-7DB4444699C5}"/>
                </a:ext>
              </a:extLst>
            </p:cNvPr>
            <p:cNvSpPr txBox="1"/>
            <p:nvPr/>
          </p:nvSpPr>
          <p:spPr>
            <a:xfrm>
              <a:off x="722376" y="5248656"/>
              <a:ext cx="3017520" cy="256032"/>
            </a:xfrm>
            <a:prstGeom prst="rect">
              <a:avLst/>
            </a:prstGeom>
            <a:noFill/>
            <a:ln/>
          </p:spPr>
          <p:txBody>
            <a:bodyPr wrap="square" lIns="0" tIns="0" rIns="0" bIns="0" rtlCol="0" anchor="t"/>
            <a:lstStyle/>
            <a:p>
              <a:pPr marL="0" indent="0" algn="l">
                <a:lnSpc>
                  <a:spcPct val="112000"/>
                </a:lnSpc>
                <a:buNone/>
              </a:pPr>
              <a:r>
                <a:rPr lang="en-US" sz="900" b="1" dirty="0">
                  <a:solidFill>
                    <a:srgbClr val="78A8FF"/>
                  </a:solidFill>
                  <a:latin typeface="Calibri" pitchFamily="34" charset="0"/>
                  <a:ea typeface="Calibri" pitchFamily="34" charset="-122"/>
                  <a:cs typeface="Calibri" pitchFamily="34" charset="-120"/>
                </a:rPr>
                <a:t>Solution Architect</a:t>
              </a:r>
              <a:endParaRPr lang="en-US" sz="900" dirty="0"/>
            </a:p>
          </p:txBody>
        </p:sp>
        <p:sp>
          <p:nvSpPr>
            <p:cNvPr id="126" name="Text 25">
              <a:extLst>
                <a:ext uri="{FF2B5EF4-FFF2-40B4-BE49-F238E27FC236}">
                  <a16:creationId xmlns:a16="http://schemas.microsoft.com/office/drawing/2014/main" id="{B88840A1-E71A-393D-475C-D6236D9F751D}"/>
                </a:ext>
              </a:extLst>
            </p:cNvPr>
            <p:cNvSpPr txBox="1"/>
            <p:nvPr/>
          </p:nvSpPr>
          <p:spPr>
            <a:xfrm>
              <a:off x="722376" y="5522976"/>
              <a:ext cx="3017520" cy="548640"/>
            </a:xfrm>
            <a:prstGeom prst="rect">
              <a:avLst/>
            </a:prstGeom>
            <a:noFill/>
            <a:ln/>
          </p:spPr>
          <p:txBody>
            <a:bodyPr wrap="square" lIns="0" tIns="0" rIns="0" bIns="0" rtlCol="0" anchor="t"/>
            <a:lstStyle/>
            <a:p>
              <a:pPr marL="0" indent="0" algn="l">
                <a:lnSpc>
                  <a:spcPct val="108000"/>
                </a:lnSpc>
                <a:buNone/>
              </a:pPr>
              <a:r>
                <a:rPr lang="en-US" sz="830" dirty="0">
                  <a:solidFill>
                    <a:srgbClr val="8FA4CC"/>
                  </a:solidFill>
                  <a:latin typeface="Calibri" pitchFamily="34" charset="0"/>
                  <a:ea typeface="Calibri" pitchFamily="34" charset="-122"/>
                  <a:cs typeface="Calibri" pitchFamily="34" charset="-120"/>
                </a:rPr>
                <a:t>25+ years - presales and solutioning across infrastructure and cybersecurity; programme ownership</a:t>
              </a:r>
              <a:endParaRPr lang="en-US" sz="830" dirty="0"/>
            </a:p>
          </p:txBody>
        </p:sp>
        <p:sp>
          <p:nvSpPr>
            <p:cNvPr id="127" name="Shape 26">
              <a:extLst>
                <a:ext uri="{FF2B5EF4-FFF2-40B4-BE49-F238E27FC236}">
                  <a16:creationId xmlns:a16="http://schemas.microsoft.com/office/drawing/2014/main" id="{752F2464-5F82-C084-8078-21D073E43AC0}"/>
                </a:ext>
              </a:extLst>
            </p:cNvPr>
            <p:cNvSpPr/>
            <p:nvPr/>
          </p:nvSpPr>
          <p:spPr>
            <a:xfrm>
              <a:off x="4194078" y="4846320"/>
              <a:ext cx="3453414" cy="1298448"/>
            </a:xfrm>
            <a:prstGeom prst="roundRect">
              <a:avLst>
                <a:gd name="adj" fmla="val 3521"/>
              </a:avLst>
            </a:prstGeom>
            <a:solidFill>
              <a:srgbClr val="0A2C7A"/>
            </a:solidFill>
            <a:ln w="12700">
              <a:solidFill>
                <a:srgbClr val="2B4E9E"/>
              </a:solidFill>
              <a:prstDash val="solid"/>
            </a:ln>
          </p:spPr>
          <p:txBody>
            <a:bodyPr/>
            <a:lstStyle/>
            <a:p>
              <a:endParaRPr lang="en-IN"/>
            </a:p>
          </p:txBody>
        </p:sp>
        <p:sp>
          <p:nvSpPr>
            <p:cNvPr id="128" name="Text 27">
              <a:extLst>
                <a:ext uri="{FF2B5EF4-FFF2-40B4-BE49-F238E27FC236}">
                  <a16:creationId xmlns:a16="http://schemas.microsoft.com/office/drawing/2014/main" id="{BA9C323B-70BA-E438-2F18-ABDDFB48C0B3}"/>
                </a:ext>
              </a:extLst>
            </p:cNvPr>
            <p:cNvSpPr txBox="1"/>
            <p:nvPr/>
          </p:nvSpPr>
          <p:spPr>
            <a:xfrm>
              <a:off x="4413534" y="4974336"/>
              <a:ext cx="3017520" cy="274320"/>
            </a:xfrm>
            <a:prstGeom prst="rect">
              <a:avLst/>
            </a:prstGeom>
            <a:noFill/>
            <a:ln/>
          </p:spPr>
          <p:txBody>
            <a:bodyPr wrap="square" lIns="0" tIns="0" rIns="0" bIns="0" rtlCol="0" anchor="t"/>
            <a:lstStyle/>
            <a:p>
              <a:pPr marL="0" indent="0" algn="l">
                <a:lnSpc>
                  <a:spcPct val="112000"/>
                </a:lnSpc>
                <a:buNone/>
              </a:pPr>
              <a:r>
                <a:rPr lang="en-US" sz="1150" b="1" dirty="0">
                  <a:solidFill>
                    <a:srgbClr val="FFFFFF"/>
                  </a:solidFill>
                  <a:latin typeface="Calibri" pitchFamily="34" charset="0"/>
                  <a:ea typeface="Calibri" pitchFamily="34" charset="-122"/>
                  <a:cs typeface="Calibri" pitchFamily="34" charset="-120"/>
                </a:rPr>
                <a:t>Vinoth Kumar V</a:t>
              </a:r>
              <a:endParaRPr lang="en-US" sz="1150" dirty="0"/>
            </a:p>
          </p:txBody>
        </p:sp>
        <p:sp>
          <p:nvSpPr>
            <p:cNvPr id="129" name="Text 28">
              <a:extLst>
                <a:ext uri="{FF2B5EF4-FFF2-40B4-BE49-F238E27FC236}">
                  <a16:creationId xmlns:a16="http://schemas.microsoft.com/office/drawing/2014/main" id="{28EC5886-1188-EE46-6A47-85A279115648}"/>
                </a:ext>
              </a:extLst>
            </p:cNvPr>
            <p:cNvSpPr txBox="1"/>
            <p:nvPr/>
          </p:nvSpPr>
          <p:spPr>
            <a:xfrm>
              <a:off x="4413534" y="5248656"/>
              <a:ext cx="3017520" cy="256032"/>
            </a:xfrm>
            <a:prstGeom prst="rect">
              <a:avLst/>
            </a:prstGeom>
            <a:noFill/>
            <a:ln/>
          </p:spPr>
          <p:txBody>
            <a:bodyPr wrap="square" lIns="0" tIns="0" rIns="0" bIns="0" rtlCol="0" anchor="t"/>
            <a:lstStyle/>
            <a:p>
              <a:pPr marL="0" indent="0" algn="l">
                <a:lnSpc>
                  <a:spcPct val="112000"/>
                </a:lnSpc>
                <a:buNone/>
              </a:pPr>
              <a:r>
                <a:rPr lang="en-US" sz="900" b="1" dirty="0">
                  <a:solidFill>
                    <a:srgbClr val="78A8FF"/>
                  </a:solidFill>
                  <a:latin typeface="Calibri" pitchFamily="34" charset="0"/>
                  <a:ea typeface="Calibri" pitchFamily="34" charset="-122"/>
                  <a:cs typeface="Calibri" pitchFamily="34" charset="-120"/>
                </a:rPr>
                <a:t>Subject Matter Expert </a:t>
              </a:r>
              <a:endParaRPr lang="en-US" sz="900" dirty="0"/>
            </a:p>
          </p:txBody>
        </p:sp>
        <p:sp>
          <p:nvSpPr>
            <p:cNvPr id="130" name="Text 29">
              <a:extLst>
                <a:ext uri="{FF2B5EF4-FFF2-40B4-BE49-F238E27FC236}">
                  <a16:creationId xmlns:a16="http://schemas.microsoft.com/office/drawing/2014/main" id="{C50139B3-2585-D6BE-D60A-778A06631CC9}"/>
                </a:ext>
              </a:extLst>
            </p:cNvPr>
            <p:cNvSpPr txBox="1"/>
            <p:nvPr/>
          </p:nvSpPr>
          <p:spPr>
            <a:xfrm>
              <a:off x="4413534" y="5522976"/>
              <a:ext cx="3017520" cy="548640"/>
            </a:xfrm>
            <a:prstGeom prst="rect">
              <a:avLst/>
            </a:prstGeom>
            <a:noFill/>
            <a:ln/>
          </p:spPr>
          <p:txBody>
            <a:bodyPr wrap="square" lIns="0" tIns="0" rIns="0" bIns="0" rtlCol="0" anchor="t"/>
            <a:lstStyle/>
            <a:p>
              <a:pPr marL="0" indent="0" algn="l">
                <a:lnSpc>
                  <a:spcPct val="108000"/>
                </a:lnSpc>
                <a:buNone/>
              </a:pPr>
              <a:r>
                <a:rPr lang="en-US" sz="830" dirty="0">
                  <a:solidFill>
                    <a:srgbClr val="8FA4CC"/>
                  </a:solidFill>
                  <a:latin typeface="Calibri" pitchFamily="34" charset="0"/>
                  <a:ea typeface="Calibri" pitchFamily="34" charset="-122"/>
                  <a:cs typeface="Calibri" pitchFamily="34" charset="-120"/>
                </a:rPr>
                <a:t>16+ years - Exchange on-premises and Exchange Online engineering, migration execution</a:t>
              </a:r>
              <a:endParaRPr lang="en-US" sz="830" dirty="0"/>
            </a:p>
          </p:txBody>
        </p:sp>
        <p:sp>
          <p:nvSpPr>
            <p:cNvPr id="131" name="Shape 30">
              <a:extLst>
                <a:ext uri="{FF2B5EF4-FFF2-40B4-BE49-F238E27FC236}">
                  <a16:creationId xmlns:a16="http://schemas.microsoft.com/office/drawing/2014/main" id="{1AC0F55D-B683-5BB5-CDD4-DF6951836B13}"/>
                </a:ext>
              </a:extLst>
            </p:cNvPr>
            <p:cNvSpPr/>
            <p:nvPr/>
          </p:nvSpPr>
          <p:spPr>
            <a:xfrm>
              <a:off x="7885237" y="4846320"/>
              <a:ext cx="3453414" cy="1298448"/>
            </a:xfrm>
            <a:prstGeom prst="roundRect">
              <a:avLst>
                <a:gd name="adj" fmla="val 3521"/>
              </a:avLst>
            </a:prstGeom>
            <a:solidFill>
              <a:srgbClr val="0A2C7A"/>
            </a:solidFill>
            <a:ln w="12700">
              <a:solidFill>
                <a:srgbClr val="2B4E9E"/>
              </a:solidFill>
              <a:prstDash val="solid"/>
            </a:ln>
          </p:spPr>
          <p:txBody>
            <a:bodyPr/>
            <a:lstStyle/>
            <a:p>
              <a:endParaRPr lang="en-IN"/>
            </a:p>
          </p:txBody>
        </p:sp>
        <p:sp>
          <p:nvSpPr>
            <p:cNvPr id="132" name="Text 31">
              <a:extLst>
                <a:ext uri="{FF2B5EF4-FFF2-40B4-BE49-F238E27FC236}">
                  <a16:creationId xmlns:a16="http://schemas.microsoft.com/office/drawing/2014/main" id="{4C11AD34-6CC0-CE80-3BC8-52631C54BF6A}"/>
                </a:ext>
              </a:extLst>
            </p:cNvPr>
            <p:cNvSpPr txBox="1"/>
            <p:nvPr/>
          </p:nvSpPr>
          <p:spPr>
            <a:xfrm>
              <a:off x="8104693" y="4974336"/>
              <a:ext cx="3017520" cy="274320"/>
            </a:xfrm>
            <a:prstGeom prst="rect">
              <a:avLst/>
            </a:prstGeom>
            <a:noFill/>
            <a:ln/>
          </p:spPr>
          <p:txBody>
            <a:bodyPr wrap="square" lIns="0" tIns="0" rIns="0" bIns="0" rtlCol="0" anchor="t"/>
            <a:lstStyle/>
            <a:p>
              <a:pPr marL="0" indent="0" algn="l">
                <a:lnSpc>
                  <a:spcPct val="112000"/>
                </a:lnSpc>
                <a:buNone/>
              </a:pPr>
              <a:r>
                <a:rPr lang="en-US" sz="1150" b="1" dirty="0">
                  <a:solidFill>
                    <a:srgbClr val="FFFFFF"/>
                  </a:solidFill>
                  <a:latin typeface="Calibri" pitchFamily="34" charset="0"/>
                  <a:ea typeface="Calibri" pitchFamily="34" charset="-122"/>
                  <a:cs typeface="Calibri" pitchFamily="34" charset="-120"/>
                </a:rPr>
                <a:t>Srinivas Anand</a:t>
              </a:r>
              <a:endParaRPr lang="en-US" sz="1150" dirty="0"/>
            </a:p>
          </p:txBody>
        </p:sp>
        <p:sp>
          <p:nvSpPr>
            <p:cNvPr id="133" name="Text 32">
              <a:extLst>
                <a:ext uri="{FF2B5EF4-FFF2-40B4-BE49-F238E27FC236}">
                  <a16:creationId xmlns:a16="http://schemas.microsoft.com/office/drawing/2014/main" id="{5F151E78-9415-4B8D-C841-A725071FAD5D}"/>
                </a:ext>
              </a:extLst>
            </p:cNvPr>
            <p:cNvSpPr txBox="1"/>
            <p:nvPr/>
          </p:nvSpPr>
          <p:spPr>
            <a:xfrm>
              <a:off x="8104693" y="5248656"/>
              <a:ext cx="3017520" cy="256032"/>
            </a:xfrm>
            <a:prstGeom prst="rect">
              <a:avLst/>
            </a:prstGeom>
            <a:noFill/>
            <a:ln/>
          </p:spPr>
          <p:txBody>
            <a:bodyPr wrap="square" lIns="0" tIns="0" rIns="0" bIns="0" rtlCol="0" anchor="t"/>
            <a:lstStyle/>
            <a:p>
              <a:pPr marL="0" indent="0" algn="l">
                <a:lnSpc>
                  <a:spcPct val="112000"/>
                </a:lnSpc>
                <a:buNone/>
              </a:pPr>
              <a:r>
                <a:rPr lang="en-US" sz="900" b="1" dirty="0">
                  <a:solidFill>
                    <a:srgbClr val="78A8FF"/>
                  </a:solidFill>
                  <a:latin typeface="Calibri" pitchFamily="34" charset="0"/>
                  <a:ea typeface="Calibri" pitchFamily="34" charset="-122"/>
                  <a:cs typeface="Calibri" pitchFamily="34" charset="-120"/>
                </a:rPr>
                <a:t>Cloud Architect </a:t>
              </a:r>
              <a:endParaRPr lang="en-US" sz="900" dirty="0"/>
            </a:p>
          </p:txBody>
        </p:sp>
        <p:sp>
          <p:nvSpPr>
            <p:cNvPr id="134" name="Text 33">
              <a:extLst>
                <a:ext uri="{FF2B5EF4-FFF2-40B4-BE49-F238E27FC236}">
                  <a16:creationId xmlns:a16="http://schemas.microsoft.com/office/drawing/2014/main" id="{0A398084-38AB-0E4E-6108-5DE3B0C0FA3C}"/>
                </a:ext>
              </a:extLst>
            </p:cNvPr>
            <p:cNvSpPr txBox="1"/>
            <p:nvPr/>
          </p:nvSpPr>
          <p:spPr>
            <a:xfrm>
              <a:off x="8104693" y="5522976"/>
              <a:ext cx="3017520" cy="548640"/>
            </a:xfrm>
            <a:prstGeom prst="rect">
              <a:avLst/>
            </a:prstGeom>
            <a:noFill/>
            <a:ln/>
          </p:spPr>
          <p:txBody>
            <a:bodyPr wrap="square" lIns="0" tIns="0" rIns="0" bIns="0" rtlCol="0" anchor="t"/>
            <a:lstStyle/>
            <a:p>
              <a:pPr marL="0" indent="0" algn="l">
                <a:lnSpc>
                  <a:spcPct val="108000"/>
                </a:lnSpc>
                <a:buNone/>
              </a:pPr>
              <a:r>
                <a:rPr lang="en-US" sz="830" dirty="0">
                  <a:solidFill>
                    <a:srgbClr val="8FA4CC"/>
                  </a:solidFill>
                  <a:latin typeface="Calibri" pitchFamily="34" charset="0"/>
                  <a:ea typeface="Calibri" pitchFamily="34" charset="-122"/>
                  <a:cs typeface="Calibri" pitchFamily="34" charset="-120"/>
                </a:rPr>
                <a:t>17+ years - hybrid identity, Entra ID and Google Workspace architecture</a:t>
              </a:r>
              <a:endParaRPr lang="en-US" sz="830" dirty="0"/>
            </a:p>
          </p:txBody>
        </p:sp>
        <p:sp>
          <p:nvSpPr>
            <p:cNvPr id="135" name="Text 34">
              <a:extLst>
                <a:ext uri="{FF2B5EF4-FFF2-40B4-BE49-F238E27FC236}">
                  <a16:creationId xmlns:a16="http://schemas.microsoft.com/office/drawing/2014/main" id="{F8C7A9C8-E4BC-781D-CBFA-E2488ECC8E87}"/>
                </a:ext>
              </a:extLst>
            </p:cNvPr>
            <p:cNvSpPr txBox="1"/>
            <p:nvPr/>
          </p:nvSpPr>
          <p:spPr>
            <a:xfrm>
              <a:off x="502920" y="6233372"/>
              <a:ext cx="7772400" cy="274320"/>
            </a:xfrm>
            <a:prstGeom prst="rect">
              <a:avLst/>
            </a:prstGeom>
            <a:noFill/>
            <a:ln/>
          </p:spPr>
          <p:txBody>
            <a:bodyPr wrap="square" lIns="0" tIns="0" rIns="0" bIns="0" rtlCol="0" anchor="t"/>
            <a:lstStyle/>
            <a:p>
              <a:pPr marL="0" indent="0" algn="l">
                <a:lnSpc>
                  <a:spcPct val="112000"/>
                </a:lnSpc>
                <a:buNone/>
              </a:pPr>
              <a:r>
                <a:rPr lang="en-US" sz="900" dirty="0">
                  <a:solidFill>
                    <a:srgbClr val="6E86B8"/>
                  </a:solidFill>
                  <a:latin typeface="Calibri" pitchFamily="34" charset="0"/>
                  <a:ea typeface="Calibri" pitchFamily="34" charset="-122"/>
                  <a:cs typeface="Calibri" pitchFamily="34" charset="-120"/>
                </a:rPr>
                <a:t>Virtuousinfo  ·  Migration &amp; Collaboration Practice  ·  Where Innovation Amplifies</a:t>
              </a:r>
              <a:endParaRPr lang="en-US" sz="900" dirty="0"/>
            </a:p>
          </p:txBody>
        </p:sp>
      </p:grpSp>
      <p:pic>
        <p:nvPicPr>
          <p:cNvPr id="137" name="Image 0" descr="logo_icon.png">
            <a:extLst>
              <a:ext uri="{FF2B5EF4-FFF2-40B4-BE49-F238E27FC236}">
                <a16:creationId xmlns:a16="http://schemas.microsoft.com/office/drawing/2014/main" id="{483A160A-F9C5-D78B-01AF-C48F4EAB1551}"/>
              </a:ext>
            </a:extLst>
          </p:cNvPr>
          <p:cNvPicPr>
            <a:picLocks noChangeAspect="1"/>
          </p:cNvPicPr>
          <p:nvPr/>
        </p:nvPicPr>
        <p:blipFill>
          <a:blip r:embed="rId2"/>
          <a:stretch>
            <a:fillRect/>
          </a:stretch>
        </p:blipFill>
        <p:spPr>
          <a:xfrm>
            <a:off x="11301984" y="292608"/>
            <a:ext cx="512064" cy="407822"/>
          </a:xfrm>
          <a:prstGeom prst="rect">
            <a:avLst/>
          </a:prstGeom>
        </p:spPr>
      </p:pic>
    </p:spTree>
    <p:extLst>
      <p:ext uri="{BB962C8B-B14F-4D97-AF65-F5344CB8AC3E}">
        <p14:creationId xmlns:p14="http://schemas.microsoft.com/office/powerpoint/2010/main" val="3084096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F0026-E80D-3FAB-C4DE-1A240BA5D796}"/>
            </a:ext>
          </a:extLst>
        </p:cNvPr>
        <p:cNvGrpSpPr/>
        <p:nvPr/>
      </p:nvGrpSpPr>
      <p:grpSpPr>
        <a:xfrm>
          <a:off x="0" y="0"/>
          <a:ext cx="0" cy="0"/>
          <a:chOff x="0" y="0"/>
          <a:chExt cx="0" cy="0"/>
        </a:xfrm>
      </p:grpSpPr>
      <p:sp>
        <p:nvSpPr>
          <p:cNvPr id="11" name="AutoShape 2">
            <a:extLst>
              <a:ext uri="{FF2B5EF4-FFF2-40B4-BE49-F238E27FC236}">
                <a16:creationId xmlns:a16="http://schemas.microsoft.com/office/drawing/2014/main" id="{B409B4AB-9180-8D75-4C22-DE619397B0E3}"/>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2A5467B6-E519-677C-7666-DF532F59B3D7}"/>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FA98C723-4E31-FDAC-474F-D0D1E95A3E32}"/>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2" name="Footer Placeholder 24">
            <a:extLst>
              <a:ext uri="{FF2B5EF4-FFF2-40B4-BE49-F238E27FC236}">
                <a16:creationId xmlns:a16="http://schemas.microsoft.com/office/drawing/2014/main" id="{046B4E8E-B141-F20A-8288-65C10F922194}"/>
              </a:ext>
            </a:extLst>
          </p:cNvPr>
          <p:cNvSpPr>
            <a:spLocks noGrp="1"/>
          </p:cNvSpPr>
          <p:nvPr>
            <p:ph type="ftr" sz="quarter" idx="11"/>
          </p:nvPr>
        </p:nvSpPr>
        <p:spPr>
          <a:xfrm>
            <a:off x="4788013" y="6487584"/>
            <a:ext cx="1930400" cy="243417"/>
          </a:xfrm>
        </p:spPr>
        <p:txBody>
          <a:bodyPr/>
          <a:lstStyle/>
          <a:p>
            <a:r>
              <a:rPr lang="en-US" sz="867" dirty="0">
                <a:solidFill>
                  <a:schemeClr val="tx2">
                    <a:lumMod val="75000"/>
                  </a:schemeClr>
                </a:solidFill>
                <a:latin typeface="Codec Pro" panose="020B0604020202020204" charset="0"/>
              </a:rPr>
              <a:t>			</a:t>
            </a:r>
          </a:p>
        </p:txBody>
      </p:sp>
      <p:sp>
        <p:nvSpPr>
          <p:cNvPr id="20" name="Text 2">
            <a:extLst>
              <a:ext uri="{FF2B5EF4-FFF2-40B4-BE49-F238E27FC236}">
                <a16:creationId xmlns:a16="http://schemas.microsoft.com/office/drawing/2014/main" id="{40A2CDA7-6CF3-A21C-B7CA-1A6938C7E6EF}"/>
              </a:ext>
            </a:extLst>
          </p:cNvPr>
          <p:cNvSpPr txBox="1"/>
          <p:nvPr/>
        </p:nvSpPr>
        <p:spPr>
          <a:xfrm>
            <a:off x="539496" y="256032"/>
            <a:ext cx="10515600" cy="219456"/>
          </a:xfrm>
          <a:prstGeom prst="rect">
            <a:avLst/>
          </a:prstGeom>
          <a:noFill/>
          <a:ln/>
        </p:spPr>
        <p:txBody>
          <a:bodyPr wrap="square" lIns="0" tIns="0" rIns="0" bIns="0" rtlCol="0" anchor="ctr"/>
          <a:lstStyle/>
          <a:p>
            <a:pPr marL="0" indent="0">
              <a:buNone/>
            </a:pPr>
            <a:r>
              <a:rPr lang="en-US" sz="1000" b="1" kern="0" spc="200" dirty="0">
                <a:solidFill>
                  <a:srgbClr val="002060"/>
                </a:solidFill>
                <a:latin typeface="Codec Pro" panose="020B0604020202020204" charset="0"/>
                <a:ea typeface="Calibri" pitchFamily="34" charset="-122"/>
                <a:cs typeface="Calibri" pitchFamily="34" charset="-120"/>
              </a:rPr>
              <a:t>NEXT STEPS</a:t>
            </a:r>
            <a:endParaRPr lang="en-US" sz="1000" dirty="0">
              <a:solidFill>
                <a:srgbClr val="002060"/>
              </a:solidFill>
              <a:latin typeface="Codec Pro" panose="020B0604020202020204" charset="0"/>
            </a:endParaRPr>
          </a:p>
        </p:txBody>
      </p:sp>
      <p:sp>
        <p:nvSpPr>
          <p:cNvPr id="23" name="Text 3">
            <a:extLst>
              <a:ext uri="{FF2B5EF4-FFF2-40B4-BE49-F238E27FC236}">
                <a16:creationId xmlns:a16="http://schemas.microsoft.com/office/drawing/2014/main" id="{CD46F12C-6738-1CDB-0B89-0FC95FDE53D4}"/>
              </a:ext>
            </a:extLst>
          </p:cNvPr>
          <p:cNvSpPr txBox="1"/>
          <p:nvPr/>
        </p:nvSpPr>
        <p:spPr>
          <a:xfrm>
            <a:off x="539496" y="601472"/>
            <a:ext cx="9507684" cy="566928"/>
          </a:xfrm>
          <a:prstGeom prst="rect">
            <a:avLst/>
          </a:prstGeom>
          <a:noFill/>
          <a:ln/>
        </p:spPr>
        <p:txBody>
          <a:bodyPr wrap="square" lIns="0" tIns="0" rIns="0" bIns="0" rtlCol="0" anchor="ctr"/>
          <a:lstStyle/>
          <a:p>
            <a:r>
              <a:rPr lang="en-US" sz="3200" b="1" dirty="0">
                <a:solidFill>
                  <a:srgbClr val="001D5F"/>
                </a:solidFill>
                <a:latin typeface="Calibri" pitchFamily="34" charset="0"/>
                <a:ea typeface="Calibri" pitchFamily="34" charset="-122"/>
                <a:cs typeface="Calibri" pitchFamily="34" charset="-120"/>
              </a:rPr>
              <a:t>What we need from you to start - none of it chargeable</a:t>
            </a:r>
            <a:endParaRPr lang="en-US" sz="3200" dirty="0"/>
          </a:p>
        </p:txBody>
      </p:sp>
      <p:sp>
        <p:nvSpPr>
          <p:cNvPr id="89" name="TextBox 88">
            <a:extLst>
              <a:ext uri="{FF2B5EF4-FFF2-40B4-BE49-F238E27FC236}">
                <a16:creationId xmlns:a16="http://schemas.microsoft.com/office/drawing/2014/main" id="{C367FC79-CF19-F4D5-79E9-88A965C1A238}"/>
              </a:ext>
            </a:extLst>
          </p:cNvPr>
          <p:cNvSpPr txBox="1"/>
          <p:nvPr/>
        </p:nvSpPr>
        <p:spPr>
          <a:xfrm>
            <a:off x="5911269" y="6533202"/>
            <a:ext cx="287258" cy="215444"/>
          </a:xfrm>
          <a:prstGeom prst="rect">
            <a:avLst/>
          </a:prstGeom>
          <a:noFill/>
        </p:spPr>
        <p:txBody>
          <a:bodyPr wrap="none" rtlCol="0">
            <a:spAutoFit/>
          </a:bodyPr>
          <a:lstStyle/>
          <a:p>
            <a:r>
              <a:rPr lang="en-US" sz="800" dirty="0"/>
              <a:t>33</a:t>
            </a:r>
          </a:p>
        </p:txBody>
      </p:sp>
      <p:grpSp>
        <p:nvGrpSpPr>
          <p:cNvPr id="2" name="Group 1">
            <a:extLst>
              <a:ext uri="{FF2B5EF4-FFF2-40B4-BE49-F238E27FC236}">
                <a16:creationId xmlns:a16="http://schemas.microsoft.com/office/drawing/2014/main" id="{54E0D4A1-60BC-3844-17F0-1FEAB20FD698}"/>
              </a:ext>
            </a:extLst>
          </p:cNvPr>
          <p:cNvGrpSpPr/>
          <p:nvPr/>
        </p:nvGrpSpPr>
        <p:grpSpPr>
          <a:xfrm>
            <a:off x="502920" y="1243584"/>
            <a:ext cx="10835731" cy="5244000"/>
            <a:chOff x="502920" y="1243584"/>
            <a:chExt cx="10835731" cy="5244000"/>
          </a:xfrm>
        </p:grpSpPr>
        <p:sp>
          <p:nvSpPr>
            <p:cNvPr id="3" name="Text 3">
              <a:extLst>
                <a:ext uri="{FF2B5EF4-FFF2-40B4-BE49-F238E27FC236}">
                  <a16:creationId xmlns:a16="http://schemas.microsoft.com/office/drawing/2014/main" id="{ABF62E24-1BC7-9DA5-3F47-E1E68D97F6BE}"/>
                </a:ext>
              </a:extLst>
            </p:cNvPr>
            <p:cNvSpPr txBox="1"/>
            <p:nvPr/>
          </p:nvSpPr>
          <p:spPr>
            <a:xfrm>
              <a:off x="502920" y="1243584"/>
              <a:ext cx="10424160" cy="274320"/>
            </a:xfrm>
            <a:prstGeom prst="rect">
              <a:avLst/>
            </a:prstGeom>
            <a:noFill/>
            <a:ln/>
          </p:spPr>
          <p:txBody>
            <a:bodyPr wrap="square" lIns="0" tIns="0" rIns="0" bIns="0" rtlCol="0" anchor="t"/>
            <a:lstStyle/>
            <a:p>
              <a:pPr marL="0" indent="0" algn="l">
                <a:lnSpc>
                  <a:spcPct val="112000"/>
                </a:lnSpc>
                <a:buNone/>
              </a:pPr>
              <a:r>
                <a:rPr lang="en-US" sz="1100" dirty="0">
                  <a:solidFill>
                    <a:srgbClr val="5D6B8C"/>
                  </a:solidFill>
                  <a:latin typeface="Calibri" pitchFamily="34" charset="0"/>
                  <a:ea typeface="Calibri" pitchFamily="34" charset="-122"/>
                  <a:cs typeface="Calibri" pitchFamily="34" charset="-120"/>
                </a:rPr>
                <a:t>This is the shortest path from this conversation to a costed, evidence-backed plan. All three items below can run in the same week.</a:t>
              </a:r>
              <a:endParaRPr lang="en-US" sz="1100" dirty="0"/>
            </a:p>
          </p:txBody>
        </p:sp>
        <p:sp>
          <p:nvSpPr>
            <p:cNvPr id="4" name="Shape 4">
              <a:extLst>
                <a:ext uri="{FF2B5EF4-FFF2-40B4-BE49-F238E27FC236}">
                  <a16:creationId xmlns:a16="http://schemas.microsoft.com/office/drawing/2014/main" id="{F61F8ACE-0947-01B4-609B-BF02F43CE33B}"/>
                </a:ext>
              </a:extLst>
            </p:cNvPr>
            <p:cNvSpPr/>
            <p:nvPr/>
          </p:nvSpPr>
          <p:spPr>
            <a:xfrm>
              <a:off x="502920" y="1627632"/>
              <a:ext cx="3453414" cy="3474720"/>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5" name="Shape 5">
              <a:extLst>
                <a:ext uri="{FF2B5EF4-FFF2-40B4-BE49-F238E27FC236}">
                  <a16:creationId xmlns:a16="http://schemas.microsoft.com/office/drawing/2014/main" id="{C73AC01D-C792-75BA-6F6D-17C303D18184}"/>
                </a:ext>
              </a:extLst>
            </p:cNvPr>
            <p:cNvSpPr/>
            <p:nvPr/>
          </p:nvSpPr>
          <p:spPr>
            <a:xfrm>
              <a:off x="740664" y="1810512"/>
              <a:ext cx="365760" cy="365760"/>
            </a:xfrm>
            <a:prstGeom prst="ellipse">
              <a:avLst/>
            </a:prstGeom>
            <a:solidFill>
              <a:srgbClr val="0053EB"/>
            </a:solidFill>
            <a:ln w="12700">
              <a:solidFill>
                <a:srgbClr val="0053EB"/>
              </a:solidFill>
              <a:prstDash val="solid"/>
            </a:ln>
          </p:spPr>
          <p:txBody>
            <a:bodyPr/>
            <a:lstStyle/>
            <a:p>
              <a:endParaRPr lang="en-IN"/>
            </a:p>
          </p:txBody>
        </p:sp>
        <p:sp>
          <p:nvSpPr>
            <p:cNvPr id="6" name="Text 6">
              <a:extLst>
                <a:ext uri="{FF2B5EF4-FFF2-40B4-BE49-F238E27FC236}">
                  <a16:creationId xmlns:a16="http://schemas.microsoft.com/office/drawing/2014/main" id="{E1734CE2-E4E5-BE9F-B968-F608278E3CF0}"/>
                </a:ext>
              </a:extLst>
            </p:cNvPr>
            <p:cNvSpPr txBox="1"/>
            <p:nvPr/>
          </p:nvSpPr>
          <p:spPr>
            <a:xfrm>
              <a:off x="740664" y="18105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7">
              <a:extLst>
                <a:ext uri="{FF2B5EF4-FFF2-40B4-BE49-F238E27FC236}">
                  <a16:creationId xmlns:a16="http://schemas.microsoft.com/office/drawing/2014/main" id="{0135EF4C-7A89-038D-6927-99D982DB4A06}"/>
                </a:ext>
              </a:extLst>
            </p:cNvPr>
            <p:cNvSpPr txBox="1"/>
            <p:nvPr/>
          </p:nvSpPr>
          <p:spPr>
            <a:xfrm>
              <a:off x="740664" y="2286000"/>
              <a:ext cx="3017520" cy="502920"/>
            </a:xfrm>
            <a:prstGeom prst="rect">
              <a:avLst/>
            </a:prstGeom>
            <a:noFill/>
            <a:ln/>
          </p:spPr>
          <p:txBody>
            <a:bodyPr wrap="square" lIns="0" tIns="0" rIns="0" bIns="0" rtlCol="0" anchor="t"/>
            <a:lstStyle/>
            <a:p>
              <a:pPr marL="0" indent="0" algn="l">
                <a:lnSpc>
                  <a:spcPct val="95000"/>
                </a:lnSpc>
                <a:buNone/>
              </a:pPr>
              <a:r>
                <a:rPr lang="en-US" sz="1150" b="1" dirty="0">
                  <a:solidFill>
                    <a:srgbClr val="001D5F"/>
                  </a:solidFill>
                  <a:latin typeface="Calibri" pitchFamily="34" charset="0"/>
                  <a:ea typeface="Calibri" pitchFamily="34" charset="-122"/>
                  <a:cs typeface="Calibri" pitchFamily="34" charset="-120"/>
                </a:rPr>
                <a:t>We issue the discovery questionnaire</a:t>
              </a:r>
              <a:endParaRPr lang="en-US" sz="1150" dirty="0"/>
            </a:p>
          </p:txBody>
        </p:sp>
        <p:sp>
          <p:nvSpPr>
            <p:cNvPr id="8" name="Text 8">
              <a:extLst>
                <a:ext uri="{FF2B5EF4-FFF2-40B4-BE49-F238E27FC236}">
                  <a16:creationId xmlns:a16="http://schemas.microsoft.com/office/drawing/2014/main" id="{A6F93919-693B-F321-77C1-74F3E8FAD089}"/>
                </a:ext>
              </a:extLst>
            </p:cNvPr>
            <p:cNvSpPr txBox="1"/>
            <p:nvPr/>
          </p:nvSpPr>
          <p:spPr>
            <a:xfrm>
              <a:off x="740664" y="2798064"/>
              <a:ext cx="3017520" cy="365760"/>
            </a:xfrm>
            <a:prstGeom prst="rect">
              <a:avLst/>
            </a:prstGeom>
            <a:noFill/>
            <a:ln/>
          </p:spPr>
          <p:txBody>
            <a:bodyPr wrap="square" lIns="0" tIns="0" rIns="0" bIns="0" rtlCol="0" anchor="t"/>
            <a:lstStyle/>
            <a:p>
              <a:pPr marL="0" indent="0" algn="l">
                <a:lnSpc>
                  <a:spcPct val="105000"/>
                </a:lnSpc>
                <a:buNone/>
              </a:pPr>
              <a:r>
                <a:rPr lang="en-US" sz="860" i="1" dirty="0">
                  <a:solidFill>
                    <a:srgbClr val="0053EB"/>
                  </a:solidFill>
                  <a:latin typeface="Calibri" pitchFamily="34" charset="0"/>
                  <a:ea typeface="Calibri" pitchFamily="34" charset="-122"/>
                  <a:cs typeface="Calibri" pitchFamily="34" charset="-120"/>
                </a:rPr>
                <a:t>Within two business days of your go-ahead</a:t>
              </a:r>
              <a:endParaRPr lang="en-US" sz="860" dirty="0"/>
            </a:p>
          </p:txBody>
        </p:sp>
        <p:sp>
          <p:nvSpPr>
            <p:cNvPr id="9" name="Text 9">
              <a:extLst>
                <a:ext uri="{FF2B5EF4-FFF2-40B4-BE49-F238E27FC236}">
                  <a16:creationId xmlns:a16="http://schemas.microsoft.com/office/drawing/2014/main" id="{295019C6-BCC0-A08F-4BCF-CEA5995D8D3C}"/>
                </a:ext>
              </a:extLst>
            </p:cNvPr>
            <p:cNvSpPr txBox="1"/>
            <p:nvPr/>
          </p:nvSpPr>
          <p:spPr>
            <a:xfrm>
              <a:off x="740664" y="3255264"/>
              <a:ext cx="3017520" cy="19202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Tenant, licensing and edition position</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Mailbox, site, device and group counts by type</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Compliance obligations: holds, retention, residency</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Third-party gateway, archive, backup and signature tooling</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Application inventory with named owners</a:t>
              </a:r>
              <a:endParaRPr lang="en-US" sz="840" dirty="0"/>
            </a:p>
          </p:txBody>
        </p:sp>
        <p:sp>
          <p:nvSpPr>
            <p:cNvPr id="10" name="Shape 10">
              <a:extLst>
                <a:ext uri="{FF2B5EF4-FFF2-40B4-BE49-F238E27FC236}">
                  <a16:creationId xmlns:a16="http://schemas.microsoft.com/office/drawing/2014/main" id="{2784C52C-2F74-D570-A6BE-C6A9612BAFAD}"/>
                </a:ext>
              </a:extLst>
            </p:cNvPr>
            <p:cNvSpPr/>
            <p:nvPr/>
          </p:nvSpPr>
          <p:spPr>
            <a:xfrm>
              <a:off x="4194078" y="1627632"/>
              <a:ext cx="3453414" cy="3474720"/>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2" name="Shape 11">
              <a:extLst>
                <a:ext uri="{FF2B5EF4-FFF2-40B4-BE49-F238E27FC236}">
                  <a16:creationId xmlns:a16="http://schemas.microsoft.com/office/drawing/2014/main" id="{41EDB7E6-9E32-B1FF-8FF1-831D9686D1F1}"/>
                </a:ext>
              </a:extLst>
            </p:cNvPr>
            <p:cNvSpPr/>
            <p:nvPr/>
          </p:nvSpPr>
          <p:spPr>
            <a:xfrm>
              <a:off x="4431822" y="1810512"/>
              <a:ext cx="365760" cy="365760"/>
            </a:xfrm>
            <a:prstGeom prst="ellipse">
              <a:avLst/>
            </a:prstGeom>
            <a:solidFill>
              <a:srgbClr val="0053EB"/>
            </a:solidFill>
            <a:ln w="12700">
              <a:solidFill>
                <a:srgbClr val="0053EB"/>
              </a:solidFill>
              <a:prstDash val="solid"/>
            </a:ln>
          </p:spPr>
          <p:txBody>
            <a:bodyPr/>
            <a:lstStyle/>
            <a:p>
              <a:endParaRPr lang="en-IN"/>
            </a:p>
          </p:txBody>
        </p:sp>
        <p:sp>
          <p:nvSpPr>
            <p:cNvPr id="13" name="Text 12">
              <a:extLst>
                <a:ext uri="{FF2B5EF4-FFF2-40B4-BE49-F238E27FC236}">
                  <a16:creationId xmlns:a16="http://schemas.microsoft.com/office/drawing/2014/main" id="{832632E7-287B-102D-D049-2024801C37BC}"/>
                </a:ext>
              </a:extLst>
            </p:cNvPr>
            <p:cNvSpPr txBox="1"/>
            <p:nvPr/>
          </p:nvSpPr>
          <p:spPr>
            <a:xfrm>
              <a:off x="4431822" y="18105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3">
              <a:extLst>
                <a:ext uri="{FF2B5EF4-FFF2-40B4-BE49-F238E27FC236}">
                  <a16:creationId xmlns:a16="http://schemas.microsoft.com/office/drawing/2014/main" id="{4E519A08-C230-CE0F-96D0-D762EC0AC594}"/>
                </a:ext>
              </a:extLst>
            </p:cNvPr>
            <p:cNvSpPr txBox="1"/>
            <p:nvPr/>
          </p:nvSpPr>
          <p:spPr>
            <a:xfrm>
              <a:off x="4431822" y="2286000"/>
              <a:ext cx="3017520" cy="502920"/>
            </a:xfrm>
            <a:prstGeom prst="rect">
              <a:avLst/>
            </a:prstGeom>
            <a:noFill/>
            <a:ln/>
          </p:spPr>
          <p:txBody>
            <a:bodyPr wrap="square" lIns="0" tIns="0" rIns="0" bIns="0" rtlCol="0" anchor="t"/>
            <a:lstStyle/>
            <a:p>
              <a:pPr marL="0" indent="0" algn="l">
                <a:lnSpc>
                  <a:spcPct val="95000"/>
                </a:lnSpc>
                <a:buNone/>
              </a:pPr>
              <a:r>
                <a:rPr lang="en-US" sz="1150" b="1" dirty="0">
                  <a:solidFill>
                    <a:srgbClr val="001D5F"/>
                  </a:solidFill>
                  <a:latin typeface="Calibri" pitchFamily="34" charset="0"/>
                  <a:ea typeface="Calibri" pitchFamily="34" charset="-122"/>
                  <a:cs typeface="Calibri" pitchFamily="34" charset="-120"/>
                </a:rPr>
                <a:t>You provide read-only access</a:t>
              </a:r>
              <a:endParaRPr lang="en-US" sz="1150" dirty="0"/>
            </a:p>
          </p:txBody>
        </p:sp>
        <p:sp>
          <p:nvSpPr>
            <p:cNvPr id="15" name="Text 14">
              <a:extLst>
                <a:ext uri="{FF2B5EF4-FFF2-40B4-BE49-F238E27FC236}">
                  <a16:creationId xmlns:a16="http://schemas.microsoft.com/office/drawing/2014/main" id="{F8AD0FE0-39DE-3229-67A1-13C9487EE2E8}"/>
                </a:ext>
              </a:extLst>
            </p:cNvPr>
            <p:cNvSpPr txBox="1"/>
            <p:nvPr/>
          </p:nvSpPr>
          <p:spPr>
            <a:xfrm>
              <a:off x="4431822" y="2798064"/>
              <a:ext cx="3017520" cy="365760"/>
            </a:xfrm>
            <a:prstGeom prst="rect">
              <a:avLst/>
            </a:prstGeom>
            <a:noFill/>
            <a:ln/>
          </p:spPr>
          <p:txBody>
            <a:bodyPr wrap="square" lIns="0" tIns="0" rIns="0" bIns="0" rtlCol="0" anchor="t"/>
            <a:lstStyle/>
            <a:p>
              <a:pPr marL="0" indent="0" algn="l">
                <a:lnSpc>
                  <a:spcPct val="105000"/>
                </a:lnSpc>
                <a:buNone/>
              </a:pPr>
              <a:r>
                <a:rPr lang="en-US" sz="860" i="1" dirty="0">
                  <a:solidFill>
                    <a:srgbClr val="0053EB"/>
                  </a:solidFill>
                  <a:latin typeface="Calibri" pitchFamily="34" charset="0"/>
                  <a:ea typeface="Calibri" pitchFamily="34" charset="-122"/>
                  <a:cs typeface="Calibri" pitchFamily="34" charset="-120"/>
                </a:rPr>
                <a:t>No write permission is requested, and none is used</a:t>
              </a:r>
              <a:endParaRPr lang="en-US" sz="860" dirty="0"/>
            </a:p>
          </p:txBody>
        </p:sp>
        <p:sp>
          <p:nvSpPr>
            <p:cNvPr id="17" name="Text 15">
              <a:extLst>
                <a:ext uri="{FF2B5EF4-FFF2-40B4-BE49-F238E27FC236}">
                  <a16:creationId xmlns:a16="http://schemas.microsoft.com/office/drawing/2014/main" id="{CD0E97CC-5BE0-08DE-F793-02D06CBF01BF}"/>
                </a:ext>
              </a:extLst>
            </p:cNvPr>
            <p:cNvSpPr txBox="1"/>
            <p:nvPr/>
          </p:nvSpPr>
          <p:spPr>
            <a:xfrm>
              <a:off x="4431822" y="3255264"/>
              <a:ext cx="3017520" cy="19202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Global Reader, or equivalent, on the Microsoft 365 tenant</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Read-only Entra ID directory access</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SharePoint tenant reporting access</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Message trace access, to discover relay sources properly</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Access is time-boxed to discovery and revoked on completion</a:t>
              </a:r>
              <a:endParaRPr lang="en-US" sz="840" dirty="0"/>
            </a:p>
          </p:txBody>
        </p:sp>
        <p:sp>
          <p:nvSpPr>
            <p:cNvPr id="18" name="Shape 16">
              <a:extLst>
                <a:ext uri="{FF2B5EF4-FFF2-40B4-BE49-F238E27FC236}">
                  <a16:creationId xmlns:a16="http://schemas.microsoft.com/office/drawing/2014/main" id="{AFA295FB-F145-D5A2-A2D2-507837BC6FF8}"/>
                </a:ext>
              </a:extLst>
            </p:cNvPr>
            <p:cNvSpPr/>
            <p:nvPr/>
          </p:nvSpPr>
          <p:spPr>
            <a:xfrm>
              <a:off x="7885237" y="1627632"/>
              <a:ext cx="3453414" cy="3474720"/>
            </a:xfrm>
            <a:prstGeom prst="roundRect">
              <a:avLst>
                <a:gd name="adj" fmla="val 1324"/>
              </a:avLst>
            </a:prstGeom>
            <a:solidFill>
              <a:srgbClr val="EEF3FC"/>
            </a:solidFill>
            <a:ln w="12700">
              <a:solidFill>
                <a:srgbClr val="EEF3FC"/>
              </a:solidFill>
              <a:prstDash val="solid"/>
            </a:ln>
            <a:effectLst>
              <a:outerShdw blurRad="88900" dist="12700" dir="5400000" algn="bl" rotWithShape="0">
                <a:srgbClr val="000000">
                  <a:alpha val="7000"/>
                </a:srgbClr>
              </a:outerShdw>
            </a:effectLst>
          </p:spPr>
          <p:txBody>
            <a:bodyPr/>
            <a:lstStyle/>
            <a:p>
              <a:endParaRPr lang="en-IN"/>
            </a:p>
          </p:txBody>
        </p:sp>
        <p:sp>
          <p:nvSpPr>
            <p:cNvPr id="19" name="Shape 17">
              <a:extLst>
                <a:ext uri="{FF2B5EF4-FFF2-40B4-BE49-F238E27FC236}">
                  <a16:creationId xmlns:a16="http://schemas.microsoft.com/office/drawing/2014/main" id="{078684F1-313B-0A36-BFAF-0050E41692DD}"/>
                </a:ext>
              </a:extLst>
            </p:cNvPr>
            <p:cNvSpPr/>
            <p:nvPr/>
          </p:nvSpPr>
          <p:spPr>
            <a:xfrm>
              <a:off x="8122981" y="1810512"/>
              <a:ext cx="365760" cy="365760"/>
            </a:xfrm>
            <a:prstGeom prst="ellipse">
              <a:avLst/>
            </a:prstGeom>
            <a:solidFill>
              <a:srgbClr val="0053EB"/>
            </a:solidFill>
            <a:ln w="12700">
              <a:solidFill>
                <a:srgbClr val="0053EB"/>
              </a:solidFill>
              <a:prstDash val="solid"/>
            </a:ln>
          </p:spPr>
          <p:txBody>
            <a:bodyPr/>
            <a:lstStyle/>
            <a:p>
              <a:endParaRPr lang="en-IN"/>
            </a:p>
          </p:txBody>
        </p:sp>
        <p:sp>
          <p:nvSpPr>
            <p:cNvPr id="37" name="Text 18">
              <a:extLst>
                <a:ext uri="{FF2B5EF4-FFF2-40B4-BE49-F238E27FC236}">
                  <a16:creationId xmlns:a16="http://schemas.microsoft.com/office/drawing/2014/main" id="{ADFFE517-D1F3-BF29-3E3B-FB2EE80027E5}"/>
                </a:ext>
              </a:extLst>
            </p:cNvPr>
            <p:cNvSpPr txBox="1"/>
            <p:nvPr/>
          </p:nvSpPr>
          <p:spPr>
            <a:xfrm>
              <a:off x="8122981" y="1810512"/>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Text 19">
              <a:extLst>
                <a:ext uri="{FF2B5EF4-FFF2-40B4-BE49-F238E27FC236}">
                  <a16:creationId xmlns:a16="http://schemas.microsoft.com/office/drawing/2014/main" id="{8E991586-9634-D6D4-FC98-BD10B75849CB}"/>
                </a:ext>
              </a:extLst>
            </p:cNvPr>
            <p:cNvSpPr txBox="1"/>
            <p:nvPr/>
          </p:nvSpPr>
          <p:spPr>
            <a:xfrm>
              <a:off x="8122981" y="2286000"/>
              <a:ext cx="3017520" cy="502920"/>
            </a:xfrm>
            <a:prstGeom prst="rect">
              <a:avLst/>
            </a:prstGeom>
            <a:noFill/>
            <a:ln/>
          </p:spPr>
          <p:txBody>
            <a:bodyPr wrap="square" lIns="0" tIns="0" rIns="0" bIns="0" rtlCol="0" anchor="t"/>
            <a:lstStyle/>
            <a:p>
              <a:pPr marL="0" indent="0" algn="l">
                <a:lnSpc>
                  <a:spcPct val="95000"/>
                </a:lnSpc>
                <a:buNone/>
              </a:pPr>
              <a:r>
                <a:rPr lang="en-US" sz="1150" b="1" dirty="0">
                  <a:solidFill>
                    <a:srgbClr val="001D5F"/>
                  </a:solidFill>
                  <a:latin typeface="Calibri" pitchFamily="34" charset="0"/>
                  <a:ea typeface="Calibri" pitchFamily="34" charset="-122"/>
                  <a:cs typeface="Calibri" pitchFamily="34" charset="-120"/>
                </a:rPr>
                <a:t>A working session with your IT team</a:t>
              </a:r>
              <a:endParaRPr lang="en-US" sz="1150" dirty="0"/>
            </a:p>
          </p:txBody>
        </p:sp>
        <p:sp>
          <p:nvSpPr>
            <p:cNvPr id="47" name="Text 20">
              <a:extLst>
                <a:ext uri="{FF2B5EF4-FFF2-40B4-BE49-F238E27FC236}">
                  <a16:creationId xmlns:a16="http://schemas.microsoft.com/office/drawing/2014/main" id="{B34419BB-8C38-B535-7E1B-0687F7192B0A}"/>
                </a:ext>
              </a:extLst>
            </p:cNvPr>
            <p:cNvSpPr txBox="1"/>
            <p:nvPr/>
          </p:nvSpPr>
          <p:spPr>
            <a:xfrm>
              <a:off x="8122981" y="2798064"/>
              <a:ext cx="3017520" cy="365760"/>
            </a:xfrm>
            <a:prstGeom prst="rect">
              <a:avLst/>
            </a:prstGeom>
            <a:noFill/>
            <a:ln/>
          </p:spPr>
          <p:txBody>
            <a:bodyPr wrap="square" lIns="0" tIns="0" rIns="0" bIns="0" rtlCol="0" anchor="t"/>
            <a:lstStyle/>
            <a:p>
              <a:pPr marL="0" indent="0" algn="l">
                <a:lnSpc>
                  <a:spcPct val="105000"/>
                </a:lnSpc>
                <a:buNone/>
              </a:pPr>
              <a:r>
                <a:rPr lang="en-US" sz="860" i="1" dirty="0">
                  <a:solidFill>
                    <a:srgbClr val="0053EB"/>
                  </a:solidFill>
                  <a:latin typeface="Calibri" pitchFamily="34" charset="0"/>
                  <a:ea typeface="Calibri" pitchFamily="34" charset="-122"/>
                  <a:cs typeface="Calibri" pitchFamily="34" charset="-120"/>
                </a:rPr>
                <a:t>Ninety minutes - and the highest-value session of the whole engagement</a:t>
              </a:r>
              <a:endParaRPr lang="en-US" sz="860" dirty="0"/>
            </a:p>
          </p:txBody>
        </p:sp>
        <p:sp>
          <p:nvSpPr>
            <p:cNvPr id="58" name="Text 21">
              <a:extLst>
                <a:ext uri="{FF2B5EF4-FFF2-40B4-BE49-F238E27FC236}">
                  <a16:creationId xmlns:a16="http://schemas.microsoft.com/office/drawing/2014/main" id="{FB0985E8-8D40-E3DE-6793-A2095D52A3F7}"/>
                </a:ext>
              </a:extLst>
            </p:cNvPr>
            <p:cNvSpPr txBox="1"/>
            <p:nvPr/>
          </p:nvSpPr>
          <p:spPr>
            <a:xfrm>
              <a:off x="8122981" y="3255264"/>
              <a:ext cx="3017520" cy="19202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How the environment is actually configured, not how it was designed</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Important customisations: transport rules, connectors, scripts, custom workflows</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Known pain points, previous failed changes, and anything quietly fragile</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Who owns what, and who must be in the room when decisions are made</a:t>
              </a:r>
              <a:endParaRPr lang="en-US" sz="840" dirty="0"/>
            </a:p>
            <a:p>
              <a:pPr marL="342900" indent="-342900">
                <a:lnSpc>
                  <a:spcPct val="105000"/>
                </a:lnSpc>
                <a:spcAft>
                  <a:spcPts val="500"/>
                </a:spcAft>
                <a:buSzPct val="100000"/>
                <a:buChar char="▪"/>
              </a:pPr>
              <a:r>
                <a:rPr lang="en-US" sz="840" dirty="0">
                  <a:solidFill>
                    <a:srgbClr val="15203D"/>
                  </a:solidFill>
                  <a:latin typeface="Calibri" pitchFamily="34" charset="0"/>
                  <a:ea typeface="Calibri" pitchFamily="34" charset="-122"/>
                  <a:cs typeface="Calibri" pitchFamily="34" charset="-120"/>
                </a:rPr>
                <a:t>What has been promised to the business that we should know about</a:t>
              </a:r>
              <a:endParaRPr lang="en-US" sz="840" dirty="0"/>
            </a:p>
          </p:txBody>
        </p:sp>
        <p:sp>
          <p:nvSpPr>
            <p:cNvPr id="59" name="Shape 22">
              <a:extLst>
                <a:ext uri="{FF2B5EF4-FFF2-40B4-BE49-F238E27FC236}">
                  <a16:creationId xmlns:a16="http://schemas.microsoft.com/office/drawing/2014/main" id="{822E8E07-D3E0-185D-DE0A-B4080910ABB4}"/>
                </a:ext>
              </a:extLst>
            </p:cNvPr>
            <p:cNvSpPr/>
            <p:nvPr/>
          </p:nvSpPr>
          <p:spPr>
            <a:xfrm>
              <a:off x="502920" y="5266944"/>
              <a:ext cx="10835640" cy="914400"/>
            </a:xfrm>
            <a:prstGeom prst="roundRect">
              <a:avLst>
                <a:gd name="adj" fmla="val 5000"/>
              </a:avLst>
            </a:prstGeom>
            <a:solidFill>
              <a:srgbClr val="001D5F"/>
            </a:solidFill>
            <a:ln w="12700">
              <a:solidFill>
                <a:srgbClr val="001D5F"/>
              </a:solidFill>
              <a:prstDash val="solid"/>
            </a:ln>
            <a:effectLst>
              <a:outerShdw blurRad="88900" dist="12700" dir="5400000" algn="bl" rotWithShape="0">
                <a:srgbClr val="000000">
                  <a:alpha val="7000"/>
                </a:srgbClr>
              </a:outerShdw>
            </a:effectLst>
          </p:spPr>
          <p:txBody>
            <a:bodyPr/>
            <a:lstStyle/>
            <a:p>
              <a:endParaRPr lang="en-IN"/>
            </a:p>
          </p:txBody>
        </p:sp>
        <p:sp>
          <p:nvSpPr>
            <p:cNvPr id="60" name="Text 23">
              <a:extLst>
                <a:ext uri="{FF2B5EF4-FFF2-40B4-BE49-F238E27FC236}">
                  <a16:creationId xmlns:a16="http://schemas.microsoft.com/office/drawing/2014/main" id="{F0284260-5036-9A22-B2A0-1815BA6F983E}"/>
                </a:ext>
              </a:extLst>
            </p:cNvPr>
            <p:cNvSpPr txBox="1"/>
            <p:nvPr/>
          </p:nvSpPr>
          <p:spPr>
            <a:xfrm>
              <a:off x="758952" y="5394960"/>
              <a:ext cx="3108960" cy="274320"/>
            </a:xfrm>
            <a:prstGeom prst="rect">
              <a:avLst/>
            </a:prstGeom>
            <a:noFill/>
            <a:ln/>
          </p:spPr>
          <p:txBody>
            <a:bodyPr wrap="square" lIns="0" tIns="0" rIns="0" bIns="0" rtlCol="0" anchor="t"/>
            <a:lstStyle/>
            <a:p>
              <a:pPr marL="0" indent="0" algn="l">
                <a:lnSpc>
                  <a:spcPct val="112000"/>
                </a:lnSpc>
                <a:buNone/>
              </a:pPr>
              <a:r>
                <a:rPr lang="en-US" sz="1100" b="1" dirty="0">
                  <a:solidFill>
                    <a:srgbClr val="78A8FF"/>
                  </a:solidFill>
                  <a:latin typeface="Calibri" pitchFamily="34" charset="0"/>
                  <a:ea typeface="Calibri" pitchFamily="34" charset="-122"/>
                  <a:cs typeface="Calibri" pitchFamily="34" charset="-120"/>
                </a:rPr>
                <a:t>Then we come back to you with</a:t>
              </a:r>
              <a:endParaRPr lang="en-US" sz="1100" dirty="0"/>
            </a:p>
          </p:txBody>
        </p:sp>
        <p:sp>
          <p:nvSpPr>
            <p:cNvPr id="64" name="Text 24">
              <a:extLst>
                <a:ext uri="{FF2B5EF4-FFF2-40B4-BE49-F238E27FC236}">
                  <a16:creationId xmlns:a16="http://schemas.microsoft.com/office/drawing/2014/main" id="{53CD801D-EF76-DE3B-42A0-311FEBF84CCA}"/>
                </a:ext>
              </a:extLst>
            </p:cNvPr>
            <p:cNvSpPr txBox="1"/>
            <p:nvPr/>
          </p:nvSpPr>
          <p:spPr>
            <a:xfrm>
              <a:off x="758952" y="5724144"/>
              <a:ext cx="2468880" cy="384048"/>
            </a:xfrm>
            <a:prstGeom prst="rect">
              <a:avLst/>
            </a:prstGeom>
            <a:noFill/>
            <a:ln/>
          </p:spPr>
          <p:txBody>
            <a:bodyPr wrap="square" lIns="0" tIns="0" rIns="0" bIns="0" rtlCol="0" anchor="t"/>
            <a:lstStyle/>
            <a:p>
              <a:pPr marL="0" indent="0" algn="l">
                <a:lnSpc>
                  <a:spcPct val="108000"/>
                </a:lnSpc>
                <a:buNone/>
              </a:pPr>
              <a:r>
                <a:rPr lang="en-US" sz="900" dirty="0">
                  <a:solidFill>
                    <a:srgbClr val="C6D5F0"/>
                  </a:solidFill>
                  <a:latin typeface="Calibri" pitchFamily="34" charset="0"/>
                  <a:ea typeface="Calibri" pitchFamily="34" charset="-122"/>
                  <a:cs typeface="Calibri" pitchFamily="34" charset="-120"/>
                </a:rPr>
                <a:t>A discovery report and target architecture</a:t>
              </a:r>
              <a:endParaRPr lang="en-US" sz="900" dirty="0"/>
            </a:p>
          </p:txBody>
        </p:sp>
        <p:sp>
          <p:nvSpPr>
            <p:cNvPr id="65" name="Text 25">
              <a:extLst>
                <a:ext uri="{FF2B5EF4-FFF2-40B4-BE49-F238E27FC236}">
                  <a16:creationId xmlns:a16="http://schemas.microsoft.com/office/drawing/2014/main" id="{93EE25E4-EDB0-BDD5-A226-B3D80B5973C5}"/>
                </a:ext>
              </a:extLst>
            </p:cNvPr>
            <p:cNvSpPr txBox="1"/>
            <p:nvPr/>
          </p:nvSpPr>
          <p:spPr>
            <a:xfrm>
              <a:off x="3392424" y="5724144"/>
              <a:ext cx="2468880" cy="384048"/>
            </a:xfrm>
            <a:prstGeom prst="rect">
              <a:avLst/>
            </a:prstGeom>
            <a:noFill/>
            <a:ln/>
          </p:spPr>
          <p:txBody>
            <a:bodyPr wrap="square" lIns="0" tIns="0" rIns="0" bIns="0" rtlCol="0" anchor="t"/>
            <a:lstStyle/>
            <a:p>
              <a:pPr marL="0" indent="0" algn="l">
                <a:lnSpc>
                  <a:spcPct val="108000"/>
                </a:lnSpc>
                <a:buNone/>
              </a:pPr>
              <a:r>
                <a:rPr lang="en-US" sz="900" dirty="0">
                  <a:solidFill>
                    <a:srgbClr val="C6D5F0"/>
                  </a:solidFill>
                  <a:latin typeface="Calibri" pitchFamily="34" charset="0"/>
                  <a:ea typeface="Calibri" pitchFamily="34" charset="-122"/>
                  <a:cs typeface="Calibri" pitchFamily="34" charset="-120"/>
                </a:rPr>
                <a:t>The POC cohort, exit criteria and test matrix</a:t>
              </a:r>
              <a:endParaRPr lang="en-US" sz="900" dirty="0"/>
            </a:p>
          </p:txBody>
        </p:sp>
        <p:sp>
          <p:nvSpPr>
            <p:cNvPr id="66" name="Text 26">
              <a:extLst>
                <a:ext uri="{FF2B5EF4-FFF2-40B4-BE49-F238E27FC236}">
                  <a16:creationId xmlns:a16="http://schemas.microsoft.com/office/drawing/2014/main" id="{C1D68508-0527-B50B-FB49-44614CA5013E}"/>
                </a:ext>
              </a:extLst>
            </p:cNvPr>
            <p:cNvSpPr txBox="1"/>
            <p:nvPr/>
          </p:nvSpPr>
          <p:spPr>
            <a:xfrm>
              <a:off x="6025896" y="5724144"/>
              <a:ext cx="2468880" cy="384048"/>
            </a:xfrm>
            <a:prstGeom prst="rect">
              <a:avLst/>
            </a:prstGeom>
            <a:noFill/>
            <a:ln/>
          </p:spPr>
          <p:txBody>
            <a:bodyPr wrap="square" lIns="0" tIns="0" rIns="0" bIns="0" rtlCol="0" anchor="t"/>
            <a:lstStyle/>
            <a:p>
              <a:pPr marL="0" indent="0" algn="l">
                <a:lnSpc>
                  <a:spcPct val="108000"/>
                </a:lnSpc>
                <a:buNone/>
              </a:pPr>
              <a:r>
                <a:rPr lang="en-US" sz="900" dirty="0">
                  <a:solidFill>
                    <a:srgbClr val="C6D5F0"/>
                  </a:solidFill>
                  <a:latin typeface="Calibri" pitchFamily="34" charset="0"/>
                  <a:ea typeface="Calibri" pitchFamily="34" charset="-122"/>
                  <a:cs typeface="Calibri" pitchFamily="34" charset="-120"/>
                </a:rPr>
                <a:t>A wave plan and programme shape agreed with you</a:t>
              </a:r>
              <a:endParaRPr lang="en-US" sz="900" dirty="0"/>
            </a:p>
          </p:txBody>
        </p:sp>
        <p:sp>
          <p:nvSpPr>
            <p:cNvPr id="67" name="Text 27">
              <a:extLst>
                <a:ext uri="{FF2B5EF4-FFF2-40B4-BE49-F238E27FC236}">
                  <a16:creationId xmlns:a16="http://schemas.microsoft.com/office/drawing/2014/main" id="{30C4454B-97D3-1497-447A-48FFAA1604F9}"/>
                </a:ext>
              </a:extLst>
            </p:cNvPr>
            <p:cNvSpPr txBox="1"/>
            <p:nvPr/>
          </p:nvSpPr>
          <p:spPr>
            <a:xfrm>
              <a:off x="8659368" y="5724144"/>
              <a:ext cx="2468880" cy="384048"/>
            </a:xfrm>
            <a:prstGeom prst="rect">
              <a:avLst/>
            </a:prstGeom>
            <a:noFill/>
            <a:ln/>
          </p:spPr>
          <p:txBody>
            <a:bodyPr wrap="square" lIns="0" tIns="0" rIns="0" bIns="0" rtlCol="0" anchor="t"/>
            <a:lstStyle/>
            <a:p>
              <a:pPr marL="0" indent="0" algn="l">
                <a:lnSpc>
                  <a:spcPct val="108000"/>
                </a:lnSpc>
                <a:buNone/>
              </a:pPr>
              <a:r>
                <a:rPr lang="en-US" sz="900" dirty="0">
                  <a:solidFill>
                    <a:srgbClr val="C6D5F0"/>
                  </a:solidFill>
                  <a:latin typeface="Calibri" pitchFamily="34" charset="0"/>
                  <a:ea typeface="Calibri" pitchFamily="34" charset="-122"/>
                  <a:cs typeface="Calibri" pitchFamily="34" charset="-120"/>
                </a:rPr>
                <a:t>A fixed price for discovery and POC</a:t>
              </a:r>
              <a:endParaRPr lang="en-US" sz="900" dirty="0"/>
            </a:p>
          </p:txBody>
        </p:sp>
        <p:sp>
          <p:nvSpPr>
            <p:cNvPr id="68" name="Text 28">
              <a:extLst>
                <a:ext uri="{FF2B5EF4-FFF2-40B4-BE49-F238E27FC236}">
                  <a16:creationId xmlns:a16="http://schemas.microsoft.com/office/drawing/2014/main" id="{B7F7406F-305D-14DB-2F7E-D7B17635DC19}"/>
                </a:ext>
              </a:extLst>
            </p:cNvPr>
            <p:cNvSpPr txBox="1"/>
            <p:nvPr/>
          </p:nvSpPr>
          <p:spPr>
            <a:xfrm>
              <a:off x="502920" y="6231552"/>
              <a:ext cx="10332720" cy="256032"/>
            </a:xfrm>
            <a:prstGeom prst="rect">
              <a:avLst/>
            </a:prstGeom>
            <a:noFill/>
            <a:ln/>
          </p:spPr>
          <p:txBody>
            <a:bodyPr wrap="square" lIns="0" tIns="0" rIns="0" bIns="0" rtlCol="0" anchor="ctr"/>
            <a:lstStyle/>
            <a:p>
              <a:pPr marL="0" indent="0">
                <a:buNone/>
              </a:pPr>
              <a:r>
                <a:rPr lang="en-US" sz="800" i="1" dirty="0">
                  <a:solidFill>
                    <a:srgbClr val="5D6B8C"/>
                  </a:solidFill>
                  <a:latin typeface="Calibri" pitchFamily="34" charset="0"/>
                  <a:ea typeface="Calibri" pitchFamily="34" charset="-122"/>
                  <a:cs typeface="Calibri" pitchFamily="34" charset="-120"/>
                </a:rPr>
                <a:t>Discovery is priced as a fixed-fee, standalone engagement. Its output is yours whether or not you appoint us for the migration.</a:t>
              </a:r>
              <a:endParaRPr lang="en-US" sz="800" dirty="0"/>
            </a:p>
          </p:txBody>
        </p:sp>
      </p:grpSp>
      <p:pic>
        <p:nvPicPr>
          <p:cNvPr id="25" name="Image 0" descr="logo_icon.png">
            <a:extLst>
              <a:ext uri="{FF2B5EF4-FFF2-40B4-BE49-F238E27FC236}">
                <a16:creationId xmlns:a16="http://schemas.microsoft.com/office/drawing/2014/main" id="{DD0ACE17-AAD0-E60B-2769-C0AD771E13A7}"/>
              </a:ext>
            </a:extLst>
          </p:cNvPr>
          <p:cNvPicPr>
            <a:picLocks noChangeAspect="1"/>
          </p:cNvPicPr>
          <p:nvPr/>
        </p:nvPicPr>
        <p:blipFill>
          <a:blip r:embed="rId2"/>
          <a:stretch>
            <a:fillRect/>
          </a:stretch>
        </p:blipFill>
        <p:spPr>
          <a:xfrm>
            <a:off x="11301984" y="292608"/>
            <a:ext cx="512064" cy="407822"/>
          </a:xfrm>
          <a:prstGeom prst="rect">
            <a:avLst/>
          </a:prstGeom>
        </p:spPr>
      </p:pic>
    </p:spTree>
    <p:extLst>
      <p:ext uri="{BB962C8B-B14F-4D97-AF65-F5344CB8AC3E}">
        <p14:creationId xmlns:p14="http://schemas.microsoft.com/office/powerpoint/2010/main" val="34318010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AEB31-0242-1DEA-F69B-AFD588A51EB4}"/>
            </a:ext>
          </a:extLst>
        </p:cNvPr>
        <p:cNvGrpSpPr/>
        <p:nvPr/>
      </p:nvGrpSpPr>
      <p:grpSpPr>
        <a:xfrm>
          <a:off x="0" y="0"/>
          <a:ext cx="0" cy="0"/>
          <a:chOff x="0" y="0"/>
          <a:chExt cx="0" cy="0"/>
        </a:xfrm>
      </p:grpSpPr>
      <p:sp>
        <p:nvSpPr>
          <p:cNvPr id="16" name="TextBox 16">
            <a:extLst>
              <a:ext uri="{FF2B5EF4-FFF2-40B4-BE49-F238E27FC236}">
                <a16:creationId xmlns:a16="http://schemas.microsoft.com/office/drawing/2014/main" id="{587EA6AE-46B9-9E05-AEE8-EE753B1E8FE0}"/>
              </a:ext>
            </a:extLst>
          </p:cNvPr>
          <p:cNvSpPr txBox="1"/>
          <p:nvPr/>
        </p:nvSpPr>
        <p:spPr>
          <a:xfrm>
            <a:off x="564095" y="238168"/>
            <a:ext cx="7772883" cy="705514"/>
          </a:xfrm>
          <a:prstGeom prst="rect">
            <a:avLst/>
          </a:prstGeom>
        </p:spPr>
        <p:txBody>
          <a:bodyPr wrap="square" lIns="0" tIns="0" rIns="0" bIns="0" rtlCol="0" anchor="t">
            <a:spAutoFit/>
          </a:bodyPr>
          <a:lstStyle/>
          <a:p>
            <a:pPr>
              <a:lnSpc>
                <a:spcPts val="5973"/>
              </a:lnSpc>
              <a:spcBef>
                <a:spcPct val="0"/>
              </a:spcBef>
            </a:pPr>
            <a:r>
              <a:rPr lang="en-US" sz="4400" b="1" dirty="0">
                <a:solidFill>
                  <a:schemeClr val="tx2">
                    <a:lumMod val="75000"/>
                  </a:schemeClr>
                </a:solidFill>
                <a:latin typeface="Codec Pro Bold"/>
                <a:ea typeface="Codec Pro Bold"/>
                <a:cs typeface="Codec Pro Bold"/>
                <a:sym typeface="Codec Pro Bold"/>
              </a:rPr>
              <a:t>Domain</a:t>
            </a:r>
            <a:r>
              <a:rPr lang="en-US" sz="4400" b="1" dirty="0">
                <a:solidFill>
                  <a:srgbClr val="1C1C1C"/>
                </a:solidFill>
                <a:latin typeface="Codec Pro Bold"/>
                <a:ea typeface="Codec Pro Bold"/>
                <a:cs typeface="Codec Pro Bold"/>
                <a:sym typeface="Codec Pro Bold"/>
              </a:rPr>
              <a:t> </a:t>
            </a:r>
            <a:r>
              <a:rPr lang="en-US" sz="4400" b="1" dirty="0">
                <a:solidFill>
                  <a:srgbClr val="0066FF"/>
                </a:solidFill>
                <a:latin typeface="Codec Pro Bold"/>
                <a:sym typeface="Codec Pro Bold"/>
              </a:rPr>
              <a:t>Expertise</a:t>
            </a:r>
            <a:endParaRPr lang="en-US" sz="4400" b="1" dirty="0">
              <a:solidFill>
                <a:srgbClr val="0066FF"/>
              </a:solidFill>
              <a:latin typeface="Codec Pro Bold"/>
              <a:ea typeface="Codec Pro Bold"/>
              <a:cs typeface="Codec Pro Bold"/>
              <a:sym typeface="Codec Pro Bold"/>
            </a:endParaRPr>
          </a:p>
        </p:txBody>
      </p:sp>
      <p:sp>
        <p:nvSpPr>
          <p:cNvPr id="24" name="Rectangle: Rounded Corners 23">
            <a:extLst>
              <a:ext uri="{FF2B5EF4-FFF2-40B4-BE49-F238E27FC236}">
                <a16:creationId xmlns:a16="http://schemas.microsoft.com/office/drawing/2014/main" id="{31E884CB-1A5F-7418-6922-BDA19BF63F23}"/>
              </a:ext>
            </a:extLst>
          </p:cNvPr>
          <p:cNvSpPr/>
          <p:nvPr/>
        </p:nvSpPr>
        <p:spPr>
          <a:xfrm>
            <a:off x="1465804" y="4355175"/>
            <a:ext cx="2668958" cy="799299"/>
          </a:xfrm>
          <a:prstGeom prst="roundRect">
            <a:avLst>
              <a:gd name="adj" fmla="val 50000"/>
            </a:avLst>
          </a:prstGeom>
          <a:noFill/>
          <a:ln w="38100">
            <a:solidFill>
              <a:schemeClr val="tx2">
                <a:lumMod val="75000"/>
              </a:schemeClr>
            </a:solidFill>
          </a:ln>
          <a:effectLst/>
        </p:spPr>
        <p:txBody>
          <a:bodyPr/>
          <a:lstStyle/>
          <a:p>
            <a:endParaRPr lang="en-IN" sz="1200">
              <a:solidFill>
                <a:schemeClr val="tx2">
                  <a:lumMod val="75000"/>
                </a:schemeClr>
              </a:solidFill>
            </a:endParaRPr>
          </a:p>
        </p:txBody>
      </p:sp>
      <p:sp>
        <p:nvSpPr>
          <p:cNvPr id="58" name="TextBox 57">
            <a:extLst>
              <a:ext uri="{FF2B5EF4-FFF2-40B4-BE49-F238E27FC236}">
                <a16:creationId xmlns:a16="http://schemas.microsoft.com/office/drawing/2014/main" id="{5C683B67-974B-E961-3F4F-CF69F97130D7}"/>
              </a:ext>
            </a:extLst>
          </p:cNvPr>
          <p:cNvSpPr txBox="1"/>
          <p:nvPr/>
        </p:nvSpPr>
        <p:spPr>
          <a:xfrm>
            <a:off x="1825174" y="4628634"/>
            <a:ext cx="2345949" cy="297454"/>
          </a:xfrm>
          <a:prstGeom prst="rect">
            <a:avLst/>
          </a:prstGeom>
          <a:noFill/>
        </p:spPr>
        <p:txBody>
          <a:bodyPr wrap="square" rtlCol="0">
            <a:spAutoFit/>
          </a:bodyPr>
          <a:lstStyle>
            <a:defPPr>
              <a:defRPr lang="en-US"/>
            </a:defPPr>
            <a:lvl1pPr>
              <a:defRPr sz="2000" b="1">
                <a:solidFill>
                  <a:schemeClr val="tx2">
                    <a:lumMod val="75000"/>
                  </a:schemeClr>
                </a:solidFill>
                <a:latin typeface="Codec Pro" panose="020B0604020202020204" charset="0"/>
              </a:defRPr>
            </a:lvl1pPr>
          </a:lstStyle>
          <a:p>
            <a:r>
              <a:rPr lang="en-IN" sz="1333" dirty="0"/>
              <a:t>Media &amp; Entertainment</a:t>
            </a:r>
          </a:p>
        </p:txBody>
      </p:sp>
      <p:sp>
        <p:nvSpPr>
          <p:cNvPr id="77" name="Rectangle: Rounded Corners 76">
            <a:extLst>
              <a:ext uri="{FF2B5EF4-FFF2-40B4-BE49-F238E27FC236}">
                <a16:creationId xmlns:a16="http://schemas.microsoft.com/office/drawing/2014/main" id="{8DCF9401-605E-53CA-A019-4077679F2F16}"/>
              </a:ext>
            </a:extLst>
          </p:cNvPr>
          <p:cNvSpPr/>
          <p:nvPr/>
        </p:nvSpPr>
        <p:spPr>
          <a:xfrm>
            <a:off x="6093025" y="3160674"/>
            <a:ext cx="2844800" cy="800501"/>
          </a:xfrm>
          <a:prstGeom prst="roundRect">
            <a:avLst>
              <a:gd name="adj" fmla="val 50000"/>
            </a:avLst>
          </a:prstGeom>
          <a:noFill/>
          <a:ln w="38100">
            <a:solidFill>
              <a:schemeClr val="tx2">
                <a:lumMod val="75000"/>
              </a:schemeClr>
            </a:solidFill>
          </a:ln>
          <a:effectLst/>
        </p:spPr>
        <p:txBody>
          <a:bodyPr/>
          <a:lstStyle/>
          <a:p>
            <a:endParaRPr lang="en-IN" sz="1200">
              <a:solidFill>
                <a:schemeClr val="tx2">
                  <a:lumMod val="75000"/>
                </a:schemeClr>
              </a:solidFill>
            </a:endParaRPr>
          </a:p>
        </p:txBody>
      </p:sp>
      <p:sp>
        <p:nvSpPr>
          <p:cNvPr id="79" name="TextBox 78">
            <a:extLst>
              <a:ext uri="{FF2B5EF4-FFF2-40B4-BE49-F238E27FC236}">
                <a16:creationId xmlns:a16="http://schemas.microsoft.com/office/drawing/2014/main" id="{1E4620E4-B2CA-1C57-9AD8-265AB088ECB1}"/>
              </a:ext>
            </a:extLst>
          </p:cNvPr>
          <p:cNvSpPr txBox="1"/>
          <p:nvPr/>
        </p:nvSpPr>
        <p:spPr>
          <a:xfrm>
            <a:off x="6567456" y="3417767"/>
            <a:ext cx="2204309" cy="297454"/>
          </a:xfrm>
          <a:prstGeom prst="rect">
            <a:avLst/>
          </a:prstGeom>
          <a:noFill/>
        </p:spPr>
        <p:txBody>
          <a:bodyPr wrap="square" rtlCol="0">
            <a:spAutoFit/>
          </a:bodyPr>
          <a:lstStyle>
            <a:defPPr>
              <a:defRPr lang="en-US"/>
            </a:defPPr>
            <a:lvl1pPr>
              <a:defRPr sz="2000" b="1">
                <a:solidFill>
                  <a:schemeClr val="tx2">
                    <a:lumMod val="75000"/>
                  </a:schemeClr>
                </a:solidFill>
                <a:latin typeface="Codec Pro" panose="020B0604020202020204" charset="0"/>
              </a:defRPr>
            </a:lvl1pPr>
          </a:lstStyle>
          <a:p>
            <a:r>
              <a:rPr lang="en-IN" sz="1333" dirty="0"/>
              <a:t>  Banking &amp; Financial </a:t>
            </a:r>
          </a:p>
        </p:txBody>
      </p:sp>
      <p:sp>
        <p:nvSpPr>
          <p:cNvPr id="81" name="Rectangle: Rounded Corners 80">
            <a:extLst>
              <a:ext uri="{FF2B5EF4-FFF2-40B4-BE49-F238E27FC236}">
                <a16:creationId xmlns:a16="http://schemas.microsoft.com/office/drawing/2014/main" id="{D1DB7865-B02B-10D2-54AF-D0D7CE7846BF}"/>
              </a:ext>
            </a:extLst>
          </p:cNvPr>
          <p:cNvSpPr/>
          <p:nvPr/>
        </p:nvSpPr>
        <p:spPr>
          <a:xfrm>
            <a:off x="7092769" y="1977748"/>
            <a:ext cx="2711631" cy="779921"/>
          </a:xfrm>
          <a:prstGeom prst="roundRect">
            <a:avLst>
              <a:gd name="adj" fmla="val 50000"/>
            </a:avLst>
          </a:prstGeom>
          <a:noFill/>
          <a:ln w="28575">
            <a:solidFill>
              <a:schemeClr val="tx2">
                <a:lumMod val="75000"/>
              </a:schemeClr>
            </a:solidFill>
          </a:ln>
          <a:effectLst/>
        </p:spPr>
        <p:txBody>
          <a:bodyPr/>
          <a:lstStyle/>
          <a:p>
            <a:endParaRPr lang="en-IN" sz="1200"/>
          </a:p>
        </p:txBody>
      </p:sp>
      <p:sp>
        <p:nvSpPr>
          <p:cNvPr id="82" name="TextBox 81">
            <a:extLst>
              <a:ext uri="{FF2B5EF4-FFF2-40B4-BE49-F238E27FC236}">
                <a16:creationId xmlns:a16="http://schemas.microsoft.com/office/drawing/2014/main" id="{635C022E-9007-0634-B0E1-4EF7E92F6F12}"/>
              </a:ext>
            </a:extLst>
          </p:cNvPr>
          <p:cNvSpPr txBox="1"/>
          <p:nvPr/>
        </p:nvSpPr>
        <p:spPr>
          <a:xfrm>
            <a:off x="7495766" y="2270054"/>
            <a:ext cx="1948721" cy="297454"/>
          </a:xfrm>
          <a:prstGeom prst="rect">
            <a:avLst/>
          </a:prstGeom>
          <a:noFill/>
        </p:spPr>
        <p:txBody>
          <a:bodyPr wrap="square" rtlCol="0">
            <a:spAutoFit/>
          </a:bodyPr>
          <a:lstStyle/>
          <a:p>
            <a:r>
              <a:rPr lang="en-IN" sz="1333" b="1" dirty="0">
                <a:solidFill>
                  <a:schemeClr val="tx2">
                    <a:lumMod val="75000"/>
                  </a:schemeClr>
                </a:solidFill>
                <a:latin typeface="Codec Pro" panose="020B0604020202020204" charset="0"/>
              </a:rPr>
              <a:t>Retail &amp; E-Commerce</a:t>
            </a:r>
            <a:endParaRPr lang="en-IN" sz="1333" dirty="0">
              <a:solidFill>
                <a:schemeClr val="tx2">
                  <a:lumMod val="75000"/>
                </a:schemeClr>
              </a:solidFill>
              <a:latin typeface="Codec Pro" panose="020B0604020202020204" charset="0"/>
            </a:endParaRPr>
          </a:p>
        </p:txBody>
      </p:sp>
      <p:sp>
        <p:nvSpPr>
          <p:cNvPr id="98" name="Rectangle: Rounded Corners 97">
            <a:extLst>
              <a:ext uri="{FF2B5EF4-FFF2-40B4-BE49-F238E27FC236}">
                <a16:creationId xmlns:a16="http://schemas.microsoft.com/office/drawing/2014/main" id="{A19ADC10-325C-6BC3-047B-445515808C99}"/>
              </a:ext>
            </a:extLst>
          </p:cNvPr>
          <p:cNvSpPr/>
          <p:nvPr/>
        </p:nvSpPr>
        <p:spPr>
          <a:xfrm>
            <a:off x="1506573" y="1953814"/>
            <a:ext cx="2672403" cy="849353"/>
          </a:xfrm>
          <a:prstGeom prst="roundRect">
            <a:avLst>
              <a:gd name="adj" fmla="val 50000"/>
            </a:avLst>
          </a:prstGeom>
          <a:noFill/>
          <a:ln w="38100">
            <a:solidFill>
              <a:schemeClr val="tx2">
                <a:lumMod val="75000"/>
              </a:schemeClr>
            </a:solidFill>
          </a:ln>
          <a:effectLst/>
        </p:spPr>
        <p:txBody>
          <a:bodyPr/>
          <a:lstStyle/>
          <a:p>
            <a:endParaRPr lang="en-IN" sz="1200" dirty="0">
              <a:solidFill>
                <a:schemeClr val="tx2">
                  <a:lumMod val="75000"/>
                </a:schemeClr>
              </a:solidFill>
            </a:endParaRPr>
          </a:p>
        </p:txBody>
      </p:sp>
      <p:sp>
        <p:nvSpPr>
          <p:cNvPr id="100" name="TextBox 99">
            <a:extLst>
              <a:ext uri="{FF2B5EF4-FFF2-40B4-BE49-F238E27FC236}">
                <a16:creationId xmlns:a16="http://schemas.microsoft.com/office/drawing/2014/main" id="{867EAE7C-AF7B-8903-3883-6C2E0FC0F44A}"/>
              </a:ext>
            </a:extLst>
          </p:cNvPr>
          <p:cNvSpPr txBox="1"/>
          <p:nvPr/>
        </p:nvSpPr>
        <p:spPr>
          <a:xfrm>
            <a:off x="1825173" y="2273077"/>
            <a:ext cx="2148368" cy="297454"/>
          </a:xfrm>
          <a:prstGeom prst="rect">
            <a:avLst/>
          </a:prstGeom>
          <a:noFill/>
        </p:spPr>
        <p:txBody>
          <a:bodyPr wrap="square" rtlCol="0">
            <a:spAutoFit/>
          </a:bodyPr>
          <a:lstStyle/>
          <a:p>
            <a:r>
              <a:rPr lang="en-IN" sz="1333" b="1" dirty="0">
                <a:solidFill>
                  <a:schemeClr val="tx2">
                    <a:lumMod val="75000"/>
                  </a:schemeClr>
                </a:solidFill>
                <a:latin typeface="Codec Pro" panose="020B0604020202020204" charset="0"/>
              </a:rPr>
              <a:t>Information Technology</a:t>
            </a:r>
          </a:p>
        </p:txBody>
      </p:sp>
      <p:sp>
        <p:nvSpPr>
          <p:cNvPr id="103" name="Rectangle: Rounded Corners 102">
            <a:extLst>
              <a:ext uri="{FF2B5EF4-FFF2-40B4-BE49-F238E27FC236}">
                <a16:creationId xmlns:a16="http://schemas.microsoft.com/office/drawing/2014/main" id="{784D44B0-318C-AAE3-6601-29CF41D903A0}"/>
              </a:ext>
            </a:extLst>
          </p:cNvPr>
          <p:cNvSpPr/>
          <p:nvPr/>
        </p:nvSpPr>
        <p:spPr>
          <a:xfrm>
            <a:off x="2709122" y="3132221"/>
            <a:ext cx="2939709" cy="816589"/>
          </a:xfrm>
          <a:prstGeom prst="roundRect">
            <a:avLst>
              <a:gd name="adj" fmla="val 50000"/>
            </a:avLst>
          </a:prstGeom>
          <a:noFill/>
          <a:ln w="38100">
            <a:solidFill>
              <a:schemeClr val="tx2">
                <a:lumMod val="75000"/>
              </a:schemeClr>
            </a:solidFill>
          </a:ln>
          <a:effectLst/>
        </p:spPr>
        <p:txBody>
          <a:bodyPr/>
          <a:lstStyle/>
          <a:p>
            <a:endParaRPr lang="en-IN" sz="1200">
              <a:solidFill>
                <a:schemeClr val="tx2">
                  <a:lumMod val="75000"/>
                </a:schemeClr>
              </a:solidFill>
            </a:endParaRPr>
          </a:p>
        </p:txBody>
      </p:sp>
      <p:sp>
        <p:nvSpPr>
          <p:cNvPr id="104" name="TextBox 103">
            <a:extLst>
              <a:ext uri="{FF2B5EF4-FFF2-40B4-BE49-F238E27FC236}">
                <a16:creationId xmlns:a16="http://schemas.microsoft.com/office/drawing/2014/main" id="{383D2780-0B0D-651C-F6F7-786A8BCAFB2E}"/>
              </a:ext>
            </a:extLst>
          </p:cNvPr>
          <p:cNvSpPr txBox="1"/>
          <p:nvPr/>
        </p:nvSpPr>
        <p:spPr>
          <a:xfrm>
            <a:off x="2735225" y="3424629"/>
            <a:ext cx="2852095" cy="297454"/>
          </a:xfrm>
          <a:prstGeom prst="rect">
            <a:avLst/>
          </a:prstGeom>
          <a:noFill/>
        </p:spPr>
        <p:txBody>
          <a:bodyPr wrap="square" rtlCol="0">
            <a:spAutoFit/>
          </a:bodyPr>
          <a:lstStyle>
            <a:defPPr>
              <a:defRPr lang="en-US"/>
            </a:defPPr>
            <a:lvl1pPr>
              <a:defRPr sz="2000" b="1">
                <a:solidFill>
                  <a:schemeClr val="tx2">
                    <a:lumMod val="75000"/>
                  </a:schemeClr>
                </a:solidFill>
                <a:latin typeface="Codec Pro" panose="020B0604020202020204" charset="0"/>
              </a:defRPr>
            </a:lvl1pPr>
          </a:lstStyle>
          <a:p>
            <a:r>
              <a:rPr lang="en-IN" sz="1333" dirty="0"/>
              <a:t>    Semiconductors &amp; Hardware</a:t>
            </a:r>
          </a:p>
        </p:txBody>
      </p:sp>
      <p:sp>
        <p:nvSpPr>
          <p:cNvPr id="106" name="Rectangle: Rounded Corners 105">
            <a:extLst>
              <a:ext uri="{FF2B5EF4-FFF2-40B4-BE49-F238E27FC236}">
                <a16:creationId xmlns:a16="http://schemas.microsoft.com/office/drawing/2014/main" id="{80F9E964-F0A0-16A1-1EBA-D1F948EF9190}"/>
              </a:ext>
            </a:extLst>
          </p:cNvPr>
          <p:cNvSpPr/>
          <p:nvPr/>
        </p:nvSpPr>
        <p:spPr>
          <a:xfrm>
            <a:off x="4309929" y="4333661"/>
            <a:ext cx="2616344" cy="816588"/>
          </a:xfrm>
          <a:prstGeom prst="roundRect">
            <a:avLst>
              <a:gd name="adj" fmla="val 50000"/>
            </a:avLst>
          </a:prstGeom>
          <a:noFill/>
          <a:ln w="38100">
            <a:solidFill>
              <a:schemeClr val="tx2">
                <a:lumMod val="75000"/>
              </a:schemeClr>
            </a:solidFill>
          </a:ln>
          <a:effectLst/>
        </p:spPr>
        <p:txBody>
          <a:bodyPr/>
          <a:lstStyle/>
          <a:p>
            <a:endParaRPr lang="en-IN" sz="1200">
              <a:solidFill>
                <a:schemeClr val="tx2">
                  <a:lumMod val="75000"/>
                </a:schemeClr>
              </a:solidFill>
            </a:endParaRPr>
          </a:p>
        </p:txBody>
      </p:sp>
      <p:sp>
        <p:nvSpPr>
          <p:cNvPr id="109" name="Rectangle: Rounded Corners 108">
            <a:extLst>
              <a:ext uri="{FF2B5EF4-FFF2-40B4-BE49-F238E27FC236}">
                <a16:creationId xmlns:a16="http://schemas.microsoft.com/office/drawing/2014/main" id="{28FD0C3E-775B-7BC9-0073-3CC54E42AA44}"/>
              </a:ext>
            </a:extLst>
          </p:cNvPr>
          <p:cNvSpPr/>
          <p:nvPr/>
        </p:nvSpPr>
        <p:spPr>
          <a:xfrm>
            <a:off x="4309929" y="1979182"/>
            <a:ext cx="2616344" cy="789430"/>
          </a:xfrm>
          <a:prstGeom prst="roundRect">
            <a:avLst>
              <a:gd name="adj" fmla="val 50000"/>
            </a:avLst>
          </a:prstGeom>
          <a:noFill/>
          <a:ln w="28575">
            <a:solidFill>
              <a:schemeClr val="tx2">
                <a:lumMod val="75000"/>
              </a:schemeClr>
            </a:solidFill>
          </a:ln>
          <a:effectLst/>
        </p:spPr>
        <p:txBody>
          <a:bodyPr/>
          <a:lstStyle/>
          <a:p>
            <a:endParaRPr lang="en-IN" sz="1200"/>
          </a:p>
        </p:txBody>
      </p:sp>
      <p:sp>
        <p:nvSpPr>
          <p:cNvPr id="111" name="TextBox 110">
            <a:extLst>
              <a:ext uri="{FF2B5EF4-FFF2-40B4-BE49-F238E27FC236}">
                <a16:creationId xmlns:a16="http://schemas.microsoft.com/office/drawing/2014/main" id="{E2BCEEF3-C825-431E-9CDF-8368B77C170C}"/>
              </a:ext>
            </a:extLst>
          </p:cNvPr>
          <p:cNvSpPr txBox="1"/>
          <p:nvPr/>
        </p:nvSpPr>
        <p:spPr>
          <a:xfrm>
            <a:off x="4703167" y="2256483"/>
            <a:ext cx="1802813" cy="502573"/>
          </a:xfrm>
          <a:prstGeom prst="rect">
            <a:avLst/>
          </a:prstGeom>
          <a:noFill/>
        </p:spPr>
        <p:txBody>
          <a:bodyPr wrap="square" rtlCol="0">
            <a:spAutoFit/>
          </a:bodyPr>
          <a:lstStyle/>
          <a:p>
            <a:r>
              <a:rPr lang="en-IN" sz="1333" b="1" dirty="0">
                <a:solidFill>
                  <a:schemeClr val="tx2">
                    <a:lumMod val="75000"/>
                  </a:schemeClr>
                </a:solidFill>
                <a:latin typeface="Codec Pro" panose="020B0604020202020204" charset="0"/>
              </a:rPr>
              <a:t>EdTech &amp; Education</a:t>
            </a:r>
            <a:endParaRPr lang="en-IN" sz="1333" dirty="0">
              <a:solidFill>
                <a:schemeClr val="tx2">
                  <a:lumMod val="75000"/>
                </a:schemeClr>
              </a:solidFill>
              <a:latin typeface="Codec Pro" panose="020B0604020202020204" charset="0"/>
            </a:endParaRPr>
          </a:p>
        </p:txBody>
      </p:sp>
      <p:sp>
        <p:nvSpPr>
          <p:cNvPr id="2" name="Rectangle: Rounded Corners 1">
            <a:extLst>
              <a:ext uri="{FF2B5EF4-FFF2-40B4-BE49-F238E27FC236}">
                <a16:creationId xmlns:a16="http://schemas.microsoft.com/office/drawing/2014/main" id="{3BDFBA18-8FD5-EE7B-3165-B5F5D8D5378B}"/>
              </a:ext>
            </a:extLst>
          </p:cNvPr>
          <p:cNvSpPr/>
          <p:nvPr/>
        </p:nvSpPr>
        <p:spPr>
          <a:xfrm>
            <a:off x="7092769" y="4353236"/>
            <a:ext cx="2711631" cy="797013"/>
          </a:xfrm>
          <a:prstGeom prst="roundRect">
            <a:avLst>
              <a:gd name="adj" fmla="val 50000"/>
            </a:avLst>
          </a:prstGeom>
          <a:noFill/>
          <a:ln w="38100">
            <a:solidFill>
              <a:schemeClr val="tx2">
                <a:lumMod val="75000"/>
              </a:schemeClr>
            </a:solidFill>
          </a:ln>
          <a:effectLst/>
        </p:spPr>
        <p:txBody>
          <a:bodyPr/>
          <a:lstStyle/>
          <a:p>
            <a:endParaRPr lang="en-IN" sz="1200">
              <a:solidFill>
                <a:schemeClr val="tx2">
                  <a:lumMod val="75000"/>
                </a:schemeClr>
              </a:solidFill>
            </a:endParaRPr>
          </a:p>
        </p:txBody>
      </p:sp>
      <p:sp>
        <p:nvSpPr>
          <p:cNvPr id="5" name="TextBox 4">
            <a:extLst>
              <a:ext uri="{FF2B5EF4-FFF2-40B4-BE49-F238E27FC236}">
                <a16:creationId xmlns:a16="http://schemas.microsoft.com/office/drawing/2014/main" id="{6070882A-73B2-4C35-A75A-464D7D9D520A}"/>
              </a:ext>
            </a:extLst>
          </p:cNvPr>
          <p:cNvSpPr txBox="1"/>
          <p:nvPr/>
        </p:nvSpPr>
        <p:spPr>
          <a:xfrm>
            <a:off x="7823207" y="4628634"/>
            <a:ext cx="1897116" cy="297454"/>
          </a:xfrm>
          <a:prstGeom prst="rect">
            <a:avLst/>
          </a:prstGeom>
          <a:noFill/>
        </p:spPr>
        <p:txBody>
          <a:bodyPr wrap="square" rtlCol="0">
            <a:spAutoFit/>
          </a:bodyPr>
          <a:lstStyle/>
          <a:p>
            <a:r>
              <a:rPr lang="en-US" sz="1333" b="1" dirty="0">
                <a:solidFill>
                  <a:schemeClr val="tx2">
                    <a:lumMod val="75000"/>
                  </a:schemeClr>
                </a:solidFill>
                <a:latin typeface="Codec Pro" panose="020B0604020202020204" charset="0"/>
              </a:rPr>
              <a:t>M</a:t>
            </a:r>
            <a:r>
              <a:rPr lang="en-IN" sz="1333" b="1" dirty="0" err="1">
                <a:solidFill>
                  <a:schemeClr val="tx2">
                    <a:lumMod val="75000"/>
                  </a:schemeClr>
                </a:solidFill>
                <a:latin typeface="Codec Pro" panose="020B0604020202020204" charset="0"/>
              </a:rPr>
              <a:t>anfacturing</a:t>
            </a:r>
            <a:endParaRPr lang="en-IN" sz="1333" dirty="0">
              <a:solidFill>
                <a:schemeClr val="tx2">
                  <a:lumMod val="75000"/>
                </a:schemeClr>
              </a:solidFill>
              <a:latin typeface="Codec Pro" panose="020B0604020202020204" charset="0"/>
            </a:endParaRPr>
          </a:p>
        </p:txBody>
      </p:sp>
      <p:sp>
        <p:nvSpPr>
          <p:cNvPr id="21" name="TextBox 20">
            <a:extLst>
              <a:ext uri="{FF2B5EF4-FFF2-40B4-BE49-F238E27FC236}">
                <a16:creationId xmlns:a16="http://schemas.microsoft.com/office/drawing/2014/main" id="{584C6D49-07C1-B2EE-849D-C483AD629A51}"/>
              </a:ext>
            </a:extLst>
          </p:cNvPr>
          <p:cNvSpPr txBox="1"/>
          <p:nvPr/>
        </p:nvSpPr>
        <p:spPr>
          <a:xfrm>
            <a:off x="4729142" y="4628634"/>
            <a:ext cx="2292300" cy="297454"/>
          </a:xfrm>
          <a:prstGeom prst="rect">
            <a:avLst/>
          </a:prstGeom>
          <a:noFill/>
        </p:spPr>
        <p:txBody>
          <a:bodyPr wrap="square" rtlCol="0">
            <a:spAutoFit/>
          </a:bodyPr>
          <a:lstStyle>
            <a:defPPr>
              <a:defRPr lang="en-US"/>
            </a:defPPr>
            <a:lvl1pPr>
              <a:defRPr sz="2000" b="1">
                <a:solidFill>
                  <a:schemeClr val="tx2">
                    <a:lumMod val="75000"/>
                  </a:schemeClr>
                </a:solidFill>
                <a:latin typeface="Codec Pro" panose="020B0604020202020204" charset="0"/>
              </a:defRPr>
            </a:lvl1pPr>
          </a:lstStyle>
          <a:p>
            <a:r>
              <a:rPr lang="en-IN" sz="1333" dirty="0"/>
              <a:t>Energy &amp; Sustainability</a:t>
            </a:r>
          </a:p>
        </p:txBody>
      </p:sp>
      <p:pic>
        <p:nvPicPr>
          <p:cNvPr id="36" name="Picture 35">
            <a:extLst>
              <a:ext uri="{FF2B5EF4-FFF2-40B4-BE49-F238E27FC236}">
                <a16:creationId xmlns:a16="http://schemas.microsoft.com/office/drawing/2014/main" id="{22E571B4-6EBD-8B8F-D01A-943A1DD9913D}"/>
              </a:ext>
            </a:extLst>
          </p:cNvPr>
          <p:cNvPicPr>
            <a:picLocks noChangeAspect="1"/>
          </p:cNvPicPr>
          <p:nvPr/>
        </p:nvPicPr>
        <p:blipFill>
          <a:blip r:embed="rId3"/>
          <a:stretch>
            <a:fillRect/>
          </a:stretch>
        </p:blipFill>
        <p:spPr>
          <a:xfrm rot="5400000">
            <a:off x="2583023" y="1669880"/>
            <a:ext cx="524960" cy="571529"/>
          </a:xfrm>
          <a:prstGeom prst="rect">
            <a:avLst/>
          </a:prstGeom>
        </p:spPr>
      </p:pic>
      <p:pic>
        <p:nvPicPr>
          <p:cNvPr id="40" name="Picture 39">
            <a:extLst>
              <a:ext uri="{FF2B5EF4-FFF2-40B4-BE49-F238E27FC236}">
                <a16:creationId xmlns:a16="http://schemas.microsoft.com/office/drawing/2014/main" id="{0C538631-3E77-3AFB-2ABA-BF7146A21D1A}"/>
              </a:ext>
            </a:extLst>
          </p:cNvPr>
          <p:cNvPicPr>
            <a:picLocks noChangeAspect="1"/>
          </p:cNvPicPr>
          <p:nvPr/>
        </p:nvPicPr>
        <p:blipFill>
          <a:blip r:embed="rId4"/>
          <a:stretch>
            <a:fillRect/>
          </a:stretch>
        </p:blipFill>
        <p:spPr>
          <a:xfrm>
            <a:off x="3891708" y="2867152"/>
            <a:ext cx="558829" cy="563062"/>
          </a:xfrm>
          <a:prstGeom prst="rect">
            <a:avLst/>
          </a:prstGeom>
        </p:spPr>
      </p:pic>
      <p:pic>
        <p:nvPicPr>
          <p:cNvPr id="48" name="Picture 47">
            <a:extLst>
              <a:ext uri="{FF2B5EF4-FFF2-40B4-BE49-F238E27FC236}">
                <a16:creationId xmlns:a16="http://schemas.microsoft.com/office/drawing/2014/main" id="{F962AB28-DF22-CFF3-EC64-BC190E2EBD7A}"/>
              </a:ext>
            </a:extLst>
          </p:cNvPr>
          <p:cNvPicPr>
            <a:picLocks noChangeAspect="1"/>
          </p:cNvPicPr>
          <p:nvPr/>
        </p:nvPicPr>
        <p:blipFill>
          <a:blip r:embed="rId5"/>
          <a:stretch>
            <a:fillRect/>
          </a:stretch>
        </p:blipFill>
        <p:spPr>
          <a:xfrm>
            <a:off x="7291054" y="2838845"/>
            <a:ext cx="532153" cy="558848"/>
          </a:xfrm>
          <a:prstGeom prst="rect">
            <a:avLst/>
          </a:prstGeom>
        </p:spPr>
      </p:pic>
      <p:pic>
        <p:nvPicPr>
          <p:cNvPr id="61" name="Picture 60">
            <a:extLst>
              <a:ext uri="{FF2B5EF4-FFF2-40B4-BE49-F238E27FC236}">
                <a16:creationId xmlns:a16="http://schemas.microsoft.com/office/drawing/2014/main" id="{05208E91-6000-EFE5-5BE1-B99C560F1010}"/>
              </a:ext>
            </a:extLst>
          </p:cNvPr>
          <p:cNvPicPr>
            <a:picLocks noChangeAspect="1"/>
          </p:cNvPicPr>
          <p:nvPr/>
        </p:nvPicPr>
        <p:blipFill>
          <a:blip r:embed="rId6"/>
          <a:stretch>
            <a:fillRect/>
          </a:stretch>
        </p:blipFill>
        <p:spPr>
          <a:xfrm>
            <a:off x="5374660" y="4093137"/>
            <a:ext cx="520053" cy="438563"/>
          </a:xfrm>
          <a:prstGeom prst="rect">
            <a:avLst/>
          </a:prstGeom>
        </p:spPr>
      </p:pic>
      <p:pic>
        <p:nvPicPr>
          <p:cNvPr id="67" name="Picture 66">
            <a:extLst>
              <a:ext uri="{FF2B5EF4-FFF2-40B4-BE49-F238E27FC236}">
                <a16:creationId xmlns:a16="http://schemas.microsoft.com/office/drawing/2014/main" id="{6F7CFA0A-50AC-3AD4-AC52-DB736825FE54}"/>
              </a:ext>
            </a:extLst>
          </p:cNvPr>
          <p:cNvPicPr>
            <a:picLocks noChangeAspect="1"/>
          </p:cNvPicPr>
          <p:nvPr/>
        </p:nvPicPr>
        <p:blipFill>
          <a:blip r:embed="rId7"/>
          <a:srcRect t="-1" b="3463"/>
          <a:stretch>
            <a:fillRect/>
          </a:stretch>
        </p:blipFill>
        <p:spPr>
          <a:xfrm>
            <a:off x="8251050" y="4120502"/>
            <a:ext cx="573273" cy="453278"/>
          </a:xfrm>
          <a:prstGeom prst="rect">
            <a:avLst/>
          </a:prstGeom>
        </p:spPr>
      </p:pic>
      <p:pic>
        <p:nvPicPr>
          <p:cNvPr id="78" name="Picture 77">
            <a:extLst>
              <a:ext uri="{FF2B5EF4-FFF2-40B4-BE49-F238E27FC236}">
                <a16:creationId xmlns:a16="http://schemas.microsoft.com/office/drawing/2014/main" id="{C94D5260-777F-6373-1DF1-38B15CC64FA3}"/>
              </a:ext>
            </a:extLst>
          </p:cNvPr>
          <p:cNvPicPr>
            <a:picLocks noChangeAspect="1"/>
          </p:cNvPicPr>
          <p:nvPr/>
        </p:nvPicPr>
        <p:blipFill>
          <a:blip r:embed="rId8"/>
          <a:stretch>
            <a:fillRect/>
          </a:stretch>
        </p:blipFill>
        <p:spPr>
          <a:xfrm>
            <a:off x="2449446" y="4093982"/>
            <a:ext cx="646379" cy="452466"/>
          </a:xfrm>
          <a:prstGeom prst="rect">
            <a:avLst/>
          </a:prstGeom>
        </p:spPr>
      </p:pic>
      <p:pic>
        <p:nvPicPr>
          <p:cNvPr id="85" name="Picture 84">
            <a:extLst>
              <a:ext uri="{FF2B5EF4-FFF2-40B4-BE49-F238E27FC236}">
                <a16:creationId xmlns:a16="http://schemas.microsoft.com/office/drawing/2014/main" id="{D4606ABD-53EF-8B64-49DF-FB909FEDD4F2}"/>
              </a:ext>
            </a:extLst>
          </p:cNvPr>
          <p:cNvPicPr>
            <a:picLocks noChangeAspect="1"/>
          </p:cNvPicPr>
          <p:nvPr/>
        </p:nvPicPr>
        <p:blipFill>
          <a:blip r:embed="rId9"/>
          <a:stretch>
            <a:fillRect/>
          </a:stretch>
        </p:blipFill>
        <p:spPr>
          <a:xfrm>
            <a:off x="5236658" y="1662403"/>
            <a:ext cx="609935" cy="501545"/>
          </a:xfrm>
          <a:prstGeom prst="rect">
            <a:avLst/>
          </a:prstGeom>
        </p:spPr>
      </p:pic>
      <p:pic>
        <p:nvPicPr>
          <p:cNvPr id="113" name="Picture 112">
            <a:extLst>
              <a:ext uri="{FF2B5EF4-FFF2-40B4-BE49-F238E27FC236}">
                <a16:creationId xmlns:a16="http://schemas.microsoft.com/office/drawing/2014/main" id="{3165E82A-F3CE-2C58-1F10-48BB99F1A10C}"/>
              </a:ext>
            </a:extLst>
          </p:cNvPr>
          <p:cNvPicPr>
            <a:picLocks noChangeAspect="1"/>
          </p:cNvPicPr>
          <p:nvPr/>
        </p:nvPicPr>
        <p:blipFill>
          <a:blip r:embed="rId10"/>
          <a:stretch>
            <a:fillRect/>
          </a:stretch>
        </p:blipFill>
        <p:spPr>
          <a:xfrm>
            <a:off x="8179458" y="1549400"/>
            <a:ext cx="644866" cy="602389"/>
          </a:xfrm>
          <a:prstGeom prst="rect">
            <a:avLst/>
          </a:prstGeom>
        </p:spPr>
      </p:pic>
      <p:sp>
        <p:nvSpPr>
          <p:cNvPr id="6" name="TextBox 5">
            <a:extLst>
              <a:ext uri="{FF2B5EF4-FFF2-40B4-BE49-F238E27FC236}">
                <a16:creationId xmlns:a16="http://schemas.microsoft.com/office/drawing/2014/main" id="{9DB3C1B5-750D-A1AE-C781-7E4EB43F6502}"/>
              </a:ext>
            </a:extLst>
          </p:cNvPr>
          <p:cNvSpPr txBox="1"/>
          <p:nvPr/>
        </p:nvSpPr>
        <p:spPr>
          <a:xfrm>
            <a:off x="4671519" y="6119349"/>
            <a:ext cx="6303374" cy="362087"/>
          </a:xfrm>
          <a:prstGeom prst="rect">
            <a:avLst/>
          </a:prstGeom>
          <a:noFill/>
        </p:spPr>
        <p:txBody>
          <a:bodyPr wrap="square" rtlCol="0">
            <a:spAutoFit/>
          </a:bodyPr>
          <a:lstStyle/>
          <a:p>
            <a:pPr>
              <a:lnSpc>
                <a:spcPct val="150000"/>
              </a:lnSpc>
            </a:pPr>
            <a:r>
              <a:rPr lang="en-IN" sz="1333" dirty="0">
                <a:solidFill>
                  <a:schemeClr val="tx2">
                    <a:lumMod val="75000"/>
                  </a:schemeClr>
                </a:solidFill>
                <a:latin typeface="Codec Pro" panose="020B0604020202020204" charset="0"/>
              </a:rPr>
              <a:t>Deep Industry Knowledge Across Domains Driving Business Excellence</a:t>
            </a:r>
          </a:p>
        </p:txBody>
      </p:sp>
      <p:pic>
        <p:nvPicPr>
          <p:cNvPr id="7" name="Picture 6">
            <a:extLst>
              <a:ext uri="{FF2B5EF4-FFF2-40B4-BE49-F238E27FC236}">
                <a16:creationId xmlns:a16="http://schemas.microsoft.com/office/drawing/2014/main" id="{CB7F2221-86E1-3103-1A82-0FACD5FD0C02}"/>
              </a:ext>
            </a:extLst>
          </p:cNvPr>
          <p:cNvPicPr>
            <a:picLocks noChangeAspect="1"/>
          </p:cNvPicPr>
          <p:nvPr/>
        </p:nvPicPr>
        <p:blipFill>
          <a:blip r:embed="rId3"/>
          <a:stretch>
            <a:fillRect/>
          </a:stretch>
        </p:blipFill>
        <p:spPr>
          <a:xfrm rot="5400000">
            <a:off x="2583023" y="1670030"/>
            <a:ext cx="524960" cy="571529"/>
          </a:xfrm>
          <a:prstGeom prst="rect">
            <a:avLst/>
          </a:prstGeom>
        </p:spPr>
      </p:pic>
      <p:pic>
        <p:nvPicPr>
          <p:cNvPr id="15" name="Picture 14">
            <a:extLst>
              <a:ext uri="{FF2B5EF4-FFF2-40B4-BE49-F238E27FC236}">
                <a16:creationId xmlns:a16="http://schemas.microsoft.com/office/drawing/2014/main" id="{4BD64973-9F50-A07F-A6EE-422D72219278}"/>
              </a:ext>
            </a:extLst>
          </p:cNvPr>
          <p:cNvPicPr>
            <a:picLocks noChangeAspect="1"/>
          </p:cNvPicPr>
          <p:nvPr/>
        </p:nvPicPr>
        <p:blipFill>
          <a:blip r:embed="rId4"/>
          <a:stretch>
            <a:fillRect/>
          </a:stretch>
        </p:blipFill>
        <p:spPr>
          <a:xfrm>
            <a:off x="3891709" y="2867301"/>
            <a:ext cx="558829" cy="563062"/>
          </a:xfrm>
          <a:prstGeom prst="rect">
            <a:avLst/>
          </a:prstGeom>
        </p:spPr>
      </p:pic>
      <p:pic>
        <p:nvPicPr>
          <p:cNvPr id="17" name="Picture 16">
            <a:extLst>
              <a:ext uri="{FF2B5EF4-FFF2-40B4-BE49-F238E27FC236}">
                <a16:creationId xmlns:a16="http://schemas.microsoft.com/office/drawing/2014/main" id="{41C28A2A-8C49-B80D-3BE4-DB2DEB779606}"/>
              </a:ext>
            </a:extLst>
          </p:cNvPr>
          <p:cNvPicPr>
            <a:picLocks noChangeAspect="1"/>
          </p:cNvPicPr>
          <p:nvPr/>
        </p:nvPicPr>
        <p:blipFill>
          <a:blip r:embed="rId5"/>
          <a:stretch>
            <a:fillRect/>
          </a:stretch>
        </p:blipFill>
        <p:spPr>
          <a:xfrm>
            <a:off x="7291054" y="2838994"/>
            <a:ext cx="532153" cy="558848"/>
          </a:xfrm>
          <a:prstGeom prst="rect">
            <a:avLst/>
          </a:prstGeom>
        </p:spPr>
      </p:pic>
      <p:pic>
        <p:nvPicPr>
          <p:cNvPr id="18" name="Picture 17">
            <a:extLst>
              <a:ext uri="{FF2B5EF4-FFF2-40B4-BE49-F238E27FC236}">
                <a16:creationId xmlns:a16="http://schemas.microsoft.com/office/drawing/2014/main" id="{7FA50B8B-26D6-5FB8-CBD7-621427CC2928}"/>
              </a:ext>
            </a:extLst>
          </p:cNvPr>
          <p:cNvPicPr>
            <a:picLocks noChangeAspect="1"/>
          </p:cNvPicPr>
          <p:nvPr/>
        </p:nvPicPr>
        <p:blipFill>
          <a:blip r:embed="rId9"/>
          <a:stretch>
            <a:fillRect/>
          </a:stretch>
        </p:blipFill>
        <p:spPr>
          <a:xfrm>
            <a:off x="5236659" y="1662552"/>
            <a:ext cx="609935" cy="501545"/>
          </a:xfrm>
          <a:prstGeom prst="rect">
            <a:avLst/>
          </a:prstGeom>
        </p:spPr>
      </p:pic>
      <p:pic>
        <p:nvPicPr>
          <p:cNvPr id="19" name="Picture 18">
            <a:extLst>
              <a:ext uri="{FF2B5EF4-FFF2-40B4-BE49-F238E27FC236}">
                <a16:creationId xmlns:a16="http://schemas.microsoft.com/office/drawing/2014/main" id="{5288ACD5-F8E3-8E4A-D602-8A10669271B0}"/>
              </a:ext>
            </a:extLst>
          </p:cNvPr>
          <p:cNvPicPr>
            <a:picLocks noChangeAspect="1"/>
          </p:cNvPicPr>
          <p:nvPr/>
        </p:nvPicPr>
        <p:blipFill>
          <a:blip r:embed="rId10"/>
          <a:stretch>
            <a:fillRect/>
          </a:stretch>
        </p:blipFill>
        <p:spPr>
          <a:xfrm>
            <a:off x="8179458" y="1549550"/>
            <a:ext cx="644866" cy="602389"/>
          </a:xfrm>
          <a:prstGeom prst="rect">
            <a:avLst/>
          </a:prstGeom>
        </p:spPr>
      </p:pic>
      <p:grpSp>
        <p:nvGrpSpPr>
          <p:cNvPr id="20" name="Group 2">
            <a:extLst>
              <a:ext uri="{FF2B5EF4-FFF2-40B4-BE49-F238E27FC236}">
                <a16:creationId xmlns:a16="http://schemas.microsoft.com/office/drawing/2014/main" id="{A1F00952-6BC8-9AB7-DF3C-A94B4767936E}"/>
              </a:ext>
            </a:extLst>
          </p:cNvPr>
          <p:cNvGrpSpPr/>
          <p:nvPr/>
        </p:nvGrpSpPr>
        <p:grpSpPr>
          <a:xfrm rot="4999431">
            <a:off x="10419459" y="6173231"/>
            <a:ext cx="251669" cy="229316"/>
            <a:chOff x="76200" y="0"/>
            <a:chExt cx="892027" cy="812800"/>
          </a:xfrm>
        </p:grpSpPr>
        <p:sp>
          <p:nvSpPr>
            <p:cNvPr id="22" name="Freeform 3">
              <a:extLst>
                <a:ext uri="{FF2B5EF4-FFF2-40B4-BE49-F238E27FC236}">
                  <a16:creationId xmlns:a16="http://schemas.microsoft.com/office/drawing/2014/main" id="{637CFC4D-A632-56E7-356D-16673414CD3A}"/>
                </a:ext>
              </a:extLst>
            </p:cNvPr>
            <p:cNvSpPr/>
            <p:nvPr/>
          </p:nvSpPr>
          <p:spPr>
            <a:xfrm>
              <a:off x="155427"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IN" sz="1200"/>
            </a:p>
          </p:txBody>
        </p:sp>
        <p:sp>
          <p:nvSpPr>
            <p:cNvPr id="23" name="TextBox 4">
              <a:extLst>
                <a:ext uri="{FF2B5EF4-FFF2-40B4-BE49-F238E27FC236}">
                  <a16:creationId xmlns:a16="http://schemas.microsoft.com/office/drawing/2014/main" id="{BCE17213-E5FD-8F87-940C-0F52685D2818}"/>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25" name="Group 5">
            <a:extLst>
              <a:ext uri="{FF2B5EF4-FFF2-40B4-BE49-F238E27FC236}">
                <a16:creationId xmlns:a16="http://schemas.microsoft.com/office/drawing/2014/main" id="{49823644-1164-7E42-86DD-9E566C463837}"/>
              </a:ext>
            </a:extLst>
          </p:cNvPr>
          <p:cNvGrpSpPr/>
          <p:nvPr/>
        </p:nvGrpSpPr>
        <p:grpSpPr>
          <a:xfrm rot="4999431">
            <a:off x="10680553" y="6179255"/>
            <a:ext cx="229316" cy="229316"/>
            <a:chOff x="0" y="0"/>
            <a:chExt cx="812800" cy="812800"/>
          </a:xfrm>
        </p:grpSpPr>
        <p:sp>
          <p:nvSpPr>
            <p:cNvPr id="26" name="Freeform 6">
              <a:extLst>
                <a:ext uri="{FF2B5EF4-FFF2-40B4-BE49-F238E27FC236}">
                  <a16:creationId xmlns:a16="http://schemas.microsoft.com/office/drawing/2014/main" id="{1BDBF272-E3EE-EEAE-D16D-2B0F8E9A95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IN" sz="1200"/>
            </a:p>
          </p:txBody>
        </p:sp>
        <p:sp>
          <p:nvSpPr>
            <p:cNvPr id="27" name="TextBox 7">
              <a:extLst>
                <a:ext uri="{FF2B5EF4-FFF2-40B4-BE49-F238E27FC236}">
                  <a16:creationId xmlns:a16="http://schemas.microsoft.com/office/drawing/2014/main" id="{CEAD3215-6475-C979-976D-7566D7DF4FF8}"/>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30" name="Group 8">
            <a:extLst>
              <a:ext uri="{FF2B5EF4-FFF2-40B4-BE49-F238E27FC236}">
                <a16:creationId xmlns:a16="http://schemas.microsoft.com/office/drawing/2014/main" id="{DECFB432-9000-BF69-48F5-0292B9E3BB81}"/>
              </a:ext>
            </a:extLst>
          </p:cNvPr>
          <p:cNvGrpSpPr/>
          <p:nvPr/>
        </p:nvGrpSpPr>
        <p:grpSpPr>
          <a:xfrm rot="4999431">
            <a:off x="10934553" y="6179815"/>
            <a:ext cx="229316" cy="229316"/>
            <a:chOff x="0" y="0"/>
            <a:chExt cx="812800" cy="812800"/>
          </a:xfrm>
        </p:grpSpPr>
        <p:sp>
          <p:nvSpPr>
            <p:cNvPr id="35" name="Freeform 9">
              <a:extLst>
                <a:ext uri="{FF2B5EF4-FFF2-40B4-BE49-F238E27FC236}">
                  <a16:creationId xmlns:a16="http://schemas.microsoft.com/office/drawing/2014/main" id="{772E5370-CDF3-05E3-8668-F85A7F6386E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IN" sz="1200"/>
            </a:p>
          </p:txBody>
        </p:sp>
        <p:sp>
          <p:nvSpPr>
            <p:cNvPr id="37" name="TextBox 10">
              <a:extLst>
                <a:ext uri="{FF2B5EF4-FFF2-40B4-BE49-F238E27FC236}">
                  <a16:creationId xmlns:a16="http://schemas.microsoft.com/office/drawing/2014/main" id="{6429F6E2-030D-B0C8-41F7-C26E37800250}"/>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sp>
        <p:nvSpPr>
          <p:cNvPr id="3" name="AutoShape 2">
            <a:extLst>
              <a:ext uri="{FF2B5EF4-FFF2-40B4-BE49-F238E27FC236}">
                <a16:creationId xmlns:a16="http://schemas.microsoft.com/office/drawing/2014/main" id="{5244B8AF-DB55-CEC4-9EA9-4B3E137B5B19}"/>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dirty="0"/>
          </a:p>
        </p:txBody>
      </p:sp>
      <p:sp>
        <p:nvSpPr>
          <p:cNvPr id="4" name="TextBox 7">
            <a:extLst>
              <a:ext uri="{FF2B5EF4-FFF2-40B4-BE49-F238E27FC236}">
                <a16:creationId xmlns:a16="http://schemas.microsoft.com/office/drawing/2014/main" id="{0A20B917-96F9-ED22-3E1C-6723985A4B3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2" name="TextBox 9">
            <a:extLst>
              <a:ext uri="{FF2B5EF4-FFF2-40B4-BE49-F238E27FC236}">
                <a16:creationId xmlns:a16="http://schemas.microsoft.com/office/drawing/2014/main" id="{A07C8E69-2842-91CF-2B20-3722C1B72546}"/>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grpSp>
        <p:nvGrpSpPr>
          <p:cNvPr id="14" name="Group 21">
            <a:extLst>
              <a:ext uri="{FF2B5EF4-FFF2-40B4-BE49-F238E27FC236}">
                <a16:creationId xmlns:a16="http://schemas.microsoft.com/office/drawing/2014/main" id="{12817EE5-6A35-C673-432D-272B07395247}"/>
              </a:ext>
            </a:extLst>
          </p:cNvPr>
          <p:cNvGrpSpPr/>
          <p:nvPr/>
        </p:nvGrpSpPr>
        <p:grpSpPr>
          <a:xfrm>
            <a:off x="11074400" y="210121"/>
            <a:ext cx="868640" cy="895898"/>
            <a:chOff x="0" y="0"/>
            <a:chExt cx="1737281" cy="1791796"/>
          </a:xfrm>
        </p:grpSpPr>
        <p:sp>
          <p:nvSpPr>
            <p:cNvPr id="28" name="Freeform 22">
              <a:extLst>
                <a:ext uri="{FF2B5EF4-FFF2-40B4-BE49-F238E27FC236}">
                  <a16:creationId xmlns:a16="http://schemas.microsoft.com/office/drawing/2014/main" id="{EFC55A42-158F-338E-9C15-87358E2A1B24}"/>
                </a:ext>
              </a:extLst>
            </p:cNvPr>
            <p:cNvSpPr/>
            <p:nvPr/>
          </p:nvSpPr>
          <p:spPr>
            <a:xfrm>
              <a:off x="0" y="0"/>
              <a:ext cx="1737281" cy="1464970"/>
            </a:xfrm>
            <a:custGeom>
              <a:avLst/>
              <a:gdLst/>
              <a:ahLst/>
              <a:cxnLst/>
              <a:rect l="l" t="t" r="r" b="b"/>
              <a:pathLst>
                <a:path w="1737281" h="1464970">
                  <a:moveTo>
                    <a:pt x="0" y="0"/>
                  </a:moveTo>
                  <a:lnTo>
                    <a:pt x="1737281" y="0"/>
                  </a:lnTo>
                  <a:lnTo>
                    <a:pt x="1737281" y="1464970"/>
                  </a:lnTo>
                  <a:lnTo>
                    <a:pt x="0" y="1464970"/>
                  </a:lnTo>
                  <a:lnTo>
                    <a:pt x="0" y="0"/>
                  </a:lnTo>
                  <a:close/>
                </a:path>
              </a:pathLst>
            </a:custGeom>
            <a:blipFill>
              <a:blip r:embed="rId11"/>
              <a:stretch>
                <a:fillRect t="-47826" b="-108579"/>
              </a:stretch>
            </a:blipFill>
          </p:spPr>
          <p:txBody>
            <a:bodyPr/>
            <a:lstStyle/>
            <a:p>
              <a:endParaRPr lang="en-US" sz="1200"/>
            </a:p>
          </p:txBody>
        </p:sp>
        <p:sp>
          <p:nvSpPr>
            <p:cNvPr id="29" name="TextBox 23">
              <a:extLst>
                <a:ext uri="{FF2B5EF4-FFF2-40B4-BE49-F238E27FC236}">
                  <a16:creationId xmlns:a16="http://schemas.microsoft.com/office/drawing/2014/main" id="{96B8E606-1132-302B-3691-E2CA8D46C150}"/>
                </a:ext>
              </a:extLst>
            </p:cNvPr>
            <p:cNvSpPr txBox="1"/>
            <p:nvPr/>
          </p:nvSpPr>
          <p:spPr>
            <a:xfrm>
              <a:off x="68072" y="1484020"/>
              <a:ext cx="1669209" cy="307776"/>
            </a:xfrm>
            <a:prstGeom prst="rect">
              <a:avLst/>
            </a:prstGeom>
          </p:spPr>
          <p:txBody>
            <a:bodyPr lIns="0" tIns="0" rIns="0" bIns="0" rtlCol="0" anchor="t">
              <a:spAutoFit/>
            </a:bodyPr>
            <a:lstStyle/>
            <a:p>
              <a:pPr>
                <a:lnSpc>
                  <a:spcPts val="1173"/>
                </a:lnSpc>
              </a:pPr>
              <a:r>
                <a:rPr lang="en-US" sz="1317" spc="-76" dirty="0">
                  <a:solidFill>
                    <a:srgbClr val="090A3C"/>
                  </a:solidFill>
                  <a:latin typeface="Codec Pro"/>
                  <a:ea typeface="Codec Pro"/>
                  <a:cs typeface="Codec Pro"/>
                  <a:sym typeface="Codec Pro"/>
                </a:rPr>
                <a:t>virtuous</a:t>
              </a:r>
              <a:r>
                <a:rPr lang="en-US" sz="1317" spc="-76" dirty="0">
                  <a:solidFill>
                    <a:srgbClr val="0053EB"/>
                  </a:solidFill>
                  <a:latin typeface="Codec Pro"/>
                  <a:ea typeface="Codec Pro"/>
                  <a:cs typeface="Codec Pro"/>
                  <a:sym typeface="Codec Pro"/>
                </a:rPr>
                <a:t>info</a:t>
              </a:r>
            </a:p>
          </p:txBody>
        </p:sp>
      </p:grpSp>
      <p:sp>
        <p:nvSpPr>
          <p:cNvPr id="49" name="TextBox 48">
            <a:extLst>
              <a:ext uri="{FF2B5EF4-FFF2-40B4-BE49-F238E27FC236}">
                <a16:creationId xmlns:a16="http://schemas.microsoft.com/office/drawing/2014/main" id="{50557E0E-8553-48F0-8C38-EE1507DFF3C9}"/>
              </a:ext>
            </a:extLst>
          </p:cNvPr>
          <p:cNvSpPr txBox="1"/>
          <p:nvPr/>
        </p:nvSpPr>
        <p:spPr>
          <a:xfrm>
            <a:off x="5911269" y="6533202"/>
            <a:ext cx="287258" cy="215444"/>
          </a:xfrm>
          <a:prstGeom prst="rect">
            <a:avLst/>
          </a:prstGeom>
          <a:noFill/>
        </p:spPr>
        <p:txBody>
          <a:bodyPr wrap="none" rtlCol="0">
            <a:spAutoFit/>
          </a:bodyPr>
          <a:lstStyle/>
          <a:p>
            <a:r>
              <a:rPr lang="en-US" sz="800" dirty="0"/>
              <a:t>34</a:t>
            </a:r>
          </a:p>
        </p:txBody>
      </p:sp>
    </p:spTree>
    <p:extLst>
      <p:ext uri="{BB962C8B-B14F-4D97-AF65-F5344CB8AC3E}">
        <p14:creationId xmlns:p14="http://schemas.microsoft.com/office/powerpoint/2010/main" val="232588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childTnLst>
                                </p:cTn>
                              </p:par>
                              <p:par>
                                <p:cTn id="15" presetID="2" presetClass="entr" presetSubtype="4" fill="hold" nodeType="withEffect">
                                  <p:stCondLst>
                                    <p:cond delay="0"/>
                                  </p:stCondLst>
                                  <p:childTnLst>
                                    <p:set>
                                      <p:cBhvr>
                                        <p:cTn id="16" dur="1" fill="hold">
                                          <p:stCondLst>
                                            <p:cond delay="0"/>
                                          </p:stCondLst>
                                        </p:cTn>
                                        <p:tgtEl>
                                          <p:spTgt spid="78"/>
                                        </p:tgtEl>
                                        <p:attrNameLst>
                                          <p:attrName>style.visibility</p:attrName>
                                        </p:attrNameLst>
                                      </p:cBhvr>
                                      <p:to>
                                        <p:strVal val="visible"/>
                                      </p:to>
                                    </p:set>
                                    <p:anim calcmode="lin" valueType="num">
                                      <p:cBhvr additive="base">
                                        <p:cTn id="17" dur="1000" fill="hold"/>
                                        <p:tgtEl>
                                          <p:spTgt spid="78"/>
                                        </p:tgtEl>
                                        <p:attrNameLst>
                                          <p:attrName>ppt_x</p:attrName>
                                        </p:attrNameLst>
                                      </p:cBhvr>
                                      <p:tavLst>
                                        <p:tav tm="0">
                                          <p:val>
                                            <p:strVal val="#ppt_x"/>
                                          </p:val>
                                        </p:tav>
                                        <p:tav tm="100000">
                                          <p:val>
                                            <p:strVal val="#ppt_x"/>
                                          </p:val>
                                        </p:tav>
                                      </p:tavLst>
                                    </p:anim>
                                    <p:anim calcmode="lin" valueType="num">
                                      <p:cBhvr additive="base">
                                        <p:cTn id="18" dur="1000" fill="hold"/>
                                        <p:tgtEl>
                                          <p:spTgt spid="78"/>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61"/>
                                        </p:tgtEl>
                                        <p:attrNameLst>
                                          <p:attrName>style.visibility</p:attrName>
                                        </p:attrNameLst>
                                      </p:cBhvr>
                                      <p:to>
                                        <p:strVal val="visible"/>
                                      </p:to>
                                    </p:set>
                                    <p:anim calcmode="lin" valueType="num">
                                      <p:cBhvr additive="base">
                                        <p:cTn id="21" dur="1000" fill="hold"/>
                                        <p:tgtEl>
                                          <p:spTgt spid="61"/>
                                        </p:tgtEl>
                                        <p:attrNameLst>
                                          <p:attrName>ppt_x</p:attrName>
                                        </p:attrNameLst>
                                      </p:cBhvr>
                                      <p:tavLst>
                                        <p:tav tm="0">
                                          <p:val>
                                            <p:strVal val="#ppt_x"/>
                                          </p:val>
                                        </p:tav>
                                        <p:tav tm="100000">
                                          <p:val>
                                            <p:strVal val="#ppt_x"/>
                                          </p:val>
                                        </p:tav>
                                      </p:tavLst>
                                    </p:anim>
                                    <p:anim calcmode="lin" valueType="num">
                                      <p:cBhvr additive="base">
                                        <p:cTn id="22" dur="1000" fill="hold"/>
                                        <p:tgtEl>
                                          <p:spTgt spid="61"/>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1000" fill="hold"/>
                                        <p:tgtEl>
                                          <p:spTgt spid="67"/>
                                        </p:tgtEl>
                                        <p:attrNameLst>
                                          <p:attrName>ppt_x</p:attrName>
                                        </p:attrNameLst>
                                      </p:cBhvr>
                                      <p:tavLst>
                                        <p:tav tm="0">
                                          <p:val>
                                            <p:strVal val="#ppt_x"/>
                                          </p:val>
                                        </p:tav>
                                        <p:tav tm="100000">
                                          <p:val>
                                            <p:strVal val="#ppt_x"/>
                                          </p:val>
                                        </p:tav>
                                      </p:tavLst>
                                    </p:anim>
                                    <p:anim calcmode="lin" valueType="num">
                                      <p:cBhvr additive="base">
                                        <p:cTn id="26" dur="10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8"/>
                                        </p:tgtEl>
                                        <p:attrNameLst>
                                          <p:attrName>style.visibility</p:attrName>
                                        </p:attrNameLst>
                                      </p:cBhvr>
                                      <p:to>
                                        <p:strVal val="visible"/>
                                      </p:to>
                                    </p:set>
                                    <p:anim calcmode="lin" valueType="num">
                                      <p:cBhvr additive="base">
                                        <p:cTn id="33" dur="500" fill="hold"/>
                                        <p:tgtEl>
                                          <p:spTgt spid="18"/>
                                        </p:tgtEl>
                                        <p:attrNameLst>
                                          <p:attrName>ppt_x</p:attrName>
                                        </p:attrNameLst>
                                      </p:cBhvr>
                                      <p:tavLst>
                                        <p:tav tm="0">
                                          <p:val>
                                            <p:strVal val="#ppt_x"/>
                                          </p:val>
                                        </p:tav>
                                        <p:tav tm="100000">
                                          <p:val>
                                            <p:strVal val="#ppt_x"/>
                                          </p:val>
                                        </p:tav>
                                      </p:tavLst>
                                    </p:anim>
                                    <p:anim calcmode="lin" valueType="num">
                                      <p:cBhvr additive="base">
                                        <p:cTn id="34" dur="500" fill="hold"/>
                                        <p:tgtEl>
                                          <p:spTgt spid="1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750" fill="hold"/>
                                        <p:tgtEl>
                                          <p:spTgt spid="15"/>
                                        </p:tgtEl>
                                        <p:attrNameLst>
                                          <p:attrName>ppt_x</p:attrName>
                                        </p:attrNameLst>
                                      </p:cBhvr>
                                      <p:tavLst>
                                        <p:tav tm="0">
                                          <p:val>
                                            <p:strVal val="#ppt_x"/>
                                          </p:val>
                                        </p:tav>
                                        <p:tav tm="100000">
                                          <p:val>
                                            <p:strVal val="#ppt_x"/>
                                          </p:val>
                                        </p:tav>
                                      </p:tavLst>
                                    </p:anim>
                                    <p:anim calcmode="lin" valueType="num">
                                      <p:cBhvr additive="base">
                                        <p:cTn id="42" dur="750" fill="hold"/>
                                        <p:tgtEl>
                                          <p:spTgt spid="15"/>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 calcmode="lin" valueType="num">
                                      <p:cBhvr additive="base">
                                        <p:cTn id="45" dur="750" fill="hold"/>
                                        <p:tgtEl>
                                          <p:spTgt spid="17"/>
                                        </p:tgtEl>
                                        <p:attrNameLst>
                                          <p:attrName>ppt_x</p:attrName>
                                        </p:attrNameLst>
                                      </p:cBhvr>
                                      <p:tavLst>
                                        <p:tav tm="0">
                                          <p:val>
                                            <p:strVal val="#ppt_x"/>
                                          </p:val>
                                        </p:tav>
                                        <p:tav tm="100000">
                                          <p:val>
                                            <p:strVal val="#ppt_x"/>
                                          </p:val>
                                        </p:tav>
                                      </p:tavLst>
                                    </p:anim>
                                    <p:anim calcmode="lin" valueType="num">
                                      <p:cBhvr additive="base">
                                        <p:cTn id="46" dur="75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5F01493-CD4D-47B2-B119-6D49FD42018B}"/>
              </a:ext>
            </a:extLst>
          </p:cNvPr>
          <p:cNvSpPr/>
          <p:nvPr/>
        </p:nvSpPr>
        <p:spPr>
          <a:xfrm>
            <a:off x="2783" y="4343401"/>
            <a:ext cx="12192000" cy="250409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95"/>
              </a:lnSpc>
            </a:pPr>
            <a:r>
              <a:rPr lang="en-US" sz="1867" dirty="0">
                <a:solidFill>
                  <a:schemeClr val="tx2">
                    <a:lumMod val="75000"/>
                  </a:schemeClr>
                </a:solidFill>
                <a:latin typeface="Codec Pro"/>
                <a:ea typeface="Codec Pro"/>
                <a:cs typeface="Codec Pro"/>
                <a:sym typeface="Codec Pro"/>
              </a:rPr>
              <a:t>                                                                                                                                                                       </a:t>
            </a:r>
          </a:p>
          <a:p>
            <a:pPr>
              <a:lnSpc>
                <a:spcPts val="1895"/>
              </a:lnSpc>
            </a:pPr>
            <a:endParaRPr lang="en-US" sz="1867" dirty="0">
              <a:solidFill>
                <a:schemeClr val="tx2">
                  <a:lumMod val="75000"/>
                </a:schemeClr>
              </a:solidFill>
              <a:latin typeface="Codec Pro"/>
              <a:ea typeface="Codec Pro"/>
              <a:cs typeface="Codec Pro"/>
              <a:sym typeface="Codec Pro"/>
            </a:endParaRPr>
          </a:p>
          <a:p>
            <a:pPr>
              <a:lnSpc>
                <a:spcPts val="1895"/>
              </a:lnSpc>
            </a:pPr>
            <a:endParaRPr lang="en-US" sz="1867" dirty="0">
              <a:solidFill>
                <a:schemeClr val="tx2">
                  <a:lumMod val="75000"/>
                </a:schemeClr>
              </a:solidFill>
              <a:latin typeface="Codec Pro"/>
              <a:ea typeface="Codec Pro"/>
              <a:cs typeface="Codec Pro"/>
              <a:sym typeface="Codec Pro"/>
            </a:endParaRPr>
          </a:p>
          <a:p>
            <a:pPr>
              <a:lnSpc>
                <a:spcPts val="1895"/>
              </a:lnSpc>
            </a:pPr>
            <a:endParaRPr lang="en-US" sz="1867" dirty="0">
              <a:solidFill>
                <a:schemeClr val="tx2">
                  <a:lumMod val="75000"/>
                </a:schemeClr>
              </a:solidFill>
              <a:latin typeface="Codec Pro"/>
              <a:ea typeface="Codec Pro"/>
              <a:cs typeface="Codec Pro"/>
              <a:sym typeface="Codec Pro"/>
            </a:endParaRPr>
          </a:p>
          <a:p>
            <a:pPr>
              <a:lnSpc>
                <a:spcPts val="1895"/>
              </a:lnSpc>
            </a:pPr>
            <a:r>
              <a:rPr lang="en-US" sz="1333" dirty="0">
                <a:solidFill>
                  <a:schemeClr val="tx2">
                    <a:lumMod val="75000"/>
                  </a:schemeClr>
                </a:solidFill>
                <a:latin typeface="Codec Pro"/>
                <a:ea typeface="Codec Pro"/>
                <a:cs typeface="Codec Pro"/>
                <a:sym typeface="Codec Pro"/>
              </a:rPr>
              <a:t>                                                                                                                                                                                                                                </a:t>
            </a:r>
          </a:p>
        </p:txBody>
      </p:sp>
      <p:sp>
        <p:nvSpPr>
          <p:cNvPr id="6" name="Rectangle 5">
            <a:extLst>
              <a:ext uri="{FF2B5EF4-FFF2-40B4-BE49-F238E27FC236}">
                <a16:creationId xmlns:a16="http://schemas.microsoft.com/office/drawing/2014/main" id="{3F263D35-F026-425F-8C19-08A5DF3B752E}"/>
              </a:ext>
            </a:extLst>
          </p:cNvPr>
          <p:cNvSpPr>
            <a:spLocks noChangeArrowheads="1"/>
          </p:cNvSpPr>
          <p:nvPr/>
        </p:nvSpPr>
        <p:spPr bwMode="auto">
          <a:xfrm>
            <a:off x="4792374" y="4545238"/>
            <a:ext cx="260725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gn="ctr"/>
            <a:r>
              <a:rPr lang="en-US" altLang="ru-UA" sz="3200" dirty="0">
                <a:solidFill>
                  <a:schemeClr val="tx2">
                    <a:lumMod val="75000"/>
                  </a:schemeClr>
                </a:solidFill>
                <a:latin typeface="Codec Pro Bold" panose="020B0604020202020204" charset="0"/>
              </a:rPr>
              <a:t>CONTACT US</a:t>
            </a:r>
            <a:endParaRPr lang="ru-UA" altLang="ru-UA" sz="2800" dirty="0">
              <a:solidFill>
                <a:schemeClr val="tx2">
                  <a:lumMod val="75000"/>
                </a:schemeClr>
              </a:solidFill>
              <a:latin typeface="Codec Pro Bold" panose="020B0604020202020204" charset="0"/>
            </a:endParaRPr>
          </a:p>
        </p:txBody>
      </p:sp>
      <p:grpSp>
        <p:nvGrpSpPr>
          <p:cNvPr id="2" name="Group 1">
            <a:extLst>
              <a:ext uri="{FF2B5EF4-FFF2-40B4-BE49-F238E27FC236}">
                <a16:creationId xmlns:a16="http://schemas.microsoft.com/office/drawing/2014/main" id="{6233B96A-D2D1-4109-BDAA-60D08FFFA144}"/>
              </a:ext>
            </a:extLst>
          </p:cNvPr>
          <p:cNvGrpSpPr/>
          <p:nvPr/>
        </p:nvGrpSpPr>
        <p:grpSpPr>
          <a:xfrm>
            <a:off x="1460377" y="5508439"/>
            <a:ext cx="3442975" cy="843687"/>
            <a:chOff x="1460376" y="5508436"/>
            <a:chExt cx="3442975" cy="843687"/>
          </a:xfrm>
        </p:grpSpPr>
        <p:sp>
          <p:nvSpPr>
            <p:cNvPr id="8" name="Freeform 80">
              <a:extLst>
                <a:ext uri="{FF2B5EF4-FFF2-40B4-BE49-F238E27FC236}">
                  <a16:creationId xmlns:a16="http://schemas.microsoft.com/office/drawing/2014/main" id="{5B5F37EE-39BB-451C-9D76-3D792D3F369F}"/>
                </a:ext>
              </a:extLst>
            </p:cNvPr>
            <p:cNvSpPr>
              <a:spLocks noEditPoints="1"/>
            </p:cNvSpPr>
            <p:nvPr/>
          </p:nvSpPr>
          <p:spPr bwMode="auto">
            <a:xfrm>
              <a:off x="1460376" y="5626359"/>
              <a:ext cx="630872" cy="478278"/>
            </a:xfrm>
            <a:custGeom>
              <a:avLst/>
              <a:gdLst>
                <a:gd name="T0" fmla="*/ 800 w 1158"/>
                <a:gd name="T1" fmla="*/ 590 h 875"/>
                <a:gd name="T2" fmla="*/ 993 w 1158"/>
                <a:gd name="T3" fmla="*/ 590 h 875"/>
                <a:gd name="T4" fmla="*/ 1158 w 1158"/>
                <a:gd name="T5" fmla="*/ 875 h 875"/>
                <a:gd name="T6" fmla="*/ 0 w 1158"/>
                <a:gd name="T7" fmla="*/ 875 h 875"/>
                <a:gd name="T8" fmla="*/ 165 w 1158"/>
                <a:gd name="T9" fmla="*/ 590 h 875"/>
                <a:gd name="T10" fmla="*/ 343 w 1158"/>
                <a:gd name="T11" fmla="*/ 590 h 875"/>
                <a:gd name="T12" fmla="*/ 579 w 1158"/>
                <a:gd name="T13" fmla="*/ 127 h 875"/>
                <a:gd name="T14" fmla="*/ 456 w 1158"/>
                <a:gd name="T15" fmla="*/ 250 h 875"/>
                <a:gd name="T16" fmla="*/ 579 w 1158"/>
                <a:gd name="T17" fmla="*/ 372 h 875"/>
                <a:gd name="T18" fmla="*/ 701 w 1158"/>
                <a:gd name="T19" fmla="*/ 250 h 875"/>
                <a:gd name="T20" fmla="*/ 579 w 1158"/>
                <a:gd name="T21" fmla="*/ 127 h 875"/>
                <a:gd name="T22" fmla="*/ 579 w 1158"/>
                <a:gd name="T23" fmla="*/ 0 h 875"/>
                <a:gd name="T24" fmla="*/ 329 w 1158"/>
                <a:gd name="T25" fmla="*/ 250 h 875"/>
                <a:gd name="T26" fmla="*/ 579 w 1158"/>
                <a:gd name="T27" fmla="*/ 725 h 875"/>
                <a:gd name="T28" fmla="*/ 829 w 1158"/>
                <a:gd name="T29" fmla="*/ 250 h 875"/>
                <a:gd name="T30" fmla="*/ 579 w 1158"/>
                <a:gd name="T31" fmla="*/ 0 h 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158" h="875">
                  <a:moveTo>
                    <a:pt x="800" y="590"/>
                  </a:moveTo>
                  <a:cubicBezTo>
                    <a:pt x="993" y="590"/>
                    <a:pt x="993" y="590"/>
                    <a:pt x="993" y="590"/>
                  </a:cubicBezTo>
                  <a:cubicBezTo>
                    <a:pt x="1158" y="875"/>
                    <a:pt x="1158" y="875"/>
                    <a:pt x="1158" y="875"/>
                  </a:cubicBezTo>
                  <a:cubicBezTo>
                    <a:pt x="0" y="875"/>
                    <a:pt x="0" y="875"/>
                    <a:pt x="0" y="875"/>
                  </a:cubicBezTo>
                  <a:cubicBezTo>
                    <a:pt x="165" y="590"/>
                    <a:pt x="165" y="590"/>
                    <a:pt x="165" y="590"/>
                  </a:cubicBezTo>
                  <a:cubicBezTo>
                    <a:pt x="343" y="590"/>
                    <a:pt x="343" y="590"/>
                    <a:pt x="343" y="590"/>
                  </a:cubicBezTo>
                  <a:moveTo>
                    <a:pt x="579" y="127"/>
                  </a:moveTo>
                  <a:cubicBezTo>
                    <a:pt x="511" y="127"/>
                    <a:pt x="456" y="182"/>
                    <a:pt x="456" y="250"/>
                  </a:cubicBezTo>
                  <a:cubicBezTo>
                    <a:pt x="456" y="317"/>
                    <a:pt x="511" y="372"/>
                    <a:pt x="579" y="372"/>
                  </a:cubicBezTo>
                  <a:cubicBezTo>
                    <a:pt x="646" y="372"/>
                    <a:pt x="701" y="317"/>
                    <a:pt x="701" y="250"/>
                  </a:cubicBezTo>
                  <a:cubicBezTo>
                    <a:pt x="701" y="182"/>
                    <a:pt x="646" y="127"/>
                    <a:pt x="579" y="127"/>
                  </a:cubicBezTo>
                  <a:close/>
                  <a:moveTo>
                    <a:pt x="579" y="0"/>
                  </a:moveTo>
                  <a:cubicBezTo>
                    <a:pt x="441" y="0"/>
                    <a:pt x="329" y="112"/>
                    <a:pt x="329" y="250"/>
                  </a:cubicBezTo>
                  <a:cubicBezTo>
                    <a:pt x="329" y="388"/>
                    <a:pt x="579" y="725"/>
                    <a:pt x="579" y="725"/>
                  </a:cubicBezTo>
                  <a:cubicBezTo>
                    <a:pt x="579" y="725"/>
                    <a:pt x="829" y="388"/>
                    <a:pt x="829" y="250"/>
                  </a:cubicBezTo>
                  <a:cubicBezTo>
                    <a:pt x="829" y="112"/>
                    <a:pt x="717" y="0"/>
                    <a:pt x="579" y="0"/>
                  </a:cubicBezTo>
                  <a:close/>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dirty="0"/>
            </a:p>
          </p:txBody>
        </p:sp>
        <p:sp>
          <p:nvSpPr>
            <p:cNvPr id="12" name="Rectangle 7">
              <a:extLst>
                <a:ext uri="{FF2B5EF4-FFF2-40B4-BE49-F238E27FC236}">
                  <a16:creationId xmlns:a16="http://schemas.microsoft.com/office/drawing/2014/main" id="{A11D4D82-3771-44CE-9D04-0320888DD390}"/>
                </a:ext>
              </a:extLst>
            </p:cNvPr>
            <p:cNvSpPr>
              <a:spLocks noChangeArrowheads="1"/>
            </p:cNvSpPr>
            <p:nvPr/>
          </p:nvSpPr>
          <p:spPr bwMode="auto">
            <a:xfrm>
              <a:off x="2347281" y="5508436"/>
              <a:ext cx="987451"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ctr" eaLnBrk="0" fontAlgn="base" hangingPunct="0">
                <a:spcBef>
                  <a:spcPct val="0"/>
                </a:spcBef>
                <a:spcAft>
                  <a:spcPct val="0"/>
                </a:spcAft>
              </a:pPr>
              <a:r>
                <a:rPr lang="en-US" altLang="ru-RU" sz="1600" dirty="0">
                  <a:solidFill>
                    <a:schemeClr val="tx2">
                      <a:lumMod val="75000"/>
                    </a:schemeClr>
                  </a:solidFill>
                  <a:latin typeface="Codec Pro Bold" panose="020B0604020202020204" charset="0"/>
                </a:rPr>
                <a:t>ADDRESS</a:t>
              </a:r>
              <a:endParaRPr lang="ru-RU" altLang="ru-RU" sz="1600" dirty="0">
                <a:solidFill>
                  <a:schemeClr val="tx2">
                    <a:lumMod val="75000"/>
                  </a:schemeClr>
                </a:solidFill>
                <a:latin typeface="Codec Pro Bold" panose="020B0604020202020204" charset="0"/>
              </a:endParaRPr>
            </a:p>
          </p:txBody>
        </p:sp>
        <p:sp>
          <p:nvSpPr>
            <p:cNvPr id="13" name="Text_02">
              <a:extLst>
                <a:ext uri="{FF2B5EF4-FFF2-40B4-BE49-F238E27FC236}">
                  <a16:creationId xmlns:a16="http://schemas.microsoft.com/office/drawing/2014/main" id="{45215386-EB13-41CA-B1F0-C057CA761245}"/>
                </a:ext>
              </a:extLst>
            </p:cNvPr>
            <p:cNvSpPr txBox="1"/>
            <p:nvPr/>
          </p:nvSpPr>
          <p:spPr>
            <a:xfrm>
              <a:off x="2293025" y="5798317"/>
              <a:ext cx="2610326" cy="553806"/>
            </a:xfrm>
            <a:prstGeom prst="rect">
              <a:avLst/>
            </a:prstGeom>
            <a:noFill/>
          </p:spPr>
          <p:txBody>
            <a:bodyPr wrap="square" rtlCol="0">
              <a:spAutoFit/>
            </a:bodyPr>
            <a:lstStyle>
              <a:defPPr>
                <a:defRPr lang="ru-RU"/>
              </a:defPPr>
              <a:lvl1pPr indent="0">
                <a:lnSpc>
                  <a:spcPct val="120000"/>
                </a:lnSpc>
                <a:buFont typeface="Arial" panose="020B0604020202020204" pitchFamily="34" charset="0"/>
                <a:buNone/>
                <a:defRPr sz="1100" kern="1600">
                  <a:solidFill>
                    <a:schemeClr val="tx1">
                      <a:lumMod val="50000"/>
                    </a:schemeClr>
                  </a:solidFill>
                  <a:latin typeface="Montserrat Light" panose="00000400000000000000" pitchFamily="50" charset="-52"/>
                </a:defRPr>
              </a:lvl1pPr>
            </a:lstStyle>
            <a:p>
              <a:pPr>
                <a:lnSpc>
                  <a:spcPts val="1895"/>
                </a:lnSpc>
              </a:pPr>
              <a:r>
                <a:rPr lang="en-US" sz="1200" dirty="0">
                  <a:solidFill>
                    <a:schemeClr val="tx2">
                      <a:lumMod val="75000"/>
                    </a:schemeClr>
                  </a:solidFill>
                  <a:latin typeface="Codec Pro"/>
                  <a:ea typeface="Codec Pro"/>
                  <a:cs typeface="Codec Pro"/>
                  <a:sym typeface="Codec Pro"/>
                </a:rPr>
                <a:t>2085, 24th Main, Sector 1, HSR Layout, Bengaluru - 560102</a:t>
              </a:r>
            </a:p>
          </p:txBody>
        </p:sp>
      </p:grpSp>
      <p:grpSp>
        <p:nvGrpSpPr>
          <p:cNvPr id="18" name="Group 17">
            <a:extLst>
              <a:ext uri="{FF2B5EF4-FFF2-40B4-BE49-F238E27FC236}">
                <a16:creationId xmlns:a16="http://schemas.microsoft.com/office/drawing/2014/main" id="{EF530592-CA73-4E9C-B71A-DDFE1045B493}"/>
              </a:ext>
            </a:extLst>
          </p:cNvPr>
          <p:cNvGrpSpPr/>
          <p:nvPr/>
        </p:nvGrpSpPr>
        <p:grpSpPr>
          <a:xfrm>
            <a:off x="5409258" y="5508434"/>
            <a:ext cx="3351992" cy="664526"/>
            <a:chOff x="5151809" y="5508436"/>
            <a:chExt cx="3351992" cy="664526"/>
          </a:xfrm>
        </p:grpSpPr>
        <p:sp>
          <p:nvSpPr>
            <p:cNvPr id="9" name="Freeform 148">
              <a:extLst>
                <a:ext uri="{FF2B5EF4-FFF2-40B4-BE49-F238E27FC236}">
                  <a16:creationId xmlns:a16="http://schemas.microsoft.com/office/drawing/2014/main" id="{DC0D0493-615B-4795-92AB-285DD500B9CB}"/>
                </a:ext>
              </a:extLst>
            </p:cNvPr>
            <p:cNvSpPr>
              <a:spLocks noEditPoints="1"/>
            </p:cNvSpPr>
            <p:nvPr/>
          </p:nvSpPr>
          <p:spPr bwMode="auto">
            <a:xfrm>
              <a:off x="5151809" y="5626359"/>
              <a:ext cx="573933" cy="546603"/>
            </a:xfrm>
            <a:custGeom>
              <a:avLst/>
              <a:gdLst>
                <a:gd name="T0" fmla="*/ 445 w 1048"/>
                <a:gd name="T1" fmla="*/ 890 h 1003"/>
                <a:gd name="T2" fmla="*/ 0 w 1048"/>
                <a:gd name="T3" fmla="*/ 445 h 1003"/>
                <a:gd name="T4" fmla="*/ 445 w 1048"/>
                <a:gd name="T5" fmla="*/ 0 h 1003"/>
                <a:gd name="T6" fmla="*/ 889 w 1048"/>
                <a:gd name="T7" fmla="*/ 375 h 1003"/>
                <a:gd name="T8" fmla="*/ 85 w 1048"/>
                <a:gd name="T9" fmla="*/ 183 h 1003"/>
                <a:gd name="T10" fmla="*/ 445 w 1048"/>
                <a:gd name="T11" fmla="*/ 235 h 1003"/>
                <a:gd name="T12" fmla="*/ 806 w 1048"/>
                <a:gd name="T13" fmla="*/ 183 h 1003"/>
                <a:gd name="T14" fmla="*/ 350 w 1048"/>
                <a:gd name="T15" fmla="*/ 657 h 1003"/>
                <a:gd name="T16" fmla="*/ 85 w 1048"/>
                <a:gd name="T17" fmla="*/ 707 h 1003"/>
                <a:gd name="T18" fmla="*/ 663 w 1048"/>
                <a:gd name="T19" fmla="*/ 315 h 1003"/>
                <a:gd name="T20" fmla="*/ 445 w 1048"/>
                <a:gd name="T21" fmla="*/ 0 h 1003"/>
                <a:gd name="T22" fmla="*/ 218 w 1048"/>
                <a:gd name="T23" fmla="*/ 445 h 1003"/>
                <a:gd name="T24" fmla="*/ 445 w 1048"/>
                <a:gd name="T25" fmla="*/ 890 h 1003"/>
                <a:gd name="T26" fmla="*/ 0 w 1048"/>
                <a:gd name="T27" fmla="*/ 445 h 1003"/>
                <a:gd name="T28" fmla="*/ 336 w 1048"/>
                <a:gd name="T29" fmla="*/ 445 h 1003"/>
                <a:gd name="T30" fmla="*/ 445 w 1048"/>
                <a:gd name="T31" fmla="*/ 0 h 1003"/>
                <a:gd name="T32" fmla="*/ 445 w 1048"/>
                <a:gd name="T33" fmla="*/ 371 h 1003"/>
                <a:gd name="T34" fmla="*/ 692 w 1048"/>
                <a:gd name="T35" fmla="*/ 410 h 1003"/>
                <a:gd name="T36" fmla="*/ 455 w 1048"/>
                <a:gd name="T37" fmla="*/ 648 h 1003"/>
                <a:gd name="T38" fmla="*/ 692 w 1048"/>
                <a:gd name="T39" fmla="*/ 885 h 1003"/>
                <a:gd name="T40" fmla="*/ 929 w 1048"/>
                <a:gd name="T41" fmla="*/ 648 h 1003"/>
                <a:gd name="T42" fmla="*/ 692 w 1048"/>
                <a:gd name="T43" fmla="*/ 410 h 1003"/>
                <a:gd name="T44" fmla="*/ 860 w 1048"/>
                <a:gd name="T45" fmla="*/ 815 h 1003"/>
                <a:gd name="T46" fmla="*/ 1048 w 1048"/>
                <a:gd name="T47" fmla="*/ 1003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048" h="1003">
                  <a:moveTo>
                    <a:pt x="445" y="890"/>
                  </a:moveTo>
                  <a:cubicBezTo>
                    <a:pt x="200" y="890"/>
                    <a:pt x="0" y="691"/>
                    <a:pt x="0" y="445"/>
                  </a:cubicBezTo>
                  <a:cubicBezTo>
                    <a:pt x="0" y="199"/>
                    <a:pt x="200" y="0"/>
                    <a:pt x="445" y="0"/>
                  </a:cubicBezTo>
                  <a:cubicBezTo>
                    <a:pt x="659" y="0"/>
                    <a:pt x="849" y="158"/>
                    <a:pt x="889" y="375"/>
                  </a:cubicBezTo>
                  <a:moveTo>
                    <a:pt x="85" y="183"/>
                  </a:moveTo>
                  <a:cubicBezTo>
                    <a:pt x="193" y="216"/>
                    <a:pt x="315" y="235"/>
                    <a:pt x="445" y="235"/>
                  </a:cubicBezTo>
                  <a:cubicBezTo>
                    <a:pt x="576" y="235"/>
                    <a:pt x="698" y="216"/>
                    <a:pt x="806" y="183"/>
                  </a:cubicBezTo>
                  <a:moveTo>
                    <a:pt x="350" y="657"/>
                  </a:moveTo>
                  <a:cubicBezTo>
                    <a:pt x="261" y="665"/>
                    <a:pt x="162" y="683"/>
                    <a:pt x="85" y="707"/>
                  </a:cubicBezTo>
                  <a:moveTo>
                    <a:pt x="663" y="315"/>
                  </a:moveTo>
                  <a:cubicBezTo>
                    <a:pt x="635" y="132"/>
                    <a:pt x="548" y="0"/>
                    <a:pt x="445" y="0"/>
                  </a:cubicBezTo>
                  <a:cubicBezTo>
                    <a:pt x="320" y="0"/>
                    <a:pt x="218" y="199"/>
                    <a:pt x="218" y="445"/>
                  </a:cubicBezTo>
                  <a:cubicBezTo>
                    <a:pt x="218" y="691"/>
                    <a:pt x="320" y="890"/>
                    <a:pt x="445" y="890"/>
                  </a:cubicBezTo>
                  <a:moveTo>
                    <a:pt x="0" y="445"/>
                  </a:moveTo>
                  <a:cubicBezTo>
                    <a:pt x="336" y="445"/>
                    <a:pt x="336" y="445"/>
                    <a:pt x="336" y="445"/>
                  </a:cubicBezTo>
                  <a:moveTo>
                    <a:pt x="445" y="0"/>
                  </a:moveTo>
                  <a:cubicBezTo>
                    <a:pt x="445" y="371"/>
                    <a:pt x="445" y="371"/>
                    <a:pt x="445" y="371"/>
                  </a:cubicBezTo>
                  <a:moveTo>
                    <a:pt x="692" y="410"/>
                  </a:moveTo>
                  <a:cubicBezTo>
                    <a:pt x="561" y="410"/>
                    <a:pt x="455" y="517"/>
                    <a:pt x="455" y="648"/>
                  </a:cubicBezTo>
                  <a:cubicBezTo>
                    <a:pt x="455" y="779"/>
                    <a:pt x="561" y="885"/>
                    <a:pt x="692" y="885"/>
                  </a:cubicBezTo>
                  <a:cubicBezTo>
                    <a:pt x="823" y="885"/>
                    <a:pt x="929" y="779"/>
                    <a:pt x="929" y="648"/>
                  </a:cubicBezTo>
                  <a:cubicBezTo>
                    <a:pt x="929" y="517"/>
                    <a:pt x="823" y="410"/>
                    <a:pt x="692" y="410"/>
                  </a:cubicBezTo>
                  <a:close/>
                  <a:moveTo>
                    <a:pt x="860" y="815"/>
                  </a:moveTo>
                  <a:cubicBezTo>
                    <a:pt x="1048" y="1003"/>
                    <a:pt x="1048" y="1003"/>
                    <a:pt x="1048" y="1003"/>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UA" dirty="0"/>
            </a:p>
          </p:txBody>
        </p:sp>
        <p:sp>
          <p:nvSpPr>
            <p:cNvPr id="14" name="Rectangle 7">
              <a:extLst>
                <a:ext uri="{FF2B5EF4-FFF2-40B4-BE49-F238E27FC236}">
                  <a16:creationId xmlns:a16="http://schemas.microsoft.com/office/drawing/2014/main" id="{57844A8B-D7AD-491E-B931-3F511903191A}"/>
                </a:ext>
              </a:extLst>
            </p:cNvPr>
            <p:cNvSpPr>
              <a:spLocks noChangeArrowheads="1"/>
            </p:cNvSpPr>
            <p:nvPr/>
          </p:nvSpPr>
          <p:spPr bwMode="auto">
            <a:xfrm>
              <a:off x="5878375" y="5508436"/>
              <a:ext cx="92172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ctr" eaLnBrk="0" fontAlgn="base" hangingPunct="0">
                <a:spcBef>
                  <a:spcPct val="0"/>
                </a:spcBef>
                <a:spcAft>
                  <a:spcPct val="0"/>
                </a:spcAft>
              </a:pPr>
              <a:r>
                <a:rPr lang="en-US" altLang="ru-RU" sz="1600" dirty="0">
                  <a:solidFill>
                    <a:schemeClr val="tx2">
                      <a:lumMod val="75000"/>
                    </a:schemeClr>
                  </a:solidFill>
                  <a:latin typeface="Codec Pro Bold" panose="020B0604020202020204" charset="0"/>
                </a:rPr>
                <a:t>WEBSITE</a:t>
              </a:r>
              <a:endParaRPr lang="ru-RU" altLang="ru-RU" sz="1600" dirty="0">
                <a:solidFill>
                  <a:schemeClr val="tx2">
                    <a:lumMod val="75000"/>
                  </a:schemeClr>
                </a:solidFill>
                <a:latin typeface="Codec Pro Bold" panose="020B0604020202020204" charset="0"/>
              </a:endParaRPr>
            </a:p>
          </p:txBody>
        </p:sp>
        <p:sp>
          <p:nvSpPr>
            <p:cNvPr id="15" name="Text_02">
              <a:extLst>
                <a:ext uri="{FF2B5EF4-FFF2-40B4-BE49-F238E27FC236}">
                  <a16:creationId xmlns:a16="http://schemas.microsoft.com/office/drawing/2014/main" id="{4B346259-3578-43D1-BF35-0BC069BA06DC}"/>
                </a:ext>
              </a:extLst>
            </p:cNvPr>
            <p:cNvSpPr txBox="1"/>
            <p:nvPr/>
          </p:nvSpPr>
          <p:spPr>
            <a:xfrm>
              <a:off x="5893475" y="5798317"/>
              <a:ext cx="2610326" cy="310150"/>
            </a:xfrm>
            <a:prstGeom prst="rect">
              <a:avLst/>
            </a:prstGeom>
            <a:noFill/>
          </p:spPr>
          <p:txBody>
            <a:bodyPr wrap="square" rtlCol="0">
              <a:spAutoFit/>
            </a:bodyPr>
            <a:lstStyle>
              <a:defPPr>
                <a:defRPr lang="ru-RU"/>
              </a:defPPr>
              <a:lvl1pPr indent="0">
                <a:lnSpc>
                  <a:spcPct val="120000"/>
                </a:lnSpc>
                <a:buFont typeface="Arial" panose="020B0604020202020204" pitchFamily="34" charset="0"/>
                <a:buNone/>
                <a:defRPr sz="1100" kern="1600">
                  <a:solidFill>
                    <a:schemeClr val="tx1">
                      <a:lumMod val="50000"/>
                    </a:schemeClr>
                  </a:solidFill>
                  <a:latin typeface="Montserrat Light" panose="00000400000000000000" pitchFamily="50" charset="-52"/>
                </a:defRPr>
              </a:lvl1pPr>
            </a:lstStyle>
            <a:p>
              <a:pPr>
                <a:lnSpc>
                  <a:spcPts val="1895"/>
                </a:lnSpc>
              </a:pPr>
              <a:r>
                <a:rPr lang="en-US" sz="1200" dirty="0">
                  <a:solidFill>
                    <a:schemeClr val="tx2">
                      <a:lumMod val="75000"/>
                    </a:schemeClr>
                  </a:solidFill>
                  <a:latin typeface="Codec Pro"/>
                  <a:ea typeface="Codec Pro"/>
                  <a:cs typeface="Codec Pro"/>
                  <a:sym typeface="Codec Pro"/>
                </a:rPr>
                <a:t>www.virtuousinfo.com</a:t>
              </a:r>
            </a:p>
          </p:txBody>
        </p:sp>
      </p:grpSp>
      <p:grpSp>
        <p:nvGrpSpPr>
          <p:cNvPr id="21" name="Group 24">
            <a:extLst>
              <a:ext uri="{FF2B5EF4-FFF2-40B4-BE49-F238E27FC236}">
                <a16:creationId xmlns:a16="http://schemas.microsoft.com/office/drawing/2014/main" id="{EFCCC73F-B377-1F68-1CCF-958F4C4983F4}"/>
              </a:ext>
            </a:extLst>
          </p:cNvPr>
          <p:cNvGrpSpPr/>
          <p:nvPr/>
        </p:nvGrpSpPr>
        <p:grpSpPr>
          <a:xfrm>
            <a:off x="9330618" y="427877"/>
            <a:ext cx="1597109" cy="1652903"/>
            <a:chOff x="0" y="0"/>
            <a:chExt cx="3194218" cy="3305806"/>
          </a:xfrm>
        </p:grpSpPr>
        <p:sp>
          <p:nvSpPr>
            <p:cNvPr id="22" name="Freeform 25">
              <a:extLst>
                <a:ext uri="{FF2B5EF4-FFF2-40B4-BE49-F238E27FC236}">
                  <a16:creationId xmlns:a16="http://schemas.microsoft.com/office/drawing/2014/main" id="{ADD78E0E-3512-D2AB-C396-1DA31154D773}"/>
                </a:ext>
              </a:extLst>
            </p:cNvPr>
            <p:cNvSpPr/>
            <p:nvPr/>
          </p:nvSpPr>
          <p:spPr>
            <a:xfrm>
              <a:off x="0" y="0"/>
              <a:ext cx="3194217" cy="2693539"/>
            </a:xfrm>
            <a:custGeom>
              <a:avLst/>
              <a:gdLst/>
              <a:ahLst/>
              <a:cxnLst/>
              <a:rect l="l" t="t" r="r" b="b"/>
              <a:pathLst>
                <a:path w="3194217" h="2693539">
                  <a:moveTo>
                    <a:pt x="0" y="0"/>
                  </a:moveTo>
                  <a:lnTo>
                    <a:pt x="3194217" y="0"/>
                  </a:lnTo>
                  <a:lnTo>
                    <a:pt x="3194217" y="2693539"/>
                  </a:lnTo>
                  <a:lnTo>
                    <a:pt x="0" y="2693539"/>
                  </a:lnTo>
                  <a:lnTo>
                    <a:pt x="0" y="0"/>
                  </a:lnTo>
                  <a:close/>
                </a:path>
              </a:pathLst>
            </a:custGeom>
            <a:blipFill>
              <a:blip r:embed="rId2"/>
              <a:stretch>
                <a:fillRect t="-47826" b="-108579"/>
              </a:stretch>
            </a:blipFill>
          </p:spPr>
          <p:txBody>
            <a:bodyPr/>
            <a:lstStyle/>
            <a:p>
              <a:endParaRPr lang="en-IN" sz="1200"/>
            </a:p>
          </p:txBody>
        </p:sp>
        <p:sp>
          <p:nvSpPr>
            <p:cNvPr id="23" name="TextBox 26">
              <a:extLst>
                <a:ext uri="{FF2B5EF4-FFF2-40B4-BE49-F238E27FC236}">
                  <a16:creationId xmlns:a16="http://schemas.microsoft.com/office/drawing/2014/main" id="{467CC65B-F34A-D3C9-4544-93299F248AB9}"/>
                </a:ext>
              </a:extLst>
            </p:cNvPr>
            <p:cNvSpPr txBox="1"/>
            <p:nvPr/>
          </p:nvSpPr>
          <p:spPr>
            <a:xfrm>
              <a:off x="125160" y="2741164"/>
              <a:ext cx="3069058" cy="564642"/>
            </a:xfrm>
            <a:prstGeom prst="rect">
              <a:avLst/>
            </a:prstGeom>
          </p:spPr>
          <p:txBody>
            <a:bodyPr lIns="0" tIns="0" rIns="0" bIns="0" rtlCol="0" anchor="t">
              <a:spAutoFit/>
            </a:bodyPr>
            <a:lstStyle/>
            <a:p>
              <a:pPr>
                <a:lnSpc>
                  <a:spcPts val="2156"/>
                </a:lnSpc>
              </a:pPr>
              <a:r>
                <a:rPr lang="en-US" sz="2423" spc="-140" dirty="0">
                  <a:solidFill>
                    <a:srgbClr val="090A3C"/>
                  </a:solidFill>
                  <a:latin typeface="Codec Pro"/>
                  <a:ea typeface="Codec Pro"/>
                  <a:cs typeface="Codec Pro"/>
                  <a:sym typeface="Codec Pro"/>
                </a:rPr>
                <a:t>virtuous</a:t>
              </a:r>
              <a:r>
                <a:rPr lang="en-US" sz="2423" spc="-140" dirty="0">
                  <a:solidFill>
                    <a:srgbClr val="0053EB"/>
                  </a:solidFill>
                  <a:latin typeface="Codec Pro"/>
                  <a:ea typeface="Codec Pro"/>
                  <a:cs typeface="Codec Pro"/>
                  <a:sym typeface="Codec Pro"/>
                </a:rPr>
                <a:t>info</a:t>
              </a:r>
            </a:p>
          </p:txBody>
        </p:sp>
      </p:grpSp>
      <p:sp>
        <p:nvSpPr>
          <p:cNvPr id="24" name="TextBox 2">
            <a:extLst>
              <a:ext uri="{FF2B5EF4-FFF2-40B4-BE49-F238E27FC236}">
                <a16:creationId xmlns:a16="http://schemas.microsoft.com/office/drawing/2014/main" id="{7D1E2C72-0469-882D-C737-ECAFE840FA31}"/>
              </a:ext>
            </a:extLst>
          </p:cNvPr>
          <p:cNvSpPr txBox="1"/>
          <p:nvPr/>
        </p:nvSpPr>
        <p:spPr>
          <a:xfrm>
            <a:off x="725886" y="824135"/>
            <a:ext cx="6623702" cy="1128707"/>
          </a:xfrm>
          <a:prstGeom prst="rect">
            <a:avLst/>
          </a:prstGeom>
        </p:spPr>
        <p:txBody>
          <a:bodyPr lIns="0" tIns="0" rIns="0" bIns="0" rtlCol="0" anchor="t">
            <a:spAutoFit/>
          </a:bodyPr>
          <a:lstStyle/>
          <a:p>
            <a:pPr>
              <a:lnSpc>
                <a:spcPts val="10379"/>
              </a:lnSpc>
              <a:spcBef>
                <a:spcPct val="0"/>
              </a:spcBef>
            </a:pPr>
            <a:r>
              <a:rPr lang="en-US" sz="4400" b="1" dirty="0">
                <a:solidFill>
                  <a:schemeClr val="tx2">
                    <a:lumMod val="75000"/>
                  </a:schemeClr>
                </a:solidFill>
                <a:latin typeface="Codec Pro Bold"/>
                <a:sym typeface="Codec Pro Bold"/>
              </a:rPr>
              <a:t>Thank You </a:t>
            </a:r>
          </a:p>
        </p:txBody>
      </p:sp>
      <p:sp>
        <p:nvSpPr>
          <p:cNvPr id="25" name="TextBox 2">
            <a:extLst>
              <a:ext uri="{FF2B5EF4-FFF2-40B4-BE49-F238E27FC236}">
                <a16:creationId xmlns:a16="http://schemas.microsoft.com/office/drawing/2014/main" id="{A3EA3874-E803-A214-A4FE-B02AFC195D47}"/>
              </a:ext>
            </a:extLst>
          </p:cNvPr>
          <p:cNvSpPr txBox="1"/>
          <p:nvPr/>
        </p:nvSpPr>
        <p:spPr>
          <a:xfrm>
            <a:off x="433843" y="2271857"/>
            <a:ext cx="9490663" cy="1107291"/>
          </a:xfrm>
          <a:prstGeom prst="rect">
            <a:avLst/>
          </a:prstGeom>
        </p:spPr>
        <p:txBody>
          <a:bodyPr wrap="square" lIns="0" tIns="0" rIns="0" bIns="0" rtlCol="0" anchor="t">
            <a:spAutoFit/>
          </a:bodyPr>
          <a:lstStyle/>
          <a:p>
            <a:pPr>
              <a:lnSpc>
                <a:spcPts val="10379"/>
              </a:lnSpc>
              <a:spcBef>
                <a:spcPct val="0"/>
              </a:spcBef>
            </a:pPr>
            <a:r>
              <a:rPr lang="en-US" sz="3334" b="1" dirty="0">
                <a:solidFill>
                  <a:srgbClr val="2979FF"/>
                </a:solidFill>
                <a:latin typeface="Codec Pro Bold"/>
                <a:sym typeface="Codec Pro Bold"/>
              </a:rPr>
              <a:t>   </a:t>
            </a:r>
            <a:r>
              <a:rPr lang="en-US" sz="3667" b="1" dirty="0">
                <a:solidFill>
                  <a:srgbClr val="2979FF"/>
                </a:solidFill>
                <a:latin typeface="Codec Pro Bold"/>
                <a:sym typeface="Codec Pro Bold"/>
              </a:rPr>
              <a:t>Ready to Build Something Remarkable?</a:t>
            </a:r>
          </a:p>
        </p:txBody>
      </p:sp>
      <p:grpSp>
        <p:nvGrpSpPr>
          <p:cNvPr id="29" name="Group 6">
            <a:extLst>
              <a:ext uri="{FF2B5EF4-FFF2-40B4-BE49-F238E27FC236}">
                <a16:creationId xmlns:a16="http://schemas.microsoft.com/office/drawing/2014/main" id="{D6955D62-058F-550B-3BCA-93C24E7BD751}"/>
              </a:ext>
            </a:extLst>
          </p:cNvPr>
          <p:cNvGrpSpPr/>
          <p:nvPr/>
        </p:nvGrpSpPr>
        <p:grpSpPr>
          <a:xfrm>
            <a:off x="778684" y="2256321"/>
            <a:ext cx="317134" cy="317134"/>
            <a:chOff x="0" y="0"/>
            <a:chExt cx="812800" cy="812800"/>
          </a:xfrm>
        </p:grpSpPr>
        <p:sp>
          <p:nvSpPr>
            <p:cNvPr id="30" name="Freeform 7">
              <a:extLst>
                <a:ext uri="{FF2B5EF4-FFF2-40B4-BE49-F238E27FC236}">
                  <a16:creationId xmlns:a16="http://schemas.microsoft.com/office/drawing/2014/main" id="{19DCB7EA-2A43-9F56-AF35-6943D220A9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IN" sz="1200"/>
            </a:p>
          </p:txBody>
        </p:sp>
        <p:sp>
          <p:nvSpPr>
            <p:cNvPr id="31" name="TextBox 8">
              <a:extLst>
                <a:ext uri="{FF2B5EF4-FFF2-40B4-BE49-F238E27FC236}">
                  <a16:creationId xmlns:a16="http://schemas.microsoft.com/office/drawing/2014/main" id="{AA7DEAC3-D2A4-C9B1-AD76-74A9A919E77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dirty="0"/>
            </a:p>
          </p:txBody>
        </p:sp>
      </p:grpSp>
      <p:grpSp>
        <p:nvGrpSpPr>
          <p:cNvPr id="32" name="Group 9">
            <a:extLst>
              <a:ext uri="{FF2B5EF4-FFF2-40B4-BE49-F238E27FC236}">
                <a16:creationId xmlns:a16="http://schemas.microsoft.com/office/drawing/2014/main" id="{42F02C36-BC2C-E638-4FD5-1AF8BCAD89E5}"/>
              </a:ext>
            </a:extLst>
          </p:cNvPr>
          <p:cNvGrpSpPr/>
          <p:nvPr/>
        </p:nvGrpSpPr>
        <p:grpSpPr>
          <a:xfrm>
            <a:off x="1519718" y="2257670"/>
            <a:ext cx="317134" cy="317134"/>
            <a:chOff x="0" y="0"/>
            <a:chExt cx="812800" cy="812800"/>
          </a:xfrm>
        </p:grpSpPr>
        <p:sp>
          <p:nvSpPr>
            <p:cNvPr id="33" name="Freeform 10">
              <a:extLst>
                <a:ext uri="{FF2B5EF4-FFF2-40B4-BE49-F238E27FC236}">
                  <a16:creationId xmlns:a16="http://schemas.microsoft.com/office/drawing/2014/main" id="{492240D0-66C0-565B-0E37-E9B5D66094F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IN" sz="1200"/>
            </a:p>
          </p:txBody>
        </p:sp>
        <p:sp>
          <p:nvSpPr>
            <p:cNvPr id="34" name="TextBox 11">
              <a:extLst>
                <a:ext uri="{FF2B5EF4-FFF2-40B4-BE49-F238E27FC236}">
                  <a16:creationId xmlns:a16="http://schemas.microsoft.com/office/drawing/2014/main" id="{06F55A18-FFA4-F694-9C41-92B00D3130A0}"/>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35" name="Group 12">
            <a:extLst>
              <a:ext uri="{FF2B5EF4-FFF2-40B4-BE49-F238E27FC236}">
                <a16:creationId xmlns:a16="http://schemas.microsoft.com/office/drawing/2014/main" id="{C7CEF595-1ED7-73D6-FDC3-16E1B20AB8F2}"/>
              </a:ext>
            </a:extLst>
          </p:cNvPr>
          <p:cNvGrpSpPr/>
          <p:nvPr/>
        </p:nvGrpSpPr>
        <p:grpSpPr>
          <a:xfrm>
            <a:off x="1148594" y="2256321"/>
            <a:ext cx="317134" cy="317134"/>
            <a:chOff x="0" y="0"/>
            <a:chExt cx="812800" cy="812800"/>
          </a:xfrm>
        </p:grpSpPr>
        <p:sp>
          <p:nvSpPr>
            <p:cNvPr id="36" name="Freeform 13">
              <a:extLst>
                <a:ext uri="{FF2B5EF4-FFF2-40B4-BE49-F238E27FC236}">
                  <a16:creationId xmlns:a16="http://schemas.microsoft.com/office/drawing/2014/main" id="{07D022AE-58BC-3D73-02DE-8E48DE70A4E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IN" sz="1200"/>
            </a:p>
          </p:txBody>
        </p:sp>
        <p:sp>
          <p:nvSpPr>
            <p:cNvPr id="37" name="TextBox 14">
              <a:extLst>
                <a:ext uri="{FF2B5EF4-FFF2-40B4-BE49-F238E27FC236}">
                  <a16:creationId xmlns:a16="http://schemas.microsoft.com/office/drawing/2014/main" id="{3D8604D4-A6A0-29F2-AB67-B37B2C6C65B0}"/>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54" name="Group 53">
            <a:extLst>
              <a:ext uri="{FF2B5EF4-FFF2-40B4-BE49-F238E27FC236}">
                <a16:creationId xmlns:a16="http://schemas.microsoft.com/office/drawing/2014/main" id="{96ABC9FA-031C-D8D3-18EB-4ED9A93E176C}"/>
              </a:ext>
            </a:extLst>
          </p:cNvPr>
          <p:cNvGrpSpPr/>
          <p:nvPr/>
        </p:nvGrpSpPr>
        <p:grpSpPr>
          <a:xfrm>
            <a:off x="9194800" y="5517868"/>
            <a:ext cx="3098089" cy="602830"/>
            <a:chOff x="9621597" y="5582048"/>
            <a:chExt cx="2610326" cy="602830"/>
          </a:xfrm>
        </p:grpSpPr>
        <p:sp>
          <p:nvSpPr>
            <p:cNvPr id="56" name="Rectangle 7">
              <a:extLst>
                <a:ext uri="{FF2B5EF4-FFF2-40B4-BE49-F238E27FC236}">
                  <a16:creationId xmlns:a16="http://schemas.microsoft.com/office/drawing/2014/main" id="{4F8B8B31-8074-17A7-B2C2-6BF7F47B3F75}"/>
                </a:ext>
              </a:extLst>
            </p:cNvPr>
            <p:cNvSpPr>
              <a:spLocks noChangeArrowheads="1"/>
            </p:cNvSpPr>
            <p:nvPr/>
          </p:nvSpPr>
          <p:spPr bwMode="auto">
            <a:xfrm>
              <a:off x="9770396" y="5582048"/>
              <a:ext cx="59562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algn="ctr" eaLnBrk="0" fontAlgn="base" hangingPunct="0">
                <a:spcBef>
                  <a:spcPct val="0"/>
                </a:spcBef>
                <a:spcAft>
                  <a:spcPct val="0"/>
                </a:spcAft>
              </a:pPr>
              <a:r>
                <a:rPr lang="en-US" altLang="ru-RU" sz="1600" b="1" dirty="0">
                  <a:solidFill>
                    <a:schemeClr val="tx2">
                      <a:lumMod val="75000"/>
                    </a:schemeClr>
                  </a:solidFill>
                  <a:latin typeface="Codec Pro Bold" panose="020B0604020202020204" charset="0"/>
                </a:rPr>
                <a:t>E-MAIL</a:t>
              </a:r>
              <a:endParaRPr lang="ru-RU" altLang="ru-RU" sz="1600" b="1" dirty="0">
                <a:solidFill>
                  <a:schemeClr val="tx2">
                    <a:lumMod val="75000"/>
                  </a:schemeClr>
                </a:solidFill>
                <a:latin typeface="Codec Pro Bold" panose="020B0604020202020204" charset="0"/>
              </a:endParaRPr>
            </a:p>
          </p:txBody>
        </p:sp>
        <p:sp>
          <p:nvSpPr>
            <p:cNvPr id="57" name="Text_02">
              <a:extLst>
                <a:ext uri="{FF2B5EF4-FFF2-40B4-BE49-F238E27FC236}">
                  <a16:creationId xmlns:a16="http://schemas.microsoft.com/office/drawing/2014/main" id="{FF42F435-F62F-EECC-1BA2-BEFF95B34748}"/>
                </a:ext>
              </a:extLst>
            </p:cNvPr>
            <p:cNvSpPr txBox="1"/>
            <p:nvPr/>
          </p:nvSpPr>
          <p:spPr>
            <a:xfrm>
              <a:off x="9621597" y="5886911"/>
              <a:ext cx="2610326" cy="297967"/>
            </a:xfrm>
            <a:prstGeom prst="rect">
              <a:avLst/>
            </a:prstGeom>
            <a:noFill/>
          </p:spPr>
          <p:txBody>
            <a:bodyPr wrap="square" rtlCol="0">
              <a:spAutoFit/>
            </a:bodyPr>
            <a:lstStyle>
              <a:defPPr>
                <a:defRPr lang="ru-RU"/>
              </a:defPPr>
              <a:lvl1pPr indent="0">
                <a:lnSpc>
                  <a:spcPct val="120000"/>
                </a:lnSpc>
                <a:buFont typeface="Arial" panose="020B0604020202020204" pitchFamily="34" charset="0"/>
                <a:buNone/>
                <a:defRPr sz="1100" kern="1600">
                  <a:solidFill>
                    <a:schemeClr val="bg2"/>
                  </a:solidFill>
                </a:defRPr>
              </a:lvl1pPr>
            </a:lstStyle>
            <a:p>
              <a:r>
                <a:rPr lang="en-US" sz="1200" dirty="0">
                  <a:solidFill>
                    <a:schemeClr val="tx2">
                      <a:lumMod val="75000"/>
                    </a:schemeClr>
                  </a:solidFill>
                  <a:latin typeface="Codec Pro"/>
                  <a:ea typeface="Codec Pro"/>
                  <a:cs typeface="Codec Pro"/>
                  <a:sym typeface="Codec Pro"/>
                </a:rPr>
                <a:t>    info@virtuousinfo.com</a:t>
              </a:r>
              <a:endParaRPr lang="en-IN" sz="1200" dirty="0"/>
            </a:p>
          </p:txBody>
        </p:sp>
      </p:grpSp>
      <p:sp>
        <p:nvSpPr>
          <p:cNvPr id="59" name="Freeform 104">
            <a:extLst>
              <a:ext uri="{FF2B5EF4-FFF2-40B4-BE49-F238E27FC236}">
                <a16:creationId xmlns:a16="http://schemas.microsoft.com/office/drawing/2014/main" id="{B690C444-0227-AAE2-5A4D-D3DDF182103E}"/>
              </a:ext>
            </a:extLst>
          </p:cNvPr>
          <p:cNvSpPr>
            <a:spLocks noEditPoints="1"/>
          </p:cNvSpPr>
          <p:nvPr/>
        </p:nvSpPr>
        <p:spPr bwMode="auto">
          <a:xfrm>
            <a:off x="8819384" y="5668779"/>
            <a:ext cx="420833" cy="393443"/>
          </a:xfrm>
          <a:custGeom>
            <a:avLst/>
            <a:gdLst>
              <a:gd name="T0" fmla="*/ 511 w 716"/>
              <a:gd name="T1" fmla="*/ 358 h 716"/>
              <a:gd name="T2" fmla="*/ 358 w 716"/>
              <a:gd name="T3" fmla="*/ 511 h 716"/>
              <a:gd name="T4" fmla="*/ 205 w 716"/>
              <a:gd name="T5" fmla="*/ 358 h 716"/>
              <a:gd name="T6" fmla="*/ 358 w 716"/>
              <a:gd name="T7" fmla="*/ 205 h 716"/>
              <a:gd name="T8" fmla="*/ 511 w 716"/>
              <a:gd name="T9" fmla="*/ 358 h 716"/>
              <a:gd name="T10" fmla="*/ 511 w 716"/>
              <a:gd name="T11" fmla="*/ 358 h 716"/>
              <a:gd name="T12" fmla="*/ 613 w 716"/>
              <a:gd name="T13" fmla="*/ 460 h 716"/>
              <a:gd name="T14" fmla="*/ 716 w 716"/>
              <a:gd name="T15" fmla="*/ 358 h 716"/>
              <a:gd name="T16" fmla="*/ 358 w 716"/>
              <a:gd name="T17" fmla="*/ 0 h 716"/>
              <a:gd name="T18" fmla="*/ 0 w 716"/>
              <a:gd name="T19" fmla="*/ 358 h 716"/>
              <a:gd name="T20" fmla="*/ 358 w 716"/>
              <a:gd name="T21" fmla="*/ 716 h 7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16" h="716">
                <a:moveTo>
                  <a:pt x="511" y="358"/>
                </a:moveTo>
                <a:cubicBezTo>
                  <a:pt x="511" y="442"/>
                  <a:pt x="442" y="511"/>
                  <a:pt x="358" y="511"/>
                </a:cubicBezTo>
                <a:cubicBezTo>
                  <a:pt x="274" y="511"/>
                  <a:pt x="205" y="442"/>
                  <a:pt x="205" y="358"/>
                </a:cubicBezTo>
                <a:cubicBezTo>
                  <a:pt x="205" y="274"/>
                  <a:pt x="274" y="205"/>
                  <a:pt x="358" y="205"/>
                </a:cubicBezTo>
                <a:cubicBezTo>
                  <a:pt x="442" y="205"/>
                  <a:pt x="511" y="274"/>
                  <a:pt x="511" y="358"/>
                </a:cubicBezTo>
                <a:close/>
                <a:moveTo>
                  <a:pt x="511" y="358"/>
                </a:moveTo>
                <a:cubicBezTo>
                  <a:pt x="511" y="414"/>
                  <a:pt x="557" y="460"/>
                  <a:pt x="613" y="460"/>
                </a:cubicBezTo>
                <a:cubicBezTo>
                  <a:pt x="670" y="460"/>
                  <a:pt x="716" y="414"/>
                  <a:pt x="716" y="358"/>
                </a:cubicBezTo>
                <a:cubicBezTo>
                  <a:pt x="716" y="160"/>
                  <a:pt x="555" y="0"/>
                  <a:pt x="358" y="0"/>
                </a:cubicBezTo>
                <a:cubicBezTo>
                  <a:pt x="160" y="0"/>
                  <a:pt x="0" y="160"/>
                  <a:pt x="0" y="358"/>
                </a:cubicBezTo>
                <a:cubicBezTo>
                  <a:pt x="0" y="555"/>
                  <a:pt x="160" y="716"/>
                  <a:pt x="358" y="716"/>
                </a:cubicBezTo>
              </a:path>
            </a:pathLst>
          </a:custGeom>
          <a:noFill/>
          <a:ln w="28575" cap="rnd">
            <a:solidFill>
              <a:schemeClr val="tx2">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60960" tIns="30480" rIns="60960" bIns="30480" numCol="1" anchor="t" anchorCtr="0" compatLnSpc="1">
            <a:prstTxWarp prst="textNoShape">
              <a:avLst/>
            </a:prstTxWarp>
          </a:bodyPr>
          <a:lstStyle/>
          <a:p>
            <a:endParaRPr lang="ru-UA" sz="1200"/>
          </a:p>
        </p:txBody>
      </p:sp>
      <p:sp>
        <p:nvSpPr>
          <p:cNvPr id="3" name="AutoShape 2">
            <a:extLst>
              <a:ext uri="{FF2B5EF4-FFF2-40B4-BE49-F238E27FC236}">
                <a16:creationId xmlns:a16="http://schemas.microsoft.com/office/drawing/2014/main" id="{BF7A0CC4-8404-F366-B9CE-90D6CDD81679}"/>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5" name="TextBox 7">
            <a:extLst>
              <a:ext uri="{FF2B5EF4-FFF2-40B4-BE49-F238E27FC236}">
                <a16:creationId xmlns:a16="http://schemas.microsoft.com/office/drawing/2014/main" id="{EEF493C9-C376-C65B-0242-D526035F3247}"/>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7" name="TextBox 9">
            <a:extLst>
              <a:ext uri="{FF2B5EF4-FFF2-40B4-BE49-F238E27FC236}">
                <a16:creationId xmlns:a16="http://schemas.microsoft.com/office/drawing/2014/main" id="{A2C9A64F-2660-F64B-058E-8E21F1C3E60D}"/>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Tree>
    <p:extLst>
      <p:ext uri="{BB962C8B-B14F-4D97-AF65-F5344CB8AC3E}">
        <p14:creationId xmlns:p14="http://schemas.microsoft.com/office/powerpoint/2010/main" val="667957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25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2" presetClass="entr" presetSubtype="4" decel="100000" fill="hold" nodeType="withEffect">
                                  <p:stCondLst>
                                    <p:cond delay="50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1000" fill="hold"/>
                                        <p:tgtEl>
                                          <p:spTgt spid="2"/>
                                        </p:tgtEl>
                                        <p:attrNameLst>
                                          <p:attrName>ppt_x</p:attrName>
                                        </p:attrNameLst>
                                      </p:cBhvr>
                                      <p:tavLst>
                                        <p:tav tm="0">
                                          <p:val>
                                            <p:strVal val="#ppt_x"/>
                                          </p:val>
                                        </p:tav>
                                        <p:tav tm="100000">
                                          <p:val>
                                            <p:strVal val="#ppt_x"/>
                                          </p:val>
                                        </p:tav>
                                      </p:tavLst>
                                    </p:anim>
                                    <p:anim calcmode="lin" valueType="num">
                                      <p:cBhvr additive="base">
                                        <p:cTn id="14" dur="1000" fill="hold"/>
                                        <p:tgtEl>
                                          <p:spTgt spid="2"/>
                                        </p:tgtEl>
                                        <p:attrNameLst>
                                          <p:attrName>ppt_y</p:attrName>
                                        </p:attrNameLst>
                                      </p:cBhvr>
                                      <p:tavLst>
                                        <p:tav tm="0">
                                          <p:val>
                                            <p:strVal val="1+#ppt_h/2"/>
                                          </p:val>
                                        </p:tav>
                                        <p:tav tm="100000">
                                          <p:val>
                                            <p:strVal val="#ppt_y"/>
                                          </p:val>
                                        </p:tav>
                                      </p:tavLst>
                                    </p:anim>
                                  </p:childTnLst>
                                </p:cTn>
                              </p:par>
                              <p:par>
                                <p:cTn id="15" presetID="2" presetClass="entr" presetSubtype="4" decel="100000" fill="hold" nodeType="withEffect">
                                  <p:stCondLst>
                                    <p:cond delay="750"/>
                                  </p:stCondLst>
                                  <p:childTnLst>
                                    <p:set>
                                      <p:cBhvr>
                                        <p:cTn id="16" dur="1" fill="hold">
                                          <p:stCondLst>
                                            <p:cond delay="0"/>
                                          </p:stCondLst>
                                        </p:cTn>
                                        <p:tgtEl>
                                          <p:spTgt spid="18"/>
                                        </p:tgtEl>
                                        <p:attrNameLst>
                                          <p:attrName>style.visibility</p:attrName>
                                        </p:attrNameLst>
                                      </p:cBhvr>
                                      <p:to>
                                        <p:strVal val="visible"/>
                                      </p:to>
                                    </p:set>
                                    <p:anim calcmode="lin" valueType="num">
                                      <p:cBhvr additive="base">
                                        <p:cTn id="17" dur="1000" fill="hold"/>
                                        <p:tgtEl>
                                          <p:spTgt spid="18"/>
                                        </p:tgtEl>
                                        <p:attrNameLst>
                                          <p:attrName>ppt_x</p:attrName>
                                        </p:attrNameLst>
                                      </p:cBhvr>
                                      <p:tavLst>
                                        <p:tav tm="0">
                                          <p:val>
                                            <p:strVal val="#ppt_x"/>
                                          </p:val>
                                        </p:tav>
                                        <p:tav tm="100000">
                                          <p:val>
                                            <p:strVal val="#ppt_x"/>
                                          </p:val>
                                        </p:tav>
                                      </p:tavLst>
                                    </p:anim>
                                    <p:anim calcmode="lin" valueType="num">
                                      <p:cBhvr additive="base">
                                        <p:cTn id="18" dur="1000" fill="hold"/>
                                        <p:tgtEl>
                                          <p:spTgt spid="18"/>
                                        </p:tgtEl>
                                        <p:attrNameLst>
                                          <p:attrName>ppt_y</p:attrName>
                                        </p:attrNameLst>
                                      </p:cBhvr>
                                      <p:tavLst>
                                        <p:tav tm="0">
                                          <p:val>
                                            <p:strVal val="1+#ppt_h/2"/>
                                          </p:val>
                                        </p:tav>
                                        <p:tav tm="100000">
                                          <p:val>
                                            <p:strVal val="#ppt_y"/>
                                          </p:val>
                                        </p:tav>
                                      </p:tavLst>
                                    </p:anim>
                                  </p:childTnLst>
                                </p:cTn>
                              </p:par>
                              <p:par>
                                <p:cTn id="19" presetID="2" presetClass="entr" presetSubtype="4" decel="100000" fill="hold" nodeType="withEffect">
                                  <p:stCondLst>
                                    <p:cond delay="1000"/>
                                  </p:stCondLst>
                                  <p:childTnLst>
                                    <p:set>
                                      <p:cBhvr>
                                        <p:cTn id="20" dur="1" fill="hold">
                                          <p:stCondLst>
                                            <p:cond delay="0"/>
                                          </p:stCondLst>
                                        </p:cTn>
                                        <p:tgtEl>
                                          <p:spTgt spid="54"/>
                                        </p:tgtEl>
                                        <p:attrNameLst>
                                          <p:attrName>style.visibility</p:attrName>
                                        </p:attrNameLst>
                                      </p:cBhvr>
                                      <p:to>
                                        <p:strVal val="visible"/>
                                      </p:to>
                                    </p:set>
                                    <p:anim calcmode="lin" valueType="num">
                                      <p:cBhvr additive="base">
                                        <p:cTn id="21" dur="1000" fill="hold"/>
                                        <p:tgtEl>
                                          <p:spTgt spid="54"/>
                                        </p:tgtEl>
                                        <p:attrNameLst>
                                          <p:attrName>ppt_x</p:attrName>
                                        </p:attrNameLst>
                                      </p:cBhvr>
                                      <p:tavLst>
                                        <p:tav tm="0">
                                          <p:val>
                                            <p:strVal val="#ppt_x"/>
                                          </p:val>
                                        </p:tav>
                                        <p:tav tm="100000">
                                          <p:val>
                                            <p:strVal val="#ppt_x"/>
                                          </p:val>
                                        </p:tav>
                                      </p:tavLst>
                                    </p:anim>
                                    <p:anim calcmode="lin" valueType="num">
                                      <p:cBhvr additive="base">
                                        <p:cTn id="22" dur="1000" fill="hold"/>
                                        <p:tgtEl>
                                          <p:spTgt spid="54"/>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1000"/>
                                  </p:stCondLst>
                                  <p:childTnLst>
                                    <p:set>
                                      <p:cBhvr>
                                        <p:cTn id="24" dur="1" fill="hold">
                                          <p:stCondLst>
                                            <p:cond delay="0"/>
                                          </p:stCondLst>
                                        </p:cTn>
                                        <p:tgtEl>
                                          <p:spTgt spid="59"/>
                                        </p:tgtEl>
                                        <p:attrNameLst>
                                          <p:attrName>style.visibility</p:attrName>
                                        </p:attrNameLst>
                                      </p:cBhvr>
                                      <p:to>
                                        <p:strVal val="visible"/>
                                      </p:to>
                                    </p:set>
                                    <p:anim calcmode="lin" valueType="num">
                                      <p:cBhvr additive="base">
                                        <p:cTn id="25" dur="1000" fill="hold"/>
                                        <p:tgtEl>
                                          <p:spTgt spid="59"/>
                                        </p:tgtEl>
                                        <p:attrNameLst>
                                          <p:attrName>ppt_x</p:attrName>
                                        </p:attrNameLst>
                                      </p:cBhvr>
                                      <p:tavLst>
                                        <p:tav tm="0">
                                          <p:val>
                                            <p:strVal val="#ppt_x"/>
                                          </p:val>
                                        </p:tav>
                                        <p:tav tm="100000">
                                          <p:val>
                                            <p:strVal val="#ppt_x"/>
                                          </p:val>
                                        </p:tav>
                                      </p:tavLst>
                                    </p:anim>
                                    <p:anim calcmode="lin" valueType="num">
                                      <p:cBhvr additive="base">
                                        <p:cTn id="26" dur="10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59"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A6BC-0913-7B73-B831-2110231278E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0ECEFB-BA56-5B49-BBAE-2583CA3829C9}"/>
              </a:ext>
            </a:extLst>
          </p:cNvPr>
          <p:cNvGrpSpPr/>
          <p:nvPr/>
        </p:nvGrpSpPr>
        <p:grpSpPr>
          <a:xfrm>
            <a:off x="10142683" y="5566065"/>
            <a:ext cx="229316" cy="229316"/>
            <a:chOff x="0" y="0"/>
            <a:chExt cx="812800" cy="812800"/>
          </a:xfrm>
        </p:grpSpPr>
        <p:sp>
          <p:nvSpPr>
            <p:cNvPr id="3" name="Freeform 3">
              <a:extLst>
                <a:ext uri="{FF2B5EF4-FFF2-40B4-BE49-F238E27FC236}">
                  <a16:creationId xmlns:a16="http://schemas.microsoft.com/office/drawing/2014/main" id="{41081BDB-4CAF-0E43-F507-460E58F567E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4" name="TextBox 4">
              <a:extLst>
                <a:ext uri="{FF2B5EF4-FFF2-40B4-BE49-F238E27FC236}">
                  <a16:creationId xmlns:a16="http://schemas.microsoft.com/office/drawing/2014/main" id="{58838F3A-B69E-7D40-0167-6BE3FBD59D4F}"/>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5" name="Group 5">
            <a:extLst>
              <a:ext uri="{FF2B5EF4-FFF2-40B4-BE49-F238E27FC236}">
                <a16:creationId xmlns:a16="http://schemas.microsoft.com/office/drawing/2014/main" id="{50E9582E-7303-FD20-28DA-04391C38B693}"/>
              </a:ext>
            </a:extLst>
          </p:cNvPr>
          <p:cNvGrpSpPr/>
          <p:nvPr/>
        </p:nvGrpSpPr>
        <p:grpSpPr>
          <a:xfrm>
            <a:off x="10396683" y="5566065"/>
            <a:ext cx="229316" cy="229316"/>
            <a:chOff x="0" y="0"/>
            <a:chExt cx="812800" cy="812800"/>
          </a:xfrm>
        </p:grpSpPr>
        <p:sp>
          <p:nvSpPr>
            <p:cNvPr id="6" name="Freeform 6">
              <a:extLst>
                <a:ext uri="{FF2B5EF4-FFF2-40B4-BE49-F238E27FC236}">
                  <a16:creationId xmlns:a16="http://schemas.microsoft.com/office/drawing/2014/main" id="{6A86BD37-10CA-57E8-3049-02617B363C2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90A3C"/>
            </a:solidFill>
          </p:spPr>
          <p:txBody>
            <a:bodyPr/>
            <a:lstStyle/>
            <a:p>
              <a:endParaRPr lang="en-US" sz="1200"/>
            </a:p>
          </p:txBody>
        </p:sp>
        <p:sp>
          <p:nvSpPr>
            <p:cNvPr id="7" name="TextBox 7">
              <a:extLst>
                <a:ext uri="{FF2B5EF4-FFF2-40B4-BE49-F238E27FC236}">
                  <a16:creationId xmlns:a16="http://schemas.microsoft.com/office/drawing/2014/main" id="{1DBFF012-007D-6B63-8F98-8BB9D3B798D2}"/>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8" name="Group 8">
            <a:extLst>
              <a:ext uri="{FF2B5EF4-FFF2-40B4-BE49-F238E27FC236}">
                <a16:creationId xmlns:a16="http://schemas.microsoft.com/office/drawing/2014/main" id="{ACD7BB71-E85A-51BF-F42F-CDD5BFCB750E}"/>
              </a:ext>
            </a:extLst>
          </p:cNvPr>
          <p:cNvGrpSpPr/>
          <p:nvPr/>
        </p:nvGrpSpPr>
        <p:grpSpPr>
          <a:xfrm>
            <a:off x="10650683" y="5566065"/>
            <a:ext cx="229316" cy="229316"/>
            <a:chOff x="0" y="0"/>
            <a:chExt cx="812800" cy="812800"/>
          </a:xfrm>
        </p:grpSpPr>
        <p:sp>
          <p:nvSpPr>
            <p:cNvPr id="9" name="Freeform 9">
              <a:extLst>
                <a:ext uri="{FF2B5EF4-FFF2-40B4-BE49-F238E27FC236}">
                  <a16:creationId xmlns:a16="http://schemas.microsoft.com/office/drawing/2014/main" id="{8DAF7E88-29F5-2293-9BF6-EA0E587B57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979FF"/>
            </a:solidFill>
          </p:spPr>
          <p:txBody>
            <a:bodyPr/>
            <a:lstStyle/>
            <a:p>
              <a:endParaRPr lang="en-US" sz="1200"/>
            </a:p>
          </p:txBody>
        </p:sp>
        <p:sp>
          <p:nvSpPr>
            <p:cNvPr id="10" name="TextBox 10">
              <a:extLst>
                <a:ext uri="{FF2B5EF4-FFF2-40B4-BE49-F238E27FC236}">
                  <a16:creationId xmlns:a16="http://schemas.microsoft.com/office/drawing/2014/main" id="{248B5896-E649-48AD-8CF0-F6F3A78EB8E8}"/>
                </a:ext>
              </a:extLst>
            </p:cNvPr>
            <p:cNvSpPr txBox="1"/>
            <p:nvPr/>
          </p:nvSpPr>
          <p:spPr>
            <a:xfrm>
              <a:off x="76200" y="9525"/>
              <a:ext cx="660400" cy="727075"/>
            </a:xfrm>
            <a:prstGeom prst="rect">
              <a:avLst/>
            </a:prstGeom>
          </p:spPr>
          <p:txBody>
            <a:bodyPr lIns="33867" tIns="33867" rIns="33867" bIns="33867" rtlCol="0" anchor="ctr"/>
            <a:lstStyle/>
            <a:p>
              <a:pPr algn="ctr">
                <a:lnSpc>
                  <a:spcPts val="1773"/>
                </a:lnSpc>
              </a:pPr>
              <a:endParaRPr sz="1200"/>
            </a:p>
          </p:txBody>
        </p:sp>
      </p:grpSp>
      <p:grpSp>
        <p:nvGrpSpPr>
          <p:cNvPr id="17" name="Group 17">
            <a:extLst>
              <a:ext uri="{FF2B5EF4-FFF2-40B4-BE49-F238E27FC236}">
                <a16:creationId xmlns:a16="http://schemas.microsoft.com/office/drawing/2014/main" id="{AC404242-7845-9ADF-0F1E-41081AA7FABE}"/>
              </a:ext>
            </a:extLst>
          </p:cNvPr>
          <p:cNvGrpSpPr/>
          <p:nvPr/>
        </p:nvGrpSpPr>
        <p:grpSpPr>
          <a:xfrm>
            <a:off x="9099427" y="916663"/>
            <a:ext cx="1924173" cy="1991191"/>
            <a:chOff x="0" y="0"/>
            <a:chExt cx="3848347" cy="3982382"/>
          </a:xfrm>
        </p:grpSpPr>
        <p:sp>
          <p:nvSpPr>
            <p:cNvPr id="18" name="Freeform 18">
              <a:extLst>
                <a:ext uri="{FF2B5EF4-FFF2-40B4-BE49-F238E27FC236}">
                  <a16:creationId xmlns:a16="http://schemas.microsoft.com/office/drawing/2014/main" id="{35DCBBF4-4079-FBF6-63D5-27116D531707}"/>
                </a:ext>
              </a:extLst>
            </p:cNvPr>
            <p:cNvSpPr/>
            <p:nvPr/>
          </p:nvSpPr>
          <p:spPr>
            <a:xfrm>
              <a:off x="0" y="0"/>
              <a:ext cx="3848347" cy="3245137"/>
            </a:xfrm>
            <a:custGeom>
              <a:avLst/>
              <a:gdLst/>
              <a:ahLst/>
              <a:cxnLst/>
              <a:rect l="l" t="t" r="r" b="b"/>
              <a:pathLst>
                <a:path w="3848347" h="3245137">
                  <a:moveTo>
                    <a:pt x="0" y="0"/>
                  </a:moveTo>
                  <a:lnTo>
                    <a:pt x="3848347" y="0"/>
                  </a:lnTo>
                  <a:lnTo>
                    <a:pt x="3848347" y="3245137"/>
                  </a:lnTo>
                  <a:lnTo>
                    <a:pt x="0" y="3245137"/>
                  </a:lnTo>
                  <a:lnTo>
                    <a:pt x="0" y="0"/>
                  </a:lnTo>
                  <a:close/>
                </a:path>
              </a:pathLst>
            </a:custGeom>
            <a:blipFill>
              <a:blip r:embed="rId2"/>
              <a:stretch>
                <a:fillRect t="-47826" b="-108579"/>
              </a:stretch>
            </a:blipFill>
          </p:spPr>
          <p:txBody>
            <a:bodyPr/>
            <a:lstStyle/>
            <a:p>
              <a:endParaRPr lang="en-US" sz="1200"/>
            </a:p>
          </p:txBody>
        </p:sp>
        <p:sp>
          <p:nvSpPr>
            <p:cNvPr id="19" name="TextBox 19">
              <a:extLst>
                <a:ext uri="{FF2B5EF4-FFF2-40B4-BE49-F238E27FC236}">
                  <a16:creationId xmlns:a16="http://schemas.microsoft.com/office/drawing/2014/main" id="{1D6F23AB-68F0-E09D-58CD-9356D805C6A0}"/>
                </a:ext>
              </a:extLst>
            </p:cNvPr>
            <p:cNvSpPr txBox="1"/>
            <p:nvPr/>
          </p:nvSpPr>
          <p:spPr>
            <a:xfrm>
              <a:off x="150790" y="3311812"/>
              <a:ext cx="3697557" cy="670570"/>
            </a:xfrm>
            <a:prstGeom prst="rect">
              <a:avLst/>
            </a:prstGeom>
          </p:spPr>
          <p:txBody>
            <a:bodyPr lIns="0" tIns="0" rIns="0" bIns="0" rtlCol="0" anchor="t">
              <a:spAutoFit/>
            </a:bodyPr>
            <a:lstStyle/>
            <a:p>
              <a:pPr>
                <a:lnSpc>
                  <a:spcPts val="2598"/>
                </a:lnSpc>
              </a:pPr>
              <a:r>
                <a:rPr lang="en-US" sz="2919" spc="-169" dirty="0">
                  <a:solidFill>
                    <a:srgbClr val="090A3C"/>
                  </a:solidFill>
                  <a:latin typeface="Codec Pro"/>
                  <a:ea typeface="Codec Pro"/>
                  <a:cs typeface="Codec Pro"/>
                  <a:sym typeface="Codec Pro"/>
                </a:rPr>
                <a:t>virtuous</a:t>
              </a:r>
              <a:r>
                <a:rPr lang="en-US" sz="2919" spc="-169" dirty="0">
                  <a:solidFill>
                    <a:srgbClr val="0053EB"/>
                  </a:solidFill>
                  <a:latin typeface="Codec Pro"/>
                  <a:ea typeface="Codec Pro"/>
                  <a:cs typeface="Codec Pro"/>
                  <a:sym typeface="Codec Pro"/>
                </a:rPr>
                <a:t>info</a:t>
              </a:r>
            </a:p>
          </p:txBody>
        </p:sp>
      </p:grpSp>
      <p:sp>
        <p:nvSpPr>
          <p:cNvPr id="13" name="TextBox 19">
            <a:extLst>
              <a:ext uri="{FF2B5EF4-FFF2-40B4-BE49-F238E27FC236}">
                <a16:creationId xmlns:a16="http://schemas.microsoft.com/office/drawing/2014/main" id="{ECC65705-A424-AA59-4882-ACAE30C71077}"/>
              </a:ext>
            </a:extLst>
          </p:cNvPr>
          <p:cNvSpPr txBox="1"/>
          <p:nvPr/>
        </p:nvSpPr>
        <p:spPr>
          <a:xfrm>
            <a:off x="758537" y="5254067"/>
            <a:ext cx="10001216" cy="677365"/>
          </a:xfrm>
          <a:prstGeom prst="rect">
            <a:avLst/>
          </a:prstGeom>
        </p:spPr>
        <p:txBody>
          <a:bodyPr wrap="square" lIns="0" tIns="0" rIns="0" bIns="0" rtlCol="0" anchor="t">
            <a:spAutoFit/>
          </a:bodyPr>
          <a:lstStyle/>
          <a:p>
            <a:pPr algn="just">
              <a:lnSpc>
                <a:spcPts val="1680"/>
              </a:lnSpc>
              <a:spcBef>
                <a:spcPct val="0"/>
              </a:spcBef>
            </a:pPr>
            <a:r>
              <a:rPr lang="en-US" sz="1600" b="1" dirty="0">
                <a:solidFill>
                  <a:schemeClr val="tx2">
                    <a:lumMod val="75000"/>
                  </a:schemeClr>
                </a:solidFill>
                <a:latin typeface="Codec Pro" panose="020B0604020202020204" charset="0"/>
                <a:sym typeface="Codec Pro"/>
              </a:rPr>
              <a:t>Turning Business Challenges into</a:t>
            </a:r>
          </a:p>
          <a:p>
            <a:pPr algn="just">
              <a:lnSpc>
                <a:spcPts val="1680"/>
              </a:lnSpc>
              <a:spcBef>
                <a:spcPct val="0"/>
              </a:spcBef>
            </a:pPr>
            <a:endParaRPr lang="en-US" sz="1600" b="1" dirty="0">
              <a:solidFill>
                <a:srgbClr val="0066FF"/>
              </a:solidFill>
              <a:latin typeface="Codec Pro" panose="020B0604020202020204" charset="0"/>
              <a:sym typeface="Codec Pro"/>
            </a:endParaRPr>
          </a:p>
          <a:p>
            <a:pPr algn="just">
              <a:lnSpc>
                <a:spcPts val="1680"/>
              </a:lnSpc>
              <a:spcBef>
                <a:spcPct val="0"/>
              </a:spcBef>
            </a:pPr>
            <a:r>
              <a:rPr lang="en-US" sz="1600" b="1" dirty="0">
                <a:solidFill>
                  <a:srgbClr val="0066FF"/>
                </a:solidFill>
                <a:latin typeface="Codec Pro" panose="020B0604020202020204" charset="0"/>
                <a:sym typeface="Codec Pro"/>
              </a:rPr>
              <a:t>Intelligent Solutions</a:t>
            </a:r>
          </a:p>
        </p:txBody>
      </p:sp>
      <p:sp>
        <p:nvSpPr>
          <p:cNvPr id="11" name="AutoShape 2">
            <a:extLst>
              <a:ext uri="{FF2B5EF4-FFF2-40B4-BE49-F238E27FC236}">
                <a16:creationId xmlns:a16="http://schemas.microsoft.com/office/drawing/2014/main" id="{99EC1018-1B39-A559-57E7-2B2804A18B96}"/>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a:p>
        </p:txBody>
      </p:sp>
      <p:sp>
        <p:nvSpPr>
          <p:cNvPr id="16" name="TextBox 7">
            <a:extLst>
              <a:ext uri="{FF2B5EF4-FFF2-40B4-BE49-F238E27FC236}">
                <a16:creationId xmlns:a16="http://schemas.microsoft.com/office/drawing/2014/main" id="{CE15EF05-3916-5C02-DEFF-3BF4B3414B22}"/>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21" name="TextBox 9">
            <a:extLst>
              <a:ext uri="{FF2B5EF4-FFF2-40B4-BE49-F238E27FC236}">
                <a16:creationId xmlns:a16="http://schemas.microsoft.com/office/drawing/2014/main" id="{E123174E-DFF9-054E-3EE5-B1E9F245BD72}"/>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sp>
        <p:nvSpPr>
          <p:cNvPr id="23" name="Text 3">
            <a:extLst>
              <a:ext uri="{FF2B5EF4-FFF2-40B4-BE49-F238E27FC236}">
                <a16:creationId xmlns:a16="http://schemas.microsoft.com/office/drawing/2014/main" id="{164163DA-E130-30E5-81DC-E40E2972D16E}"/>
              </a:ext>
            </a:extLst>
          </p:cNvPr>
          <p:cNvSpPr txBox="1"/>
          <p:nvPr/>
        </p:nvSpPr>
        <p:spPr>
          <a:xfrm>
            <a:off x="638003" y="2726574"/>
            <a:ext cx="7772400" cy="731520"/>
          </a:xfrm>
          <a:prstGeom prst="rect">
            <a:avLst/>
          </a:prstGeom>
          <a:noFill/>
          <a:ln/>
        </p:spPr>
        <p:txBody>
          <a:bodyPr wrap="square" lIns="0" tIns="0" rIns="0" bIns="0" rtlCol="0" anchor="ctr"/>
          <a:lstStyle/>
          <a:p>
            <a:pPr marL="0" indent="0">
              <a:buNone/>
            </a:pPr>
            <a:r>
              <a:rPr lang="en-US" sz="3400" b="1" dirty="0">
                <a:solidFill>
                  <a:srgbClr val="002060"/>
                </a:solidFill>
                <a:latin typeface="Codec Pro" panose="020B0604020202020204" charset="0"/>
                <a:ea typeface="Calibri" pitchFamily="34" charset="-122"/>
                <a:cs typeface="Calibri" pitchFamily="34" charset="-120"/>
              </a:rPr>
              <a:t>Team Profiles</a:t>
            </a:r>
          </a:p>
        </p:txBody>
      </p:sp>
    </p:spTree>
    <p:extLst>
      <p:ext uri="{BB962C8B-B14F-4D97-AF65-F5344CB8AC3E}">
        <p14:creationId xmlns:p14="http://schemas.microsoft.com/office/powerpoint/2010/main" val="10090344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34B97-B5BE-9857-C90F-4F1788B84360}"/>
            </a:ext>
          </a:extLst>
        </p:cNvPr>
        <p:cNvGrpSpPr/>
        <p:nvPr/>
      </p:nvGrpSpPr>
      <p:grpSpPr>
        <a:xfrm>
          <a:off x="0" y="0"/>
          <a:ext cx="0" cy="0"/>
          <a:chOff x="0" y="0"/>
          <a:chExt cx="0" cy="0"/>
        </a:xfrm>
      </p:grpSpPr>
      <p:sp>
        <p:nvSpPr>
          <p:cNvPr id="16" name="TextBox 16">
            <a:extLst>
              <a:ext uri="{FF2B5EF4-FFF2-40B4-BE49-F238E27FC236}">
                <a16:creationId xmlns:a16="http://schemas.microsoft.com/office/drawing/2014/main" id="{FA58336D-0ABB-7DB6-5631-3790FFB62A92}"/>
              </a:ext>
            </a:extLst>
          </p:cNvPr>
          <p:cNvSpPr txBox="1"/>
          <p:nvPr/>
        </p:nvSpPr>
        <p:spPr>
          <a:xfrm>
            <a:off x="564095" y="238168"/>
            <a:ext cx="7772883" cy="726033"/>
          </a:xfrm>
          <a:prstGeom prst="rect">
            <a:avLst/>
          </a:prstGeom>
        </p:spPr>
        <p:txBody>
          <a:bodyPr wrap="square" lIns="0" tIns="0" rIns="0" bIns="0" rtlCol="0" anchor="t">
            <a:spAutoFit/>
          </a:bodyPr>
          <a:lstStyle/>
          <a:p>
            <a:pPr>
              <a:lnSpc>
                <a:spcPts val="5973"/>
              </a:lnSpc>
              <a:spcBef>
                <a:spcPct val="0"/>
              </a:spcBef>
            </a:pPr>
            <a:r>
              <a:rPr lang="en-US" sz="4400" b="1" dirty="0">
                <a:solidFill>
                  <a:schemeClr val="tx2">
                    <a:lumMod val="75000"/>
                  </a:schemeClr>
                </a:solidFill>
                <a:latin typeface="Codec Pro Bold"/>
                <a:ea typeface="Codec Pro Bold"/>
                <a:cs typeface="Codec Pro Bold"/>
                <a:sym typeface="Codec Pro Bold"/>
              </a:rPr>
              <a:t>Harish Prakasam</a:t>
            </a:r>
          </a:p>
        </p:txBody>
      </p:sp>
      <p:sp>
        <p:nvSpPr>
          <p:cNvPr id="3" name="AutoShape 2">
            <a:extLst>
              <a:ext uri="{FF2B5EF4-FFF2-40B4-BE49-F238E27FC236}">
                <a16:creationId xmlns:a16="http://schemas.microsoft.com/office/drawing/2014/main" id="{0EB4454B-E403-D4F0-F95F-F2C026CD3C23}"/>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dirty="0"/>
          </a:p>
        </p:txBody>
      </p:sp>
      <p:sp>
        <p:nvSpPr>
          <p:cNvPr id="4" name="TextBox 7">
            <a:extLst>
              <a:ext uri="{FF2B5EF4-FFF2-40B4-BE49-F238E27FC236}">
                <a16:creationId xmlns:a16="http://schemas.microsoft.com/office/drawing/2014/main" id="{08541EAC-9847-4F6F-F697-E532FF840A66}"/>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2" name="TextBox 9">
            <a:extLst>
              <a:ext uri="{FF2B5EF4-FFF2-40B4-BE49-F238E27FC236}">
                <a16:creationId xmlns:a16="http://schemas.microsoft.com/office/drawing/2014/main" id="{0D65E499-F002-9226-3B39-C3C024129924}"/>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grpSp>
        <p:nvGrpSpPr>
          <p:cNvPr id="14" name="Group 21">
            <a:extLst>
              <a:ext uri="{FF2B5EF4-FFF2-40B4-BE49-F238E27FC236}">
                <a16:creationId xmlns:a16="http://schemas.microsoft.com/office/drawing/2014/main" id="{31514E95-A59A-A29C-FEC8-4EEC6A4ED2D3}"/>
              </a:ext>
            </a:extLst>
          </p:cNvPr>
          <p:cNvGrpSpPr/>
          <p:nvPr/>
        </p:nvGrpSpPr>
        <p:grpSpPr>
          <a:xfrm>
            <a:off x="11074400" y="210121"/>
            <a:ext cx="868640" cy="895898"/>
            <a:chOff x="0" y="0"/>
            <a:chExt cx="1737281" cy="1791796"/>
          </a:xfrm>
        </p:grpSpPr>
        <p:sp>
          <p:nvSpPr>
            <p:cNvPr id="28" name="Freeform 22">
              <a:extLst>
                <a:ext uri="{FF2B5EF4-FFF2-40B4-BE49-F238E27FC236}">
                  <a16:creationId xmlns:a16="http://schemas.microsoft.com/office/drawing/2014/main" id="{21291EFD-5090-EEEF-4C78-847B704B1B5D}"/>
                </a:ext>
              </a:extLst>
            </p:cNvPr>
            <p:cNvSpPr/>
            <p:nvPr/>
          </p:nvSpPr>
          <p:spPr>
            <a:xfrm>
              <a:off x="0" y="0"/>
              <a:ext cx="1737281" cy="1464970"/>
            </a:xfrm>
            <a:custGeom>
              <a:avLst/>
              <a:gdLst/>
              <a:ahLst/>
              <a:cxnLst/>
              <a:rect l="l" t="t" r="r" b="b"/>
              <a:pathLst>
                <a:path w="1737281" h="1464970">
                  <a:moveTo>
                    <a:pt x="0" y="0"/>
                  </a:moveTo>
                  <a:lnTo>
                    <a:pt x="1737281" y="0"/>
                  </a:lnTo>
                  <a:lnTo>
                    <a:pt x="1737281" y="1464970"/>
                  </a:lnTo>
                  <a:lnTo>
                    <a:pt x="0" y="1464970"/>
                  </a:lnTo>
                  <a:lnTo>
                    <a:pt x="0" y="0"/>
                  </a:lnTo>
                  <a:close/>
                </a:path>
              </a:pathLst>
            </a:custGeom>
            <a:blipFill>
              <a:blip r:embed="rId3"/>
              <a:stretch>
                <a:fillRect t="-47826" b="-108579"/>
              </a:stretch>
            </a:blipFill>
          </p:spPr>
          <p:txBody>
            <a:bodyPr/>
            <a:lstStyle/>
            <a:p>
              <a:endParaRPr lang="en-US" sz="1200"/>
            </a:p>
          </p:txBody>
        </p:sp>
        <p:sp>
          <p:nvSpPr>
            <p:cNvPr id="29" name="TextBox 23">
              <a:extLst>
                <a:ext uri="{FF2B5EF4-FFF2-40B4-BE49-F238E27FC236}">
                  <a16:creationId xmlns:a16="http://schemas.microsoft.com/office/drawing/2014/main" id="{AFF2541A-F6C2-DE04-1A17-BC1077715BF6}"/>
                </a:ext>
              </a:extLst>
            </p:cNvPr>
            <p:cNvSpPr txBox="1"/>
            <p:nvPr/>
          </p:nvSpPr>
          <p:spPr>
            <a:xfrm>
              <a:off x="68072" y="1484020"/>
              <a:ext cx="1669209" cy="307776"/>
            </a:xfrm>
            <a:prstGeom prst="rect">
              <a:avLst/>
            </a:prstGeom>
          </p:spPr>
          <p:txBody>
            <a:bodyPr lIns="0" tIns="0" rIns="0" bIns="0" rtlCol="0" anchor="t">
              <a:spAutoFit/>
            </a:bodyPr>
            <a:lstStyle/>
            <a:p>
              <a:pPr>
                <a:lnSpc>
                  <a:spcPts val="1173"/>
                </a:lnSpc>
              </a:pPr>
              <a:r>
                <a:rPr lang="en-US" sz="1317" spc="-76" dirty="0">
                  <a:solidFill>
                    <a:srgbClr val="090A3C"/>
                  </a:solidFill>
                  <a:latin typeface="Codec Pro"/>
                  <a:ea typeface="Codec Pro"/>
                  <a:cs typeface="Codec Pro"/>
                  <a:sym typeface="Codec Pro"/>
                </a:rPr>
                <a:t>virtuous</a:t>
              </a:r>
              <a:r>
                <a:rPr lang="en-US" sz="1317" spc="-76" dirty="0">
                  <a:solidFill>
                    <a:srgbClr val="0053EB"/>
                  </a:solidFill>
                  <a:latin typeface="Codec Pro"/>
                  <a:ea typeface="Codec Pro"/>
                  <a:cs typeface="Codec Pro"/>
                  <a:sym typeface="Codec Pro"/>
                </a:rPr>
                <a:t>info</a:t>
              </a:r>
            </a:p>
          </p:txBody>
        </p:sp>
      </p:grpSp>
      <p:sp>
        <p:nvSpPr>
          <p:cNvPr id="9" name="TextBox 8">
            <a:extLst>
              <a:ext uri="{FF2B5EF4-FFF2-40B4-BE49-F238E27FC236}">
                <a16:creationId xmlns:a16="http://schemas.microsoft.com/office/drawing/2014/main" id="{76E998F6-D6CA-4853-4138-78FF5181F7FD}"/>
              </a:ext>
            </a:extLst>
          </p:cNvPr>
          <p:cNvSpPr txBox="1"/>
          <p:nvPr/>
        </p:nvSpPr>
        <p:spPr>
          <a:xfrm>
            <a:off x="509227" y="872363"/>
            <a:ext cx="9144000" cy="320040"/>
          </a:xfrm>
          <a:prstGeom prst="rect">
            <a:avLst/>
          </a:prstGeom>
          <a:noFill/>
        </p:spPr>
        <p:txBody>
          <a:bodyPr wrap="square">
            <a:spAutoFit/>
          </a:bodyPr>
          <a:lstStyle/>
          <a:p>
            <a:pPr>
              <a:defRPr sz="1400" b="1">
                <a:solidFill>
                  <a:srgbClr val="EF4924"/>
                </a:solidFill>
              </a:defRPr>
            </a:pPr>
            <a:r>
              <a:rPr dirty="0">
                <a:solidFill>
                  <a:srgbClr val="0066FF"/>
                </a:solidFill>
              </a:rPr>
              <a:t>Solution Architect | IT Infrastructure &amp; Cybersecurity</a:t>
            </a:r>
          </a:p>
        </p:txBody>
      </p:sp>
      <p:sp>
        <p:nvSpPr>
          <p:cNvPr id="11" name="TextBox 10">
            <a:extLst>
              <a:ext uri="{FF2B5EF4-FFF2-40B4-BE49-F238E27FC236}">
                <a16:creationId xmlns:a16="http://schemas.microsoft.com/office/drawing/2014/main" id="{CECCB228-E141-C817-2170-83B461EDEA9C}"/>
              </a:ext>
            </a:extLst>
          </p:cNvPr>
          <p:cNvSpPr txBox="1"/>
          <p:nvPr/>
        </p:nvSpPr>
        <p:spPr>
          <a:xfrm>
            <a:off x="365760" y="1280160"/>
            <a:ext cx="3727559" cy="338554"/>
          </a:xfrm>
          <a:prstGeom prst="rect">
            <a:avLst/>
          </a:prstGeom>
          <a:noFill/>
        </p:spPr>
        <p:txBody>
          <a:bodyPr wrap="none">
            <a:spAutoFit/>
          </a:bodyPr>
          <a:lstStyle/>
          <a:p>
            <a:pPr>
              <a:defRPr sz="1200" b="1">
                <a:solidFill>
                  <a:srgbClr val="EF4924"/>
                </a:solidFill>
              </a:defRPr>
            </a:pPr>
            <a:r>
              <a:rPr sz="1600" dirty="0">
                <a:solidFill>
                  <a:srgbClr val="011E5E"/>
                </a:solidFill>
              </a:rPr>
              <a:t>PROFESSIONAL SUMMARY &amp; EXPERIENCE</a:t>
            </a:r>
          </a:p>
        </p:txBody>
      </p:sp>
      <p:sp>
        <p:nvSpPr>
          <p:cNvPr id="31" name="TextBox 30">
            <a:extLst>
              <a:ext uri="{FF2B5EF4-FFF2-40B4-BE49-F238E27FC236}">
                <a16:creationId xmlns:a16="http://schemas.microsoft.com/office/drawing/2014/main" id="{1E4EC76E-7F82-95FF-EC43-4796C3C862F3}"/>
              </a:ext>
            </a:extLst>
          </p:cNvPr>
          <p:cNvSpPr txBox="1"/>
          <p:nvPr/>
        </p:nvSpPr>
        <p:spPr>
          <a:xfrm>
            <a:off x="365760" y="1600200"/>
            <a:ext cx="11430000" cy="1677575"/>
          </a:xfrm>
          <a:prstGeom prst="rect">
            <a:avLst/>
          </a:prstGeom>
          <a:noFill/>
        </p:spPr>
        <p:txBody>
          <a:bodyPr wrap="square" anchor="t">
            <a:spAutoFit/>
          </a:bodyPr>
          <a:lstStyle/>
          <a:p>
            <a:pPr algn="just">
              <a:lnSpc>
                <a:spcPct val="120000"/>
              </a:lnSpc>
              <a:spcAft>
                <a:spcPts val="400"/>
              </a:spcAft>
              <a:defRPr sz="1000">
                <a:solidFill>
                  <a:srgbClr val="404040"/>
                </a:solidFill>
              </a:defRPr>
            </a:pPr>
            <a:r>
              <a:rPr sz="1400" dirty="0"/>
              <a:t>Senior infrastructure architect with 25+ years of expertise in IT infrastructure, cybersecurity, and enterprise solutions. Recognized for architecting enterprise-grade solutions spanning endpoint security, network infrastructure, cloud platforms, identity systems, and data protection. </a:t>
            </a:r>
          </a:p>
          <a:p>
            <a:pPr algn="just">
              <a:lnSpc>
                <a:spcPct val="120000"/>
              </a:lnSpc>
              <a:spcAft>
                <a:spcPts val="400"/>
              </a:spcAft>
            </a:pPr>
            <a:r>
              <a:rPr sz="1400" dirty="0"/>
              <a:t>Led enterprise-wide cybersecurity initiatives covering architecture design, delivery operations (24x7 SOC), incident response, and compliance programs. Spearheaded transformation initiatives including data </a:t>
            </a:r>
            <a:r>
              <a:rPr sz="1400" dirty="0" err="1"/>
              <a:t>centre</a:t>
            </a:r>
            <a:r>
              <a:rPr sz="1400" dirty="0"/>
              <a:t> modernization, infrastructure consolidation (200+ servers, 60% footprint reduction), and secure cloud adoption strategies. Proven track record in management, team scaling (150+ engineers), and driving 40%+ revenue growth through strategic partnerships.</a:t>
            </a:r>
          </a:p>
        </p:txBody>
      </p:sp>
      <p:sp>
        <p:nvSpPr>
          <p:cNvPr id="33" name="TextBox 32">
            <a:extLst>
              <a:ext uri="{FF2B5EF4-FFF2-40B4-BE49-F238E27FC236}">
                <a16:creationId xmlns:a16="http://schemas.microsoft.com/office/drawing/2014/main" id="{4A997FF7-481E-13FE-CCD8-BC009ABE0761}"/>
              </a:ext>
            </a:extLst>
          </p:cNvPr>
          <p:cNvSpPr txBox="1"/>
          <p:nvPr/>
        </p:nvSpPr>
        <p:spPr>
          <a:xfrm>
            <a:off x="365760" y="3289019"/>
            <a:ext cx="2353273" cy="338554"/>
          </a:xfrm>
          <a:prstGeom prst="rect">
            <a:avLst/>
          </a:prstGeom>
          <a:noFill/>
        </p:spPr>
        <p:txBody>
          <a:bodyPr wrap="none">
            <a:spAutoFit/>
          </a:bodyPr>
          <a:lstStyle/>
          <a:p>
            <a:pPr>
              <a:defRPr sz="1100" b="1">
                <a:solidFill>
                  <a:srgbClr val="EF4924"/>
                </a:solidFill>
              </a:defRPr>
            </a:pPr>
            <a:r>
              <a:rPr sz="1600" dirty="0">
                <a:solidFill>
                  <a:srgbClr val="011E5E"/>
                </a:solidFill>
              </a:rPr>
              <a:t>CORE SKILLS &amp; EXPERTISE</a:t>
            </a:r>
          </a:p>
        </p:txBody>
      </p:sp>
      <p:sp>
        <p:nvSpPr>
          <p:cNvPr id="38" name="TextBox 37">
            <a:extLst>
              <a:ext uri="{FF2B5EF4-FFF2-40B4-BE49-F238E27FC236}">
                <a16:creationId xmlns:a16="http://schemas.microsoft.com/office/drawing/2014/main" id="{10871C28-AEAD-B44A-ACD6-B9A006CA26E7}"/>
              </a:ext>
            </a:extLst>
          </p:cNvPr>
          <p:cNvSpPr txBox="1"/>
          <p:nvPr/>
        </p:nvSpPr>
        <p:spPr>
          <a:xfrm>
            <a:off x="365760" y="3640157"/>
            <a:ext cx="5669280" cy="2784801"/>
          </a:xfrm>
          <a:prstGeom prst="rect">
            <a:avLst/>
          </a:prstGeom>
          <a:noFill/>
        </p:spPr>
        <p:txBody>
          <a:bodyPr wrap="square" anchor="t">
            <a:spAutoFit/>
          </a:bodyPr>
          <a:lstStyle/>
          <a:p>
            <a:pPr>
              <a:lnSpc>
                <a:spcPct val="115000"/>
              </a:lnSpc>
              <a:spcAft>
                <a:spcPts val="200"/>
              </a:spcAft>
              <a:defRPr sz="900">
                <a:solidFill>
                  <a:srgbClr val="404040"/>
                </a:solidFill>
              </a:defRPr>
            </a:pPr>
            <a:r>
              <a:rPr sz="1400" dirty="0"/>
              <a:t>✓ Enterprise Infrastructure Architecture</a:t>
            </a:r>
          </a:p>
          <a:p>
            <a:pPr>
              <a:lnSpc>
                <a:spcPct val="115000"/>
              </a:lnSpc>
              <a:spcAft>
                <a:spcPts val="200"/>
              </a:spcAft>
              <a:defRPr sz="900">
                <a:solidFill>
                  <a:srgbClr val="404040"/>
                </a:solidFill>
              </a:defRPr>
            </a:pPr>
            <a:r>
              <a:rPr sz="1400" dirty="0"/>
              <a:t>✓ Data Centre Design &amp; Consolidation</a:t>
            </a:r>
          </a:p>
          <a:p>
            <a:pPr>
              <a:lnSpc>
                <a:spcPct val="115000"/>
              </a:lnSpc>
              <a:spcAft>
                <a:spcPts val="200"/>
              </a:spcAft>
              <a:defRPr sz="900">
                <a:solidFill>
                  <a:srgbClr val="404040"/>
                </a:solidFill>
              </a:defRPr>
            </a:pPr>
            <a:r>
              <a:rPr sz="1400" dirty="0"/>
              <a:t>✓ Cloud &amp; Hybrid Architecture (Multi-cloud)</a:t>
            </a:r>
          </a:p>
          <a:p>
            <a:pPr>
              <a:lnSpc>
                <a:spcPct val="115000"/>
              </a:lnSpc>
              <a:spcAft>
                <a:spcPts val="200"/>
              </a:spcAft>
              <a:defRPr sz="900">
                <a:solidFill>
                  <a:srgbClr val="404040"/>
                </a:solidFill>
              </a:defRPr>
            </a:pPr>
            <a:r>
              <a:rPr sz="1400" dirty="0"/>
              <a:t>✓ Cybersecurity Strategy &amp; Implementation</a:t>
            </a:r>
          </a:p>
          <a:p>
            <a:pPr>
              <a:lnSpc>
                <a:spcPct val="115000"/>
              </a:lnSpc>
              <a:spcAft>
                <a:spcPts val="200"/>
              </a:spcAft>
              <a:defRPr sz="900">
                <a:solidFill>
                  <a:srgbClr val="404040"/>
                </a:solidFill>
              </a:defRPr>
            </a:pPr>
            <a:r>
              <a:rPr sz="1400" dirty="0"/>
              <a:t>✓ Active Directory &amp; Identity Management</a:t>
            </a:r>
          </a:p>
          <a:p>
            <a:pPr>
              <a:lnSpc>
                <a:spcPct val="115000"/>
              </a:lnSpc>
              <a:spcAft>
                <a:spcPts val="200"/>
              </a:spcAft>
              <a:defRPr sz="900">
                <a:solidFill>
                  <a:srgbClr val="404040"/>
                </a:solidFill>
              </a:defRPr>
            </a:pPr>
            <a:r>
              <a:rPr sz="1400" dirty="0"/>
              <a:t>✓ Virtualization (VMware, Hyper-V)</a:t>
            </a:r>
          </a:p>
          <a:p>
            <a:pPr>
              <a:lnSpc>
                <a:spcPct val="115000"/>
              </a:lnSpc>
              <a:spcAft>
                <a:spcPts val="200"/>
              </a:spcAft>
              <a:defRPr sz="900">
                <a:solidFill>
                  <a:srgbClr val="404040"/>
                </a:solidFill>
              </a:defRPr>
            </a:pPr>
            <a:r>
              <a:rPr sz="1400" dirty="0"/>
              <a:t>✓ Backup &amp; Disaster Recovery </a:t>
            </a:r>
            <a:endParaRPr lang="en-GB" sz="1400" dirty="0"/>
          </a:p>
          <a:p>
            <a:pPr>
              <a:lnSpc>
                <a:spcPct val="115000"/>
              </a:lnSpc>
              <a:spcAft>
                <a:spcPts val="200"/>
              </a:spcAft>
              <a:defRPr sz="900">
                <a:solidFill>
                  <a:srgbClr val="404040"/>
                </a:solidFill>
              </a:defRPr>
            </a:pPr>
            <a:r>
              <a:rPr sz="1400" dirty="0"/>
              <a:t>✓ Compliance &amp; Risk Management </a:t>
            </a:r>
            <a:endParaRPr lang="en-GB" sz="1400" dirty="0"/>
          </a:p>
          <a:p>
            <a:pPr>
              <a:lnSpc>
                <a:spcPct val="115000"/>
              </a:lnSpc>
              <a:spcAft>
                <a:spcPts val="200"/>
              </a:spcAft>
              <a:defRPr sz="900">
                <a:solidFill>
                  <a:srgbClr val="404040"/>
                </a:solidFill>
              </a:defRPr>
            </a:pPr>
            <a:r>
              <a:rPr sz="1400" dirty="0"/>
              <a:t>✓ Server Infrastructure &amp; Networking</a:t>
            </a:r>
          </a:p>
          <a:p>
            <a:pPr>
              <a:lnSpc>
                <a:spcPct val="115000"/>
              </a:lnSpc>
              <a:spcAft>
                <a:spcPts val="200"/>
              </a:spcAft>
              <a:defRPr sz="900">
                <a:solidFill>
                  <a:srgbClr val="404040"/>
                </a:solidFill>
              </a:defRPr>
            </a:pPr>
            <a:r>
              <a:rPr sz="1400" dirty="0"/>
              <a:t>✓ Enterprise Team Leadership &amp; P&amp;L</a:t>
            </a:r>
          </a:p>
        </p:txBody>
      </p:sp>
      <p:sp>
        <p:nvSpPr>
          <p:cNvPr id="41" name="TextBox 40">
            <a:extLst>
              <a:ext uri="{FF2B5EF4-FFF2-40B4-BE49-F238E27FC236}">
                <a16:creationId xmlns:a16="http://schemas.microsoft.com/office/drawing/2014/main" id="{E39172D3-62E7-473F-7FBA-6B29051531AB}"/>
              </a:ext>
            </a:extLst>
          </p:cNvPr>
          <p:cNvSpPr txBox="1"/>
          <p:nvPr/>
        </p:nvSpPr>
        <p:spPr>
          <a:xfrm>
            <a:off x="6141229" y="3333640"/>
            <a:ext cx="2221442" cy="338554"/>
          </a:xfrm>
          <a:prstGeom prst="rect">
            <a:avLst/>
          </a:prstGeom>
          <a:noFill/>
        </p:spPr>
        <p:txBody>
          <a:bodyPr wrap="none">
            <a:spAutoFit/>
          </a:bodyPr>
          <a:lstStyle/>
          <a:p>
            <a:pPr>
              <a:defRPr sz="1100" b="1">
                <a:solidFill>
                  <a:srgbClr val="EF4924"/>
                </a:solidFill>
              </a:defRPr>
            </a:pPr>
            <a:r>
              <a:rPr sz="1600" b="1" dirty="0">
                <a:solidFill>
                  <a:srgbClr val="011E5E"/>
                </a:solidFill>
              </a:rPr>
              <a:t>O365 &amp; GWS EXPERTISE</a:t>
            </a:r>
          </a:p>
        </p:txBody>
      </p:sp>
      <p:sp>
        <p:nvSpPr>
          <p:cNvPr id="43" name="TextBox 42">
            <a:extLst>
              <a:ext uri="{FF2B5EF4-FFF2-40B4-BE49-F238E27FC236}">
                <a16:creationId xmlns:a16="http://schemas.microsoft.com/office/drawing/2014/main" id="{449DE775-B0A9-D919-E7E2-6A3E458CB42E}"/>
              </a:ext>
            </a:extLst>
          </p:cNvPr>
          <p:cNvSpPr txBox="1"/>
          <p:nvPr/>
        </p:nvSpPr>
        <p:spPr>
          <a:xfrm>
            <a:off x="6156962" y="3640371"/>
            <a:ext cx="5577840" cy="2784801"/>
          </a:xfrm>
          <a:prstGeom prst="rect">
            <a:avLst/>
          </a:prstGeom>
          <a:noFill/>
        </p:spPr>
        <p:txBody>
          <a:bodyPr wrap="square" anchor="t">
            <a:spAutoFit/>
          </a:bodyPr>
          <a:lstStyle/>
          <a:p>
            <a:pPr>
              <a:lnSpc>
                <a:spcPct val="115000"/>
              </a:lnSpc>
              <a:spcAft>
                <a:spcPts val="200"/>
              </a:spcAft>
              <a:defRPr sz="900">
                <a:solidFill>
                  <a:srgbClr val="404040"/>
                </a:solidFill>
              </a:defRPr>
            </a:pPr>
            <a:r>
              <a:rPr sz="1400" dirty="0"/>
              <a:t>✓ Enterprise Solution Design (O365 &amp; GWS)</a:t>
            </a:r>
          </a:p>
          <a:p>
            <a:pPr>
              <a:lnSpc>
                <a:spcPct val="115000"/>
              </a:lnSpc>
              <a:spcAft>
                <a:spcPts val="200"/>
              </a:spcAft>
              <a:defRPr sz="900">
                <a:solidFill>
                  <a:srgbClr val="404040"/>
                </a:solidFill>
              </a:defRPr>
            </a:pPr>
            <a:r>
              <a:rPr sz="1400" dirty="0"/>
              <a:t>✓ On-Prem Exchange to O365 (Hybrid Setup)</a:t>
            </a:r>
          </a:p>
          <a:p>
            <a:pPr>
              <a:lnSpc>
                <a:spcPct val="115000"/>
              </a:lnSpc>
              <a:spcAft>
                <a:spcPts val="200"/>
              </a:spcAft>
              <a:defRPr sz="900">
                <a:solidFill>
                  <a:srgbClr val="404040"/>
                </a:solidFill>
              </a:defRPr>
            </a:pPr>
            <a:r>
              <a:rPr sz="1400" dirty="0"/>
              <a:t>✓ On-Prem to Google Workspace Strategy</a:t>
            </a:r>
          </a:p>
          <a:p>
            <a:pPr>
              <a:lnSpc>
                <a:spcPct val="115000"/>
              </a:lnSpc>
              <a:spcAft>
                <a:spcPts val="200"/>
              </a:spcAft>
              <a:defRPr sz="900">
                <a:solidFill>
                  <a:srgbClr val="404040"/>
                </a:solidFill>
              </a:defRPr>
            </a:pPr>
            <a:r>
              <a:rPr sz="1400" dirty="0"/>
              <a:t>✓ AD to Entra ID Integration &amp; Migration</a:t>
            </a:r>
          </a:p>
          <a:p>
            <a:pPr>
              <a:lnSpc>
                <a:spcPct val="115000"/>
              </a:lnSpc>
              <a:spcAft>
                <a:spcPts val="200"/>
              </a:spcAft>
              <a:defRPr sz="900">
                <a:solidFill>
                  <a:srgbClr val="404040"/>
                </a:solidFill>
              </a:defRPr>
            </a:pPr>
            <a:r>
              <a:rPr sz="1400" dirty="0"/>
              <a:t>✓ Hybrid Coexistence Architecture</a:t>
            </a:r>
          </a:p>
          <a:p>
            <a:pPr>
              <a:lnSpc>
                <a:spcPct val="115000"/>
              </a:lnSpc>
              <a:spcAft>
                <a:spcPts val="200"/>
              </a:spcAft>
              <a:defRPr sz="900">
                <a:solidFill>
                  <a:srgbClr val="404040"/>
                </a:solidFill>
              </a:defRPr>
            </a:pPr>
            <a:r>
              <a:rPr sz="1400" dirty="0"/>
              <a:t>✓ Cloud Adoption Roadmap &amp; Planning</a:t>
            </a:r>
          </a:p>
          <a:p>
            <a:pPr>
              <a:lnSpc>
                <a:spcPct val="115000"/>
              </a:lnSpc>
              <a:spcAft>
                <a:spcPts val="200"/>
              </a:spcAft>
              <a:defRPr sz="900">
                <a:solidFill>
                  <a:srgbClr val="404040"/>
                </a:solidFill>
              </a:defRPr>
            </a:pPr>
            <a:r>
              <a:rPr sz="1400" dirty="0"/>
              <a:t>✓ Multi-Cloud Identity Platforms</a:t>
            </a:r>
          </a:p>
          <a:p>
            <a:pPr>
              <a:lnSpc>
                <a:spcPct val="115000"/>
              </a:lnSpc>
              <a:spcAft>
                <a:spcPts val="200"/>
              </a:spcAft>
              <a:defRPr sz="900">
                <a:solidFill>
                  <a:srgbClr val="404040"/>
                </a:solidFill>
              </a:defRPr>
            </a:pPr>
            <a:r>
              <a:rPr sz="1400" dirty="0"/>
              <a:t>✓ Email Security &amp; Compliance (O365/GWS)</a:t>
            </a:r>
          </a:p>
          <a:p>
            <a:pPr>
              <a:lnSpc>
                <a:spcPct val="115000"/>
              </a:lnSpc>
              <a:spcAft>
                <a:spcPts val="200"/>
              </a:spcAft>
              <a:defRPr sz="900">
                <a:solidFill>
                  <a:srgbClr val="404040"/>
                </a:solidFill>
              </a:defRPr>
            </a:pPr>
            <a:r>
              <a:rPr sz="1400" dirty="0"/>
              <a:t>✓ Migration Planning &amp; Governance</a:t>
            </a:r>
          </a:p>
          <a:p>
            <a:pPr>
              <a:lnSpc>
                <a:spcPct val="115000"/>
              </a:lnSpc>
              <a:spcAft>
                <a:spcPts val="200"/>
              </a:spcAft>
              <a:defRPr sz="900">
                <a:solidFill>
                  <a:srgbClr val="404040"/>
                </a:solidFill>
              </a:defRPr>
            </a:pPr>
            <a:r>
              <a:rPr sz="1400" dirty="0"/>
              <a:t>✓ Enterprise Transformation Programs</a:t>
            </a:r>
          </a:p>
        </p:txBody>
      </p:sp>
    </p:spTree>
    <p:extLst>
      <p:ext uri="{BB962C8B-B14F-4D97-AF65-F5344CB8AC3E}">
        <p14:creationId xmlns:p14="http://schemas.microsoft.com/office/powerpoint/2010/main" val="2349765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D5D774-3741-74AC-9B01-C42AF20B63D2}"/>
            </a:ext>
          </a:extLst>
        </p:cNvPr>
        <p:cNvGrpSpPr/>
        <p:nvPr/>
      </p:nvGrpSpPr>
      <p:grpSpPr>
        <a:xfrm>
          <a:off x="0" y="0"/>
          <a:ext cx="0" cy="0"/>
          <a:chOff x="0" y="0"/>
          <a:chExt cx="0" cy="0"/>
        </a:xfrm>
      </p:grpSpPr>
      <p:sp>
        <p:nvSpPr>
          <p:cNvPr id="16" name="TextBox 16">
            <a:extLst>
              <a:ext uri="{FF2B5EF4-FFF2-40B4-BE49-F238E27FC236}">
                <a16:creationId xmlns:a16="http://schemas.microsoft.com/office/drawing/2014/main" id="{521A5673-E702-44DD-FC62-4EDD48434C53}"/>
              </a:ext>
            </a:extLst>
          </p:cNvPr>
          <p:cNvSpPr txBox="1"/>
          <p:nvPr/>
        </p:nvSpPr>
        <p:spPr>
          <a:xfrm>
            <a:off x="564095" y="238168"/>
            <a:ext cx="7772883" cy="726033"/>
          </a:xfrm>
          <a:prstGeom prst="rect">
            <a:avLst/>
          </a:prstGeom>
        </p:spPr>
        <p:txBody>
          <a:bodyPr wrap="square" lIns="0" tIns="0" rIns="0" bIns="0" rtlCol="0" anchor="t">
            <a:spAutoFit/>
          </a:bodyPr>
          <a:lstStyle/>
          <a:p>
            <a:pPr>
              <a:lnSpc>
                <a:spcPts val="5973"/>
              </a:lnSpc>
              <a:spcBef>
                <a:spcPct val="0"/>
              </a:spcBef>
            </a:pPr>
            <a:r>
              <a:rPr lang="en-US" sz="4400" b="1" dirty="0">
                <a:solidFill>
                  <a:schemeClr val="tx2">
                    <a:lumMod val="75000"/>
                  </a:schemeClr>
                </a:solidFill>
                <a:latin typeface="Codec Pro Bold"/>
                <a:ea typeface="Codec Pro Bold"/>
                <a:cs typeface="Codec Pro Bold"/>
                <a:sym typeface="Codec Pro Bold"/>
              </a:rPr>
              <a:t>Srinivas Anand</a:t>
            </a:r>
          </a:p>
        </p:txBody>
      </p:sp>
      <p:sp>
        <p:nvSpPr>
          <p:cNvPr id="3" name="AutoShape 2">
            <a:extLst>
              <a:ext uri="{FF2B5EF4-FFF2-40B4-BE49-F238E27FC236}">
                <a16:creationId xmlns:a16="http://schemas.microsoft.com/office/drawing/2014/main" id="{E4349511-F8F2-A1BA-8CFC-20AE32AA8F85}"/>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dirty="0"/>
          </a:p>
        </p:txBody>
      </p:sp>
      <p:sp>
        <p:nvSpPr>
          <p:cNvPr id="4" name="TextBox 7">
            <a:extLst>
              <a:ext uri="{FF2B5EF4-FFF2-40B4-BE49-F238E27FC236}">
                <a16:creationId xmlns:a16="http://schemas.microsoft.com/office/drawing/2014/main" id="{B559877A-93FD-D95B-D8B7-1924D8714B9A}"/>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2" name="TextBox 9">
            <a:extLst>
              <a:ext uri="{FF2B5EF4-FFF2-40B4-BE49-F238E27FC236}">
                <a16:creationId xmlns:a16="http://schemas.microsoft.com/office/drawing/2014/main" id="{49022CBC-D8FC-1499-5FDE-644B5AFE806B}"/>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grpSp>
        <p:nvGrpSpPr>
          <p:cNvPr id="14" name="Group 21">
            <a:extLst>
              <a:ext uri="{FF2B5EF4-FFF2-40B4-BE49-F238E27FC236}">
                <a16:creationId xmlns:a16="http://schemas.microsoft.com/office/drawing/2014/main" id="{9A804F98-CE57-87A6-4322-5CBB0E68C428}"/>
              </a:ext>
            </a:extLst>
          </p:cNvPr>
          <p:cNvGrpSpPr/>
          <p:nvPr/>
        </p:nvGrpSpPr>
        <p:grpSpPr>
          <a:xfrm>
            <a:off x="11074400" y="210121"/>
            <a:ext cx="868640" cy="895898"/>
            <a:chOff x="0" y="0"/>
            <a:chExt cx="1737281" cy="1791796"/>
          </a:xfrm>
        </p:grpSpPr>
        <p:sp>
          <p:nvSpPr>
            <p:cNvPr id="28" name="Freeform 22">
              <a:extLst>
                <a:ext uri="{FF2B5EF4-FFF2-40B4-BE49-F238E27FC236}">
                  <a16:creationId xmlns:a16="http://schemas.microsoft.com/office/drawing/2014/main" id="{A9AA9AF4-1DCE-AB96-697C-02379E453F70}"/>
                </a:ext>
              </a:extLst>
            </p:cNvPr>
            <p:cNvSpPr/>
            <p:nvPr/>
          </p:nvSpPr>
          <p:spPr>
            <a:xfrm>
              <a:off x="0" y="0"/>
              <a:ext cx="1737281" cy="1464970"/>
            </a:xfrm>
            <a:custGeom>
              <a:avLst/>
              <a:gdLst/>
              <a:ahLst/>
              <a:cxnLst/>
              <a:rect l="l" t="t" r="r" b="b"/>
              <a:pathLst>
                <a:path w="1737281" h="1464970">
                  <a:moveTo>
                    <a:pt x="0" y="0"/>
                  </a:moveTo>
                  <a:lnTo>
                    <a:pt x="1737281" y="0"/>
                  </a:lnTo>
                  <a:lnTo>
                    <a:pt x="1737281" y="1464970"/>
                  </a:lnTo>
                  <a:lnTo>
                    <a:pt x="0" y="1464970"/>
                  </a:lnTo>
                  <a:lnTo>
                    <a:pt x="0" y="0"/>
                  </a:lnTo>
                  <a:close/>
                </a:path>
              </a:pathLst>
            </a:custGeom>
            <a:blipFill>
              <a:blip r:embed="rId3"/>
              <a:stretch>
                <a:fillRect t="-47826" b="-108579"/>
              </a:stretch>
            </a:blipFill>
          </p:spPr>
          <p:txBody>
            <a:bodyPr/>
            <a:lstStyle/>
            <a:p>
              <a:endParaRPr lang="en-US" sz="1200"/>
            </a:p>
          </p:txBody>
        </p:sp>
        <p:sp>
          <p:nvSpPr>
            <p:cNvPr id="29" name="TextBox 23">
              <a:extLst>
                <a:ext uri="{FF2B5EF4-FFF2-40B4-BE49-F238E27FC236}">
                  <a16:creationId xmlns:a16="http://schemas.microsoft.com/office/drawing/2014/main" id="{C33D544D-3DEE-0455-A7E6-84170B13FAEF}"/>
                </a:ext>
              </a:extLst>
            </p:cNvPr>
            <p:cNvSpPr txBox="1"/>
            <p:nvPr/>
          </p:nvSpPr>
          <p:spPr>
            <a:xfrm>
              <a:off x="68072" y="1484020"/>
              <a:ext cx="1669209" cy="307776"/>
            </a:xfrm>
            <a:prstGeom prst="rect">
              <a:avLst/>
            </a:prstGeom>
          </p:spPr>
          <p:txBody>
            <a:bodyPr lIns="0" tIns="0" rIns="0" bIns="0" rtlCol="0" anchor="t">
              <a:spAutoFit/>
            </a:bodyPr>
            <a:lstStyle/>
            <a:p>
              <a:pPr>
                <a:lnSpc>
                  <a:spcPts val="1173"/>
                </a:lnSpc>
              </a:pPr>
              <a:r>
                <a:rPr lang="en-US" sz="1317" spc="-76" dirty="0">
                  <a:solidFill>
                    <a:srgbClr val="090A3C"/>
                  </a:solidFill>
                  <a:latin typeface="Codec Pro"/>
                  <a:ea typeface="Codec Pro"/>
                  <a:cs typeface="Codec Pro"/>
                  <a:sym typeface="Codec Pro"/>
                </a:rPr>
                <a:t>virtuous</a:t>
              </a:r>
              <a:r>
                <a:rPr lang="en-US" sz="1317" spc="-76" dirty="0">
                  <a:solidFill>
                    <a:srgbClr val="0053EB"/>
                  </a:solidFill>
                  <a:latin typeface="Codec Pro"/>
                  <a:ea typeface="Codec Pro"/>
                  <a:cs typeface="Codec Pro"/>
                  <a:sym typeface="Codec Pro"/>
                </a:rPr>
                <a:t>info</a:t>
              </a:r>
            </a:p>
          </p:txBody>
        </p:sp>
      </p:grpSp>
      <p:sp>
        <p:nvSpPr>
          <p:cNvPr id="9" name="TextBox 8">
            <a:extLst>
              <a:ext uri="{FF2B5EF4-FFF2-40B4-BE49-F238E27FC236}">
                <a16:creationId xmlns:a16="http://schemas.microsoft.com/office/drawing/2014/main" id="{75CA6F43-99F9-DA2A-41BB-6BFB3D31EC3F}"/>
              </a:ext>
            </a:extLst>
          </p:cNvPr>
          <p:cNvSpPr txBox="1"/>
          <p:nvPr/>
        </p:nvSpPr>
        <p:spPr>
          <a:xfrm>
            <a:off x="509227" y="872363"/>
            <a:ext cx="9144000" cy="320040"/>
          </a:xfrm>
          <a:prstGeom prst="rect">
            <a:avLst/>
          </a:prstGeom>
          <a:noFill/>
        </p:spPr>
        <p:txBody>
          <a:bodyPr wrap="square">
            <a:spAutoFit/>
          </a:bodyPr>
          <a:lstStyle/>
          <a:p>
            <a:pPr>
              <a:defRPr sz="1400" b="1">
                <a:solidFill>
                  <a:srgbClr val="EF4924"/>
                </a:solidFill>
              </a:defRPr>
            </a:pPr>
            <a:r>
              <a:rPr lang="en-IN" dirty="0">
                <a:solidFill>
                  <a:srgbClr val="0066FF"/>
                </a:solidFill>
              </a:rPr>
              <a:t>Cloud Architect | Azure, AWS &amp; Google Cloud Infrastructure</a:t>
            </a:r>
          </a:p>
        </p:txBody>
      </p:sp>
      <p:sp>
        <p:nvSpPr>
          <p:cNvPr id="11" name="TextBox 10">
            <a:extLst>
              <a:ext uri="{FF2B5EF4-FFF2-40B4-BE49-F238E27FC236}">
                <a16:creationId xmlns:a16="http://schemas.microsoft.com/office/drawing/2014/main" id="{216298A5-8079-3DF2-E6EF-24A64E5BDB8A}"/>
              </a:ext>
            </a:extLst>
          </p:cNvPr>
          <p:cNvSpPr txBox="1"/>
          <p:nvPr/>
        </p:nvSpPr>
        <p:spPr>
          <a:xfrm>
            <a:off x="365760" y="1280160"/>
            <a:ext cx="3727559" cy="338554"/>
          </a:xfrm>
          <a:prstGeom prst="rect">
            <a:avLst/>
          </a:prstGeom>
          <a:noFill/>
        </p:spPr>
        <p:txBody>
          <a:bodyPr wrap="none">
            <a:spAutoFit/>
          </a:bodyPr>
          <a:lstStyle/>
          <a:p>
            <a:pPr>
              <a:defRPr sz="1200" b="1">
                <a:solidFill>
                  <a:srgbClr val="EF4924"/>
                </a:solidFill>
              </a:defRPr>
            </a:pPr>
            <a:r>
              <a:rPr sz="1600" dirty="0">
                <a:solidFill>
                  <a:srgbClr val="011E5E"/>
                </a:solidFill>
              </a:rPr>
              <a:t>PROFESSIONAL SUMMARY &amp; EXPERIENCE</a:t>
            </a:r>
          </a:p>
        </p:txBody>
      </p:sp>
      <p:sp>
        <p:nvSpPr>
          <p:cNvPr id="31" name="TextBox 30">
            <a:extLst>
              <a:ext uri="{FF2B5EF4-FFF2-40B4-BE49-F238E27FC236}">
                <a16:creationId xmlns:a16="http://schemas.microsoft.com/office/drawing/2014/main" id="{E52BE7C2-BD5F-7EBA-059D-FFBACE664D2D}"/>
              </a:ext>
            </a:extLst>
          </p:cNvPr>
          <p:cNvSpPr txBox="1"/>
          <p:nvPr/>
        </p:nvSpPr>
        <p:spPr>
          <a:xfrm>
            <a:off x="365760" y="1600200"/>
            <a:ext cx="11430000" cy="1677575"/>
          </a:xfrm>
          <a:prstGeom prst="rect">
            <a:avLst/>
          </a:prstGeom>
          <a:noFill/>
        </p:spPr>
        <p:txBody>
          <a:bodyPr wrap="square" anchor="t">
            <a:spAutoFit/>
          </a:bodyPr>
          <a:lstStyle/>
          <a:p>
            <a:pPr algn="just">
              <a:lnSpc>
                <a:spcPct val="120000"/>
              </a:lnSpc>
              <a:spcAft>
                <a:spcPts val="400"/>
              </a:spcAft>
              <a:defRPr sz="1000">
                <a:solidFill>
                  <a:srgbClr val="404040"/>
                </a:solidFill>
              </a:defRPr>
            </a:pPr>
            <a:r>
              <a:rPr lang="en-GB" sz="1400" dirty="0"/>
              <a:t>Cloud infrastructure architect with 17+ years of enterprise IT and cloud expertise, specializing in designing, deploying, and optimizing multi-cloud environments. Expert in architecting and migrating enterprise workloads across Azure, AWS, and Google Cloud platforms. Skilled in hybrid cloud infrastructure, containerization, serverless computing, and cloud-native application design.</a:t>
            </a:r>
          </a:p>
          <a:p>
            <a:pPr algn="just">
              <a:lnSpc>
                <a:spcPct val="120000"/>
              </a:lnSpc>
              <a:spcAft>
                <a:spcPts val="400"/>
              </a:spcAft>
              <a:defRPr sz="1000">
                <a:solidFill>
                  <a:srgbClr val="404040"/>
                </a:solidFill>
              </a:defRPr>
            </a:pPr>
            <a:r>
              <a:rPr lang="en-GB" sz="1400" dirty="0"/>
              <a:t>Deep expertise in infrastructure-as-code, cloud security, identity and access management across cloud platforms, and cost optimization. Proven ability to architect enterprise-grade cloud solutions while maintaining security, compliance, and high availability. Experienced in leading end-to-end cloud migrations with minimal downtime and supporting complex multi-cloud strategies.</a:t>
            </a:r>
          </a:p>
        </p:txBody>
      </p:sp>
      <p:sp>
        <p:nvSpPr>
          <p:cNvPr id="33" name="TextBox 32">
            <a:extLst>
              <a:ext uri="{FF2B5EF4-FFF2-40B4-BE49-F238E27FC236}">
                <a16:creationId xmlns:a16="http://schemas.microsoft.com/office/drawing/2014/main" id="{9E390FDF-1007-5A13-69B2-60A812C144D4}"/>
              </a:ext>
            </a:extLst>
          </p:cNvPr>
          <p:cNvSpPr txBox="1"/>
          <p:nvPr/>
        </p:nvSpPr>
        <p:spPr>
          <a:xfrm>
            <a:off x="365760" y="3289019"/>
            <a:ext cx="2353273" cy="338554"/>
          </a:xfrm>
          <a:prstGeom prst="rect">
            <a:avLst/>
          </a:prstGeom>
          <a:noFill/>
        </p:spPr>
        <p:txBody>
          <a:bodyPr wrap="none">
            <a:spAutoFit/>
          </a:bodyPr>
          <a:lstStyle/>
          <a:p>
            <a:pPr>
              <a:defRPr sz="1100" b="1">
                <a:solidFill>
                  <a:srgbClr val="EF4924"/>
                </a:solidFill>
              </a:defRPr>
            </a:pPr>
            <a:r>
              <a:rPr sz="1600" dirty="0">
                <a:solidFill>
                  <a:srgbClr val="011E5E"/>
                </a:solidFill>
              </a:rPr>
              <a:t>CORE SKILLS &amp; EXPERTISE</a:t>
            </a:r>
          </a:p>
        </p:txBody>
      </p:sp>
      <p:sp>
        <p:nvSpPr>
          <p:cNvPr id="38" name="TextBox 37">
            <a:extLst>
              <a:ext uri="{FF2B5EF4-FFF2-40B4-BE49-F238E27FC236}">
                <a16:creationId xmlns:a16="http://schemas.microsoft.com/office/drawing/2014/main" id="{2E6B0B17-5345-6C9F-E702-34FA05D4C7B9}"/>
              </a:ext>
            </a:extLst>
          </p:cNvPr>
          <p:cNvSpPr txBox="1"/>
          <p:nvPr/>
        </p:nvSpPr>
        <p:spPr>
          <a:xfrm>
            <a:off x="365760" y="3640157"/>
            <a:ext cx="5669280" cy="2784801"/>
          </a:xfrm>
          <a:prstGeom prst="rect">
            <a:avLst/>
          </a:prstGeom>
          <a:noFill/>
        </p:spPr>
        <p:txBody>
          <a:bodyPr wrap="square" anchor="t">
            <a:spAutoFit/>
          </a:bodyPr>
          <a:lstStyle/>
          <a:p>
            <a:pPr>
              <a:lnSpc>
                <a:spcPct val="115000"/>
              </a:lnSpc>
              <a:spcAft>
                <a:spcPts val="200"/>
              </a:spcAft>
              <a:defRPr sz="900">
                <a:solidFill>
                  <a:srgbClr val="404040"/>
                </a:solidFill>
              </a:defRPr>
            </a:pPr>
            <a:r>
              <a:rPr lang="en-IN" sz="1400" dirty="0"/>
              <a:t>✓ Azure Cloud Architecture (VMs, AKS, App Service)</a:t>
            </a:r>
          </a:p>
          <a:p>
            <a:pPr>
              <a:lnSpc>
                <a:spcPct val="115000"/>
              </a:lnSpc>
              <a:spcAft>
                <a:spcPts val="200"/>
              </a:spcAft>
              <a:defRPr sz="900">
                <a:solidFill>
                  <a:srgbClr val="404040"/>
                </a:solidFill>
              </a:defRPr>
            </a:pPr>
            <a:r>
              <a:rPr lang="en-IN" sz="1400" dirty="0"/>
              <a:t>✓ AWS Infrastructure (EC2, S3, RDS, Lambda)</a:t>
            </a:r>
          </a:p>
          <a:p>
            <a:pPr>
              <a:lnSpc>
                <a:spcPct val="115000"/>
              </a:lnSpc>
              <a:spcAft>
                <a:spcPts val="200"/>
              </a:spcAft>
              <a:defRPr sz="900">
                <a:solidFill>
                  <a:srgbClr val="404040"/>
                </a:solidFill>
              </a:defRPr>
            </a:pPr>
            <a:r>
              <a:rPr lang="en-IN" sz="1400" dirty="0"/>
              <a:t>✓ Google Cloud (Compute Engine, GKE, </a:t>
            </a:r>
            <a:r>
              <a:rPr lang="en-IN" sz="1400" dirty="0" err="1"/>
              <a:t>BigQuery</a:t>
            </a:r>
            <a:r>
              <a:rPr lang="en-IN" sz="1400" dirty="0"/>
              <a:t>)</a:t>
            </a:r>
          </a:p>
          <a:p>
            <a:pPr>
              <a:lnSpc>
                <a:spcPct val="115000"/>
              </a:lnSpc>
              <a:spcAft>
                <a:spcPts val="200"/>
              </a:spcAft>
              <a:defRPr sz="900">
                <a:solidFill>
                  <a:srgbClr val="404040"/>
                </a:solidFill>
              </a:defRPr>
            </a:pPr>
            <a:r>
              <a:rPr lang="en-IN" sz="1400" dirty="0"/>
              <a:t>✓ Hybrid Cloud &amp; Multi-Cloud Architecture</a:t>
            </a:r>
          </a:p>
          <a:p>
            <a:pPr>
              <a:lnSpc>
                <a:spcPct val="115000"/>
              </a:lnSpc>
              <a:spcAft>
                <a:spcPts val="200"/>
              </a:spcAft>
              <a:defRPr sz="900">
                <a:solidFill>
                  <a:srgbClr val="404040"/>
                </a:solidFill>
              </a:defRPr>
            </a:pPr>
            <a:r>
              <a:rPr lang="en-IN" sz="1400" dirty="0"/>
              <a:t>✓ Kubernetes &amp; Container Orchestration</a:t>
            </a:r>
          </a:p>
          <a:p>
            <a:pPr>
              <a:lnSpc>
                <a:spcPct val="115000"/>
              </a:lnSpc>
              <a:spcAft>
                <a:spcPts val="200"/>
              </a:spcAft>
              <a:defRPr sz="900">
                <a:solidFill>
                  <a:srgbClr val="404040"/>
                </a:solidFill>
              </a:defRPr>
            </a:pPr>
            <a:r>
              <a:rPr lang="en-IN" sz="1400" dirty="0"/>
              <a:t>✓ Serverless &amp; Cloud-Native Applications</a:t>
            </a:r>
          </a:p>
          <a:p>
            <a:pPr>
              <a:lnSpc>
                <a:spcPct val="115000"/>
              </a:lnSpc>
              <a:spcAft>
                <a:spcPts val="200"/>
              </a:spcAft>
              <a:defRPr sz="900">
                <a:solidFill>
                  <a:srgbClr val="404040"/>
                </a:solidFill>
              </a:defRPr>
            </a:pPr>
            <a:r>
              <a:rPr lang="en-IN" sz="1400" dirty="0"/>
              <a:t>✓ Infrastructure-as-Code (Terraform, CloudFormation)</a:t>
            </a:r>
          </a:p>
          <a:p>
            <a:pPr>
              <a:lnSpc>
                <a:spcPct val="115000"/>
              </a:lnSpc>
              <a:spcAft>
                <a:spcPts val="200"/>
              </a:spcAft>
              <a:defRPr sz="900">
                <a:solidFill>
                  <a:srgbClr val="404040"/>
                </a:solidFill>
              </a:defRPr>
            </a:pPr>
            <a:r>
              <a:rPr lang="en-IN" sz="1400" dirty="0"/>
              <a:t>✓ Cloud Security &amp; Compliance</a:t>
            </a:r>
          </a:p>
          <a:p>
            <a:pPr>
              <a:lnSpc>
                <a:spcPct val="115000"/>
              </a:lnSpc>
              <a:spcAft>
                <a:spcPts val="200"/>
              </a:spcAft>
              <a:defRPr sz="900">
                <a:solidFill>
                  <a:srgbClr val="404040"/>
                </a:solidFill>
              </a:defRPr>
            </a:pPr>
            <a:r>
              <a:rPr lang="en-IN" sz="1400" dirty="0"/>
              <a:t>✓ Identity Management (Azure AD, IAM policies)</a:t>
            </a:r>
          </a:p>
          <a:p>
            <a:pPr>
              <a:lnSpc>
                <a:spcPct val="115000"/>
              </a:lnSpc>
              <a:spcAft>
                <a:spcPts val="200"/>
              </a:spcAft>
              <a:defRPr sz="900">
                <a:solidFill>
                  <a:srgbClr val="404040"/>
                </a:solidFill>
              </a:defRPr>
            </a:pPr>
            <a:r>
              <a:rPr lang="en-IN" sz="1400" dirty="0"/>
              <a:t>✓ Cloud Cost Optimization &amp; Governance</a:t>
            </a:r>
          </a:p>
        </p:txBody>
      </p:sp>
      <p:sp>
        <p:nvSpPr>
          <p:cNvPr id="41" name="TextBox 40">
            <a:extLst>
              <a:ext uri="{FF2B5EF4-FFF2-40B4-BE49-F238E27FC236}">
                <a16:creationId xmlns:a16="http://schemas.microsoft.com/office/drawing/2014/main" id="{14CEEDEE-22FD-0525-A400-DFF0797877F4}"/>
              </a:ext>
            </a:extLst>
          </p:cNvPr>
          <p:cNvSpPr txBox="1"/>
          <p:nvPr/>
        </p:nvSpPr>
        <p:spPr>
          <a:xfrm>
            <a:off x="6141229" y="3333640"/>
            <a:ext cx="2221442" cy="338554"/>
          </a:xfrm>
          <a:prstGeom prst="rect">
            <a:avLst/>
          </a:prstGeom>
          <a:noFill/>
        </p:spPr>
        <p:txBody>
          <a:bodyPr wrap="none">
            <a:spAutoFit/>
          </a:bodyPr>
          <a:lstStyle/>
          <a:p>
            <a:pPr>
              <a:defRPr sz="1100" b="1">
                <a:solidFill>
                  <a:srgbClr val="EF4924"/>
                </a:solidFill>
              </a:defRPr>
            </a:pPr>
            <a:r>
              <a:rPr sz="1600" b="1" dirty="0">
                <a:solidFill>
                  <a:srgbClr val="011E5E"/>
                </a:solidFill>
              </a:rPr>
              <a:t>O365 &amp; GWS EXPERTISE</a:t>
            </a:r>
          </a:p>
        </p:txBody>
      </p:sp>
      <p:sp>
        <p:nvSpPr>
          <p:cNvPr id="43" name="TextBox 42">
            <a:extLst>
              <a:ext uri="{FF2B5EF4-FFF2-40B4-BE49-F238E27FC236}">
                <a16:creationId xmlns:a16="http://schemas.microsoft.com/office/drawing/2014/main" id="{43A61AD0-E69B-9014-EC48-2185057666E3}"/>
              </a:ext>
            </a:extLst>
          </p:cNvPr>
          <p:cNvSpPr txBox="1"/>
          <p:nvPr/>
        </p:nvSpPr>
        <p:spPr>
          <a:xfrm>
            <a:off x="6156962" y="3640371"/>
            <a:ext cx="5577840" cy="3058209"/>
          </a:xfrm>
          <a:prstGeom prst="rect">
            <a:avLst/>
          </a:prstGeom>
          <a:noFill/>
        </p:spPr>
        <p:txBody>
          <a:bodyPr wrap="square" anchor="t">
            <a:spAutoFit/>
          </a:bodyPr>
          <a:lstStyle/>
          <a:p>
            <a:pPr>
              <a:lnSpc>
                <a:spcPct val="115000"/>
              </a:lnSpc>
              <a:spcAft>
                <a:spcPts val="200"/>
              </a:spcAft>
              <a:defRPr sz="900">
                <a:solidFill>
                  <a:srgbClr val="404040"/>
                </a:solidFill>
              </a:defRPr>
            </a:pPr>
            <a:r>
              <a:rPr lang="en-IN" sz="1400" dirty="0"/>
              <a:t>✓ O365 ↔ Google Workspace Migrations</a:t>
            </a:r>
          </a:p>
          <a:p>
            <a:pPr>
              <a:lnSpc>
                <a:spcPct val="115000"/>
              </a:lnSpc>
              <a:spcAft>
                <a:spcPts val="200"/>
              </a:spcAft>
              <a:defRPr sz="900">
                <a:solidFill>
                  <a:srgbClr val="404040"/>
                </a:solidFill>
              </a:defRPr>
            </a:pPr>
            <a:r>
              <a:rPr lang="en-IN" sz="1400" dirty="0"/>
              <a:t>✓ On-Prem Exchange to O365 &amp; GWS</a:t>
            </a:r>
          </a:p>
          <a:p>
            <a:pPr>
              <a:lnSpc>
                <a:spcPct val="115000"/>
              </a:lnSpc>
              <a:spcAft>
                <a:spcPts val="200"/>
              </a:spcAft>
              <a:defRPr sz="900">
                <a:solidFill>
                  <a:srgbClr val="404040"/>
                </a:solidFill>
              </a:defRPr>
            </a:pPr>
            <a:r>
              <a:rPr lang="en-IN" sz="1400" dirty="0"/>
              <a:t>✓ Mailbox &amp; Calendar Migration</a:t>
            </a:r>
          </a:p>
          <a:p>
            <a:pPr>
              <a:lnSpc>
                <a:spcPct val="115000"/>
              </a:lnSpc>
              <a:spcAft>
                <a:spcPts val="200"/>
              </a:spcAft>
              <a:defRPr sz="900">
                <a:solidFill>
                  <a:srgbClr val="404040"/>
                </a:solidFill>
              </a:defRPr>
            </a:pPr>
            <a:r>
              <a:rPr lang="en-IN" sz="1400" dirty="0"/>
              <a:t>✓ SharePoint/OneDrive ↔ Google Drive</a:t>
            </a:r>
          </a:p>
          <a:p>
            <a:pPr>
              <a:lnSpc>
                <a:spcPct val="115000"/>
              </a:lnSpc>
              <a:spcAft>
                <a:spcPts val="200"/>
              </a:spcAft>
              <a:defRPr sz="900">
                <a:solidFill>
                  <a:srgbClr val="404040"/>
                </a:solidFill>
              </a:defRPr>
            </a:pPr>
            <a:r>
              <a:rPr lang="en-IN" sz="1400" dirty="0"/>
              <a:t>✓ Tenant-to-Tenant Migration</a:t>
            </a:r>
          </a:p>
          <a:p>
            <a:pPr>
              <a:lnSpc>
                <a:spcPct val="115000"/>
              </a:lnSpc>
              <a:spcAft>
                <a:spcPts val="200"/>
              </a:spcAft>
              <a:defRPr sz="900">
                <a:solidFill>
                  <a:srgbClr val="404040"/>
                </a:solidFill>
              </a:defRPr>
            </a:pPr>
            <a:r>
              <a:rPr lang="en-IN" sz="1400" dirty="0"/>
              <a:t>✓ License Optimization (O365 &amp; GWS)</a:t>
            </a:r>
          </a:p>
          <a:p>
            <a:pPr>
              <a:lnSpc>
                <a:spcPct val="115000"/>
              </a:lnSpc>
              <a:spcAft>
                <a:spcPts val="200"/>
              </a:spcAft>
              <a:defRPr sz="900">
                <a:solidFill>
                  <a:srgbClr val="404040"/>
                </a:solidFill>
              </a:defRPr>
            </a:pPr>
            <a:r>
              <a:rPr lang="en-IN" sz="1400" dirty="0"/>
              <a:t>✓ Hybrid Coexistence &amp; Mail Routing</a:t>
            </a:r>
          </a:p>
          <a:p>
            <a:pPr>
              <a:lnSpc>
                <a:spcPct val="115000"/>
              </a:lnSpc>
              <a:spcAft>
                <a:spcPts val="200"/>
              </a:spcAft>
              <a:defRPr sz="900">
                <a:solidFill>
                  <a:srgbClr val="404040"/>
                </a:solidFill>
              </a:defRPr>
            </a:pPr>
            <a:r>
              <a:rPr lang="en-IN" sz="1400" dirty="0"/>
              <a:t>✓ Identity Federation &amp; SSO Setup</a:t>
            </a:r>
          </a:p>
          <a:p>
            <a:pPr>
              <a:lnSpc>
                <a:spcPct val="115000"/>
              </a:lnSpc>
              <a:spcAft>
                <a:spcPts val="200"/>
              </a:spcAft>
              <a:defRPr sz="900">
                <a:solidFill>
                  <a:srgbClr val="404040"/>
                </a:solidFill>
              </a:defRPr>
            </a:pPr>
            <a:r>
              <a:rPr lang="en-IN" sz="1400" dirty="0"/>
              <a:t>✓ M&amp;A Directory Consolidation</a:t>
            </a:r>
          </a:p>
          <a:p>
            <a:pPr>
              <a:lnSpc>
                <a:spcPct val="115000"/>
              </a:lnSpc>
              <a:spcAft>
                <a:spcPts val="200"/>
              </a:spcAft>
              <a:defRPr sz="900">
                <a:solidFill>
                  <a:srgbClr val="404040"/>
                </a:solidFill>
              </a:defRPr>
            </a:pPr>
            <a:r>
              <a:rPr lang="en-IN" sz="1400" dirty="0"/>
              <a:t>✓ Zero-Downtime Migration Planning</a:t>
            </a:r>
          </a:p>
          <a:p>
            <a:pPr>
              <a:lnSpc>
                <a:spcPct val="115000"/>
              </a:lnSpc>
              <a:spcAft>
                <a:spcPts val="200"/>
              </a:spcAft>
              <a:defRPr sz="900">
                <a:solidFill>
                  <a:srgbClr val="404040"/>
                </a:solidFill>
              </a:defRPr>
            </a:pPr>
            <a:r>
              <a:rPr lang="en-IN" sz="1400" dirty="0"/>
              <a:t>✓ Cloud Adoption &amp; Hybrid Strategy</a:t>
            </a:r>
          </a:p>
        </p:txBody>
      </p:sp>
    </p:spTree>
    <p:extLst>
      <p:ext uri="{BB962C8B-B14F-4D97-AF65-F5344CB8AC3E}">
        <p14:creationId xmlns:p14="http://schemas.microsoft.com/office/powerpoint/2010/main" val="19343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73979-738B-699C-90E2-7E609C76AFBA}"/>
            </a:ext>
          </a:extLst>
        </p:cNvPr>
        <p:cNvGrpSpPr/>
        <p:nvPr/>
      </p:nvGrpSpPr>
      <p:grpSpPr>
        <a:xfrm>
          <a:off x="0" y="0"/>
          <a:ext cx="0" cy="0"/>
          <a:chOff x="0" y="0"/>
          <a:chExt cx="0" cy="0"/>
        </a:xfrm>
      </p:grpSpPr>
      <p:sp>
        <p:nvSpPr>
          <p:cNvPr id="16" name="TextBox 16">
            <a:extLst>
              <a:ext uri="{FF2B5EF4-FFF2-40B4-BE49-F238E27FC236}">
                <a16:creationId xmlns:a16="http://schemas.microsoft.com/office/drawing/2014/main" id="{C1843227-0EE2-A0AE-C211-7EED7D0737B0}"/>
              </a:ext>
            </a:extLst>
          </p:cNvPr>
          <p:cNvSpPr txBox="1"/>
          <p:nvPr/>
        </p:nvSpPr>
        <p:spPr>
          <a:xfrm>
            <a:off x="564095" y="238168"/>
            <a:ext cx="7772883" cy="726033"/>
          </a:xfrm>
          <a:prstGeom prst="rect">
            <a:avLst/>
          </a:prstGeom>
        </p:spPr>
        <p:txBody>
          <a:bodyPr wrap="square" lIns="0" tIns="0" rIns="0" bIns="0" rtlCol="0" anchor="t">
            <a:spAutoFit/>
          </a:bodyPr>
          <a:lstStyle/>
          <a:p>
            <a:pPr>
              <a:lnSpc>
                <a:spcPts val="5973"/>
              </a:lnSpc>
              <a:spcBef>
                <a:spcPct val="0"/>
              </a:spcBef>
            </a:pPr>
            <a:r>
              <a:rPr lang="en-US" sz="4400" b="1" dirty="0">
                <a:solidFill>
                  <a:schemeClr val="tx2">
                    <a:lumMod val="75000"/>
                  </a:schemeClr>
                </a:solidFill>
                <a:latin typeface="Codec Pro Bold"/>
                <a:ea typeface="Codec Pro Bold"/>
                <a:cs typeface="Codec Pro Bold"/>
                <a:sym typeface="Codec Pro Bold"/>
              </a:rPr>
              <a:t>Vinoth Kumar V</a:t>
            </a:r>
          </a:p>
        </p:txBody>
      </p:sp>
      <p:sp>
        <p:nvSpPr>
          <p:cNvPr id="3" name="AutoShape 2">
            <a:extLst>
              <a:ext uri="{FF2B5EF4-FFF2-40B4-BE49-F238E27FC236}">
                <a16:creationId xmlns:a16="http://schemas.microsoft.com/office/drawing/2014/main" id="{EA3E99A6-59F7-CB30-3D39-459DB5A174DE}"/>
              </a:ext>
            </a:extLst>
          </p:cNvPr>
          <p:cNvSpPr/>
          <p:nvPr/>
        </p:nvSpPr>
        <p:spPr>
          <a:xfrm>
            <a:off x="685800" y="6527800"/>
            <a:ext cx="10589220" cy="0"/>
          </a:xfrm>
          <a:prstGeom prst="line">
            <a:avLst/>
          </a:prstGeom>
          <a:ln w="19050" cap="flat">
            <a:solidFill>
              <a:srgbClr val="090A3C"/>
            </a:solidFill>
            <a:prstDash val="solid"/>
            <a:headEnd type="none" w="sm" len="sm"/>
            <a:tailEnd type="none" w="sm" len="sm"/>
          </a:ln>
        </p:spPr>
        <p:txBody>
          <a:bodyPr/>
          <a:lstStyle/>
          <a:p>
            <a:endParaRPr lang="en-IN" sz="1200" dirty="0"/>
          </a:p>
        </p:txBody>
      </p:sp>
      <p:sp>
        <p:nvSpPr>
          <p:cNvPr id="4" name="TextBox 7">
            <a:extLst>
              <a:ext uri="{FF2B5EF4-FFF2-40B4-BE49-F238E27FC236}">
                <a16:creationId xmlns:a16="http://schemas.microsoft.com/office/drawing/2014/main" id="{575BD8D9-1258-3323-511B-17C52C23E288}"/>
              </a:ext>
            </a:extLst>
          </p:cNvPr>
          <p:cNvSpPr txBox="1"/>
          <p:nvPr/>
        </p:nvSpPr>
        <p:spPr>
          <a:xfrm>
            <a:off x="10129537" y="6516530"/>
            <a:ext cx="1808463" cy="150298"/>
          </a:xfrm>
          <a:prstGeom prst="rect">
            <a:avLst/>
          </a:prstGeom>
        </p:spPr>
        <p:txBody>
          <a:bodyPr wrap="square" lIns="0" tIns="0" rIns="0" bIns="0" rtlCol="0" anchor="t">
            <a:spAutoFit/>
          </a:bodyPr>
          <a:lstStyle/>
          <a:p>
            <a:pPr>
              <a:lnSpc>
                <a:spcPts val="1297"/>
              </a:lnSpc>
            </a:pPr>
            <a:r>
              <a:rPr lang="en-US" sz="867" dirty="0">
                <a:solidFill>
                  <a:schemeClr val="tx2">
                    <a:lumMod val="75000"/>
                  </a:schemeClr>
                </a:solidFill>
                <a:latin typeface="Codec Pro"/>
                <a:ea typeface="Codec Pro"/>
                <a:cs typeface="Codec Pro"/>
                <a:sym typeface="Codec Pro"/>
              </a:rPr>
              <a:t>www.virtuousinfo.com</a:t>
            </a:r>
          </a:p>
        </p:txBody>
      </p:sp>
      <p:sp>
        <p:nvSpPr>
          <p:cNvPr id="12" name="TextBox 9">
            <a:extLst>
              <a:ext uri="{FF2B5EF4-FFF2-40B4-BE49-F238E27FC236}">
                <a16:creationId xmlns:a16="http://schemas.microsoft.com/office/drawing/2014/main" id="{3939ECD6-EBA1-D076-BB7B-AD7F662BDDA8}"/>
              </a:ext>
            </a:extLst>
          </p:cNvPr>
          <p:cNvSpPr txBox="1"/>
          <p:nvPr/>
        </p:nvSpPr>
        <p:spPr>
          <a:xfrm>
            <a:off x="669104" y="6516556"/>
            <a:ext cx="2836097" cy="152029"/>
          </a:xfrm>
          <a:prstGeom prst="rect">
            <a:avLst/>
          </a:prstGeom>
        </p:spPr>
        <p:txBody>
          <a:bodyPr lIns="0" tIns="0" rIns="0" bIns="0" rtlCol="0" anchor="t">
            <a:spAutoFit/>
          </a:bodyPr>
          <a:lstStyle/>
          <a:p>
            <a:pPr>
              <a:lnSpc>
                <a:spcPts val="1297"/>
              </a:lnSpc>
            </a:pPr>
            <a:r>
              <a:rPr lang="en-US" sz="867" dirty="0">
                <a:solidFill>
                  <a:schemeClr val="tx2">
                    <a:lumMod val="75000"/>
                    <a:alpha val="86667"/>
                  </a:schemeClr>
                </a:solidFill>
                <a:latin typeface="Codec Pro"/>
                <a:ea typeface="Codec Pro"/>
                <a:cs typeface="Codec Pro"/>
                <a:sym typeface="Codec Pro"/>
              </a:rPr>
              <a:t>© 2026 Virtuousinfo. All Rights Reserved</a:t>
            </a:r>
            <a:r>
              <a:rPr lang="en-US" sz="926" dirty="0">
                <a:solidFill>
                  <a:schemeClr val="tx2">
                    <a:lumMod val="75000"/>
                    <a:alpha val="86667"/>
                  </a:schemeClr>
                </a:solidFill>
                <a:latin typeface="Codec Pro"/>
                <a:ea typeface="Codec Pro"/>
                <a:cs typeface="Codec Pro"/>
                <a:sym typeface="Codec Pro"/>
              </a:rPr>
              <a:t>.</a:t>
            </a:r>
          </a:p>
        </p:txBody>
      </p:sp>
      <p:grpSp>
        <p:nvGrpSpPr>
          <p:cNvPr id="14" name="Group 21">
            <a:extLst>
              <a:ext uri="{FF2B5EF4-FFF2-40B4-BE49-F238E27FC236}">
                <a16:creationId xmlns:a16="http://schemas.microsoft.com/office/drawing/2014/main" id="{410E1B37-7C37-C4F5-D8F2-857359B3805F}"/>
              </a:ext>
            </a:extLst>
          </p:cNvPr>
          <p:cNvGrpSpPr/>
          <p:nvPr/>
        </p:nvGrpSpPr>
        <p:grpSpPr>
          <a:xfrm>
            <a:off x="11074400" y="210121"/>
            <a:ext cx="868640" cy="895898"/>
            <a:chOff x="0" y="0"/>
            <a:chExt cx="1737281" cy="1791796"/>
          </a:xfrm>
        </p:grpSpPr>
        <p:sp>
          <p:nvSpPr>
            <p:cNvPr id="28" name="Freeform 22">
              <a:extLst>
                <a:ext uri="{FF2B5EF4-FFF2-40B4-BE49-F238E27FC236}">
                  <a16:creationId xmlns:a16="http://schemas.microsoft.com/office/drawing/2014/main" id="{5203D063-C821-8CD6-ED40-71F7D0CD6708}"/>
                </a:ext>
              </a:extLst>
            </p:cNvPr>
            <p:cNvSpPr/>
            <p:nvPr/>
          </p:nvSpPr>
          <p:spPr>
            <a:xfrm>
              <a:off x="0" y="0"/>
              <a:ext cx="1737281" cy="1464970"/>
            </a:xfrm>
            <a:custGeom>
              <a:avLst/>
              <a:gdLst/>
              <a:ahLst/>
              <a:cxnLst/>
              <a:rect l="l" t="t" r="r" b="b"/>
              <a:pathLst>
                <a:path w="1737281" h="1464970">
                  <a:moveTo>
                    <a:pt x="0" y="0"/>
                  </a:moveTo>
                  <a:lnTo>
                    <a:pt x="1737281" y="0"/>
                  </a:lnTo>
                  <a:lnTo>
                    <a:pt x="1737281" y="1464970"/>
                  </a:lnTo>
                  <a:lnTo>
                    <a:pt x="0" y="1464970"/>
                  </a:lnTo>
                  <a:lnTo>
                    <a:pt x="0" y="0"/>
                  </a:lnTo>
                  <a:close/>
                </a:path>
              </a:pathLst>
            </a:custGeom>
            <a:blipFill>
              <a:blip r:embed="rId3"/>
              <a:stretch>
                <a:fillRect t="-47826" b="-108579"/>
              </a:stretch>
            </a:blipFill>
          </p:spPr>
          <p:txBody>
            <a:bodyPr/>
            <a:lstStyle/>
            <a:p>
              <a:endParaRPr lang="en-US" sz="1200"/>
            </a:p>
          </p:txBody>
        </p:sp>
        <p:sp>
          <p:nvSpPr>
            <p:cNvPr id="29" name="TextBox 23">
              <a:extLst>
                <a:ext uri="{FF2B5EF4-FFF2-40B4-BE49-F238E27FC236}">
                  <a16:creationId xmlns:a16="http://schemas.microsoft.com/office/drawing/2014/main" id="{BFA3487A-D559-DEC0-0FBF-B8AB0FA7E8A5}"/>
                </a:ext>
              </a:extLst>
            </p:cNvPr>
            <p:cNvSpPr txBox="1"/>
            <p:nvPr/>
          </p:nvSpPr>
          <p:spPr>
            <a:xfrm>
              <a:off x="68072" y="1484020"/>
              <a:ext cx="1669209" cy="307776"/>
            </a:xfrm>
            <a:prstGeom prst="rect">
              <a:avLst/>
            </a:prstGeom>
          </p:spPr>
          <p:txBody>
            <a:bodyPr lIns="0" tIns="0" rIns="0" bIns="0" rtlCol="0" anchor="t">
              <a:spAutoFit/>
            </a:bodyPr>
            <a:lstStyle/>
            <a:p>
              <a:pPr>
                <a:lnSpc>
                  <a:spcPts val="1173"/>
                </a:lnSpc>
              </a:pPr>
              <a:r>
                <a:rPr lang="en-US" sz="1317" spc="-76" dirty="0">
                  <a:solidFill>
                    <a:srgbClr val="090A3C"/>
                  </a:solidFill>
                  <a:latin typeface="Codec Pro"/>
                  <a:ea typeface="Codec Pro"/>
                  <a:cs typeface="Codec Pro"/>
                  <a:sym typeface="Codec Pro"/>
                </a:rPr>
                <a:t>virtuous</a:t>
              </a:r>
              <a:r>
                <a:rPr lang="en-US" sz="1317" spc="-76" dirty="0">
                  <a:solidFill>
                    <a:srgbClr val="0053EB"/>
                  </a:solidFill>
                  <a:latin typeface="Codec Pro"/>
                  <a:ea typeface="Codec Pro"/>
                  <a:cs typeface="Codec Pro"/>
                  <a:sym typeface="Codec Pro"/>
                </a:rPr>
                <a:t>info</a:t>
              </a:r>
            </a:p>
          </p:txBody>
        </p:sp>
      </p:grpSp>
      <p:sp>
        <p:nvSpPr>
          <p:cNvPr id="9" name="TextBox 8">
            <a:extLst>
              <a:ext uri="{FF2B5EF4-FFF2-40B4-BE49-F238E27FC236}">
                <a16:creationId xmlns:a16="http://schemas.microsoft.com/office/drawing/2014/main" id="{53E0F076-4BB9-CB82-BDEC-0A648A22C617}"/>
              </a:ext>
            </a:extLst>
          </p:cNvPr>
          <p:cNvSpPr txBox="1"/>
          <p:nvPr/>
        </p:nvSpPr>
        <p:spPr>
          <a:xfrm>
            <a:off x="509227" y="872363"/>
            <a:ext cx="9144000" cy="320040"/>
          </a:xfrm>
          <a:prstGeom prst="rect">
            <a:avLst/>
          </a:prstGeom>
          <a:noFill/>
        </p:spPr>
        <p:txBody>
          <a:bodyPr wrap="square">
            <a:spAutoFit/>
          </a:bodyPr>
          <a:lstStyle/>
          <a:p>
            <a:pPr>
              <a:defRPr sz="1400" b="1">
                <a:solidFill>
                  <a:srgbClr val="EF4924"/>
                </a:solidFill>
              </a:defRPr>
            </a:pPr>
            <a:r>
              <a:rPr lang="en-GB" dirty="0">
                <a:solidFill>
                  <a:srgbClr val="0066FF"/>
                </a:solidFill>
              </a:rPr>
              <a:t>Subject Matter Expert | Office 365 &amp; Google Workspace</a:t>
            </a:r>
          </a:p>
        </p:txBody>
      </p:sp>
      <p:sp>
        <p:nvSpPr>
          <p:cNvPr id="11" name="TextBox 10">
            <a:extLst>
              <a:ext uri="{FF2B5EF4-FFF2-40B4-BE49-F238E27FC236}">
                <a16:creationId xmlns:a16="http://schemas.microsoft.com/office/drawing/2014/main" id="{E9B1A0B5-8C2A-7F3C-DAD9-E6A501EA5CD8}"/>
              </a:ext>
            </a:extLst>
          </p:cNvPr>
          <p:cNvSpPr txBox="1"/>
          <p:nvPr/>
        </p:nvSpPr>
        <p:spPr>
          <a:xfrm>
            <a:off x="365760" y="1280160"/>
            <a:ext cx="3727559" cy="338554"/>
          </a:xfrm>
          <a:prstGeom prst="rect">
            <a:avLst/>
          </a:prstGeom>
          <a:noFill/>
        </p:spPr>
        <p:txBody>
          <a:bodyPr wrap="none">
            <a:spAutoFit/>
          </a:bodyPr>
          <a:lstStyle/>
          <a:p>
            <a:pPr>
              <a:defRPr sz="1200" b="1">
                <a:solidFill>
                  <a:srgbClr val="EF4924"/>
                </a:solidFill>
              </a:defRPr>
            </a:pPr>
            <a:r>
              <a:rPr sz="1600" dirty="0">
                <a:solidFill>
                  <a:srgbClr val="011E5E"/>
                </a:solidFill>
              </a:rPr>
              <a:t>PROFESSIONAL SUMMARY &amp; EXPERIENCE</a:t>
            </a:r>
          </a:p>
        </p:txBody>
      </p:sp>
      <p:sp>
        <p:nvSpPr>
          <p:cNvPr id="31" name="TextBox 30">
            <a:extLst>
              <a:ext uri="{FF2B5EF4-FFF2-40B4-BE49-F238E27FC236}">
                <a16:creationId xmlns:a16="http://schemas.microsoft.com/office/drawing/2014/main" id="{692F730D-66F6-0F47-B724-064054370BE5}"/>
              </a:ext>
            </a:extLst>
          </p:cNvPr>
          <p:cNvSpPr txBox="1"/>
          <p:nvPr/>
        </p:nvSpPr>
        <p:spPr>
          <a:xfrm>
            <a:off x="365760" y="1600200"/>
            <a:ext cx="11430000" cy="1677575"/>
          </a:xfrm>
          <a:prstGeom prst="rect">
            <a:avLst/>
          </a:prstGeom>
          <a:noFill/>
        </p:spPr>
        <p:txBody>
          <a:bodyPr wrap="square" anchor="t">
            <a:spAutoFit/>
          </a:bodyPr>
          <a:lstStyle/>
          <a:p>
            <a:pPr algn="just">
              <a:lnSpc>
                <a:spcPct val="120000"/>
              </a:lnSpc>
              <a:spcAft>
                <a:spcPts val="400"/>
              </a:spcAft>
              <a:defRPr sz="1000">
                <a:solidFill>
                  <a:srgbClr val="404040"/>
                </a:solidFill>
              </a:defRPr>
            </a:pPr>
            <a:r>
              <a:rPr lang="en-GB" sz="1400" dirty="0"/>
              <a:t>Subject Matter Expert in email, collaboration, and identity management with 16+ years of hands-on expertise. Advanced technical specialist in Exchange Server, Exchange Online, and Azure AD administration. Proven expertise in designing and executing large-scale hybrid Exchange-to-Microsoft 365 migrations with zero-downtime execution.</a:t>
            </a:r>
          </a:p>
          <a:p>
            <a:pPr algn="just">
              <a:lnSpc>
                <a:spcPct val="120000"/>
              </a:lnSpc>
              <a:spcAft>
                <a:spcPts val="400"/>
              </a:spcAft>
            </a:pPr>
            <a:r>
              <a:rPr lang="en-GB" sz="1400" dirty="0"/>
              <a:t>Deep technical knowledge of complex hybrid environments, multi-tenant coexistence, mail flow security, compliance automation, and identity lifecycle management. Specialized in troubleshooting advanced scenarios, managing enterprise-scale mailbox migrations, and supporting critical compliance requirements. Currently managing concurrent enterprise migration projects while maintaining SLA compliance.</a:t>
            </a:r>
          </a:p>
        </p:txBody>
      </p:sp>
      <p:sp>
        <p:nvSpPr>
          <p:cNvPr id="33" name="TextBox 32">
            <a:extLst>
              <a:ext uri="{FF2B5EF4-FFF2-40B4-BE49-F238E27FC236}">
                <a16:creationId xmlns:a16="http://schemas.microsoft.com/office/drawing/2014/main" id="{3DE3DFAC-63CA-CEB9-2B82-65B66C64366D}"/>
              </a:ext>
            </a:extLst>
          </p:cNvPr>
          <p:cNvSpPr txBox="1"/>
          <p:nvPr/>
        </p:nvSpPr>
        <p:spPr>
          <a:xfrm>
            <a:off x="365760" y="3289019"/>
            <a:ext cx="2353273" cy="338554"/>
          </a:xfrm>
          <a:prstGeom prst="rect">
            <a:avLst/>
          </a:prstGeom>
          <a:noFill/>
        </p:spPr>
        <p:txBody>
          <a:bodyPr wrap="none">
            <a:spAutoFit/>
          </a:bodyPr>
          <a:lstStyle/>
          <a:p>
            <a:pPr>
              <a:defRPr sz="1100" b="1">
                <a:solidFill>
                  <a:srgbClr val="EF4924"/>
                </a:solidFill>
              </a:defRPr>
            </a:pPr>
            <a:r>
              <a:rPr sz="1600" dirty="0">
                <a:solidFill>
                  <a:srgbClr val="011E5E"/>
                </a:solidFill>
              </a:rPr>
              <a:t>CORE SKILLS &amp; EXPERTISE</a:t>
            </a:r>
          </a:p>
        </p:txBody>
      </p:sp>
      <p:sp>
        <p:nvSpPr>
          <p:cNvPr id="38" name="TextBox 37">
            <a:extLst>
              <a:ext uri="{FF2B5EF4-FFF2-40B4-BE49-F238E27FC236}">
                <a16:creationId xmlns:a16="http://schemas.microsoft.com/office/drawing/2014/main" id="{E383205B-69FF-3EEF-A01A-9F5875D16E56}"/>
              </a:ext>
            </a:extLst>
          </p:cNvPr>
          <p:cNvSpPr txBox="1"/>
          <p:nvPr/>
        </p:nvSpPr>
        <p:spPr>
          <a:xfrm>
            <a:off x="365760" y="3640157"/>
            <a:ext cx="5669280" cy="2784801"/>
          </a:xfrm>
          <a:prstGeom prst="rect">
            <a:avLst/>
          </a:prstGeom>
          <a:noFill/>
        </p:spPr>
        <p:txBody>
          <a:bodyPr wrap="square" anchor="t">
            <a:spAutoFit/>
          </a:bodyPr>
          <a:lstStyle/>
          <a:p>
            <a:pPr>
              <a:lnSpc>
                <a:spcPct val="115000"/>
              </a:lnSpc>
              <a:spcAft>
                <a:spcPts val="200"/>
              </a:spcAft>
              <a:defRPr sz="900">
                <a:solidFill>
                  <a:srgbClr val="404040"/>
                </a:solidFill>
              </a:defRPr>
            </a:pPr>
            <a:r>
              <a:rPr lang="en-IN" sz="1400" dirty="0"/>
              <a:t>✓ Exchange Server (2007-2016)</a:t>
            </a:r>
          </a:p>
          <a:p>
            <a:pPr>
              <a:lnSpc>
                <a:spcPct val="115000"/>
              </a:lnSpc>
              <a:spcAft>
                <a:spcPts val="200"/>
              </a:spcAft>
              <a:defRPr sz="900">
                <a:solidFill>
                  <a:srgbClr val="404040"/>
                </a:solidFill>
              </a:defRPr>
            </a:pPr>
            <a:r>
              <a:rPr lang="en-IN" sz="1400" dirty="0"/>
              <a:t>✓ Exchange Online Administration</a:t>
            </a:r>
          </a:p>
          <a:p>
            <a:pPr>
              <a:lnSpc>
                <a:spcPct val="115000"/>
              </a:lnSpc>
              <a:spcAft>
                <a:spcPts val="200"/>
              </a:spcAft>
              <a:defRPr sz="900">
                <a:solidFill>
                  <a:srgbClr val="404040"/>
                </a:solidFill>
              </a:defRPr>
            </a:pPr>
            <a:r>
              <a:rPr lang="en-IN" sz="1400" dirty="0"/>
              <a:t>✓ Hybrid Exchange Environments</a:t>
            </a:r>
          </a:p>
          <a:p>
            <a:pPr>
              <a:lnSpc>
                <a:spcPct val="115000"/>
              </a:lnSpc>
              <a:spcAft>
                <a:spcPts val="200"/>
              </a:spcAft>
              <a:defRPr sz="900">
                <a:solidFill>
                  <a:srgbClr val="404040"/>
                </a:solidFill>
              </a:defRPr>
            </a:pPr>
            <a:r>
              <a:rPr lang="en-IN" sz="1400" dirty="0"/>
              <a:t>✓ Mailbox Migration Execution</a:t>
            </a:r>
          </a:p>
          <a:p>
            <a:pPr>
              <a:lnSpc>
                <a:spcPct val="115000"/>
              </a:lnSpc>
              <a:spcAft>
                <a:spcPts val="200"/>
              </a:spcAft>
              <a:defRPr sz="900">
                <a:solidFill>
                  <a:srgbClr val="404040"/>
                </a:solidFill>
              </a:defRPr>
            </a:pPr>
            <a:r>
              <a:rPr lang="en-IN" sz="1400" dirty="0"/>
              <a:t>✓ Azure AD / Entra ID Sync</a:t>
            </a:r>
          </a:p>
          <a:p>
            <a:pPr>
              <a:lnSpc>
                <a:spcPct val="115000"/>
              </a:lnSpc>
              <a:spcAft>
                <a:spcPts val="200"/>
              </a:spcAft>
              <a:defRPr sz="900">
                <a:solidFill>
                  <a:srgbClr val="404040"/>
                </a:solidFill>
              </a:defRPr>
            </a:pPr>
            <a:r>
              <a:rPr lang="en-IN" sz="1400" dirty="0"/>
              <a:t>✓ Mail Flow &amp; Transport Rules</a:t>
            </a:r>
          </a:p>
          <a:p>
            <a:pPr>
              <a:lnSpc>
                <a:spcPct val="115000"/>
              </a:lnSpc>
              <a:spcAft>
                <a:spcPts val="200"/>
              </a:spcAft>
              <a:defRPr sz="900">
                <a:solidFill>
                  <a:srgbClr val="404040"/>
                </a:solidFill>
              </a:defRPr>
            </a:pPr>
            <a:r>
              <a:rPr lang="en-IN" sz="1400" dirty="0"/>
              <a:t>✓ Compliance &amp; Retention Policies</a:t>
            </a:r>
          </a:p>
          <a:p>
            <a:pPr>
              <a:lnSpc>
                <a:spcPct val="115000"/>
              </a:lnSpc>
              <a:spcAft>
                <a:spcPts val="200"/>
              </a:spcAft>
              <a:defRPr sz="900">
                <a:solidFill>
                  <a:srgbClr val="404040"/>
                </a:solidFill>
              </a:defRPr>
            </a:pPr>
            <a:r>
              <a:rPr lang="en-IN" sz="1400" dirty="0"/>
              <a:t>✓ Teams &amp; Intune Administration</a:t>
            </a:r>
          </a:p>
          <a:p>
            <a:pPr>
              <a:lnSpc>
                <a:spcPct val="115000"/>
              </a:lnSpc>
              <a:spcAft>
                <a:spcPts val="200"/>
              </a:spcAft>
              <a:defRPr sz="900">
                <a:solidFill>
                  <a:srgbClr val="404040"/>
                </a:solidFill>
              </a:defRPr>
            </a:pPr>
            <a:r>
              <a:rPr lang="en-IN" sz="1400" dirty="0"/>
              <a:t>✓ PowerShell Automation</a:t>
            </a:r>
          </a:p>
          <a:p>
            <a:pPr>
              <a:lnSpc>
                <a:spcPct val="115000"/>
              </a:lnSpc>
              <a:spcAft>
                <a:spcPts val="200"/>
              </a:spcAft>
              <a:defRPr sz="900">
                <a:solidFill>
                  <a:srgbClr val="404040"/>
                </a:solidFill>
              </a:defRPr>
            </a:pPr>
            <a:r>
              <a:rPr lang="en-IN" sz="1400" dirty="0"/>
              <a:t>✓ Identity Lifecycle Management</a:t>
            </a:r>
          </a:p>
        </p:txBody>
      </p:sp>
      <p:sp>
        <p:nvSpPr>
          <p:cNvPr id="41" name="TextBox 40">
            <a:extLst>
              <a:ext uri="{FF2B5EF4-FFF2-40B4-BE49-F238E27FC236}">
                <a16:creationId xmlns:a16="http://schemas.microsoft.com/office/drawing/2014/main" id="{1CB21C35-19BD-4E65-E902-F70253E51515}"/>
              </a:ext>
            </a:extLst>
          </p:cNvPr>
          <p:cNvSpPr txBox="1"/>
          <p:nvPr/>
        </p:nvSpPr>
        <p:spPr>
          <a:xfrm>
            <a:off x="6141229" y="3333640"/>
            <a:ext cx="2221442" cy="338554"/>
          </a:xfrm>
          <a:prstGeom prst="rect">
            <a:avLst/>
          </a:prstGeom>
          <a:noFill/>
        </p:spPr>
        <p:txBody>
          <a:bodyPr wrap="none">
            <a:spAutoFit/>
          </a:bodyPr>
          <a:lstStyle/>
          <a:p>
            <a:pPr>
              <a:defRPr sz="1100" b="1">
                <a:solidFill>
                  <a:srgbClr val="EF4924"/>
                </a:solidFill>
              </a:defRPr>
            </a:pPr>
            <a:r>
              <a:rPr sz="1600" b="1" dirty="0">
                <a:solidFill>
                  <a:srgbClr val="011E5E"/>
                </a:solidFill>
              </a:rPr>
              <a:t>O365 &amp; GWS EXPERTISE</a:t>
            </a:r>
          </a:p>
        </p:txBody>
      </p:sp>
      <p:sp>
        <p:nvSpPr>
          <p:cNvPr id="43" name="TextBox 42">
            <a:extLst>
              <a:ext uri="{FF2B5EF4-FFF2-40B4-BE49-F238E27FC236}">
                <a16:creationId xmlns:a16="http://schemas.microsoft.com/office/drawing/2014/main" id="{9FBB8F1B-1816-CEEB-6FB6-6E40EE224DD6}"/>
              </a:ext>
            </a:extLst>
          </p:cNvPr>
          <p:cNvSpPr txBox="1"/>
          <p:nvPr/>
        </p:nvSpPr>
        <p:spPr>
          <a:xfrm>
            <a:off x="6156962" y="3640371"/>
            <a:ext cx="5577840" cy="3058209"/>
          </a:xfrm>
          <a:prstGeom prst="rect">
            <a:avLst/>
          </a:prstGeom>
          <a:noFill/>
        </p:spPr>
        <p:txBody>
          <a:bodyPr wrap="square" anchor="t">
            <a:spAutoFit/>
          </a:bodyPr>
          <a:lstStyle/>
          <a:p>
            <a:pPr>
              <a:lnSpc>
                <a:spcPct val="115000"/>
              </a:lnSpc>
              <a:spcAft>
                <a:spcPts val="200"/>
              </a:spcAft>
              <a:defRPr sz="900">
                <a:solidFill>
                  <a:srgbClr val="404040"/>
                </a:solidFill>
              </a:defRPr>
            </a:pPr>
            <a:r>
              <a:rPr lang="en-IN" sz="1400" dirty="0"/>
              <a:t>✓ On-Prem to O365 Hybrid Migrations</a:t>
            </a:r>
          </a:p>
          <a:p>
            <a:pPr>
              <a:lnSpc>
                <a:spcPct val="115000"/>
              </a:lnSpc>
              <a:spcAft>
                <a:spcPts val="200"/>
              </a:spcAft>
              <a:defRPr sz="900">
                <a:solidFill>
                  <a:srgbClr val="404040"/>
                </a:solidFill>
              </a:defRPr>
            </a:pPr>
            <a:r>
              <a:rPr lang="en-IN" sz="1400" dirty="0"/>
              <a:t>✓ On-Prem to Google Workspace</a:t>
            </a:r>
          </a:p>
          <a:p>
            <a:pPr>
              <a:lnSpc>
                <a:spcPct val="115000"/>
              </a:lnSpc>
              <a:spcAft>
                <a:spcPts val="200"/>
              </a:spcAft>
              <a:defRPr sz="900">
                <a:solidFill>
                  <a:srgbClr val="404040"/>
                </a:solidFill>
              </a:defRPr>
            </a:pPr>
            <a:r>
              <a:rPr lang="en-IN" sz="1400" dirty="0"/>
              <a:t>✓ Exchange → Exchange Online</a:t>
            </a:r>
          </a:p>
          <a:p>
            <a:pPr>
              <a:lnSpc>
                <a:spcPct val="115000"/>
              </a:lnSpc>
              <a:spcAft>
                <a:spcPts val="200"/>
              </a:spcAft>
              <a:defRPr sz="900">
                <a:solidFill>
                  <a:srgbClr val="404040"/>
                </a:solidFill>
              </a:defRPr>
            </a:pPr>
            <a:r>
              <a:rPr lang="en-IN" sz="1400" dirty="0"/>
              <a:t>✓ Large-Scale Mailbox Migration</a:t>
            </a:r>
          </a:p>
          <a:p>
            <a:pPr>
              <a:lnSpc>
                <a:spcPct val="115000"/>
              </a:lnSpc>
              <a:spcAft>
                <a:spcPts val="200"/>
              </a:spcAft>
              <a:defRPr sz="900">
                <a:solidFill>
                  <a:srgbClr val="404040"/>
                </a:solidFill>
              </a:defRPr>
            </a:pPr>
            <a:r>
              <a:rPr lang="en-IN" sz="1400" dirty="0"/>
              <a:t>✓ Hybrid Coexistence Management</a:t>
            </a:r>
          </a:p>
          <a:p>
            <a:pPr>
              <a:lnSpc>
                <a:spcPct val="115000"/>
              </a:lnSpc>
              <a:spcAft>
                <a:spcPts val="200"/>
              </a:spcAft>
              <a:defRPr sz="900">
                <a:solidFill>
                  <a:srgbClr val="404040"/>
                </a:solidFill>
              </a:defRPr>
            </a:pPr>
            <a:r>
              <a:rPr lang="en-IN" sz="1400" dirty="0"/>
              <a:t>✓ Entra Connect / Azure AD Sync</a:t>
            </a:r>
          </a:p>
          <a:p>
            <a:pPr>
              <a:lnSpc>
                <a:spcPct val="115000"/>
              </a:lnSpc>
              <a:spcAft>
                <a:spcPts val="200"/>
              </a:spcAft>
              <a:defRPr sz="900">
                <a:solidFill>
                  <a:srgbClr val="404040"/>
                </a:solidFill>
              </a:defRPr>
            </a:pPr>
            <a:r>
              <a:rPr lang="en-IN" sz="1400" dirty="0"/>
              <a:t>✓ License Optimization (O365 &amp; GWS)</a:t>
            </a:r>
          </a:p>
          <a:p>
            <a:pPr>
              <a:lnSpc>
                <a:spcPct val="115000"/>
              </a:lnSpc>
              <a:spcAft>
                <a:spcPts val="200"/>
              </a:spcAft>
              <a:defRPr sz="900">
                <a:solidFill>
                  <a:srgbClr val="404040"/>
                </a:solidFill>
              </a:defRPr>
            </a:pPr>
            <a:r>
              <a:rPr lang="en-IN" sz="1400" dirty="0"/>
              <a:t>✓ MFA &amp; Conditional Access Setup</a:t>
            </a:r>
          </a:p>
          <a:p>
            <a:pPr>
              <a:lnSpc>
                <a:spcPct val="115000"/>
              </a:lnSpc>
              <a:spcAft>
                <a:spcPts val="200"/>
              </a:spcAft>
              <a:defRPr sz="900">
                <a:solidFill>
                  <a:srgbClr val="404040"/>
                </a:solidFill>
              </a:defRPr>
            </a:pPr>
            <a:r>
              <a:rPr lang="en-IN" sz="1400" dirty="0"/>
              <a:t>✓ Compliance Automation (Holds, Retention)</a:t>
            </a:r>
          </a:p>
          <a:p>
            <a:pPr>
              <a:lnSpc>
                <a:spcPct val="115000"/>
              </a:lnSpc>
              <a:spcAft>
                <a:spcPts val="200"/>
              </a:spcAft>
              <a:defRPr sz="900">
                <a:solidFill>
                  <a:srgbClr val="404040"/>
                </a:solidFill>
              </a:defRPr>
            </a:pPr>
            <a:r>
              <a:rPr lang="en-IN" sz="1400" dirty="0"/>
              <a:t>✓ eDiscovery &amp; Legal Hold</a:t>
            </a:r>
          </a:p>
          <a:p>
            <a:pPr>
              <a:lnSpc>
                <a:spcPct val="115000"/>
              </a:lnSpc>
              <a:spcAft>
                <a:spcPts val="200"/>
              </a:spcAft>
              <a:defRPr sz="900">
                <a:solidFill>
                  <a:srgbClr val="404040"/>
                </a:solidFill>
              </a:defRPr>
            </a:pPr>
            <a:r>
              <a:rPr lang="en-IN" sz="1400" dirty="0"/>
              <a:t>✓ DAG Management &amp; DB Recovery</a:t>
            </a:r>
          </a:p>
        </p:txBody>
      </p:sp>
    </p:spTree>
    <p:extLst>
      <p:ext uri="{BB962C8B-B14F-4D97-AF65-F5344CB8AC3E}">
        <p14:creationId xmlns:p14="http://schemas.microsoft.com/office/powerpoint/2010/main" val="1501353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11916</Words>
  <Application>Microsoft Office PowerPoint</Application>
  <PresentationFormat>Widescreen</PresentationFormat>
  <Paragraphs>1415</Paragraphs>
  <Slides>44</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Codec Pro</vt:lpstr>
      <vt:lpstr>Codec Pro Bold</vt:lpstr>
      <vt:lpstr>Roboto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Harish Prakasam</cp:lastModifiedBy>
  <cp:revision>17</cp:revision>
  <dcterms:created xsi:type="dcterms:W3CDTF">2026-08-29T15:20:55Z</dcterms:created>
  <dcterms:modified xsi:type="dcterms:W3CDTF">2026-08-31T04:41:13Z</dcterms:modified>
</cp:coreProperties>
</file>